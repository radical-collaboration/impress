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 code walk, not a results talk. IMPRESS-A runs protein design campaigns on HPC: you give it a goal and a budget, and it decides what experiment to run next, composes a workflow out of a tool registry, runs it through asyncflow and rhapsody, and updates a population of candidates.
The word doing the work is composes. There is no fixed pipeline anywhere in this repository. Every experiment is a new graph no human has reviewed, and most of the code I will show you exists because of that one fact.
When some of you last saw this, nothing real had ever run. Since then a six-stage campaign completed on Delta. I will walk the seam, show what four jobs cost us, and be precise about how little one completed campaign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The shape of a campaign, and then what one actually produced.
Across the top: a goal, a reasoner that decides, a composer that turns that into a typed DAG, admission, execution, absorption. Two edges make it a loop rather than a pipeline — a rejected graph comes back with a structured reason and another attempt, and every decision after the first sees every result so far.
Left card, all measured. Six stages end to end in under three minutes: diffusion, sequence design, two Rosetta stages, a shape filter, a Boltz prediction. All four objectives came back with real values, admitted on the first attempt, cost measured per stage.
Right card, because you would ask and I would rather say it first. One lineage, one cycle, one draw. Replicas greater than one has never run. The node is marked suspect rather than pass, because the pattern is still provisional — the interlock working, not a failure. And no measurement has ever superseded a prediction.
Treat it as a floor. What it proves is that the plumbing survives contact with real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If you keep one slide, keep this one. Everything after it is a consequence rather than a preference.
Two facts. A machine composes workflows no human has reviewed. And the tools those workflows call fail silently far more often than they crash — a generator hands back a structure with no secondary structure, a confident designability number, and exit code zero.
Five things fall out. A policy emits abstract intent, not a DAG, so control models stay swappable. Everything is validated before it executes: five gates, then a dry-run where every agent parameterizes without running. Trust is scored on shape and has to be earned. Exit code is never evidence, so a QC-failed node can never reach the front whatever it scored. And exactly one component writes state and decides when to stop.
The honest flip side is at the bottom. If a person reviewed every graph before it ran, you would write the DAG down once and schedule it, and most of this would stop paying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Two coroutines meeting at a session, and the asymmetry between them is the point.
Left, a reasoner: observe, decide, submit, wait. Two ways to be one — implement decide and let a driver play the loop, which is what models A through D do; or implement conduct and drive yourself, submitting as many experiments as you like and collecting them in the order they finish. The second is what makes a federation of agents generating an ensemble in parallel expressible at all.
Right, the executor: admit, dispatch, reap, absorb. It is the only writer of campaign state. Note what it is not — it is not the loop body with a policy called inside it. The reasoner is a peer.
The red arrow is the one people miss. A rejected submission does not burn the experiment: the policy gets a structured reason and another attempt, bounded by max_attempts and independently capped in the executor, because a conduct reasoner is under no obligation to honour anything the driver promises.
Two rules hold it together. One writer, and every mutating block is await-free, so an observation is never taken halfway through absorbing a run. And the executor decides termination, because budget and stagnation are facts a reasoner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Eight layers, and the thing worth looking at is in red.
Control plane at the top, one protocol with two transports shipped. Then the policy layer, the swappable one. A thin manager facade, the runtime that owns state, composition and validation, tools, exec, and at the bottom core, which imports nothing internal.
The red marks are four arrows that do not exist. A policy may not import tools, exec or runtime; compose may not import exec. I draw them because an edge that is merely absent reads as an oversight, and this room will ask whether the rule is enforced or merely intended.
It is enforced. A test walks the package with ast and checks every internal import against one table — ast.walk rather than module-level imports, because the real adapters defer their science imports into run bodies on purpose, and a deferred cross-layer import is exactly as fatal as one at the top.
Writing that test found two edges nobody had documented. Both are in the table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One experiment, left to right, naming the type at each hop — the types are the contract between layers.
The executor builds an observation. The policy returns a decision carrying an experiment intent: tool ids, parameters, a replica count. It is abstract, there is no DAG in it. The composer turns it into a typed graph, which is plain data. Dispatch registers that graph and hands back a handle without awaiting. What comes back is a run outcome, serializable and core-typed, so a reasoner in another process can hold it.
Underneath is an actual run on this laptop. Four admissions over three cycles. The first row was refused by the interlock — a provisional pattern is capped at ten percent of available budget and three lineages did not fit. The policy shrank to two and resubmitted. That is the retry doing its job: a refusal costs an attempt, not the experiment.
Six design nodes, every one marked suspect, because the shape stayed provisional until the third clean run promoted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is the answer to "you let a machine invent workflows?"
Five gates, in order, first refusal wins. Gate two rejects a tool composed without its QC gates, so you cannot compose your way out of quality control. Gate four rejects a P6 tool somebody tried to schedule — those are meant to be inlined, and a scheduled one is a composer bug.
Then three things that are not gates. The interlock. A dry-run, where every agent parameterizes without executing — that catches a graph that type-checks but cannot be turned into a command line. And a reservation.
Reserve is last for a reason: the dry-run awaits, and by the time it returns another submission may have claimed the budget gate five saw. Reserve re-checks against available budget and is the authoritative decision.
On the right, the trust half. A pattern is the graph's shape — tool ids and typed edges, hashed, parameter values deliberately excluded so tuning a parameter does not reset trust. A provisional shape is capped, forced through a dry-run, marked suspect whatever it scores, and may have only one instance in flight, because promotion counts consecutive clean runs and N concurrent copies are one draw sampled N times.
The limit, from our own limitations doc: this buys examination and delay, not soundness. A consistent novel silent failure promotes.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The slide I would defend hardest, and it is four lines of real code.
A task graph is plain data. To run it, one generic factory builds a closure per node, sets its dunder-name to the node id, and hands it to asyncflow's function_task decorator. That is the whole adapter — no codegen, no AST rewriting, no templating. And setting dunder-name first is not a trick: the decorators take no name keyword, so this is precisely what lets one factory serve every node of every graph.
The closure binds workdir to a local rather than reaching through self, because it gets pickled to a process pool and self would drag the dispatcher, and the engine's futures, along with it.
Second block, submission. Walk the graph in topological order, pass each dependency's unawaited future as an argument — that is how you express an edge. Build a gather with return_exceptions, and return without awaiting. That one change is what let the reasoner stop being the loop body.
Two idioms, not interchangeable: unawaited futures as arguments are edges, gather is independent work.
Right-hand side, measured rather than assumed. Cancellation is advisory. Cancel returns False once a callable has started, asyncflow throws that answer away, so queued work is reclaimed, running work is not, and nobody tells you which happened. A run's terminal state always comes from collecting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The second half of the seam is construction, and this is where the expensive lessons are.
Three things in make_engine_bounded are load-bearing. Only the synchronous construction goes to a helper thread — a dedicated daemon thread, not the default executor, because a stuck call on a pooled thread would hang interpreter shutdown too. The backend's async init and the engine are built back on the caller's own loop. And that await is not politeness: rhapsody's backends are awaitable, and awaiting registers the task states. Construct one synchronously and it appears to work, then fails much later with "backend not registered, available backends: empty list".
The right column is what each cost. Two full allocations went to an engine built on a throwaway loop — asyncflow's engine captures the running loop in its constructor and puts its dispatch task on it, so an engine built on a closed loop looks fine and dispatches nothing. Every submitted task just hangs.
One two-hour allocation went entirely to Dragon's Batch constructor, which blocks the event loop, so our own heartbeat never fired once in two hours.
And the most expensive item is teardown, not startup: on the reference pipeline, shutdown never returned after the science finished and the job sat an hour before someone cancelled it — sixty-four GPU-hours, thirty-seven percent of that job's bill.
Both ends are bounded now, and a stuck teardown is abandoned with a warning rather than raised: results are already durable, and raising would report a campaign that succeeded as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Adding a tool is a YAML file plus a subclass, never a change to the composer, validator or manager. If you have to touch those, the layering is wrong.
The spec declares typed ports, which is what gate one checks edges against; a compute pattern; resources; the metrics it reports; mandatory QC gates resolved by id from a shared library; and a cost model that feeds gate five.
Loading is validating. A default outside its own range, an unknown gate id, a skill document missing a section — all load-time errors. And a toolkit that fails anywhere registers nothing, never a partial set, because a half-registered toolkit is how you get a campaign that silently composes around the missing piece.
Four phases, and post_process is where QC is enforced — not skippable, not overridable by an adapter.
On the right, the tool that lies: it succeeds, reports designability of 0.91, and emits a structure with two percent secondary structure. One test asserts all three at once — the tool succeeded, the numbers look great, QC caught it anyway.
And the honest gap. The real toolkits have no equivalent. Their gates are thresholds on each tool's own opinion of itself, which is precisely what a confidently-wrong tool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One field in that spec decides how the work reaches the middleware, and it is the compute pattern.
Eight of them, and what matters is what they are organised by: not what the tool computes, but what the orchestrator has to do differently. A tool is P4 because of where it must be submitted, not because it runs MD. P6 is the sharpest — an in-process call of thirty milliseconds. Schedule that and you pay serialization and filesystem cost orders of magnitude above the work. So the composer drops P6 stages before they ever become nodes, and gate four refuses one that got through anyway. A scheduled P6 is a composer bug, and it is caught as one.
Two honest things. The last column is the census: all eleven tools are P1 or P2. P3 through P8 have no member, so the inline path, the P4 ledger and the P5 service path are contracts the suite asserts and nothing has ever taken.
And the enum's own docstring says dispatch depends on these. It does not, yet — every consequence is enforced at load time or at a gate, which is composition time, not dispatch. That is the cheaper place for it, but the docstring is ahead of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Four jobs to a completed campaign, and the figure is really about one variable.
Top row, the HDD baseline. Diffusion 137 seconds, sequence design 293, and then packmin could not finish importing PyRosetta inside its three-hundred-second budget, so nothing downstream ran at all.
Middle row, the same campaign with one thing changed: the virtual environment moved from HDD-backed Lustre to NVMe. Sequence design went from 293 seconds to 18, packmin from not finishing to sixteen.
The reason is on the right. Importing PyRosetta off that filesystem costs 471 seconds — a 598-megabyte shared object, demand-paged. Torch is another 280. On NVMe both are seconds. That was the single largest cost this project was paying, and it was invisible because it looked like a tool timing out.
It nearly caused a second bug, which is the more useful half. The queued fix was to raise three walltimes six-fold, which would have hidden the real cost behind timeouts far too large.
Bottom right, the caveat for anyone reading our cost models. Diffusion took 146 seconds in one job and 45 in the next — same campaign, same parameters. These numbers feed gates that refuse graphs, so they sit deliberately above measurement and must not be tightened toward equality.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Four defects reached real hardware, each invisible to a dry run. The pattern across them is more useful than any one.
What a tool writes. Our glob for the diffusion output picked a trajectory rather than the design — same extension, and "denoised" sorts before the design's own name. A five-megabyte multi-frame stack went downstream as the backbone instead of a nineteen-kilobyte design.
Whether a tool can import. LigandMPNN died in its module-level imports, before parsing a single argument we passed it. No flag or path we sent could ever have been read.
Where the bytes live — the storage story from the last slide.
And the subtle one: an estimate that refuses work. Our cost models were literature guesses six to sixty-nine times over reality, and gate five and the interlock cap refuse graphs against those numbers. The inflated GPU side summed past the cap, the chain was refused, and the policy truncated the last stage off — which happened to be the only producer of two of the four campaign objectives. The run was unwinnable from the moment it was admitted, and nothing said so.
Two things to carry away. Checked against the binary is not executed. And a plausible explanation is not a diagnosis — the trajectory bug was a convincing cause for a failure it had nothing to do with, and only recovering the real stderr separated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Two findings about the trust ledger, and the second is new as of building this deck.
The first. The executor loaded the ledger from a path relative to the campaign root, and the Delta launcher changes directory into a per-job working directory before starting. So the ledger resolved inside each job and started empty every time. Two real runs left two files — one with zero clean runs, one with one — and promotion counts three consecutive clean runs within one file.
What is worth your time is how it hid. Nothing ever logged where the ledger was, so a file that silently reset looks exactly like one that has not earned promotion yet — and I reported it that way. It had been true since the first Delta job, which means the trusted code path has never executed, and the ten percent cap has applied to every graph ever composed on real hardware. That cap is exactly what truncated the last stage off the chain twice.
The second I hit while generating the numbers for this deck, and I have not changed the code. The signature emits one string per node and hashes the sorted join, so N lineages give N duplicate parts and the hash changes with the replica count — even though it deliberately does not change when you tune a parameter. The table shows the same chain hashing three ways at one, two and four replicas.
The cost is concrete. The cheapest route to exercising four independent lineages was to promote the pattern with a one-replica campaign, then run four. It does not work: four replicas is a different, untrusted pattern, still capped, still refused, and the policy would quietly shrink it to three and run a weaker check than the one we asked for.
So, genuinely open: is trust earned at one lineage evidence about four, when the cap it would lift exists to bound blast radius?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command worth pointing at is preflight: it checks the container path, the checkpoints, the Boltz cache, whether PyRosetta imports, and whether the virtual environment is still on slow storage — all on a login node, before you spend a queue slot.
The split that matters is that the entire local tier runs on a laptop in about fifteen seconds with no allocation: a complete campaign with a real manager, real policies, a real composer and validator, stubbed science. That is deliberate, because HPC iteration is slow and expensive. The corollary is the uncomfortable half, which is the next slide.
One convention I would steal for other projects: a magic number in a test is often a bug report. A stagnation limit of ten thousand appeared in three separate tests before anyone noticed the defect was in the engine, not the test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I will not compress this slide, because an audience that catches you overclaiming stops believing everything else you said.
Left, what genuinely runs. A real six-stage campaign on Delta. The engine — composition, gates, interlock, Pareto tree, provenance, a durable ledger. Four control models over one shared executor. The control plane in two transports, including a reasoner driving a campaign from another process. Both ends of the Dragon lifecycle bounded, each against a real lost allocation.
Right, what has never run. Replicas greater than one — the invariant most likely to be silently wrong, because N replicas are supposed to be N independent lineages with different seeds, and the only evidence the seed plumbing does anything is that the nodes carry different metrics. Nothing has ever been promoted by the trust ledger. No measurement has superseded a prediction. No structural QC gate exists for any real tool. There is no resume. The headless control model fails open and reports itself as the wrong model.
One campaign has completed. One lineage, one cycle, one 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I would rather end on questions than a summary, and these are the six I actually want answers to.
The first four are for the middleware authors. One: a worker exception that cannot be unpickled takes out a whole monitor sweep rather than one task, so a failing run reaches no terminal state and sits in flight until the wall clock. Our half is fixed, but the handler around get_stdout catches only OSError, and I think it wants to catch Exception and fail the single task.
Two: Batch stalled for two full hours and we still do not know why. It is bounded now, so we fail in minutes rather than losing an allocation — which means we can finally iterate. What should we instrument?
Three: can a running task's GPU ever be reclaimed? Four: workflow_id tags every task but nothing looks tasks up by it, so our own handle stays the only answer to what belongs to a run.
Five is for everyone — the one from slide fourteen. Does breadth belong in a pattern's identity?
Six is for the domain people. Every real gate we have is a threshold on a number the tool reports about itself. RFD3 hands us clash counts in a file we already open; for Rosetta, upstream gates on an interaction energy we do not compute. If you were adding one structural gate, where would you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One protocol, nineteen operations, and adapters that translate transport only.
The design decision worth stating is that observe returns the same observation object a policy's decide receives. Informed monitoring means parity of evidence, not a progress bar — whatever a control model is allowed to reason about, a human watching is allowed to see.
Admission is synchronous even over HTTP: you get a 202 with a run id, or a 409 with the gate and the reason. That is not a style choice. Accepting and rejecting later would sever a rejection from the request that caused it, and it cannot work anyway, because the dry-run instantiates task agents and therefore has to run where the toolkit is installed.
The gap is honest and annoying: all of this is reachable from the test suite and not from a shell. There is no serve command and no reason command. One consequence is that model C — the headless, externally-steered mode — fails open: it builds a policy whose inbox nothing can fill, times out every five seconds, and silently runs the model-D rule cascade while reporting itself as model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Four control models, exactly one active per campaign, fixed at launch.
A is a four-node LangGraph loop, auditable node by node. B is a single heavyweight structured call over rich campaign state. C is headless — it blocks on the control plane for a directive from outside. D is explicit: rules, a bandit, Bayesian optimization, or replay, and fully reproducible.
They compose rather than inherit. You can wrap any of them in a rule-corrections policy for an unconditional external guard, or a logging policy for provenance, and those are decorators rather than subclasses. Writing a fifth is one method.
The claim everything rests on is that below the policy layer, all four are byte-identical. A campaign run by a hand-written rule cascade exercises exactly the same machinery as one steered by a frontier model, which is what makes comparing them meaningful at all.
And one editorial point, since Flowgentic's authors are in the room: the outer loop is still ours on purpose. It is just two coroutines now rather than one. We looked at ceding it to a framework and it pushes the gates, the dry-run and the interlock into awkward places — and Flowgentic's own README reaches the same conclusion, recommending the augmented rung over the fully agentic one. Worth saying out loud, with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7452360" y="2057400"/>
            <a:ext cx="1051560" cy="1051560"/>
          </a:xfrm>
          <a:prstGeom prst="ellipse">
            <a:avLst/>
          </a:prstGeom>
          <a:solidFill>
            <a:srgbClr val="3B4E8C"/>
          </a:solidFill>
          <a:ln w="19050">
            <a:solidFill>
              <a:srgbClr val="A8B6DC"/>
            </a:solidFill>
            <a:prstDash val="solid"/>
          </a:ln>
        </p:spPr>
      </p:sp>
      <p:sp>
        <p:nvSpPr>
          <p:cNvPr id="3" name="Text 1"/>
          <p:cNvSpPr txBox="1"/>
          <p:nvPr/>
        </p:nvSpPr>
        <p:spPr>
          <a:xfrm>
            <a:off x="7452360" y="2057400"/>
            <a:ext cx="1051560" cy="10515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decide</a:t>
            </a:r>
            <a:endParaRPr lang="en-US" sz="1200" dirty="0"/>
          </a:p>
        </p:txBody>
      </p:sp>
      <p:sp>
        <p:nvSpPr>
          <p:cNvPr id="4" name="Shape 2"/>
          <p:cNvSpPr/>
          <p:nvPr/>
        </p:nvSpPr>
        <p:spPr>
          <a:xfrm>
            <a:off x="8915400" y="1874520"/>
            <a:ext cx="91440" cy="1417320"/>
          </a:xfrm>
          <a:prstGeom prst="rect">
            <a:avLst/>
          </a:prstGeom>
          <a:solidFill>
            <a:srgbClr val="2E7D5B"/>
          </a:solidFill>
          <a:ln w="12700">
            <a:solidFill>
              <a:srgbClr val="2E7D5B"/>
            </a:solidFill>
            <a:prstDash val="solid"/>
          </a:ln>
        </p:spPr>
      </p:sp>
      <p:sp>
        <p:nvSpPr>
          <p:cNvPr id="5" name="Shape 3"/>
          <p:cNvSpPr/>
          <p:nvPr/>
        </p:nvSpPr>
        <p:spPr>
          <a:xfrm>
            <a:off x="9070848" y="1874520"/>
            <a:ext cx="91440" cy="1417320"/>
          </a:xfrm>
          <a:prstGeom prst="rect">
            <a:avLst/>
          </a:prstGeom>
          <a:solidFill>
            <a:srgbClr val="2E7D5B"/>
          </a:solidFill>
          <a:ln w="12700">
            <a:solidFill>
              <a:srgbClr val="2E7D5B"/>
            </a:solidFill>
            <a:prstDash val="solid"/>
          </a:ln>
        </p:spPr>
      </p:sp>
      <p:sp>
        <p:nvSpPr>
          <p:cNvPr id="6" name="Shape 4"/>
          <p:cNvSpPr/>
          <p:nvPr/>
        </p:nvSpPr>
        <p:spPr>
          <a:xfrm>
            <a:off x="9226296" y="1874520"/>
            <a:ext cx="91440" cy="1417320"/>
          </a:xfrm>
          <a:prstGeom prst="rect">
            <a:avLst/>
          </a:prstGeom>
          <a:solidFill>
            <a:srgbClr val="2E7D5B"/>
          </a:solidFill>
          <a:ln w="12700">
            <a:solidFill>
              <a:srgbClr val="2E7D5B"/>
            </a:solidFill>
            <a:prstDash val="solid"/>
          </a:ln>
        </p:spPr>
      </p:sp>
      <p:sp>
        <p:nvSpPr>
          <p:cNvPr id="7" name="Shape 5"/>
          <p:cNvSpPr/>
          <p:nvPr/>
        </p:nvSpPr>
        <p:spPr>
          <a:xfrm>
            <a:off x="9381744" y="1874520"/>
            <a:ext cx="91440" cy="1417320"/>
          </a:xfrm>
          <a:prstGeom prst="rect">
            <a:avLst/>
          </a:prstGeom>
          <a:solidFill>
            <a:srgbClr val="2E7D5B"/>
          </a:solidFill>
          <a:ln w="12700">
            <a:solidFill>
              <a:srgbClr val="2E7D5B"/>
            </a:solidFill>
            <a:prstDash val="solid"/>
          </a:ln>
        </p:spPr>
      </p:sp>
      <p:sp>
        <p:nvSpPr>
          <p:cNvPr id="8" name="Shape 6"/>
          <p:cNvSpPr/>
          <p:nvPr/>
        </p:nvSpPr>
        <p:spPr>
          <a:xfrm>
            <a:off x="9537192" y="1874520"/>
            <a:ext cx="91440" cy="1417320"/>
          </a:xfrm>
          <a:prstGeom prst="rect">
            <a:avLst/>
          </a:prstGeom>
          <a:solidFill>
            <a:srgbClr val="2E7D5B"/>
          </a:solidFill>
          <a:ln w="12700">
            <a:solidFill>
              <a:srgbClr val="2E7D5B"/>
            </a:solidFill>
            <a:prstDash val="solid"/>
          </a:ln>
        </p:spPr>
      </p:sp>
      <p:sp>
        <p:nvSpPr>
          <p:cNvPr id="9" name="Text 7"/>
          <p:cNvSpPr txBox="1"/>
          <p:nvPr/>
        </p:nvSpPr>
        <p:spPr>
          <a:xfrm>
            <a:off x="8595360" y="3337560"/>
            <a:ext cx="1463040" cy="228600"/>
          </a:xfrm>
          <a:prstGeom prst="rect">
            <a:avLst/>
          </a:prstGeom>
          <a:noFill/>
          <a:ln/>
        </p:spPr>
        <p:txBody>
          <a:bodyPr wrap="square" lIns="0" tIns="0" rIns="0" bIns="0" rtlCol="0" anchor="t"/>
          <a:lstStyle/>
          <a:p>
            <a:pPr algn="ctr" indent="0" marL="0">
              <a:buNone/>
            </a:pPr>
            <a:r>
              <a:rPr lang="en-US" sz="950" dirty="0">
                <a:solidFill>
                  <a:srgbClr val="8FD0B0"/>
                </a:solidFill>
                <a:latin typeface="Calibri" pitchFamily="34" charset="0"/>
                <a:ea typeface="Calibri" pitchFamily="34" charset="-122"/>
                <a:cs typeface="Calibri" pitchFamily="34" charset="-120"/>
              </a:rPr>
              <a:t>5 gates</a:t>
            </a:r>
            <a:endParaRPr lang="en-US" sz="950" dirty="0"/>
          </a:p>
        </p:txBody>
      </p:sp>
      <p:sp>
        <p:nvSpPr>
          <p:cNvPr id="10" name="Shape 8"/>
          <p:cNvSpPr/>
          <p:nvPr/>
        </p:nvSpPr>
        <p:spPr>
          <a:xfrm>
            <a:off x="8522208" y="2578608"/>
            <a:ext cx="356616" cy="91"/>
          </a:xfrm>
          <a:prstGeom prst="line">
            <a:avLst/>
          </a:prstGeom>
          <a:noFill/>
          <a:ln w="19050">
            <a:solidFill>
              <a:srgbClr val="A8B6DC"/>
            </a:solidFill>
            <a:prstDash val="solid"/>
            <a:tailEnd type="triangle"/>
          </a:ln>
        </p:spPr>
      </p:sp>
      <p:sp>
        <p:nvSpPr>
          <p:cNvPr id="11" name="Shape 9"/>
          <p:cNvSpPr/>
          <p:nvPr/>
        </p:nvSpPr>
        <p:spPr>
          <a:xfrm>
            <a:off x="10012680" y="1783080"/>
            <a:ext cx="420624" cy="384048"/>
          </a:xfrm>
          <a:prstGeom prst="roundRect">
            <a:avLst>
              <a:gd name="adj" fmla="val 14286"/>
            </a:avLst>
          </a:prstGeom>
          <a:solidFill>
            <a:srgbClr val="7A4A8C"/>
          </a:solidFill>
          <a:ln w="12700">
            <a:solidFill>
              <a:srgbClr val="D8BFE2"/>
            </a:solidFill>
            <a:prstDash val="solid"/>
          </a:ln>
        </p:spPr>
      </p:sp>
      <p:sp>
        <p:nvSpPr>
          <p:cNvPr id="12" name="Shape 10"/>
          <p:cNvSpPr/>
          <p:nvPr/>
        </p:nvSpPr>
        <p:spPr>
          <a:xfrm>
            <a:off x="10442448" y="1975104"/>
            <a:ext cx="155448" cy="91"/>
          </a:xfrm>
          <a:prstGeom prst="line">
            <a:avLst/>
          </a:prstGeom>
          <a:noFill/>
          <a:ln w="12700">
            <a:solidFill>
              <a:srgbClr val="D8BFE2"/>
            </a:solidFill>
            <a:prstDash val="solid"/>
          </a:ln>
        </p:spPr>
      </p:sp>
      <p:sp>
        <p:nvSpPr>
          <p:cNvPr id="13" name="Shape 11"/>
          <p:cNvSpPr/>
          <p:nvPr/>
        </p:nvSpPr>
        <p:spPr>
          <a:xfrm>
            <a:off x="10616184" y="1783080"/>
            <a:ext cx="420624" cy="384048"/>
          </a:xfrm>
          <a:prstGeom prst="roundRect">
            <a:avLst>
              <a:gd name="adj" fmla="val 14286"/>
            </a:avLst>
          </a:prstGeom>
          <a:solidFill>
            <a:srgbClr val="7A4A8C"/>
          </a:solidFill>
          <a:ln w="12700">
            <a:solidFill>
              <a:srgbClr val="D8BFE2"/>
            </a:solidFill>
            <a:prstDash val="solid"/>
          </a:ln>
        </p:spPr>
      </p:sp>
      <p:sp>
        <p:nvSpPr>
          <p:cNvPr id="14" name="Shape 12"/>
          <p:cNvSpPr/>
          <p:nvPr/>
        </p:nvSpPr>
        <p:spPr>
          <a:xfrm>
            <a:off x="11045952" y="1975104"/>
            <a:ext cx="155448" cy="91"/>
          </a:xfrm>
          <a:prstGeom prst="line">
            <a:avLst/>
          </a:prstGeom>
          <a:noFill/>
          <a:ln w="12700">
            <a:solidFill>
              <a:srgbClr val="D8BFE2"/>
            </a:solidFill>
            <a:prstDash val="solid"/>
          </a:ln>
        </p:spPr>
      </p:sp>
      <p:sp>
        <p:nvSpPr>
          <p:cNvPr id="15" name="Shape 13"/>
          <p:cNvSpPr/>
          <p:nvPr/>
        </p:nvSpPr>
        <p:spPr>
          <a:xfrm>
            <a:off x="11219688" y="1783080"/>
            <a:ext cx="420624" cy="384048"/>
          </a:xfrm>
          <a:prstGeom prst="roundRect">
            <a:avLst>
              <a:gd name="adj" fmla="val 14286"/>
            </a:avLst>
          </a:prstGeom>
          <a:solidFill>
            <a:srgbClr val="7A4A8C"/>
          </a:solidFill>
          <a:ln w="12700">
            <a:solidFill>
              <a:srgbClr val="D8BFE2"/>
            </a:solidFill>
            <a:prstDash val="solid"/>
          </a:ln>
        </p:spPr>
      </p:sp>
      <p:sp>
        <p:nvSpPr>
          <p:cNvPr id="16" name="Shape 14"/>
          <p:cNvSpPr/>
          <p:nvPr/>
        </p:nvSpPr>
        <p:spPr>
          <a:xfrm>
            <a:off x="10012680" y="2532888"/>
            <a:ext cx="420624" cy="384048"/>
          </a:xfrm>
          <a:prstGeom prst="roundRect">
            <a:avLst>
              <a:gd name="adj" fmla="val 14286"/>
            </a:avLst>
          </a:prstGeom>
          <a:solidFill>
            <a:srgbClr val="7A4A8C"/>
          </a:solidFill>
          <a:ln w="12700">
            <a:solidFill>
              <a:srgbClr val="D8BFE2"/>
            </a:solidFill>
            <a:prstDash val="solid"/>
          </a:ln>
        </p:spPr>
      </p:sp>
      <p:sp>
        <p:nvSpPr>
          <p:cNvPr id="17" name="Shape 15"/>
          <p:cNvSpPr/>
          <p:nvPr/>
        </p:nvSpPr>
        <p:spPr>
          <a:xfrm>
            <a:off x="10442448" y="2724912"/>
            <a:ext cx="155448" cy="91"/>
          </a:xfrm>
          <a:prstGeom prst="line">
            <a:avLst/>
          </a:prstGeom>
          <a:noFill/>
          <a:ln w="12700">
            <a:solidFill>
              <a:srgbClr val="D8BFE2"/>
            </a:solidFill>
            <a:prstDash val="solid"/>
          </a:ln>
        </p:spPr>
      </p:sp>
      <p:sp>
        <p:nvSpPr>
          <p:cNvPr id="18" name="Shape 16"/>
          <p:cNvSpPr/>
          <p:nvPr/>
        </p:nvSpPr>
        <p:spPr>
          <a:xfrm>
            <a:off x="10616184" y="2532888"/>
            <a:ext cx="420624" cy="384048"/>
          </a:xfrm>
          <a:prstGeom prst="roundRect">
            <a:avLst>
              <a:gd name="adj" fmla="val 14286"/>
            </a:avLst>
          </a:prstGeom>
          <a:solidFill>
            <a:srgbClr val="7A4A8C"/>
          </a:solidFill>
          <a:ln w="12700">
            <a:solidFill>
              <a:srgbClr val="D8BFE2"/>
            </a:solidFill>
            <a:prstDash val="solid"/>
          </a:ln>
        </p:spPr>
      </p:sp>
      <p:sp>
        <p:nvSpPr>
          <p:cNvPr id="19" name="Shape 17"/>
          <p:cNvSpPr/>
          <p:nvPr/>
        </p:nvSpPr>
        <p:spPr>
          <a:xfrm>
            <a:off x="11045952" y="2724912"/>
            <a:ext cx="155448" cy="91"/>
          </a:xfrm>
          <a:prstGeom prst="line">
            <a:avLst/>
          </a:prstGeom>
          <a:noFill/>
          <a:ln w="12700">
            <a:solidFill>
              <a:srgbClr val="D8BFE2"/>
            </a:solidFill>
            <a:prstDash val="solid"/>
          </a:ln>
        </p:spPr>
      </p:sp>
      <p:sp>
        <p:nvSpPr>
          <p:cNvPr id="20" name="Shape 18"/>
          <p:cNvSpPr/>
          <p:nvPr/>
        </p:nvSpPr>
        <p:spPr>
          <a:xfrm>
            <a:off x="11219688" y="2532888"/>
            <a:ext cx="420624" cy="384048"/>
          </a:xfrm>
          <a:prstGeom prst="roundRect">
            <a:avLst>
              <a:gd name="adj" fmla="val 14286"/>
            </a:avLst>
          </a:prstGeom>
          <a:solidFill>
            <a:srgbClr val="7A4A8C"/>
          </a:solidFill>
          <a:ln w="12700">
            <a:solidFill>
              <a:srgbClr val="D8BFE2"/>
            </a:solidFill>
            <a:prstDash val="solid"/>
          </a:ln>
        </p:spPr>
      </p:sp>
      <p:sp>
        <p:nvSpPr>
          <p:cNvPr id="21" name="Text 19"/>
          <p:cNvSpPr txBox="1"/>
          <p:nvPr/>
        </p:nvSpPr>
        <p:spPr>
          <a:xfrm>
            <a:off x="9921240" y="3355848"/>
            <a:ext cx="1920240" cy="457200"/>
          </a:xfrm>
          <a:prstGeom prst="rect">
            <a:avLst/>
          </a:prstGeom>
          <a:noFill/>
          <a:ln/>
        </p:spPr>
        <p:txBody>
          <a:bodyPr wrap="square" lIns="0" tIns="0" rIns="0" bIns="0" rtlCol="0" anchor="t"/>
          <a:lstStyle/>
          <a:p>
            <a:pPr algn="ctr" indent="0" marL="0">
              <a:buNone/>
            </a:pPr>
            <a:r>
              <a:rPr lang="en-US" sz="950" dirty="0">
                <a:solidFill>
                  <a:srgbClr val="C9A8D6"/>
                </a:solidFill>
                <a:latin typeface="Calibri" pitchFamily="34" charset="0"/>
                <a:ea typeface="Calibri" pitchFamily="34" charset="-122"/>
                <a:cs typeface="Calibri" pitchFamily="34" charset="-120"/>
              </a:rPr>
              <a:t>a composed graph,</a:t>
            </a:r>
            <a:endParaRPr lang="en-US" sz="950" dirty="0"/>
          </a:p>
          <a:p>
            <a:pPr algn="ctr" indent="0" marL="0">
              <a:buNone/>
            </a:pPr>
            <a:r>
              <a:rPr lang="en-US" sz="950" dirty="0">
                <a:solidFill>
                  <a:srgbClr val="C9A8D6"/>
                </a:solidFill>
                <a:latin typeface="Calibri" pitchFamily="34" charset="0"/>
                <a:ea typeface="Calibri" pitchFamily="34" charset="-122"/>
                <a:cs typeface="Calibri" pitchFamily="34" charset="-120"/>
              </a:rPr>
              <a:t>2 lineages</a:t>
            </a:r>
            <a:endParaRPr lang="en-US" sz="950" dirty="0"/>
          </a:p>
        </p:txBody>
      </p:sp>
      <p:sp>
        <p:nvSpPr>
          <p:cNvPr id="22" name="Shape 20"/>
          <p:cNvSpPr/>
          <p:nvPr/>
        </p:nvSpPr>
        <p:spPr>
          <a:xfrm>
            <a:off x="9509760" y="4160520"/>
            <a:ext cx="457200" cy="347472"/>
          </a:xfrm>
          <a:prstGeom prst="rect">
            <a:avLst/>
          </a:prstGeom>
          <a:solidFill>
            <a:srgbClr val="D9731A"/>
          </a:solidFill>
          <a:ln w="12700">
            <a:solidFill>
              <a:srgbClr val="D9731A"/>
            </a:solidFill>
            <a:prstDash val="solid"/>
          </a:ln>
        </p:spPr>
      </p:sp>
      <p:sp>
        <p:nvSpPr>
          <p:cNvPr id="23" name="Shape 21"/>
          <p:cNvSpPr/>
          <p:nvPr/>
        </p:nvSpPr>
        <p:spPr>
          <a:xfrm>
            <a:off x="10076688" y="4160520"/>
            <a:ext cx="457200" cy="347472"/>
          </a:xfrm>
          <a:prstGeom prst="rect">
            <a:avLst/>
          </a:prstGeom>
          <a:solidFill>
            <a:srgbClr val="D9731A"/>
          </a:solidFill>
          <a:ln w="12700">
            <a:solidFill>
              <a:srgbClr val="D9731A"/>
            </a:solidFill>
            <a:prstDash val="solid"/>
          </a:ln>
        </p:spPr>
      </p:sp>
      <p:sp>
        <p:nvSpPr>
          <p:cNvPr id="24" name="Shape 22"/>
          <p:cNvSpPr/>
          <p:nvPr/>
        </p:nvSpPr>
        <p:spPr>
          <a:xfrm>
            <a:off x="10643616" y="4160520"/>
            <a:ext cx="457200" cy="347472"/>
          </a:xfrm>
          <a:prstGeom prst="rect">
            <a:avLst/>
          </a:prstGeom>
          <a:solidFill>
            <a:srgbClr val="D9731A"/>
          </a:solidFill>
          <a:ln w="12700">
            <a:solidFill>
              <a:srgbClr val="D9731A"/>
            </a:solidFill>
            <a:prstDash val="solid"/>
          </a:ln>
        </p:spPr>
      </p:sp>
      <p:sp>
        <p:nvSpPr>
          <p:cNvPr id="25" name="Shape 23"/>
          <p:cNvSpPr/>
          <p:nvPr/>
        </p:nvSpPr>
        <p:spPr>
          <a:xfrm>
            <a:off x="11210544" y="4160520"/>
            <a:ext cx="457200" cy="347472"/>
          </a:xfrm>
          <a:prstGeom prst="rect">
            <a:avLst/>
          </a:prstGeom>
          <a:solidFill>
            <a:srgbClr val="D9731A"/>
          </a:solidFill>
          <a:ln w="12700">
            <a:solidFill>
              <a:srgbClr val="D9731A"/>
            </a:solidFill>
            <a:prstDash val="solid"/>
          </a:ln>
        </p:spPr>
      </p:sp>
      <p:sp>
        <p:nvSpPr>
          <p:cNvPr id="26" name="Shape 24"/>
          <p:cNvSpPr/>
          <p:nvPr/>
        </p:nvSpPr>
        <p:spPr>
          <a:xfrm flipH="1">
            <a:off x="10607040" y="2953512"/>
            <a:ext cx="91440" cy="1161288"/>
          </a:xfrm>
          <a:prstGeom prst="line">
            <a:avLst/>
          </a:prstGeom>
          <a:noFill/>
          <a:ln w="19050">
            <a:solidFill>
              <a:srgbClr val="E8B98A"/>
            </a:solidFill>
            <a:prstDash val="solid"/>
            <a:tailEnd type="triangle"/>
          </a:ln>
        </p:spPr>
      </p:sp>
      <p:sp>
        <p:nvSpPr>
          <p:cNvPr id="27" name="Text 25"/>
          <p:cNvSpPr txBox="1"/>
          <p:nvPr/>
        </p:nvSpPr>
        <p:spPr>
          <a:xfrm>
            <a:off x="8595360" y="4572000"/>
            <a:ext cx="3291840" cy="237744"/>
          </a:xfrm>
          <a:prstGeom prst="rect">
            <a:avLst/>
          </a:prstGeom>
          <a:noFill/>
          <a:ln/>
        </p:spPr>
        <p:txBody>
          <a:bodyPr wrap="square" lIns="0" tIns="0" rIns="0" bIns="0" rtlCol="0" anchor="t"/>
          <a:lstStyle/>
          <a:p>
            <a:pPr algn="ctr" indent="0" marL="0">
              <a:buNone/>
            </a:pPr>
            <a:r>
              <a:rPr lang="en-US" sz="950" dirty="0">
                <a:solidFill>
                  <a:srgbClr val="E8B98A"/>
                </a:solidFill>
                <a:latin typeface="Calibri" pitchFamily="34" charset="0"/>
                <a:ea typeface="Calibri" pitchFamily="34" charset="-122"/>
                <a:cs typeface="Calibri" pitchFamily="34" charset="-120"/>
              </a:rPr>
              <a:t>radical.asyncflow  →  rhapsody  →  Dragon</a:t>
            </a:r>
            <a:endParaRPr lang="en-US" sz="950" dirty="0"/>
          </a:p>
        </p:txBody>
      </p:sp>
      <p:sp>
        <p:nvSpPr>
          <p:cNvPr id="28" name="Text 26"/>
          <p:cNvSpPr txBox="1"/>
          <p:nvPr/>
        </p:nvSpPr>
        <p:spPr>
          <a:xfrm>
            <a:off x="731520" y="1371600"/>
            <a:ext cx="64008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IMPRESS-A</a:t>
            </a:r>
            <a:endParaRPr lang="en-US" sz="1400" dirty="0"/>
          </a:p>
        </p:txBody>
      </p:sp>
      <p:sp>
        <p:nvSpPr>
          <p:cNvPr id="29" name="Text 27"/>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An agent that composes its own workflows</a:t>
            </a:r>
            <a:endParaRPr lang="en-US" sz="3400" dirty="0"/>
          </a:p>
        </p:txBody>
      </p:sp>
      <p:sp>
        <p:nvSpPr>
          <p:cNvPr id="30" name="Text 28"/>
          <p:cNvSpPr txBox="1"/>
          <p:nvPr/>
        </p:nvSpPr>
        <p:spPr>
          <a:xfrm>
            <a:off x="731520" y="320040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 and what its first completed campaign on Delta did, and did not, prove</a:t>
            </a:r>
            <a:endParaRPr lang="en-US" sz="1700" dirty="0"/>
          </a:p>
        </p:txBody>
      </p:sp>
      <p:sp>
        <p:nvSpPr>
          <p:cNvPr id="31" name="Text 29"/>
          <p:cNvSpPr txBox="1"/>
          <p:nvPr/>
        </p:nvSpPr>
        <p:spPr>
          <a:xfrm>
            <a:off x="731520" y="4206240"/>
            <a:ext cx="6492240" cy="64008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Job 22692304: six stages, 6/6 tasks ok in 2m53s, admitted on the first attempt, a one-node Pareto front carrying all four objectives</a:t>
            </a:r>
            <a:endParaRPr lang="en-US" sz="1300" dirty="0"/>
          </a:p>
        </p:txBody>
      </p:sp>
      <p:sp>
        <p:nvSpPr>
          <p:cNvPr id="32" name="Text 30"/>
          <p:cNvSpPr txBox="1"/>
          <p:nvPr/>
        </p:nvSpPr>
        <p:spPr>
          <a:xfrm>
            <a:off x="731520" y="5897880"/>
            <a:ext cx="777240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79e539f · 6.5k lines of source, 154 tests, 11 tools in 5 toolkits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goal, a campaign of composed experiments</a:t>
            </a:r>
            <a:endParaRPr lang="en-US" sz="2800" dirty="0"/>
          </a:p>
        </p:txBody>
      </p:sp>
      <p:sp>
        <p:nvSpPr>
          <p:cNvPr id="4" name="Shape 2"/>
          <p:cNvSpPr/>
          <p:nvPr/>
        </p:nvSpPr>
        <p:spPr>
          <a:xfrm>
            <a:off x="457200" y="1417320"/>
            <a:ext cx="1764792" cy="1051560"/>
          </a:xfrm>
          <a:prstGeom prst="roundRect">
            <a:avLst>
              <a:gd name="adj" fmla="val 6957"/>
            </a:avLst>
          </a:prstGeom>
          <a:solidFill>
            <a:srgbClr val="FFFFFF"/>
          </a:solidFill>
          <a:ln w="25400">
            <a:solidFill>
              <a:srgbClr val="5E6B75"/>
            </a:solidFill>
            <a:prstDash val="solid"/>
          </a:ln>
        </p:spPr>
      </p:sp>
      <p:sp>
        <p:nvSpPr>
          <p:cNvPr id="5" name="Text 3"/>
          <p:cNvSpPr txBox="1"/>
          <p:nvPr/>
        </p:nvSpPr>
        <p:spPr>
          <a:xfrm>
            <a:off x="457200" y="1490472"/>
            <a:ext cx="1764792" cy="274320"/>
          </a:xfrm>
          <a:prstGeom prst="rect">
            <a:avLst/>
          </a:prstGeom>
          <a:noFill/>
          <a:ln/>
        </p:spPr>
        <p:txBody>
          <a:bodyPr wrap="square" lIns="0" tIns="0" rIns="0" bIns="0" rtlCol="0" anchor="t"/>
          <a:lstStyle/>
          <a:p>
            <a:pPr algn="ctr" indent="0" marL="0">
              <a:buNone/>
            </a:pPr>
            <a:r>
              <a:rPr lang="en-US" sz="1200" b="1" dirty="0">
                <a:solidFill>
                  <a:srgbClr val="5E6B75"/>
                </a:solidFill>
                <a:latin typeface="Calibri" pitchFamily="34" charset="0"/>
                <a:ea typeface="Calibri" pitchFamily="34" charset="-122"/>
                <a:cs typeface="Calibri" pitchFamily="34" charset="-120"/>
              </a:rPr>
              <a:t>goal</a:t>
            </a:r>
            <a:endParaRPr lang="en-US" sz="1200" dirty="0"/>
          </a:p>
        </p:txBody>
      </p:sp>
      <p:sp>
        <p:nvSpPr>
          <p:cNvPr id="6" name="Text 4"/>
          <p:cNvSpPr txBox="1"/>
          <p:nvPr/>
        </p:nvSpPr>
        <p:spPr>
          <a:xfrm>
            <a:off x="51206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campaign YAML:</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objectives · budget</a:t>
            </a:r>
            <a:endParaRPr lang="en-US" sz="1000" dirty="0"/>
          </a:p>
        </p:txBody>
      </p:sp>
      <p:sp>
        <p:nvSpPr>
          <p:cNvPr id="7" name="Shape 5"/>
          <p:cNvSpPr/>
          <p:nvPr/>
        </p:nvSpPr>
        <p:spPr>
          <a:xfrm>
            <a:off x="2231136" y="1938528"/>
            <a:ext cx="82296" cy="91"/>
          </a:xfrm>
          <a:prstGeom prst="line">
            <a:avLst/>
          </a:prstGeom>
          <a:noFill/>
          <a:ln w="15875">
            <a:solidFill>
              <a:srgbClr val="5E6B75"/>
            </a:solidFill>
            <a:prstDash val="solid"/>
            <a:tailEnd type="triangle"/>
          </a:ln>
        </p:spPr>
      </p:sp>
      <p:sp>
        <p:nvSpPr>
          <p:cNvPr id="8" name="Shape 6"/>
          <p:cNvSpPr/>
          <p:nvPr/>
        </p:nvSpPr>
        <p:spPr>
          <a:xfrm>
            <a:off x="2322576" y="1417320"/>
            <a:ext cx="1764792" cy="1051560"/>
          </a:xfrm>
          <a:prstGeom prst="roundRect">
            <a:avLst>
              <a:gd name="adj" fmla="val 6957"/>
            </a:avLst>
          </a:prstGeom>
          <a:solidFill>
            <a:srgbClr val="FFFFFF"/>
          </a:solidFill>
          <a:ln w="25400">
            <a:solidFill>
              <a:srgbClr val="3B4E8C"/>
            </a:solidFill>
            <a:prstDash val="solid"/>
          </a:ln>
        </p:spPr>
      </p:sp>
      <p:sp>
        <p:nvSpPr>
          <p:cNvPr id="9" name="Text 7"/>
          <p:cNvSpPr txBox="1"/>
          <p:nvPr/>
        </p:nvSpPr>
        <p:spPr>
          <a:xfrm>
            <a:off x="2322576" y="1490472"/>
            <a:ext cx="1764792"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decide</a:t>
            </a:r>
            <a:endParaRPr lang="en-US" sz="1200" dirty="0"/>
          </a:p>
        </p:txBody>
      </p:sp>
      <p:sp>
        <p:nvSpPr>
          <p:cNvPr id="10" name="Text 8"/>
          <p:cNvSpPr txBox="1"/>
          <p:nvPr/>
        </p:nvSpPr>
        <p:spPr>
          <a:xfrm>
            <a:off x="2377440"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 reasoner picks the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next experiment</a:t>
            </a:r>
            <a:endParaRPr lang="en-US" sz="1000" dirty="0"/>
          </a:p>
        </p:txBody>
      </p:sp>
      <p:sp>
        <p:nvSpPr>
          <p:cNvPr id="11" name="Shape 9"/>
          <p:cNvSpPr/>
          <p:nvPr/>
        </p:nvSpPr>
        <p:spPr>
          <a:xfrm>
            <a:off x="4096512" y="1938528"/>
            <a:ext cx="82296" cy="91"/>
          </a:xfrm>
          <a:prstGeom prst="line">
            <a:avLst/>
          </a:prstGeom>
          <a:noFill/>
          <a:ln w="15875">
            <a:solidFill>
              <a:srgbClr val="5E6B75"/>
            </a:solidFill>
            <a:prstDash val="solid"/>
            <a:tailEnd type="triangle"/>
          </a:ln>
        </p:spPr>
      </p:sp>
      <p:sp>
        <p:nvSpPr>
          <p:cNvPr id="12" name="Shape 10"/>
          <p:cNvSpPr/>
          <p:nvPr/>
        </p:nvSpPr>
        <p:spPr>
          <a:xfrm>
            <a:off x="4187952" y="1417320"/>
            <a:ext cx="1764792" cy="1051560"/>
          </a:xfrm>
          <a:prstGeom prst="roundRect">
            <a:avLst>
              <a:gd name="adj" fmla="val 6957"/>
            </a:avLst>
          </a:prstGeom>
          <a:solidFill>
            <a:srgbClr val="FFFFFF"/>
          </a:solidFill>
          <a:ln w="25400">
            <a:solidFill>
              <a:srgbClr val="2E7D5B"/>
            </a:solidFill>
            <a:prstDash val="solid"/>
          </a:ln>
        </p:spPr>
      </p:sp>
      <p:sp>
        <p:nvSpPr>
          <p:cNvPr id="13" name="Text 11"/>
          <p:cNvSpPr txBox="1"/>
          <p:nvPr/>
        </p:nvSpPr>
        <p:spPr>
          <a:xfrm>
            <a:off x="4187952"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compose</a:t>
            </a:r>
            <a:endParaRPr lang="en-US" sz="1200" dirty="0"/>
          </a:p>
        </p:txBody>
      </p:sp>
      <p:sp>
        <p:nvSpPr>
          <p:cNvPr id="14" name="Text 12"/>
          <p:cNvSpPr txBox="1"/>
          <p:nvPr/>
        </p:nvSpPr>
        <p:spPr>
          <a:xfrm>
            <a:off x="4242816"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abstract intent →</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a typed DAG</a:t>
            </a:r>
            <a:endParaRPr lang="en-US" sz="1000" dirty="0"/>
          </a:p>
        </p:txBody>
      </p:sp>
      <p:sp>
        <p:nvSpPr>
          <p:cNvPr id="15" name="Shape 13"/>
          <p:cNvSpPr/>
          <p:nvPr/>
        </p:nvSpPr>
        <p:spPr>
          <a:xfrm>
            <a:off x="5961888" y="1938528"/>
            <a:ext cx="82296" cy="91"/>
          </a:xfrm>
          <a:prstGeom prst="line">
            <a:avLst/>
          </a:prstGeom>
          <a:noFill/>
          <a:ln w="15875">
            <a:solidFill>
              <a:srgbClr val="5E6B75"/>
            </a:solidFill>
            <a:prstDash val="solid"/>
            <a:tailEnd type="triangle"/>
          </a:ln>
        </p:spPr>
      </p:sp>
      <p:sp>
        <p:nvSpPr>
          <p:cNvPr id="16" name="Shape 14"/>
          <p:cNvSpPr/>
          <p:nvPr/>
        </p:nvSpPr>
        <p:spPr>
          <a:xfrm>
            <a:off x="6053328" y="1417320"/>
            <a:ext cx="1764792" cy="1051560"/>
          </a:xfrm>
          <a:prstGeom prst="roundRect">
            <a:avLst>
              <a:gd name="adj" fmla="val 6957"/>
            </a:avLst>
          </a:prstGeom>
          <a:solidFill>
            <a:srgbClr val="FFFFFF"/>
          </a:solidFill>
          <a:ln w="25400">
            <a:solidFill>
              <a:srgbClr val="2E7D5B"/>
            </a:solidFill>
            <a:prstDash val="solid"/>
          </a:ln>
        </p:spPr>
      </p:sp>
      <p:sp>
        <p:nvSpPr>
          <p:cNvPr id="17" name="Text 15"/>
          <p:cNvSpPr txBox="1"/>
          <p:nvPr/>
        </p:nvSpPr>
        <p:spPr>
          <a:xfrm>
            <a:off x="6053328" y="1490472"/>
            <a:ext cx="1764792"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admit</a:t>
            </a:r>
            <a:endParaRPr lang="en-US" sz="1200" dirty="0"/>
          </a:p>
        </p:txBody>
      </p:sp>
      <p:sp>
        <p:nvSpPr>
          <p:cNvPr id="18" name="Text 16"/>
          <p:cNvSpPr txBox="1"/>
          <p:nvPr/>
        </p:nvSpPr>
        <p:spPr>
          <a:xfrm>
            <a:off x="6108192"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5 gates · interlock</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dry-run · reserve</a:t>
            </a:r>
            <a:endParaRPr lang="en-US" sz="1000" dirty="0"/>
          </a:p>
        </p:txBody>
      </p:sp>
      <p:sp>
        <p:nvSpPr>
          <p:cNvPr id="19" name="Shape 17"/>
          <p:cNvSpPr/>
          <p:nvPr/>
        </p:nvSpPr>
        <p:spPr>
          <a:xfrm>
            <a:off x="7827264" y="1938528"/>
            <a:ext cx="82296" cy="91"/>
          </a:xfrm>
          <a:prstGeom prst="line">
            <a:avLst/>
          </a:prstGeom>
          <a:noFill/>
          <a:ln w="15875">
            <a:solidFill>
              <a:srgbClr val="5E6B75"/>
            </a:solidFill>
            <a:prstDash val="solid"/>
            <a:tailEnd type="triangle"/>
          </a:ln>
        </p:spPr>
      </p:sp>
      <p:sp>
        <p:nvSpPr>
          <p:cNvPr id="20" name="Shape 18"/>
          <p:cNvSpPr/>
          <p:nvPr/>
        </p:nvSpPr>
        <p:spPr>
          <a:xfrm>
            <a:off x="7918704" y="1417320"/>
            <a:ext cx="1764792" cy="1051560"/>
          </a:xfrm>
          <a:prstGeom prst="roundRect">
            <a:avLst>
              <a:gd name="adj" fmla="val 6957"/>
            </a:avLst>
          </a:prstGeom>
          <a:solidFill>
            <a:srgbClr val="FFFFFF"/>
          </a:solidFill>
          <a:ln w="25400">
            <a:solidFill>
              <a:srgbClr val="D9731A"/>
            </a:solidFill>
            <a:prstDash val="solid"/>
          </a:ln>
        </p:spPr>
      </p:sp>
      <p:sp>
        <p:nvSpPr>
          <p:cNvPr id="21" name="Text 19"/>
          <p:cNvSpPr txBox="1"/>
          <p:nvPr/>
        </p:nvSpPr>
        <p:spPr>
          <a:xfrm>
            <a:off x="7918704" y="1490472"/>
            <a:ext cx="1764792"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execute</a:t>
            </a:r>
            <a:endParaRPr lang="en-US" sz="1200" dirty="0"/>
          </a:p>
        </p:txBody>
      </p:sp>
      <p:sp>
        <p:nvSpPr>
          <p:cNvPr id="22" name="Text 20"/>
          <p:cNvSpPr txBox="1"/>
          <p:nvPr/>
        </p:nvSpPr>
        <p:spPr>
          <a:xfrm>
            <a:off x="7973568"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asyncflow → rhapsody</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concurrent or Dragon</a:t>
            </a:r>
            <a:endParaRPr lang="en-US" sz="1000" dirty="0"/>
          </a:p>
        </p:txBody>
      </p:sp>
      <p:sp>
        <p:nvSpPr>
          <p:cNvPr id="23" name="Shape 21"/>
          <p:cNvSpPr/>
          <p:nvPr/>
        </p:nvSpPr>
        <p:spPr>
          <a:xfrm>
            <a:off x="9692640" y="1938528"/>
            <a:ext cx="82296" cy="91"/>
          </a:xfrm>
          <a:prstGeom prst="line">
            <a:avLst/>
          </a:prstGeom>
          <a:noFill/>
          <a:ln w="15875">
            <a:solidFill>
              <a:srgbClr val="5E6B75"/>
            </a:solidFill>
            <a:prstDash val="solid"/>
            <a:tailEnd type="triangle"/>
          </a:ln>
        </p:spPr>
      </p:sp>
      <p:sp>
        <p:nvSpPr>
          <p:cNvPr id="24" name="Shape 22"/>
          <p:cNvSpPr/>
          <p:nvPr/>
        </p:nvSpPr>
        <p:spPr>
          <a:xfrm>
            <a:off x="9784080" y="1417320"/>
            <a:ext cx="1764792" cy="1051560"/>
          </a:xfrm>
          <a:prstGeom prst="roundRect">
            <a:avLst>
              <a:gd name="adj" fmla="val 6957"/>
            </a:avLst>
          </a:prstGeom>
          <a:solidFill>
            <a:srgbClr val="FFFFFF"/>
          </a:solidFill>
          <a:ln w="25400">
            <a:solidFill>
              <a:srgbClr val="1E6470"/>
            </a:solidFill>
            <a:prstDash val="solid"/>
          </a:ln>
        </p:spPr>
      </p:sp>
      <p:sp>
        <p:nvSpPr>
          <p:cNvPr id="25" name="Text 23"/>
          <p:cNvSpPr txBox="1"/>
          <p:nvPr/>
        </p:nvSpPr>
        <p:spPr>
          <a:xfrm>
            <a:off x="9784080" y="1490472"/>
            <a:ext cx="1764792"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absorb</a:t>
            </a:r>
            <a:endParaRPr lang="en-US" sz="1200" dirty="0"/>
          </a:p>
        </p:txBody>
      </p:sp>
      <p:sp>
        <p:nvSpPr>
          <p:cNvPr id="26" name="Text 24"/>
          <p:cNvSpPr txBox="1"/>
          <p:nvPr/>
        </p:nvSpPr>
        <p:spPr>
          <a:xfrm>
            <a:off x="9838944" y="1773936"/>
            <a:ext cx="1655064" cy="640080"/>
          </a:xfrm>
          <a:prstGeom prst="rect">
            <a:avLst/>
          </a:prstGeom>
          <a:noFill/>
          <a:ln/>
        </p:spPr>
        <p:txBody>
          <a:bodyPr wrap="square" lIns="0" tIns="0" rIns="0" bIns="0" rtlCol="0" anchor="t"/>
          <a:lstStyle/>
          <a:p>
            <a:pPr algn="ctr" indent="0" marL="0">
              <a:buNone/>
            </a:pPr>
            <a:r>
              <a:rPr lang="en-US" sz="1000" dirty="0">
                <a:solidFill>
                  <a:srgbClr val="22303C"/>
                </a:solidFill>
                <a:latin typeface="Calibri" pitchFamily="34" charset="0"/>
                <a:ea typeface="Calibri" pitchFamily="34" charset="-122"/>
                <a:cs typeface="Calibri" pitchFamily="34" charset="-120"/>
              </a:rPr>
              <a:t>QC · Pareto tree</a:t>
            </a:r>
            <a:endParaRPr lang="en-US" sz="1000" dirty="0"/>
          </a:p>
          <a:p>
            <a:pPr algn="ctr" indent="0" marL="0">
              <a:buNone/>
            </a:pPr>
            <a:r>
              <a:rPr lang="en-US" sz="1000" dirty="0">
                <a:solidFill>
                  <a:srgbClr val="22303C"/>
                </a:solidFill>
                <a:latin typeface="Calibri" pitchFamily="34" charset="0"/>
                <a:ea typeface="Calibri" pitchFamily="34" charset="-122"/>
                <a:cs typeface="Calibri" pitchFamily="34" charset="-120"/>
              </a:rPr>
              <a:t>provenance · trust</a:t>
            </a:r>
            <a:endParaRPr lang="en-US" sz="1000" dirty="0"/>
          </a:p>
        </p:txBody>
      </p:sp>
      <p:sp>
        <p:nvSpPr>
          <p:cNvPr id="27" name="Shape 25"/>
          <p:cNvSpPr/>
          <p:nvPr/>
        </p:nvSpPr>
        <p:spPr>
          <a:xfrm flipH="1">
            <a:off x="3348533" y="2523744"/>
            <a:ext cx="3637483" cy="91"/>
          </a:xfrm>
          <a:prstGeom prst="line">
            <a:avLst/>
          </a:prstGeom>
          <a:noFill/>
          <a:ln w="19050">
            <a:solidFill>
              <a:srgbClr val="2E7D5B"/>
            </a:solidFill>
            <a:prstDash val="solid"/>
            <a:tailEnd type="triangle"/>
          </a:ln>
        </p:spPr>
      </p:sp>
      <p:sp>
        <p:nvSpPr>
          <p:cNvPr id="28" name="Text 26"/>
          <p:cNvSpPr txBox="1"/>
          <p:nvPr/>
        </p:nvSpPr>
        <p:spPr>
          <a:xfrm>
            <a:off x="3068726" y="2542032"/>
            <a:ext cx="3931920" cy="237744"/>
          </a:xfrm>
          <a:prstGeom prst="rect">
            <a:avLst/>
          </a:prstGeom>
          <a:noFill/>
          <a:ln/>
        </p:spPr>
        <p:txBody>
          <a:bodyPr wrap="square" lIns="0" tIns="0" rIns="0" bIns="0" rtlCol="0" anchor="ctr"/>
          <a:lstStyle/>
          <a:p>
            <a:pPr algn="ctr" indent="0" marL="0">
              <a:buNone/>
            </a:pPr>
            <a:r>
              <a:rPr lang="en-US" sz="1050" dirty="0">
                <a:solidFill>
                  <a:srgbClr val="2E7D5B"/>
                </a:solidFill>
                <a:latin typeface="Calibri" pitchFamily="34" charset="0"/>
                <a:ea typeface="Calibri" pitchFamily="34" charset="-122"/>
                <a:cs typeface="Calibri" pitchFamily="34" charset="-120"/>
              </a:rPr>
              <a:t>rejected → a structured reason, and another attempt</a:t>
            </a:r>
            <a:endParaRPr lang="en-US" sz="1050" dirty="0"/>
          </a:p>
        </p:txBody>
      </p:sp>
      <p:sp>
        <p:nvSpPr>
          <p:cNvPr id="29" name="Shape 27"/>
          <p:cNvSpPr/>
          <p:nvPr/>
        </p:nvSpPr>
        <p:spPr>
          <a:xfrm flipH="1">
            <a:off x="3255264" y="2761488"/>
            <a:ext cx="7461504" cy="91"/>
          </a:xfrm>
          <a:prstGeom prst="line">
            <a:avLst/>
          </a:prstGeom>
          <a:noFill/>
          <a:ln w="19050">
            <a:solidFill>
              <a:srgbClr val="1E6470"/>
            </a:solidFill>
            <a:prstDash val="solid"/>
            <a:tailEnd type="triangle"/>
          </a:ln>
        </p:spPr>
      </p:sp>
      <p:sp>
        <p:nvSpPr>
          <p:cNvPr id="30" name="Text 28"/>
          <p:cNvSpPr txBox="1"/>
          <p:nvPr/>
        </p:nvSpPr>
        <p:spPr>
          <a:xfrm>
            <a:off x="4747565" y="2779776"/>
            <a:ext cx="393192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alibri" pitchFamily="34" charset="0"/>
                <a:ea typeface="Calibri" pitchFamily="34" charset="-122"/>
                <a:cs typeface="Calibri" pitchFamily="34" charset="-120"/>
              </a:rPr>
              <a:t>the next decision sees every result so far</a:t>
            </a:r>
            <a:endParaRPr lang="en-US" sz="1050" dirty="0"/>
          </a:p>
        </p:txBody>
      </p:sp>
      <p:sp>
        <p:nvSpPr>
          <p:cNvPr id="31" name="Shape 29"/>
          <p:cNvSpPr/>
          <p:nvPr/>
        </p:nvSpPr>
        <p:spPr>
          <a:xfrm>
            <a:off x="457200" y="3200400"/>
            <a:ext cx="5715000" cy="2057400"/>
          </a:xfrm>
          <a:prstGeom prst="rect">
            <a:avLst/>
          </a:prstGeom>
          <a:solidFill>
            <a:srgbClr val="EEF2F5"/>
          </a:solidFill>
          <a:ln w="12700">
            <a:solidFill>
              <a:srgbClr val="EEF2F5"/>
            </a:solidFill>
            <a:prstDash val="solid"/>
          </a:ln>
        </p:spPr>
      </p:sp>
      <p:sp>
        <p:nvSpPr>
          <p:cNvPr id="32" name="Text 30"/>
          <p:cNvSpPr txBox="1"/>
          <p:nvPr/>
        </p:nvSpPr>
        <p:spPr>
          <a:xfrm>
            <a:off x="585216" y="3282696"/>
            <a:ext cx="54589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 job 22692304</a:t>
            </a:r>
            <a:endParaRPr lang="en-US" sz="1300" dirty="0"/>
          </a:p>
        </p:txBody>
      </p:sp>
      <p:sp>
        <p:nvSpPr>
          <p:cNvPr id="33" name="Text 31"/>
          <p:cNvSpPr txBox="1"/>
          <p:nvPr/>
        </p:nvSpPr>
        <p:spPr>
          <a:xfrm>
            <a:off x="585216"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rfd3_design → ligandmpnn_design → packmin → fastrelax → filter_shape → boltz_predict, 6/6 tasks ok in 2m53s</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four campaign objectives valued: total_score -272, shape_complementarity 0.591, complex_plddt 0.507, ligand_iptm 0.752</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admitted on the first attempt, 0.27 GPU-h and 0.06 CPU-h charged against the ledger</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per-tool cost measured for all six, and the specs corrected from it</a:t>
            </a:r>
            <a:endParaRPr lang="en-US" sz="1100" dirty="0"/>
          </a:p>
        </p:txBody>
      </p:sp>
      <p:sp>
        <p:nvSpPr>
          <p:cNvPr id="34" name="Shape 32"/>
          <p:cNvSpPr/>
          <p:nvPr/>
        </p:nvSpPr>
        <p:spPr>
          <a:xfrm>
            <a:off x="6473952" y="3200400"/>
            <a:ext cx="5715000" cy="2057400"/>
          </a:xfrm>
          <a:prstGeom prst="rect">
            <a:avLst/>
          </a:prstGeom>
          <a:solidFill>
            <a:srgbClr val="F9E0DD"/>
          </a:solidFill>
          <a:ln w="12700">
            <a:solidFill>
              <a:srgbClr val="F9E0DD"/>
            </a:solidFill>
            <a:prstDash val="solid"/>
          </a:ln>
        </p:spPr>
      </p:sp>
      <p:sp>
        <p:nvSpPr>
          <p:cNvPr id="35" name="Text 33"/>
          <p:cNvSpPr txBox="1"/>
          <p:nvPr/>
        </p:nvSpPr>
        <p:spPr>
          <a:xfrm>
            <a:off x="6601968" y="3282696"/>
            <a:ext cx="545896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one completed campaign is not</a:t>
            </a:r>
            <a:endParaRPr lang="en-US" sz="1300" dirty="0"/>
          </a:p>
        </p:txBody>
      </p:sp>
      <p:sp>
        <p:nvSpPr>
          <p:cNvPr id="36" name="Text 34"/>
          <p:cNvSpPr txBox="1"/>
          <p:nvPr/>
        </p:nvSpPr>
        <p:spPr>
          <a:xfrm>
            <a:off x="6601968" y="3593592"/>
            <a:ext cx="5458968" cy="15819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One lineage, one cycle, one draw. replicas &gt; 1 has never executed, so the independence invariant is unexercised.</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The node is suspect, not pass — the composition pattern is provisional. Nothing has ever been promoted on Delta, so the trusted path has never run.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 measurement has ever superseded a prediction, so the calibration machinery is untested against reality.</a:t>
            </a:r>
            <a:endParaRPr lang="en-US" sz="1100" dirty="0"/>
          </a:p>
        </p:txBody>
      </p:sp>
      <p:sp>
        <p:nvSpPr>
          <p:cNvPr id="37" name="Text 35"/>
          <p:cNvSpPr txBox="1"/>
          <p:nvPr/>
        </p:nvSpPr>
        <p:spPr>
          <a:xfrm>
            <a:off x="457200" y="5440680"/>
            <a:ext cx="11274552"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Read it as a floor, not a result. </a:t>
            </a:r>
            <a:pPr indent="0" marL="0">
              <a:buNone/>
            </a:pPr>
            <a:r>
              <a:rPr lang="en-US" sz="1300" dirty="0">
                <a:solidFill>
                  <a:srgbClr val="22303C"/>
                </a:solidFill>
                <a:latin typeface="Calibri" pitchFamily="34" charset="0"/>
                <a:ea typeface="Calibri" pitchFamily="34" charset="-122"/>
                <a:cs typeface="Calibri" pitchFamily="34" charset="-120"/>
              </a:rPr>
              <a:t>The engineering claim is that a machine-composed workflow survived contact with real tools on real hardware and was caught, costed and recorded on the way through. The science is one design.</a:t>
            </a:r>
            <a:endParaRPr lang="en-US" sz="1300" dirty="0"/>
          </a:p>
        </p:txBody>
      </p:sp>
      <p:sp>
        <p:nvSpPr>
          <p:cNvPr id="38" name="Text 3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from slides/run.json. Delta figures transcribed from plans/first-real-run.md; the raw logs live under $WORK_DIR on Delta.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facts set the whole design</a:t>
            </a:r>
            <a:endParaRPr lang="en-US" sz="2800" dirty="0"/>
          </a:p>
        </p:txBody>
      </p:sp>
      <p:sp>
        <p:nvSpPr>
          <p:cNvPr id="4" name="Shape 2"/>
          <p:cNvSpPr/>
          <p:nvPr/>
        </p:nvSpPr>
        <p:spPr>
          <a:xfrm>
            <a:off x="457200" y="1371600"/>
            <a:ext cx="11274552" cy="868680"/>
          </a:xfrm>
          <a:prstGeom prst="rect">
            <a:avLst/>
          </a:prstGeom>
          <a:solidFill>
            <a:srgbClr val="16222B"/>
          </a:solidFill>
          <a:ln w="12700">
            <a:solidFill>
              <a:srgbClr val="16222B"/>
            </a:solidFill>
            <a:prstDash val="solid"/>
          </a:ln>
        </p:spPr>
      </p:sp>
      <p:sp>
        <p:nvSpPr>
          <p:cNvPr id="5" name="Text 3"/>
          <p:cNvSpPr txBox="1"/>
          <p:nvPr/>
        </p:nvSpPr>
        <p:spPr>
          <a:xfrm>
            <a:off x="658368" y="1490472"/>
            <a:ext cx="10881360" cy="640080"/>
          </a:xfrm>
          <a:prstGeom prst="rect">
            <a:avLst/>
          </a:prstGeom>
          <a:noFill/>
          <a:ln/>
        </p:spPr>
        <p:txBody>
          <a:bodyPr wrap="square" lIns="0" tIns="0" rIns="0" bIns="0" rtlCol="0" anchor="ctr"/>
          <a:lstStyle/>
          <a:p>
            <a:pPr indent="0" marL="0">
              <a:buNone/>
            </a:pPr>
            <a:r>
              <a:rPr lang="en-US" sz="1650" b="1" dirty="0">
                <a:solidFill>
                  <a:srgbClr val="F0C898"/>
                </a:solidFill>
                <a:latin typeface="Calibri" pitchFamily="34" charset="0"/>
                <a:ea typeface="Calibri" pitchFamily="34" charset="-122"/>
                <a:cs typeface="Calibri" pitchFamily="34" charset="-120"/>
              </a:rPr>
              <a:t>A machine composes workflows nobody has reviewed — </a:t>
            </a:r>
            <a:pPr indent="0" marL="0">
              <a:buNone/>
            </a:pPr>
            <a:r>
              <a:rPr lang="en-US" sz="1650" dirty="0">
                <a:solidFill>
                  <a:srgbClr val="DCE5EC"/>
                </a:solidFill>
                <a:latin typeface="Calibri" pitchFamily="34" charset="0"/>
                <a:ea typeface="Calibri" pitchFamily="34" charset="-122"/>
                <a:cs typeface="Calibri" pitchFamily="34" charset="-120"/>
              </a:rPr>
              <a:t>out of scientific tools that fail </a:t>
            </a:r>
            <a:pPr indent="0" marL="0">
              <a:buNone/>
            </a:pPr>
            <a:r>
              <a:rPr lang="en-US" sz="1650" b="1" dirty="0">
                <a:solidFill>
                  <a:srgbClr val="F09A8C"/>
                </a:solidFill>
                <a:latin typeface="Calibri" pitchFamily="34" charset="0"/>
                <a:ea typeface="Calibri" pitchFamily="34" charset="-122"/>
                <a:cs typeface="Calibri" pitchFamily="34" charset="-120"/>
              </a:rPr>
              <a:t>silently</a:t>
            </a:r>
            <a:pPr indent="0" marL="0">
              <a:buNone/>
            </a:pPr>
            <a:r>
              <a:rPr lang="en-US" sz="1650" dirty="0">
                <a:solidFill>
                  <a:srgbClr val="DCE5EC"/>
                </a:solidFill>
                <a:latin typeface="Calibri" pitchFamily="34" charset="0"/>
                <a:ea typeface="Calibri" pitchFamily="34" charset="-122"/>
                <a:cs typeface="Calibri" pitchFamily="34" charset="-120"/>
              </a:rPr>
              <a:t> far more often than they crash. A generator returns a structure with no secondary structure, a confident designability score, and exit code 0.</a:t>
            </a:r>
            <a:endParaRPr lang="en-US" sz="16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450592"/>
          <a:ext cx="11274552" cy="914400"/>
        </p:xfrm>
        <a:graphic>
          <a:graphicData uri="http://schemas.openxmlformats.org/drawingml/2006/table">
            <a:tbl>
              <a:tblPr/>
              <a:tblGrid>
                <a:gridCol w="3017520"/>
                <a:gridCol w="6172200"/>
                <a:gridCol w="20848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consequence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means in the code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A policy emits intent, never a DAG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ExperimentIntent is a list of tool ids and parameters. Turning it into a graph is the composer's job, so control models stay interchangeable — and the import contract forbids the edge.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policy/base.py · core/decision.py:21</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48640">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Composition-time validation, then a dry-run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Five gates, then every task agent parameterizes without executing. Rejection is cheap and structured, so free composition is affordable to get wrong.</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compose/validate.py:30, :143</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Trust is scored on shape, and earned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novel graph shape runs under a cost cap, a forced dry-run, and is marked suspect whatever it scores. Promotion is N consecutive clean runs; demotion is immediate.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compose/interlock.py:146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1206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Exit code is never evidence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Every non-P6 tool declares mandatory QC gates, and a node whose verdict is FAIL is never eligible for the Pareto front, whatever it scored.</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tools/agent.py:110 · core/pareto.py:56</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603504">
                <a:tc>
                  <a:txBody>
                    <a:bodyPr/>
                    <a:lstStyle/>
                    <a:p>
                      <a:pPr algn="l" indent="0" marL="0">
                        <a:buNone/>
                      </a:pPr>
                      <a:r>
                        <a:rPr lang="en-US" sz="1150" b="1" dirty="0">
                          <a:solidFill>
                            <a:srgbClr val="22303C"/>
                          </a:solidFill>
                          <a:latin typeface="Calibri" pitchFamily="34" charset="0"/>
                          <a:ea typeface="Calibri" pitchFamily="34" charset="-122"/>
                          <a:cs typeface="Calibri" pitchFamily="34" charset="-120"/>
                        </a:rPr>
                        <a:t>One writer, and it decides termination</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executor owns all campaign state; every mutating block is await-free, so an observation is never taken mid-absorb. Budget and stagnation are facts a reasoner cannot see.</a:t>
                      </a:r>
                      <a:endParaRPr lang="en-US" sz="115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runtime/executor.py:242</a:t>
                      </a:r>
                      <a:endParaRPr lang="en-US" sz="9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943600"/>
            <a:ext cx="11274552"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flip side, said plainly: </a:t>
            </a:r>
            <a:pPr indent="0" marL="0">
              <a:buNone/>
            </a:pPr>
            <a:r>
              <a:rPr lang="en-US" sz="1300" dirty="0">
                <a:solidFill>
                  <a:srgbClr val="22303C"/>
                </a:solidFill>
                <a:latin typeface="Calibri" pitchFamily="34" charset="0"/>
                <a:ea typeface="Calibri" pitchFamily="34" charset="-122"/>
                <a:cs typeface="Calibri" pitchFamily="34" charset="-120"/>
              </a:rPr>
              <a:t>if a human reviewed every graph before it ran, you would not build most of this. You would write the DAG down once and schedule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Two coroutines, one writer</a:t>
            </a:r>
            <a:endParaRPr lang="en-US" sz="2800" dirty="0"/>
          </a:p>
        </p:txBody>
      </p:sp>
      <p:sp>
        <p:nvSpPr>
          <p:cNvPr id="4" name="Shape 2"/>
          <p:cNvSpPr/>
          <p:nvPr/>
        </p:nvSpPr>
        <p:spPr>
          <a:xfrm>
            <a:off x="457200" y="1371600"/>
            <a:ext cx="3200400" cy="347472"/>
          </a:xfrm>
          <a:prstGeom prst="rect">
            <a:avLst/>
          </a:prstGeom>
          <a:solidFill>
            <a:srgbClr val="3B4E8C"/>
          </a:solidFill>
          <a:ln w="12700">
            <a:solidFill>
              <a:srgbClr val="3B4E8C"/>
            </a:solidFill>
            <a:prstDash val="solid"/>
          </a:ln>
        </p:spPr>
      </p:sp>
      <p:sp>
        <p:nvSpPr>
          <p:cNvPr id="5" name="Text 3"/>
          <p:cNvSpPr txBox="1"/>
          <p:nvPr/>
        </p:nvSpPr>
        <p:spPr>
          <a:xfrm>
            <a:off x="548640" y="1371600"/>
            <a:ext cx="301752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REASONER — coroutine 1</a:t>
            </a:r>
            <a:endParaRPr lang="en-US" sz="1200" dirty="0"/>
          </a:p>
        </p:txBody>
      </p:sp>
      <p:sp>
        <p:nvSpPr>
          <p:cNvPr id="6" name="Shape 4"/>
          <p:cNvSpPr/>
          <p:nvPr/>
        </p:nvSpPr>
        <p:spPr>
          <a:xfrm>
            <a:off x="4160520" y="1371600"/>
            <a:ext cx="1417320" cy="347472"/>
          </a:xfrm>
          <a:prstGeom prst="rect">
            <a:avLst/>
          </a:prstGeom>
          <a:solidFill>
            <a:srgbClr val="5E6B75"/>
          </a:solidFill>
          <a:ln w="12700">
            <a:solidFill>
              <a:srgbClr val="5E6B75"/>
            </a:solidFill>
            <a:prstDash val="solid"/>
          </a:ln>
        </p:spPr>
      </p:sp>
      <p:sp>
        <p:nvSpPr>
          <p:cNvPr id="7" name="Text 5"/>
          <p:cNvSpPr txBox="1"/>
          <p:nvPr/>
        </p:nvSpPr>
        <p:spPr>
          <a:xfrm>
            <a:off x="4251960" y="1371600"/>
            <a:ext cx="123444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SESSION</a:t>
            </a:r>
            <a:endParaRPr lang="en-US" sz="1100" dirty="0"/>
          </a:p>
        </p:txBody>
      </p:sp>
      <p:sp>
        <p:nvSpPr>
          <p:cNvPr id="8" name="Shape 6"/>
          <p:cNvSpPr/>
          <p:nvPr/>
        </p:nvSpPr>
        <p:spPr>
          <a:xfrm>
            <a:off x="6080760" y="1371600"/>
            <a:ext cx="4480560" cy="347472"/>
          </a:xfrm>
          <a:prstGeom prst="rect">
            <a:avLst/>
          </a:prstGeom>
          <a:solidFill>
            <a:srgbClr val="1E6470"/>
          </a:solidFill>
          <a:ln w="12700">
            <a:solidFill>
              <a:srgbClr val="1E6470"/>
            </a:solidFill>
            <a:prstDash val="solid"/>
          </a:ln>
        </p:spPr>
      </p:sp>
      <p:sp>
        <p:nvSpPr>
          <p:cNvPr id="9" name="Text 7"/>
          <p:cNvSpPr txBox="1"/>
          <p:nvPr/>
        </p:nvSpPr>
        <p:spPr>
          <a:xfrm>
            <a:off x="6172200" y="1371600"/>
            <a:ext cx="4297680" cy="347472"/>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EXECUTOR — coroutine 2 · the ONLY writer</a:t>
            </a:r>
            <a:endParaRPr lang="en-US" sz="1200" dirty="0"/>
          </a:p>
        </p:txBody>
      </p:sp>
      <p:sp>
        <p:nvSpPr>
          <p:cNvPr id="10" name="Text 8"/>
          <p:cNvSpPr txBox="1"/>
          <p:nvPr/>
        </p:nvSpPr>
        <p:spPr>
          <a:xfrm>
            <a:off x="457200" y="1737360"/>
            <a:ext cx="32004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 or any conduct()</a:t>
            </a:r>
            <a:endParaRPr lang="en-US" sz="1050" dirty="0"/>
          </a:p>
        </p:txBody>
      </p:sp>
      <p:sp>
        <p:nvSpPr>
          <p:cNvPr id="11" name="Text 9"/>
          <p:cNvSpPr txBox="1"/>
          <p:nvPr/>
        </p:nvSpPr>
        <p:spPr>
          <a:xfrm>
            <a:off x="4160520" y="1737360"/>
            <a:ext cx="141732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core/session.py</a:t>
            </a:r>
            <a:endParaRPr lang="en-US" sz="1050" dirty="0"/>
          </a:p>
        </p:txBody>
      </p:sp>
      <p:sp>
        <p:nvSpPr>
          <p:cNvPr id="12" name="Text 10"/>
          <p:cNvSpPr txBox="1"/>
          <p:nvPr/>
        </p:nvSpPr>
        <p:spPr>
          <a:xfrm>
            <a:off x="6080760" y="1737360"/>
            <a:ext cx="448056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runtime/executor.py</a:t>
            </a:r>
            <a:endParaRPr lang="en-US" sz="1050" dirty="0"/>
          </a:p>
        </p:txBody>
      </p:sp>
      <p:sp>
        <p:nvSpPr>
          <p:cNvPr id="13" name="Shape 11"/>
          <p:cNvSpPr/>
          <p:nvPr/>
        </p:nvSpPr>
        <p:spPr>
          <a:xfrm>
            <a:off x="457200" y="2057400"/>
            <a:ext cx="3200400" cy="502920"/>
          </a:xfrm>
          <a:prstGeom prst="roundRect">
            <a:avLst>
              <a:gd name="adj" fmla="val 14545"/>
            </a:avLst>
          </a:prstGeom>
          <a:solidFill>
            <a:srgbClr val="FFFFFF"/>
          </a:solidFill>
          <a:ln w="19050">
            <a:solidFill>
              <a:srgbClr val="5E6B75"/>
            </a:solidFill>
            <a:prstDash val="solid"/>
          </a:ln>
        </p:spPr>
      </p:sp>
      <p:sp>
        <p:nvSpPr>
          <p:cNvPr id="14" name="Text 12"/>
          <p:cNvSpPr txBox="1"/>
          <p:nvPr/>
        </p:nvSpPr>
        <p:spPr>
          <a:xfrm>
            <a:off x="530352" y="2103120"/>
            <a:ext cx="3054096" cy="41148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p:txBody>
      </p:sp>
      <p:sp>
        <p:nvSpPr>
          <p:cNvPr id="15" name="Shape 13"/>
          <p:cNvSpPr/>
          <p:nvPr/>
        </p:nvSpPr>
        <p:spPr>
          <a:xfrm>
            <a:off x="6080760" y="2057400"/>
            <a:ext cx="4480560" cy="502920"/>
          </a:xfrm>
          <a:prstGeom prst="roundRect">
            <a:avLst>
              <a:gd name="adj" fmla="val 14545"/>
            </a:avLst>
          </a:prstGeom>
          <a:solidFill>
            <a:srgbClr val="E3F0F1"/>
          </a:solidFill>
          <a:ln w="19050">
            <a:solidFill>
              <a:srgbClr val="1E6470"/>
            </a:solidFill>
            <a:prstDash val="solid"/>
          </a:ln>
        </p:spPr>
      </p:sp>
      <p:sp>
        <p:nvSpPr>
          <p:cNvPr id="16" name="Text 14"/>
          <p:cNvSpPr txBox="1"/>
          <p:nvPr/>
        </p:nvSpPr>
        <p:spPr>
          <a:xfrm>
            <a:off x="6153912" y="210312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OBSERVE</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::observe:215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read-only, await-free</a:t>
            </a:r>
            <a:endParaRPr lang="en-US" sz="1400" dirty="0"/>
          </a:p>
        </p:txBody>
      </p:sp>
      <p:sp>
        <p:nvSpPr>
          <p:cNvPr id="17" name="Shape 15"/>
          <p:cNvSpPr/>
          <p:nvPr/>
        </p:nvSpPr>
        <p:spPr>
          <a:xfrm flipH="1">
            <a:off x="3685032" y="2308860"/>
            <a:ext cx="2368296" cy="91"/>
          </a:xfrm>
          <a:prstGeom prst="line">
            <a:avLst/>
          </a:prstGeom>
          <a:noFill/>
          <a:ln w="22225">
            <a:solidFill>
              <a:srgbClr val="1E6470"/>
            </a:solidFill>
            <a:prstDash val="solid"/>
            <a:tailEnd type="triangle"/>
          </a:ln>
        </p:spPr>
      </p:sp>
      <p:sp>
        <p:nvSpPr>
          <p:cNvPr id="18" name="Text 16"/>
          <p:cNvSpPr txBox="1"/>
          <p:nvPr/>
        </p:nvSpPr>
        <p:spPr>
          <a:xfrm>
            <a:off x="3749040" y="208026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CampaignObservation</a:t>
            </a:r>
            <a:endParaRPr lang="en-US" sz="1050" dirty="0"/>
          </a:p>
        </p:txBody>
      </p:sp>
      <p:sp>
        <p:nvSpPr>
          <p:cNvPr id="19" name="Shape 17"/>
          <p:cNvSpPr/>
          <p:nvPr/>
        </p:nvSpPr>
        <p:spPr>
          <a:xfrm>
            <a:off x="457200" y="2670048"/>
            <a:ext cx="3200400" cy="548640"/>
          </a:xfrm>
          <a:prstGeom prst="roundRect">
            <a:avLst>
              <a:gd name="adj" fmla="val 13333"/>
            </a:avLst>
          </a:prstGeom>
          <a:solidFill>
            <a:srgbClr val="E9EDF7"/>
          </a:solidFill>
          <a:ln w="31750">
            <a:solidFill>
              <a:srgbClr val="3B4E8C"/>
            </a:solidFill>
            <a:prstDash val="solid"/>
          </a:ln>
        </p:spPr>
      </p:sp>
      <p:sp>
        <p:nvSpPr>
          <p:cNvPr id="20" name="Text 18"/>
          <p:cNvSpPr txBox="1"/>
          <p:nvPr/>
        </p:nvSpPr>
        <p:spPr>
          <a:xfrm>
            <a:off x="530352" y="2715768"/>
            <a:ext cx="3054096" cy="457200"/>
          </a:xfrm>
          <a:prstGeom prst="rect">
            <a:avLst/>
          </a:prstGeom>
          <a:noFill/>
          <a:ln/>
        </p:spPr>
        <p:txBody>
          <a:bodyPr wrap="square" lIns="0" tIns="0" rIns="0" bIns="0" rtlCol="0" anchor="ctr"/>
          <a:lstStyle/>
          <a:p>
            <a:pPr algn="ctr" indent="0" marL="0">
              <a:buNone/>
            </a:pPr>
            <a:r>
              <a:rPr lang="en-US" sz="1400" b="1" dirty="0">
                <a:solidFill>
                  <a:srgbClr val="16222B"/>
                </a:solidFill>
                <a:latin typeface="Calibri" pitchFamily="34" charset="0"/>
                <a:ea typeface="Calibri" pitchFamily="34" charset="-122"/>
                <a:cs typeface="Calibri" pitchFamily="34" charset="-120"/>
              </a:rPr>
              <a:t>DECIDE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one swappable block</a:t>
            </a:r>
            <a:endParaRPr lang="en-US" sz="1400" dirty="0"/>
          </a:p>
        </p:txBody>
      </p:sp>
      <p:sp>
        <p:nvSpPr>
          <p:cNvPr id="21" name="Text 19"/>
          <p:cNvSpPr txBox="1"/>
          <p:nvPr/>
        </p:nvSpPr>
        <p:spPr>
          <a:xfrm>
            <a:off x="457200" y="3227832"/>
            <a:ext cx="3200400" cy="237744"/>
          </a:xfrm>
          <a:prstGeom prst="rect">
            <a:avLst/>
          </a:prstGeom>
          <a:noFill/>
          <a:ln/>
        </p:spPr>
        <p:txBody>
          <a:bodyPr wrap="square" lIns="0" tIns="0" rIns="0" bIns="0" rtlCol="0" anchor="ctr"/>
          <a:lstStyle/>
          <a:p>
            <a:pPr algn="ctr" indent="0" marL="0">
              <a:buNone/>
            </a:pPr>
            <a:r>
              <a:rPr lang="en-US" sz="1050" dirty="0">
                <a:solidFill>
                  <a:srgbClr val="3B4E8C"/>
                </a:solidFill>
                <a:latin typeface="Calibri" pitchFamily="34" charset="0"/>
                <a:ea typeface="Calibri" pitchFamily="34" charset="-122"/>
                <a:cs typeface="Calibri" pitchFamily="34" charset="-120"/>
              </a:rPr>
              <a:t>A agentic · B oracle · C external · D explicit</a:t>
            </a:r>
            <a:endParaRPr lang="en-US" sz="1050" dirty="0"/>
          </a:p>
        </p:txBody>
      </p:sp>
      <p:sp>
        <p:nvSpPr>
          <p:cNvPr id="22" name="Shape 20"/>
          <p:cNvSpPr/>
          <p:nvPr/>
        </p:nvSpPr>
        <p:spPr>
          <a:xfrm>
            <a:off x="457200" y="3529584"/>
            <a:ext cx="3200400" cy="640080"/>
          </a:xfrm>
          <a:prstGeom prst="roundRect">
            <a:avLst>
              <a:gd name="adj" fmla="val 11429"/>
            </a:avLst>
          </a:prstGeom>
          <a:solidFill>
            <a:srgbClr val="FFFFFF"/>
          </a:solidFill>
          <a:ln w="19050">
            <a:solidFill>
              <a:srgbClr val="5E6B75"/>
            </a:solidFill>
            <a:prstDash val="solid"/>
          </a:ln>
        </p:spPr>
      </p:sp>
      <p:sp>
        <p:nvSpPr>
          <p:cNvPr id="23" name="Text 21"/>
          <p:cNvSpPr txBox="1"/>
          <p:nvPr/>
        </p:nvSpPr>
        <p:spPr>
          <a:xfrm>
            <a:off x="530352" y="3575304"/>
            <a:ext cx="3054096" cy="54864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SUBMIT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_submit_with_retry:84</a:t>
            </a:r>
            <a:endParaRPr lang="en-US" sz="1400" dirty="0"/>
          </a:p>
        </p:txBody>
      </p:sp>
      <p:sp>
        <p:nvSpPr>
          <p:cNvPr id="24" name="Shape 22"/>
          <p:cNvSpPr/>
          <p:nvPr/>
        </p:nvSpPr>
        <p:spPr>
          <a:xfrm>
            <a:off x="6080760" y="3529584"/>
            <a:ext cx="4480560" cy="640080"/>
          </a:xfrm>
          <a:prstGeom prst="roundRect">
            <a:avLst>
              <a:gd name="adj" fmla="val 11429"/>
            </a:avLst>
          </a:prstGeom>
          <a:solidFill>
            <a:srgbClr val="E3F0F1"/>
          </a:solidFill>
          <a:ln w="19050">
            <a:solidFill>
              <a:srgbClr val="1E6470"/>
            </a:solidFill>
            <a:prstDash val="solid"/>
          </a:ln>
        </p:spPr>
      </p:sp>
      <p:sp>
        <p:nvSpPr>
          <p:cNvPr id="25" name="Text 23"/>
          <p:cNvSpPr txBox="1"/>
          <p:nvPr/>
        </p:nvSpPr>
        <p:spPr>
          <a:xfrm>
            <a:off x="6153912" y="3575304"/>
            <a:ext cx="4334256" cy="54864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ADMIT</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::_admit_once:304</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compose → gates → interlock</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dry-run → reserve</a:t>
            </a:r>
            <a:endParaRPr lang="en-US" sz="1400" dirty="0"/>
          </a:p>
        </p:txBody>
      </p:sp>
      <p:sp>
        <p:nvSpPr>
          <p:cNvPr id="26" name="Shape 24"/>
          <p:cNvSpPr/>
          <p:nvPr/>
        </p:nvSpPr>
        <p:spPr>
          <a:xfrm>
            <a:off x="3685032" y="3849624"/>
            <a:ext cx="2368296" cy="91"/>
          </a:xfrm>
          <a:prstGeom prst="line">
            <a:avLst/>
          </a:prstGeom>
          <a:noFill/>
          <a:ln w="22225">
            <a:solidFill>
              <a:srgbClr val="1E6470"/>
            </a:solidFill>
            <a:prstDash val="solid"/>
            <a:tailEnd type="triangle"/>
          </a:ln>
        </p:spPr>
      </p:sp>
      <p:sp>
        <p:nvSpPr>
          <p:cNvPr id="27" name="Text 25"/>
          <p:cNvSpPr txBox="1"/>
          <p:nvPr/>
        </p:nvSpPr>
        <p:spPr>
          <a:xfrm>
            <a:off x="3749040" y="3621024"/>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ExperimentIntent</a:t>
            </a:r>
            <a:endParaRPr lang="en-US" sz="1050" dirty="0"/>
          </a:p>
        </p:txBody>
      </p:sp>
      <p:sp>
        <p:nvSpPr>
          <p:cNvPr id="28" name="Shape 26"/>
          <p:cNvSpPr/>
          <p:nvPr/>
        </p:nvSpPr>
        <p:spPr>
          <a:xfrm>
            <a:off x="6080760" y="4526280"/>
            <a:ext cx="4480560" cy="502920"/>
          </a:xfrm>
          <a:prstGeom prst="roundRect">
            <a:avLst>
              <a:gd name="adj" fmla="val 14545"/>
            </a:avLst>
          </a:prstGeom>
          <a:solidFill>
            <a:srgbClr val="E3F0F1"/>
          </a:solidFill>
          <a:ln w="19050">
            <a:solidFill>
              <a:srgbClr val="1E6470"/>
            </a:solidFill>
            <a:prstDash val="solid"/>
          </a:ln>
        </p:spPr>
      </p:sp>
      <p:sp>
        <p:nvSpPr>
          <p:cNvPr id="29" name="Text 27"/>
          <p:cNvSpPr txBox="1"/>
          <p:nvPr/>
        </p:nvSpPr>
        <p:spPr>
          <a:xfrm>
            <a:off x="6153912" y="4572000"/>
            <a:ext cx="4334256" cy="411480"/>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DISPATCH</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Dispatcher.submit:165</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returns a handle, does not await</a:t>
            </a:r>
            <a:endParaRPr lang="en-US" sz="1400" dirty="0"/>
          </a:p>
        </p:txBody>
      </p:sp>
      <p:sp>
        <p:nvSpPr>
          <p:cNvPr id="30" name="Shape 28"/>
          <p:cNvSpPr/>
          <p:nvPr/>
        </p:nvSpPr>
        <p:spPr>
          <a:xfrm>
            <a:off x="457200" y="5138928"/>
            <a:ext cx="3200400" cy="603504"/>
          </a:xfrm>
          <a:prstGeom prst="roundRect">
            <a:avLst>
              <a:gd name="adj" fmla="val 12121"/>
            </a:avLst>
          </a:prstGeom>
          <a:solidFill>
            <a:srgbClr val="FFFFFF"/>
          </a:solidFill>
          <a:ln w="19050">
            <a:solidFill>
              <a:srgbClr val="5E6B75"/>
            </a:solidFill>
            <a:prstDash val="solid"/>
          </a:ln>
        </p:spPr>
      </p:sp>
      <p:sp>
        <p:nvSpPr>
          <p:cNvPr id="31" name="Text 29"/>
          <p:cNvSpPr txBox="1"/>
          <p:nvPr/>
        </p:nvSpPr>
        <p:spPr>
          <a:xfrm>
            <a:off x="530352" y="5184648"/>
            <a:ext cx="3054096" cy="512064"/>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WAIT</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result() / as_completed()</a:t>
            </a:r>
            <a:endParaRPr lang="en-US" sz="1400" dirty="0"/>
          </a:p>
        </p:txBody>
      </p:sp>
      <p:sp>
        <p:nvSpPr>
          <p:cNvPr id="32" name="Shape 30"/>
          <p:cNvSpPr/>
          <p:nvPr/>
        </p:nvSpPr>
        <p:spPr>
          <a:xfrm>
            <a:off x="6080760" y="5138928"/>
            <a:ext cx="4480560" cy="603504"/>
          </a:xfrm>
          <a:prstGeom prst="roundRect">
            <a:avLst>
              <a:gd name="adj" fmla="val 12121"/>
            </a:avLst>
          </a:prstGeom>
          <a:solidFill>
            <a:srgbClr val="E3F0F1"/>
          </a:solidFill>
          <a:ln w="19050">
            <a:solidFill>
              <a:srgbClr val="1E6470"/>
            </a:solidFill>
            <a:prstDash val="solid"/>
          </a:ln>
        </p:spPr>
      </p:sp>
      <p:sp>
        <p:nvSpPr>
          <p:cNvPr id="33" name="Text 31"/>
          <p:cNvSpPr txBox="1"/>
          <p:nvPr/>
        </p:nvSpPr>
        <p:spPr>
          <a:xfrm>
            <a:off x="6153912" y="5184648"/>
            <a:ext cx="4334256" cy="512064"/>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REAP</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  ::pump:744 → _reap:629</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collect · QC · _absorb:242</a:t>
            </a: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terminate?</a:t>
            </a:r>
            <a:endParaRPr lang="en-US" sz="1400" dirty="0"/>
          </a:p>
        </p:txBody>
      </p:sp>
      <p:sp>
        <p:nvSpPr>
          <p:cNvPr id="34" name="Shape 32"/>
          <p:cNvSpPr/>
          <p:nvPr/>
        </p:nvSpPr>
        <p:spPr>
          <a:xfrm flipH="1">
            <a:off x="3685032" y="5440680"/>
            <a:ext cx="2368296" cy="91"/>
          </a:xfrm>
          <a:prstGeom prst="line">
            <a:avLst/>
          </a:prstGeom>
          <a:noFill/>
          <a:ln w="22225">
            <a:solidFill>
              <a:srgbClr val="1E6470"/>
            </a:solidFill>
            <a:prstDash val="solid"/>
            <a:tailEnd type="triangle"/>
          </a:ln>
        </p:spPr>
      </p:sp>
      <p:sp>
        <p:nvSpPr>
          <p:cNvPr id="35" name="Text 33"/>
          <p:cNvSpPr txBox="1"/>
          <p:nvPr/>
        </p:nvSpPr>
        <p:spPr>
          <a:xfrm>
            <a:off x="3749040" y="5212080"/>
            <a:ext cx="2240280" cy="237744"/>
          </a:xfrm>
          <a:prstGeom prst="rect">
            <a:avLst/>
          </a:prstGeom>
          <a:noFill/>
          <a:ln/>
        </p:spPr>
        <p:txBody>
          <a:bodyPr wrap="square" lIns="0" tIns="0" rIns="0" bIns="0" rtlCol="0" anchor="ctr"/>
          <a:lstStyle/>
          <a:p>
            <a:pPr algn="ctr" indent="0" marL="0">
              <a:buNone/>
            </a:pPr>
            <a:r>
              <a:rPr lang="en-US" sz="1050" dirty="0">
                <a:solidFill>
                  <a:srgbClr val="1E6470"/>
                </a:solidFill>
                <a:latin typeface="Consolas" pitchFamily="34" charset="0"/>
                <a:ea typeface="Consolas" pitchFamily="34" charset="-122"/>
                <a:cs typeface="Consolas" pitchFamily="34" charset="-120"/>
              </a:rPr>
              <a:t>RunOutcome</a:t>
            </a:r>
            <a:endParaRPr lang="en-US" sz="1050" dirty="0"/>
          </a:p>
        </p:txBody>
      </p:sp>
      <p:sp>
        <p:nvSpPr>
          <p:cNvPr id="36" name="Text 34"/>
          <p:cNvSpPr txBox="1"/>
          <p:nvPr/>
        </p:nvSpPr>
        <p:spPr>
          <a:xfrm>
            <a:off x="640080" y="4206240"/>
            <a:ext cx="10058400"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SubmissionRejected(ValidationFailure) → on_rejected → retry, ≤ max_attempts</a:t>
            </a:r>
            <a:endParaRPr lang="en-US" sz="1050" dirty="0"/>
          </a:p>
        </p:txBody>
      </p:sp>
      <p:sp>
        <p:nvSpPr>
          <p:cNvPr id="37" name="Shape 35"/>
          <p:cNvSpPr/>
          <p:nvPr/>
        </p:nvSpPr>
        <p:spPr>
          <a:xfrm flipH="1">
            <a:off x="3685032" y="4425696"/>
            <a:ext cx="2368296" cy="91"/>
          </a:xfrm>
          <a:prstGeom prst="line">
            <a:avLst/>
          </a:prstGeom>
          <a:noFill/>
          <a:ln w="25400">
            <a:solidFill>
              <a:srgbClr val="C0392B"/>
            </a:solidFill>
            <a:prstDash val="solid"/>
            <a:tailEnd type="triangle"/>
          </a:ln>
        </p:spPr>
      </p:sp>
      <p:sp>
        <p:nvSpPr>
          <p:cNvPr id="38" name="Shape 36"/>
          <p:cNvSpPr/>
          <p:nvPr/>
        </p:nvSpPr>
        <p:spPr>
          <a:xfrm>
            <a:off x="457200" y="5870448"/>
            <a:ext cx="5669280" cy="731520"/>
          </a:xfrm>
          <a:prstGeom prst="rect">
            <a:avLst/>
          </a:prstGeom>
          <a:solidFill>
            <a:srgbClr val="E9EDF7"/>
          </a:solidFill>
          <a:ln w="12700">
            <a:solidFill>
              <a:srgbClr val="E9EDF7"/>
            </a:solidFill>
            <a:prstDash val="solid"/>
          </a:ln>
        </p:spPr>
      </p:sp>
      <p:sp>
        <p:nvSpPr>
          <p:cNvPr id="39" name="Text 37"/>
          <p:cNvSpPr txBox="1"/>
          <p:nvPr/>
        </p:nvSpPr>
        <p:spPr>
          <a:xfrm>
            <a:off x="585216" y="5952744"/>
            <a:ext cx="541324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the split exists</a:t>
            </a:r>
            <a:endParaRPr lang="en-US" sz="1300" dirty="0"/>
          </a:p>
        </p:txBody>
      </p:sp>
      <p:sp>
        <p:nvSpPr>
          <p:cNvPr id="40" name="Text 38"/>
          <p:cNvSpPr txBox="1"/>
          <p:nvPr/>
        </p:nvSpPr>
        <p:spPr>
          <a:xfrm>
            <a:off x="585216" y="6263640"/>
            <a:ext cx="5413248"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old manager awaited the whole graph where it submitted it, so the policy could not be consulted until the slowest lineage finished.</a:t>
            </a:r>
            <a:endParaRPr lang="en-US" sz="1050" dirty="0"/>
          </a:p>
        </p:txBody>
      </p:sp>
      <p:sp>
        <p:nvSpPr>
          <p:cNvPr id="41" name="Shape 39"/>
          <p:cNvSpPr/>
          <p:nvPr/>
        </p:nvSpPr>
        <p:spPr>
          <a:xfrm>
            <a:off x="6400800" y="5870448"/>
            <a:ext cx="5788152" cy="731520"/>
          </a:xfrm>
          <a:prstGeom prst="rect">
            <a:avLst/>
          </a:prstGeom>
          <a:solidFill>
            <a:srgbClr val="E3F0F1"/>
          </a:solidFill>
          <a:ln w="12700">
            <a:solidFill>
              <a:srgbClr val="E3F0F1"/>
            </a:solidFill>
            <a:prstDash val="solid"/>
          </a:ln>
        </p:spPr>
      </p:sp>
      <p:sp>
        <p:nvSpPr>
          <p:cNvPr id="42" name="Text 40"/>
          <p:cNvSpPr txBox="1"/>
          <p:nvPr/>
        </p:nvSpPr>
        <p:spPr>
          <a:xfrm>
            <a:off x="6528816" y="5952744"/>
            <a:ext cx="553212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keeps it honest</a:t>
            </a:r>
            <a:endParaRPr lang="en-US" sz="1300" dirty="0"/>
          </a:p>
        </p:txBody>
      </p:sp>
      <p:sp>
        <p:nvSpPr>
          <p:cNvPr id="43" name="Text 41"/>
          <p:cNvSpPr txBox="1"/>
          <p:nvPr/>
        </p:nvSpPr>
        <p:spPr>
          <a:xfrm>
            <a:off x="6528816" y="6263640"/>
            <a:ext cx="5532120" cy="2560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mutating block in the executor is await-free. Adding an await inside observe or _absorb reintroduces torn reads — a discipline, not something Python enforces.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Layers, and the four arrows that are not there</a:t>
            </a:r>
            <a:endParaRPr lang="en-US" sz="2800" dirty="0"/>
          </a:p>
        </p:txBody>
      </p:sp>
      <p:sp>
        <p:nvSpPr>
          <p:cNvPr id="4" name="Shape 2"/>
          <p:cNvSpPr/>
          <p:nvPr/>
        </p:nvSpPr>
        <p:spPr>
          <a:xfrm>
            <a:off x="457200" y="1298448"/>
            <a:ext cx="1005840" cy="475488"/>
          </a:xfrm>
          <a:prstGeom prst="rect">
            <a:avLst/>
          </a:prstGeom>
          <a:solidFill>
            <a:srgbClr val="1E6470"/>
          </a:solidFill>
          <a:ln w="12700">
            <a:solidFill>
              <a:srgbClr val="1E6470"/>
            </a:solidFill>
            <a:prstDash val="solid"/>
          </a:ln>
        </p:spPr>
      </p:sp>
      <p:sp>
        <p:nvSpPr>
          <p:cNvPr id="5" name="Text 3"/>
          <p:cNvSpPr txBox="1"/>
          <p:nvPr/>
        </p:nvSpPr>
        <p:spPr>
          <a:xfrm>
            <a:off x="457200" y="1298448"/>
            <a:ext cx="100584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control/</a:t>
            </a:r>
            <a:endParaRPr lang="en-US" sz="1100" dirty="0"/>
          </a:p>
        </p:txBody>
      </p:sp>
      <p:sp>
        <p:nvSpPr>
          <p:cNvPr id="6" name="Shape 4"/>
          <p:cNvSpPr/>
          <p:nvPr/>
        </p:nvSpPr>
        <p:spPr>
          <a:xfrm>
            <a:off x="1536192" y="1298448"/>
            <a:ext cx="5440680" cy="475488"/>
          </a:xfrm>
          <a:prstGeom prst="rect">
            <a:avLst/>
          </a:prstGeom>
          <a:solidFill>
            <a:srgbClr val="FFFFFF"/>
          </a:solidFill>
          <a:ln w="15875">
            <a:solidFill>
              <a:srgbClr val="1E6470"/>
            </a:solidFill>
            <a:prstDash val="solid"/>
          </a:ln>
        </p:spPr>
      </p:sp>
      <p:sp>
        <p:nvSpPr>
          <p:cNvPr id="7" name="Text 5"/>
          <p:cNvSpPr txBox="1"/>
          <p:nvPr/>
        </p:nvSpPr>
        <p:spPr>
          <a:xfrm>
            <a:off x="1609344" y="1344168"/>
            <a:ext cx="5294376" cy="38404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CampaignControlPlane · in-process ✔  HTTP+SSE ✔  MCP ╌ not built</a:t>
            </a:r>
            <a:endParaRPr lang="en-US" sz="1400" dirty="0"/>
          </a:p>
        </p:txBody>
      </p:sp>
      <p:sp>
        <p:nvSpPr>
          <p:cNvPr id="8" name="Shape 6"/>
          <p:cNvSpPr/>
          <p:nvPr/>
        </p:nvSpPr>
        <p:spPr>
          <a:xfrm>
            <a:off x="457200" y="1828800"/>
            <a:ext cx="1005840" cy="566928"/>
          </a:xfrm>
          <a:prstGeom prst="rect">
            <a:avLst/>
          </a:prstGeom>
          <a:solidFill>
            <a:srgbClr val="3B4E8C"/>
          </a:solidFill>
          <a:ln w="12700">
            <a:solidFill>
              <a:srgbClr val="3B4E8C"/>
            </a:solidFill>
            <a:prstDash val="solid"/>
          </a:ln>
        </p:spPr>
      </p:sp>
      <p:sp>
        <p:nvSpPr>
          <p:cNvPr id="9" name="Text 7"/>
          <p:cNvSpPr txBox="1"/>
          <p:nvPr/>
        </p:nvSpPr>
        <p:spPr>
          <a:xfrm>
            <a:off x="457200" y="1828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policy/</a:t>
            </a:r>
            <a:endParaRPr lang="en-US" sz="1100" dirty="0"/>
          </a:p>
        </p:txBody>
      </p:sp>
      <p:sp>
        <p:nvSpPr>
          <p:cNvPr id="10" name="Shape 8"/>
          <p:cNvSpPr/>
          <p:nvPr/>
        </p:nvSpPr>
        <p:spPr>
          <a:xfrm>
            <a:off x="1536192" y="1828800"/>
            <a:ext cx="5440680" cy="566928"/>
          </a:xfrm>
          <a:prstGeom prst="rect">
            <a:avLst/>
          </a:prstGeom>
          <a:solidFill>
            <a:srgbClr val="FFFFFF"/>
          </a:solidFill>
          <a:ln w="15875">
            <a:solidFill>
              <a:srgbClr val="3B4E8C"/>
            </a:solidFill>
            <a:prstDash val="solid"/>
          </a:ln>
        </p:spPr>
      </p:sp>
      <p:sp>
        <p:nvSpPr>
          <p:cNvPr id="11" name="Text 9"/>
          <p:cNvSpPr txBox="1"/>
          <p:nvPr/>
        </p:nvSpPr>
        <p:spPr>
          <a:xfrm>
            <a:off x="1609344" y="1874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agentic · B oracle · C external · D explicit · wrappers · driver</a:t>
            </a:r>
            <a:endParaRPr lang="en-US" sz="1400" dirty="0"/>
          </a:p>
        </p:txBody>
      </p:sp>
      <p:sp>
        <p:nvSpPr>
          <p:cNvPr id="12" name="Shape 10"/>
          <p:cNvSpPr/>
          <p:nvPr/>
        </p:nvSpPr>
        <p:spPr>
          <a:xfrm>
            <a:off x="457200" y="2450592"/>
            <a:ext cx="1005840" cy="365760"/>
          </a:xfrm>
          <a:prstGeom prst="rect">
            <a:avLst/>
          </a:prstGeom>
          <a:solidFill>
            <a:srgbClr val="3B4E8C"/>
          </a:solidFill>
          <a:ln w="12700">
            <a:solidFill>
              <a:srgbClr val="3B4E8C"/>
            </a:solidFill>
            <a:prstDash val="solid"/>
          </a:ln>
        </p:spPr>
      </p:sp>
      <p:sp>
        <p:nvSpPr>
          <p:cNvPr id="13" name="Text 11"/>
          <p:cNvSpPr txBox="1"/>
          <p:nvPr/>
        </p:nvSpPr>
        <p:spPr>
          <a:xfrm>
            <a:off x="457200" y="2450592"/>
            <a:ext cx="100584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manager.py</a:t>
            </a:r>
            <a:endParaRPr lang="en-US" sz="1100" dirty="0"/>
          </a:p>
        </p:txBody>
      </p:sp>
      <p:sp>
        <p:nvSpPr>
          <p:cNvPr id="14" name="Shape 12"/>
          <p:cNvSpPr/>
          <p:nvPr/>
        </p:nvSpPr>
        <p:spPr>
          <a:xfrm>
            <a:off x="1536192" y="2450592"/>
            <a:ext cx="5440680" cy="365760"/>
          </a:xfrm>
          <a:prstGeom prst="rect">
            <a:avLst/>
          </a:prstGeom>
          <a:solidFill>
            <a:srgbClr val="FFFFFF"/>
          </a:solidFill>
          <a:ln w="15875">
            <a:solidFill>
              <a:srgbClr val="3B4E8C"/>
            </a:solidFill>
            <a:prstDash val="solid"/>
          </a:ln>
        </p:spPr>
      </p:sp>
      <p:sp>
        <p:nvSpPr>
          <p:cNvPr id="15" name="Text 13"/>
          <p:cNvSpPr txBox="1"/>
          <p:nvPr/>
        </p:nvSpPr>
        <p:spPr>
          <a:xfrm>
            <a:off x="1609344" y="2496312"/>
            <a:ext cx="5294376" cy="27432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a facade: starts the executor and the reasoner, first to finish ends it</a:t>
            </a:r>
            <a:endParaRPr lang="en-US" sz="1400" dirty="0"/>
          </a:p>
        </p:txBody>
      </p:sp>
      <p:sp>
        <p:nvSpPr>
          <p:cNvPr id="16" name="Shape 14"/>
          <p:cNvSpPr/>
          <p:nvPr/>
        </p:nvSpPr>
        <p:spPr>
          <a:xfrm>
            <a:off x="457200" y="2871216"/>
            <a:ext cx="1005840" cy="566928"/>
          </a:xfrm>
          <a:prstGeom prst="rect">
            <a:avLst/>
          </a:prstGeom>
          <a:solidFill>
            <a:srgbClr val="1E6470"/>
          </a:solidFill>
          <a:ln w="12700">
            <a:solidFill>
              <a:srgbClr val="1E6470"/>
            </a:solidFill>
            <a:prstDash val="solid"/>
          </a:ln>
        </p:spPr>
      </p:sp>
      <p:sp>
        <p:nvSpPr>
          <p:cNvPr id="17" name="Text 15"/>
          <p:cNvSpPr txBox="1"/>
          <p:nvPr/>
        </p:nvSpPr>
        <p:spPr>
          <a:xfrm>
            <a:off x="457200" y="2871216"/>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runtime/</a:t>
            </a:r>
            <a:endParaRPr lang="en-US" sz="1100" dirty="0"/>
          </a:p>
        </p:txBody>
      </p:sp>
      <p:sp>
        <p:nvSpPr>
          <p:cNvPr id="18" name="Shape 16"/>
          <p:cNvSpPr/>
          <p:nvPr/>
        </p:nvSpPr>
        <p:spPr>
          <a:xfrm>
            <a:off x="1536192" y="2871216"/>
            <a:ext cx="5440680" cy="566928"/>
          </a:xfrm>
          <a:prstGeom prst="rect">
            <a:avLst/>
          </a:prstGeom>
          <a:solidFill>
            <a:srgbClr val="FFFFFF"/>
          </a:solidFill>
          <a:ln w="15875">
            <a:solidFill>
              <a:srgbClr val="1E6470"/>
            </a:solidFill>
            <a:prstDash val="solid"/>
          </a:ln>
        </p:spPr>
      </p:sp>
      <p:sp>
        <p:nvSpPr>
          <p:cNvPr id="19" name="Text 17"/>
          <p:cNvSpPr txBox="1"/>
          <p:nvPr/>
        </p:nvSpPr>
        <p:spPr>
          <a:xfrm>
            <a:off x="1609344" y="2916936"/>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executor.py — sole state owner · session.py · runservice.py</a:t>
            </a:r>
            <a:endParaRPr lang="en-US" sz="1400" dirty="0"/>
          </a:p>
        </p:txBody>
      </p:sp>
      <p:sp>
        <p:nvSpPr>
          <p:cNvPr id="20" name="Shape 18"/>
          <p:cNvSpPr/>
          <p:nvPr/>
        </p:nvSpPr>
        <p:spPr>
          <a:xfrm>
            <a:off x="457200" y="3493008"/>
            <a:ext cx="1005840" cy="566928"/>
          </a:xfrm>
          <a:prstGeom prst="rect">
            <a:avLst/>
          </a:prstGeom>
          <a:solidFill>
            <a:srgbClr val="2E7D5B"/>
          </a:solidFill>
          <a:ln w="12700">
            <a:solidFill>
              <a:srgbClr val="2E7D5B"/>
            </a:solidFill>
            <a:prstDash val="solid"/>
          </a:ln>
        </p:spPr>
      </p:sp>
      <p:sp>
        <p:nvSpPr>
          <p:cNvPr id="21" name="Text 19"/>
          <p:cNvSpPr txBox="1"/>
          <p:nvPr/>
        </p:nvSpPr>
        <p:spPr>
          <a:xfrm>
            <a:off x="457200" y="3493008"/>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compose/</a:t>
            </a:r>
            <a:endParaRPr lang="en-US" sz="1100" dirty="0"/>
          </a:p>
        </p:txBody>
      </p:sp>
      <p:sp>
        <p:nvSpPr>
          <p:cNvPr id="22" name="Shape 20"/>
          <p:cNvSpPr/>
          <p:nvPr/>
        </p:nvSpPr>
        <p:spPr>
          <a:xfrm>
            <a:off x="1536192" y="3493008"/>
            <a:ext cx="5440680" cy="566928"/>
          </a:xfrm>
          <a:prstGeom prst="rect">
            <a:avLst/>
          </a:prstGeom>
          <a:solidFill>
            <a:srgbClr val="FFFFFF"/>
          </a:solidFill>
          <a:ln w="15875">
            <a:solidFill>
              <a:srgbClr val="2E7D5B"/>
            </a:solidFill>
            <a:prstDash val="solid"/>
          </a:ln>
        </p:spPr>
      </p:sp>
      <p:sp>
        <p:nvSpPr>
          <p:cNvPr id="23" name="Text 21"/>
          <p:cNvSpPr txBox="1"/>
          <p:nvPr/>
        </p:nvSpPr>
        <p:spPr>
          <a:xfrm>
            <a:off x="1609344" y="3538728"/>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composer · graph · validate (5 gates) · interlock (trust)</a:t>
            </a:r>
            <a:endParaRPr lang="en-US" sz="1400" dirty="0"/>
          </a:p>
        </p:txBody>
      </p:sp>
      <p:sp>
        <p:nvSpPr>
          <p:cNvPr id="24" name="Shape 22"/>
          <p:cNvSpPr/>
          <p:nvPr/>
        </p:nvSpPr>
        <p:spPr>
          <a:xfrm>
            <a:off x="457200" y="4114800"/>
            <a:ext cx="1005840" cy="566928"/>
          </a:xfrm>
          <a:prstGeom prst="rect">
            <a:avLst/>
          </a:prstGeom>
          <a:solidFill>
            <a:srgbClr val="7A4A8C"/>
          </a:solidFill>
          <a:ln w="12700">
            <a:solidFill>
              <a:srgbClr val="7A4A8C"/>
            </a:solidFill>
            <a:prstDash val="solid"/>
          </a:ln>
        </p:spPr>
      </p:sp>
      <p:sp>
        <p:nvSpPr>
          <p:cNvPr id="25" name="Text 23"/>
          <p:cNvSpPr txBox="1"/>
          <p:nvPr/>
        </p:nvSpPr>
        <p:spPr>
          <a:xfrm>
            <a:off x="457200" y="4114800"/>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tools/</a:t>
            </a:r>
            <a:endParaRPr lang="en-US" sz="1100" dirty="0"/>
          </a:p>
        </p:txBody>
      </p:sp>
      <p:sp>
        <p:nvSpPr>
          <p:cNvPr id="26" name="Shape 24"/>
          <p:cNvSpPr/>
          <p:nvPr/>
        </p:nvSpPr>
        <p:spPr>
          <a:xfrm>
            <a:off x="1536192" y="4114800"/>
            <a:ext cx="5440680" cy="566928"/>
          </a:xfrm>
          <a:prstGeom prst="rect">
            <a:avLst/>
          </a:prstGeom>
          <a:solidFill>
            <a:srgbClr val="FFFFFF"/>
          </a:solidFill>
          <a:ln w="15875">
            <a:solidFill>
              <a:srgbClr val="7A4A8C"/>
            </a:solidFill>
            <a:prstDash val="solid"/>
          </a:ln>
        </p:spPr>
      </p:sp>
      <p:sp>
        <p:nvSpPr>
          <p:cNvPr id="27" name="Text 25"/>
          <p:cNvSpPr txBox="1"/>
          <p:nvPr/>
        </p:nvSpPr>
        <p:spPr>
          <a:xfrm>
            <a:off x="1609344" y="4160520"/>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spec · registry · agent (4 phases) · gates · the real adapters</a:t>
            </a:r>
            <a:endParaRPr lang="en-US" sz="1400" dirty="0"/>
          </a:p>
        </p:txBody>
      </p:sp>
      <p:sp>
        <p:nvSpPr>
          <p:cNvPr id="28" name="Shape 26"/>
          <p:cNvSpPr/>
          <p:nvPr/>
        </p:nvSpPr>
        <p:spPr>
          <a:xfrm>
            <a:off x="457200" y="4736592"/>
            <a:ext cx="1005840" cy="566928"/>
          </a:xfrm>
          <a:prstGeom prst="rect">
            <a:avLst/>
          </a:prstGeom>
          <a:solidFill>
            <a:srgbClr val="D9731A"/>
          </a:solidFill>
          <a:ln w="12700">
            <a:solidFill>
              <a:srgbClr val="D9731A"/>
            </a:solidFill>
            <a:prstDash val="solid"/>
          </a:ln>
        </p:spPr>
      </p:sp>
      <p:sp>
        <p:nvSpPr>
          <p:cNvPr id="29" name="Text 27"/>
          <p:cNvSpPr txBox="1"/>
          <p:nvPr/>
        </p:nvSpPr>
        <p:spPr>
          <a:xfrm>
            <a:off x="457200" y="4736592"/>
            <a:ext cx="10058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exec/</a:t>
            </a:r>
            <a:endParaRPr lang="en-US" sz="1100" dirty="0"/>
          </a:p>
        </p:txBody>
      </p:sp>
      <p:sp>
        <p:nvSpPr>
          <p:cNvPr id="30" name="Shape 28"/>
          <p:cNvSpPr/>
          <p:nvPr/>
        </p:nvSpPr>
        <p:spPr>
          <a:xfrm>
            <a:off x="1536192" y="4736592"/>
            <a:ext cx="5440680" cy="566928"/>
          </a:xfrm>
          <a:prstGeom prst="rect">
            <a:avLst/>
          </a:prstGeom>
          <a:solidFill>
            <a:srgbClr val="FFFFFF"/>
          </a:solidFill>
          <a:ln w="15875">
            <a:solidFill>
              <a:srgbClr val="D9731A"/>
            </a:solidFill>
            <a:prstDash val="solid"/>
          </a:ln>
        </p:spPr>
      </p:sp>
      <p:sp>
        <p:nvSpPr>
          <p:cNvPr id="31" name="Text 29"/>
          <p:cNvSpPr txBox="1"/>
          <p:nvPr/>
        </p:nvSpPr>
        <p:spPr>
          <a:xfrm>
            <a:off x="1609344" y="4782312"/>
            <a:ext cx="5294376" cy="475488"/>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backend · dispatch · ledger · resources ╌ no caller</a:t>
            </a:r>
            <a:endParaRPr lang="en-US" sz="1400" dirty="0"/>
          </a:p>
        </p:txBody>
      </p:sp>
      <p:sp>
        <p:nvSpPr>
          <p:cNvPr id="32" name="Shape 30"/>
          <p:cNvSpPr/>
          <p:nvPr/>
        </p:nvSpPr>
        <p:spPr>
          <a:xfrm>
            <a:off x="457200" y="5358384"/>
            <a:ext cx="1005840" cy="457200"/>
          </a:xfrm>
          <a:prstGeom prst="rect">
            <a:avLst/>
          </a:prstGeom>
          <a:solidFill>
            <a:srgbClr val="5E6B75"/>
          </a:solidFill>
          <a:ln w="12700">
            <a:solidFill>
              <a:srgbClr val="5E6B75"/>
            </a:solidFill>
            <a:prstDash val="solid"/>
          </a:ln>
        </p:spPr>
      </p:sp>
      <p:sp>
        <p:nvSpPr>
          <p:cNvPr id="33" name="Text 31"/>
          <p:cNvSpPr txBox="1"/>
          <p:nvPr/>
        </p:nvSpPr>
        <p:spPr>
          <a:xfrm>
            <a:off x="457200" y="5358384"/>
            <a:ext cx="100584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onsolas" pitchFamily="34" charset="0"/>
                <a:ea typeface="Consolas" pitchFamily="34" charset="-122"/>
                <a:cs typeface="Consolas" pitchFamily="34" charset="-120"/>
              </a:rPr>
              <a:t>core/</a:t>
            </a:r>
            <a:endParaRPr lang="en-US" sz="1100" dirty="0"/>
          </a:p>
        </p:txBody>
      </p:sp>
      <p:sp>
        <p:nvSpPr>
          <p:cNvPr id="34" name="Shape 32"/>
          <p:cNvSpPr/>
          <p:nvPr/>
        </p:nvSpPr>
        <p:spPr>
          <a:xfrm>
            <a:off x="1536192" y="5358384"/>
            <a:ext cx="5440680" cy="457200"/>
          </a:xfrm>
          <a:prstGeom prst="rect">
            <a:avLst/>
          </a:prstGeom>
          <a:solidFill>
            <a:srgbClr val="FFFFFF"/>
          </a:solidFill>
          <a:ln w="15875">
            <a:solidFill>
              <a:srgbClr val="5E6B75"/>
            </a:solidFill>
            <a:prstDash val="solid"/>
          </a:ln>
        </p:spPr>
      </p:sp>
      <p:sp>
        <p:nvSpPr>
          <p:cNvPr id="35" name="Text 33"/>
          <p:cNvSpPr txBox="1"/>
          <p:nvPr/>
        </p:nvSpPr>
        <p:spPr>
          <a:xfrm>
            <a:off x="1609344" y="5404104"/>
            <a:ext cx="5294376" cy="365760"/>
          </a:xfrm>
          <a:prstGeom prst="rect">
            <a:avLst/>
          </a:prstGeom>
          <a:noFill/>
          <a:ln/>
        </p:spPr>
        <p:txBody>
          <a:bodyPr wrap="square" lIns="0" tIns="0" rIns="0" bIns="0" rtlCol="0" anchor="ctr"/>
          <a:lstStyle/>
          <a:p>
            <a:pPr algn="l" indent="0" marL="0">
              <a:buNone/>
            </a:pPr>
            <a:r>
              <a:rPr lang="en-US" sz="1000" b="1" dirty="0">
                <a:solidFill>
                  <a:srgbClr val="16222B"/>
                </a:solidFill>
                <a:latin typeface="Calibri" pitchFamily="34" charset="0"/>
                <a:ea typeface="Calibri" pitchFamily="34" charset="-122"/>
                <a:cs typeface="Calibri" pitchFamily="34" charset="-120"/>
              </a:rPr>
              <a:t>tree · pareto · qc · budget · decision · session · results · provenance</a:t>
            </a:r>
            <a:endParaRPr lang="en-US" sz="1400" dirty="0"/>
          </a:p>
        </p:txBody>
      </p:sp>
      <p:sp>
        <p:nvSpPr>
          <p:cNvPr id="36" name="Shape 34"/>
          <p:cNvSpPr/>
          <p:nvPr/>
        </p:nvSpPr>
        <p:spPr>
          <a:xfrm>
            <a:off x="1536192" y="5888736"/>
            <a:ext cx="5440680" cy="457200"/>
          </a:xfrm>
          <a:prstGeom prst="rect">
            <a:avLst/>
          </a:prstGeom>
          <a:solidFill>
            <a:srgbClr val="FCEBDD"/>
          </a:solidFill>
          <a:ln w="19050">
            <a:solidFill>
              <a:srgbClr val="D9731A"/>
            </a:solidFill>
            <a:prstDash val="solid"/>
          </a:ln>
        </p:spPr>
      </p:sp>
      <p:sp>
        <p:nvSpPr>
          <p:cNvPr id="37" name="Text 35"/>
          <p:cNvSpPr txBox="1"/>
          <p:nvPr/>
        </p:nvSpPr>
        <p:spPr>
          <a:xfrm>
            <a:off x="1609344" y="5934456"/>
            <a:ext cx="5294376" cy="365760"/>
          </a:xfrm>
          <a:prstGeom prst="rect">
            <a:avLst/>
          </a:prstGeom>
          <a:noFill/>
          <a:ln/>
        </p:spPr>
        <p:txBody>
          <a:bodyPr wrap="square" lIns="0" tIns="0" rIns="0" bIns="0" rtlCol="0" anchor="ctr"/>
          <a:lstStyle/>
          <a:p>
            <a:pPr algn="l" indent="0" marL="0">
              <a:buNone/>
            </a:pPr>
            <a:r>
              <a:rPr lang="en-US" sz="1000" b="1" dirty="0">
                <a:solidFill>
                  <a:srgbClr val="D9731A"/>
                </a:solidFill>
                <a:latin typeface="Calibri" pitchFamily="34" charset="0"/>
                <a:ea typeface="Calibri" pitchFamily="34" charset="-122"/>
                <a:cs typeface="Calibri" pitchFamily="34" charset="-120"/>
              </a:rPr>
              <a:t>radical.asyncflow.WorkflowEngine → rhapsody backend</a:t>
            </a:r>
            <a:endParaRPr lang="en-US" sz="1400" dirty="0"/>
          </a:p>
          <a:p>
            <a:pPr algn="l" indent="0" marL="0">
              <a:buNone/>
            </a:pPr>
            <a:endParaRPr lang="en-US" sz="1400" dirty="0"/>
          </a:p>
          <a:p>
            <a:pPr algn="l" indent="0" marL="0">
              <a:buNone/>
            </a:pPr>
            <a:r>
              <a:rPr lang="en-US" sz="850" dirty="0">
                <a:solidFill>
                  <a:srgbClr val="5E6B75"/>
                </a:solidFill>
                <a:latin typeface="Calibri" pitchFamily="34" charset="0"/>
                <a:ea typeface="Calibri" pitchFamily="34" charset="-122"/>
                <a:cs typeface="Calibri" pitchFamily="34" charset="-120"/>
              </a:rPr>
              <a:t>   concurrent · dragon · radical · dask — chosen BY NAME from the campaign spec</a:t>
            </a:r>
            <a:endParaRPr lang="en-US" sz="1400" dirty="0"/>
          </a:p>
        </p:txBody>
      </p:sp>
      <p:sp>
        <p:nvSpPr>
          <p:cNvPr id="38" name="Shape 36"/>
          <p:cNvSpPr/>
          <p:nvPr/>
        </p:nvSpPr>
        <p:spPr>
          <a:xfrm>
            <a:off x="2359152" y="5303520"/>
            <a:ext cx="91" cy="557784"/>
          </a:xfrm>
          <a:prstGeom prst="line">
            <a:avLst/>
          </a:prstGeom>
          <a:noFill/>
          <a:ln w="19050">
            <a:solidFill>
              <a:srgbClr val="D9731A"/>
            </a:solidFill>
            <a:prstDash val="solid"/>
            <a:tailEnd type="triangle"/>
          </a:ln>
        </p:spPr>
      </p:sp>
      <p:sp>
        <p:nvSpPr>
          <p:cNvPr id="39" name="Text 37"/>
          <p:cNvSpPr txBox="1"/>
          <p:nvPr/>
        </p:nvSpPr>
        <p:spPr>
          <a:xfrm>
            <a:off x="7068312" y="1938528"/>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tools</a:t>
            </a:r>
            <a:endParaRPr lang="en-US" sz="900" dirty="0"/>
          </a:p>
        </p:txBody>
      </p:sp>
      <p:sp>
        <p:nvSpPr>
          <p:cNvPr id="40" name="Text 38"/>
          <p:cNvSpPr txBox="1"/>
          <p:nvPr/>
        </p:nvSpPr>
        <p:spPr>
          <a:xfrm>
            <a:off x="7068312" y="2157984"/>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exec</a:t>
            </a:r>
            <a:endParaRPr lang="en-US" sz="900" dirty="0"/>
          </a:p>
        </p:txBody>
      </p:sp>
      <p:sp>
        <p:nvSpPr>
          <p:cNvPr id="41" name="Text 39"/>
          <p:cNvSpPr txBox="1"/>
          <p:nvPr/>
        </p:nvSpPr>
        <p:spPr>
          <a:xfrm>
            <a:off x="7068312" y="237744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policy ✗ runtime</a:t>
            </a:r>
            <a:endParaRPr lang="en-US" sz="900" dirty="0"/>
          </a:p>
        </p:txBody>
      </p:sp>
      <p:sp>
        <p:nvSpPr>
          <p:cNvPr id="42" name="Text 40"/>
          <p:cNvSpPr txBox="1"/>
          <p:nvPr/>
        </p:nvSpPr>
        <p:spPr>
          <a:xfrm>
            <a:off x="7068312" y="3611880"/>
            <a:ext cx="1325880" cy="219456"/>
          </a:xfrm>
          <a:prstGeom prst="rect">
            <a:avLst/>
          </a:prstGeom>
          <a:noFill/>
          <a:ln/>
        </p:spPr>
        <p:txBody>
          <a:bodyPr wrap="square" lIns="0" tIns="0" rIns="0" bIns="0" rtlCol="0" anchor="ctr"/>
          <a:lstStyle/>
          <a:p>
            <a:pPr indent="0" marL="0">
              <a:buNone/>
            </a:pPr>
            <a:r>
              <a:rPr lang="en-US" sz="900" b="1" dirty="0">
                <a:solidFill>
                  <a:srgbClr val="C0392B"/>
                </a:solidFill>
                <a:latin typeface="Consolas" pitchFamily="34" charset="0"/>
                <a:ea typeface="Consolas" pitchFamily="34" charset="-122"/>
                <a:cs typeface="Consolas" pitchFamily="34" charset="-120"/>
              </a:rPr>
              <a:t>compose ✗ exec</a:t>
            </a:r>
            <a:endParaRPr lang="en-US" sz="900" dirty="0"/>
          </a:p>
        </p:txBody>
      </p:sp>
      <p:sp>
        <p:nvSpPr>
          <p:cNvPr id="43" name="Shape 41"/>
          <p:cNvSpPr/>
          <p:nvPr/>
        </p:nvSpPr>
        <p:spPr>
          <a:xfrm>
            <a:off x="8439912" y="1325880"/>
            <a:ext cx="3294583" cy="1691640"/>
          </a:xfrm>
          <a:prstGeom prst="rect">
            <a:avLst/>
          </a:prstGeom>
          <a:solidFill>
            <a:srgbClr val="E9EDF7"/>
          </a:solidFill>
          <a:ln w="12700">
            <a:solidFill>
              <a:srgbClr val="E9EDF7"/>
            </a:solidFill>
            <a:prstDash val="solid"/>
          </a:ln>
        </p:spPr>
      </p:sp>
      <p:sp>
        <p:nvSpPr>
          <p:cNvPr id="44" name="Text 42"/>
          <p:cNvSpPr txBox="1"/>
          <p:nvPr/>
        </p:nvSpPr>
        <p:spPr>
          <a:xfrm>
            <a:off x="8567928" y="1408176"/>
            <a:ext cx="3038551"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two rules that carry weight</a:t>
            </a:r>
            <a:endParaRPr lang="en-US" sz="1300" dirty="0"/>
          </a:p>
        </p:txBody>
      </p:sp>
      <p:sp>
        <p:nvSpPr>
          <p:cNvPr id="45" name="Text 43"/>
          <p:cNvSpPr txBox="1"/>
          <p:nvPr/>
        </p:nvSpPr>
        <p:spPr>
          <a:xfrm>
            <a:off x="8567928" y="1719072"/>
            <a:ext cx="3038551" cy="121615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policy ↛ tools | exec | runtime — a policy that can reach a tool adapter stops emitting abstract intent, and control models stop being swappable.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compose ↛ exec — validation stays testable with no backend at all. That is the entire laptop test tier.</a:t>
            </a:r>
            <a:endParaRPr lang="en-US" sz="1000" dirty="0"/>
          </a:p>
        </p:txBody>
      </p:sp>
      <p:sp>
        <p:nvSpPr>
          <p:cNvPr id="46" name="Shape 44"/>
          <p:cNvSpPr/>
          <p:nvPr/>
        </p:nvSpPr>
        <p:spPr>
          <a:xfrm>
            <a:off x="8439912" y="3154680"/>
            <a:ext cx="3294583" cy="1554480"/>
          </a:xfrm>
          <a:prstGeom prst="rect">
            <a:avLst/>
          </a:prstGeom>
          <a:solidFill>
            <a:srgbClr val="E4F1EA"/>
          </a:solidFill>
          <a:ln w="12700">
            <a:solidFill>
              <a:srgbClr val="E4F1EA"/>
            </a:solidFill>
            <a:prstDash val="solid"/>
          </a:ln>
        </p:spPr>
      </p:sp>
      <p:sp>
        <p:nvSpPr>
          <p:cNvPr id="47" name="Text 45"/>
          <p:cNvSpPr txBox="1"/>
          <p:nvPr/>
        </p:nvSpPr>
        <p:spPr>
          <a:xfrm>
            <a:off x="8567928" y="3236976"/>
            <a:ext cx="3038551"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Asserted, not reviewed</a:t>
            </a:r>
            <a:endParaRPr lang="en-US" sz="1300" dirty="0"/>
          </a:p>
        </p:txBody>
      </p:sp>
      <p:sp>
        <p:nvSpPr>
          <p:cNvPr id="48" name="Text 46"/>
          <p:cNvSpPr txBox="1"/>
          <p:nvPr/>
        </p:nvSpPr>
        <p:spPr>
          <a:xfrm>
            <a:off x="8567928" y="3547872"/>
            <a:ext cx="3038551" cy="10789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tests/test_layering.py walks the source with ast and checks every internal import against one table.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ast.walk deliberately: adapters defer science imports into run() bodies, and a deferred cross-layer import is exactly as fatal as one at the top.</a:t>
            </a:r>
            <a:endParaRPr lang="en-US" sz="1000" dirty="0"/>
          </a:p>
        </p:txBody>
      </p:sp>
      <p:sp>
        <p:nvSpPr>
          <p:cNvPr id="49" name="Shape 47"/>
          <p:cNvSpPr/>
          <p:nvPr/>
        </p:nvSpPr>
        <p:spPr>
          <a:xfrm>
            <a:off x="8439912" y="4846320"/>
            <a:ext cx="3294583" cy="1627632"/>
          </a:xfrm>
          <a:prstGeom prst="rect">
            <a:avLst/>
          </a:prstGeom>
          <a:solidFill>
            <a:srgbClr val="EEF2F5"/>
          </a:solidFill>
          <a:ln w="12700">
            <a:solidFill>
              <a:srgbClr val="EEF2F5"/>
            </a:solidFill>
            <a:prstDash val="solid"/>
          </a:ln>
        </p:spPr>
      </p:sp>
      <p:sp>
        <p:nvSpPr>
          <p:cNvPr id="50" name="Text 48"/>
          <p:cNvSpPr txBox="1"/>
          <p:nvPr/>
        </p:nvSpPr>
        <p:spPr>
          <a:xfrm>
            <a:off x="8567928" y="4928616"/>
            <a:ext cx="3038551"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writing it found</a:t>
            </a:r>
            <a:endParaRPr lang="en-US" sz="1300" dirty="0"/>
          </a:p>
        </p:txBody>
      </p:sp>
      <p:sp>
        <p:nvSpPr>
          <p:cNvPr id="51" name="Text 49"/>
          <p:cNvSpPr txBox="1"/>
          <p:nvPr/>
        </p:nvSpPr>
        <p:spPr>
          <a:xfrm>
            <a:off x="8567928" y="5239512"/>
            <a:ext cx="3038551" cy="1152144"/>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Two undocumented edges — manager → tools, and cli / __main__ in no row at all. Both are recorded now: a contract with undocumented edges is not a contract.</a:t>
            </a:r>
            <a:endParaRPr lang="en-US" sz="1000" dirty="0"/>
          </a:p>
        </p:txBody>
      </p:sp>
      <p:sp>
        <p:nvSpPr>
          <p:cNvPr id="52" name="Text 5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policy → core is the edge that forced core/session.py and core/results.py to exist: a reasoner may hold a RunOutcome, so RunOutcome cannot live in exec/.</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DATA FLOW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experiment, and the type at every hop</a:t>
            </a:r>
            <a:endParaRPr lang="en-US" sz="2800" dirty="0"/>
          </a:p>
        </p:txBody>
      </p:sp>
      <p:sp>
        <p:nvSpPr>
          <p:cNvPr id="4" name="Shape 2"/>
          <p:cNvSpPr/>
          <p:nvPr/>
        </p:nvSpPr>
        <p:spPr>
          <a:xfrm>
            <a:off x="457200" y="1371600"/>
            <a:ext cx="1783080" cy="1143000"/>
          </a:xfrm>
          <a:prstGeom prst="roundRect">
            <a:avLst>
              <a:gd name="adj" fmla="val 6400"/>
            </a:avLst>
          </a:prstGeom>
          <a:solidFill>
            <a:srgbClr val="FFFFFF"/>
          </a:solidFill>
          <a:ln w="25400">
            <a:solidFill>
              <a:srgbClr val="1E6470"/>
            </a:solidFill>
            <a:prstDash val="solid"/>
          </a:ln>
        </p:spPr>
      </p:sp>
      <p:sp>
        <p:nvSpPr>
          <p:cNvPr id="5" name="Text 3"/>
          <p:cNvSpPr txBox="1"/>
          <p:nvPr/>
        </p:nvSpPr>
        <p:spPr>
          <a:xfrm>
            <a:off x="53035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CampaignObservation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front · population · budget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tools · last rejection</a:t>
            </a:r>
            <a:endParaRPr lang="en-US" sz="1400" dirty="0"/>
          </a:p>
        </p:txBody>
      </p:sp>
      <p:sp>
        <p:nvSpPr>
          <p:cNvPr id="6" name="Text 4"/>
          <p:cNvSpPr txBox="1"/>
          <p:nvPr/>
        </p:nvSpPr>
        <p:spPr>
          <a:xfrm>
            <a:off x="45720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executor.py:215</a:t>
            </a:r>
            <a:endParaRPr lang="en-US" sz="1050" dirty="0"/>
          </a:p>
        </p:txBody>
      </p:sp>
      <p:sp>
        <p:nvSpPr>
          <p:cNvPr id="7" name="Shape 5"/>
          <p:cNvSpPr/>
          <p:nvPr/>
        </p:nvSpPr>
        <p:spPr>
          <a:xfrm>
            <a:off x="2249424" y="1938528"/>
            <a:ext cx="100584" cy="91"/>
          </a:xfrm>
          <a:prstGeom prst="line">
            <a:avLst/>
          </a:prstGeom>
          <a:noFill/>
          <a:ln w="15875">
            <a:solidFill>
              <a:srgbClr val="5E6B75"/>
            </a:solidFill>
            <a:prstDash val="solid"/>
            <a:tailEnd type="triangle"/>
          </a:ln>
        </p:spPr>
      </p:sp>
      <p:sp>
        <p:nvSpPr>
          <p:cNvPr id="8" name="Shape 6"/>
          <p:cNvSpPr/>
          <p:nvPr/>
        </p:nvSpPr>
        <p:spPr>
          <a:xfrm>
            <a:off x="2359152" y="1371600"/>
            <a:ext cx="1783080" cy="1143000"/>
          </a:xfrm>
          <a:prstGeom prst="roundRect">
            <a:avLst>
              <a:gd name="adj" fmla="val 6400"/>
            </a:avLst>
          </a:prstGeom>
          <a:solidFill>
            <a:srgbClr val="FFFFFF"/>
          </a:solidFill>
          <a:ln w="25400">
            <a:solidFill>
              <a:srgbClr val="3B4E8C"/>
            </a:solidFill>
            <a:prstDash val="solid"/>
          </a:ln>
        </p:spPr>
      </p:sp>
      <p:sp>
        <p:nvSpPr>
          <p:cNvPr id="9" name="Text 7"/>
          <p:cNvSpPr txBox="1"/>
          <p:nvPr/>
        </p:nvSpPr>
        <p:spPr>
          <a:xfrm>
            <a:off x="2432304"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Decision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ComposeAndRun | Backtrack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RequestHuman | Stop</a:t>
            </a:r>
            <a:endParaRPr lang="en-US" sz="1400" dirty="0"/>
          </a:p>
        </p:txBody>
      </p:sp>
      <p:sp>
        <p:nvSpPr>
          <p:cNvPr id="10" name="Text 8"/>
          <p:cNvSpPr txBox="1"/>
          <p:nvPr/>
        </p:nvSpPr>
        <p:spPr>
          <a:xfrm>
            <a:off x="2359152"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policy/*.py</a:t>
            </a:r>
            <a:endParaRPr lang="en-US" sz="1050" dirty="0"/>
          </a:p>
        </p:txBody>
      </p:sp>
      <p:sp>
        <p:nvSpPr>
          <p:cNvPr id="11" name="Shape 9"/>
          <p:cNvSpPr/>
          <p:nvPr/>
        </p:nvSpPr>
        <p:spPr>
          <a:xfrm>
            <a:off x="4151376" y="1938528"/>
            <a:ext cx="100584" cy="91"/>
          </a:xfrm>
          <a:prstGeom prst="line">
            <a:avLst/>
          </a:prstGeom>
          <a:noFill/>
          <a:ln w="15875">
            <a:solidFill>
              <a:srgbClr val="5E6B75"/>
            </a:solidFill>
            <a:prstDash val="solid"/>
            <a:tailEnd type="triangle"/>
          </a:ln>
        </p:spPr>
      </p:sp>
      <p:sp>
        <p:nvSpPr>
          <p:cNvPr id="12" name="Shape 10"/>
          <p:cNvSpPr/>
          <p:nvPr/>
        </p:nvSpPr>
        <p:spPr>
          <a:xfrm>
            <a:off x="4261104" y="1371600"/>
            <a:ext cx="1783080" cy="1143000"/>
          </a:xfrm>
          <a:prstGeom prst="roundRect">
            <a:avLst>
              <a:gd name="adj" fmla="val 6400"/>
            </a:avLst>
          </a:prstGeom>
          <a:solidFill>
            <a:srgbClr val="FFFFFF"/>
          </a:solidFill>
          <a:ln w="25400">
            <a:solidFill>
              <a:srgbClr val="3B4E8C"/>
            </a:solidFill>
            <a:prstDash val="solid"/>
          </a:ln>
        </p:spPr>
      </p:sp>
      <p:sp>
        <p:nvSpPr>
          <p:cNvPr id="13" name="Text 11"/>
          <p:cNvSpPr txBox="1"/>
          <p:nvPr/>
        </p:nvSpPr>
        <p:spPr>
          <a:xfrm>
            <a:off x="4334256"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ExperimentIntent</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tool ids + params + replicas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ABSTRACT — never a DAG</a:t>
            </a:r>
            <a:endParaRPr lang="en-US" sz="1400" dirty="0"/>
          </a:p>
        </p:txBody>
      </p:sp>
      <p:sp>
        <p:nvSpPr>
          <p:cNvPr id="14" name="Text 12"/>
          <p:cNvSpPr txBox="1"/>
          <p:nvPr/>
        </p:nvSpPr>
        <p:spPr>
          <a:xfrm>
            <a:off x="4261104"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core/decision.py:21</a:t>
            </a:r>
            <a:endParaRPr lang="en-US" sz="1050" dirty="0"/>
          </a:p>
        </p:txBody>
      </p:sp>
      <p:sp>
        <p:nvSpPr>
          <p:cNvPr id="15" name="Shape 13"/>
          <p:cNvSpPr/>
          <p:nvPr/>
        </p:nvSpPr>
        <p:spPr>
          <a:xfrm>
            <a:off x="6053328" y="1938528"/>
            <a:ext cx="100584" cy="91"/>
          </a:xfrm>
          <a:prstGeom prst="line">
            <a:avLst/>
          </a:prstGeom>
          <a:noFill/>
          <a:ln w="15875">
            <a:solidFill>
              <a:srgbClr val="5E6B75"/>
            </a:solidFill>
            <a:prstDash val="solid"/>
            <a:tailEnd type="triangle"/>
          </a:ln>
        </p:spPr>
      </p:sp>
      <p:sp>
        <p:nvSpPr>
          <p:cNvPr id="16" name="Shape 14"/>
          <p:cNvSpPr/>
          <p:nvPr/>
        </p:nvSpPr>
        <p:spPr>
          <a:xfrm>
            <a:off x="6163056" y="1371600"/>
            <a:ext cx="1783080" cy="1143000"/>
          </a:xfrm>
          <a:prstGeom prst="roundRect">
            <a:avLst>
              <a:gd name="adj" fmla="val 6400"/>
            </a:avLst>
          </a:prstGeom>
          <a:solidFill>
            <a:srgbClr val="FFFFFF"/>
          </a:solidFill>
          <a:ln w="25400">
            <a:solidFill>
              <a:srgbClr val="2E7D5B"/>
            </a:solidFill>
            <a:prstDash val="solid"/>
          </a:ln>
        </p:spPr>
      </p:sp>
      <p:sp>
        <p:nvSpPr>
          <p:cNvPr id="17" name="Text 15"/>
          <p:cNvSpPr txBox="1"/>
          <p:nvPr/>
        </p:nvSpPr>
        <p:spPr>
          <a:xfrm>
            <a:off x="6236208"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TaskGraph</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typed nodes, deps, per-lineage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seed — plain data</a:t>
            </a:r>
            <a:endParaRPr lang="en-US" sz="1400" dirty="0"/>
          </a:p>
        </p:txBody>
      </p:sp>
      <p:sp>
        <p:nvSpPr>
          <p:cNvPr id="18" name="Text 16"/>
          <p:cNvSpPr txBox="1"/>
          <p:nvPr/>
        </p:nvSpPr>
        <p:spPr>
          <a:xfrm>
            <a:off x="6163056"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composer.py:36</a:t>
            </a:r>
            <a:endParaRPr lang="en-US" sz="1050" dirty="0"/>
          </a:p>
        </p:txBody>
      </p:sp>
      <p:sp>
        <p:nvSpPr>
          <p:cNvPr id="19" name="Shape 17"/>
          <p:cNvSpPr/>
          <p:nvPr/>
        </p:nvSpPr>
        <p:spPr>
          <a:xfrm>
            <a:off x="7955280" y="1938528"/>
            <a:ext cx="100584" cy="91"/>
          </a:xfrm>
          <a:prstGeom prst="line">
            <a:avLst/>
          </a:prstGeom>
          <a:noFill/>
          <a:ln w="15875">
            <a:solidFill>
              <a:srgbClr val="5E6B75"/>
            </a:solidFill>
            <a:prstDash val="solid"/>
            <a:tailEnd type="triangle"/>
          </a:ln>
        </p:spPr>
      </p:sp>
      <p:sp>
        <p:nvSpPr>
          <p:cNvPr id="20" name="Shape 18"/>
          <p:cNvSpPr/>
          <p:nvPr/>
        </p:nvSpPr>
        <p:spPr>
          <a:xfrm>
            <a:off x="8065008" y="1371600"/>
            <a:ext cx="1783080" cy="1143000"/>
          </a:xfrm>
          <a:prstGeom prst="roundRect">
            <a:avLst>
              <a:gd name="adj" fmla="val 6400"/>
            </a:avLst>
          </a:prstGeom>
          <a:solidFill>
            <a:srgbClr val="FFFFFF"/>
          </a:solidFill>
          <a:ln w="25400">
            <a:solidFill>
              <a:srgbClr val="D9731A"/>
            </a:solidFill>
            <a:prstDash val="solid"/>
          </a:ln>
        </p:spPr>
      </p:sp>
      <p:sp>
        <p:nvSpPr>
          <p:cNvPr id="21" name="Text 19"/>
          <p:cNvSpPr txBox="1"/>
          <p:nvPr/>
        </p:nvSpPr>
        <p:spPr>
          <a:xfrm>
            <a:off x="8138160"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DispatchHandle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futures + gather,</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NOT awaited</a:t>
            </a:r>
            <a:endParaRPr lang="en-US" sz="1400" dirty="0"/>
          </a:p>
        </p:txBody>
      </p:sp>
      <p:sp>
        <p:nvSpPr>
          <p:cNvPr id="22" name="Text 20"/>
          <p:cNvSpPr txBox="1"/>
          <p:nvPr/>
        </p:nvSpPr>
        <p:spPr>
          <a:xfrm>
            <a:off x="8065008"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dispatch.py:165</a:t>
            </a:r>
            <a:endParaRPr lang="en-US" sz="1050" dirty="0"/>
          </a:p>
        </p:txBody>
      </p:sp>
      <p:sp>
        <p:nvSpPr>
          <p:cNvPr id="23" name="Shape 21"/>
          <p:cNvSpPr/>
          <p:nvPr/>
        </p:nvSpPr>
        <p:spPr>
          <a:xfrm>
            <a:off x="9857232" y="1938528"/>
            <a:ext cx="100584" cy="91"/>
          </a:xfrm>
          <a:prstGeom prst="line">
            <a:avLst/>
          </a:prstGeom>
          <a:noFill/>
          <a:ln w="15875">
            <a:solidFill>
              <a:srgbClr val="5E6B75"/>
            </a:solidFill>
            <a:prstDash val="solid"/>
            <a:tailEnd type="triangle"/>
          </a:ln>
        </p:spPr>
      </p:sp>
      <p:sp>
        <p:nvSpPr>
          <p:cNvPr id="24" name="Shape 22"/>
          <p:cNvSpPr/>
          <p:nvPr/>
        </p:nvSpPr>
        <p:spPr>
          <a:xfrm>
            <a:off x="9966960" y="1371600"/>
            <a:ext cx="1783080" cy="1143000"/>
          </a:xfrm>
          <a:prstGeom prst="roundRect">
            <a:avLst>
              <a:gd name="adj" fmla="val 6400"/>
            </a:avLst>
          </a:prstGeom>
          <a:solidFill>
            <a:srgbClr val="FFFFFF"/>
          </a:solidFill>
          <a:ln w="25400">
            <a:solidFill>
              <a:srgbClr val="1E6470"/>
            </a:solidFill>
            <a:prstDash val="solid"/>
          </a:ln>
        </p:spPr>
      </p:sp>
      <p:sp>
        <p:nvSpPr>
          <p:cNvPr id="25" name="Text 23"/>
          <p:cNvSpPr txBox="1"/>
          <p:nvPr/>
        </p:nvSpPr>
        <p:spPr>
          <a:xfrm>
            <a:off x="10040112" y="1417320"/>
            <a:ext cx="1636776" cy="1051560"/>
          </a:xfrm>
          <a:prstGeom prst="rect">
            <a:avLst/>
          </a:prstGeom>
          <a:noFill/>
          <a:ln/>
        </p:spPr>
        <p:txBody>
          <a:bodyPr wrap="square" lIns="0" tIns="0" rIns="0" bIns="0" rtlCol="0" anchor="ctr"/>
          <a:lstStyle/>
          <a:p>
            <a:pPr algn="ctr" indent="0" marL="0">
              <a:buNone/>
            </a:pPr>
            <a:r>
              <a:rPr lang="en-US" sz="1000" b="1" dirty="0">
                <a:solidFill>
                  <a:srgbClr val="16222B"/>
                </a:solidFill>
                <a:latin typeface="Calibri" pitchFamily="34" charset="0"/>
                <a:ea typeface="Calibri" pitchFamily="34" charset="-122"/>
                <a:cs typeface="Calibri" pitchFamily="34" charset="-120"/>
              </a:rPr>
              <a:t>RunOutcome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serializable, core-typed,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written to the ledger</a:t>
            </a:r>
            <a:endParaRPr lang="en-US" sz="1400" dirty="0"/>
          </a:p>
        </p:txBody>
      </p:sp>
      <p:sp>
        <p:nvSpPr>
          <p:cNvPr id="26" name="Text 24"/>
          <p:cNvSpPr txBox="1"/>
          <p:nvPr/>
        </p:nvSpPr>
        <p:spPr>
          <a:xfrm>
            <a:off x="9966960" y="2542032"/>
            <a:ext cx="178308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dispatch.py:91</a:t>
            </a:r>
            <a:endParaRPr lang="en-US" sz="1050" dirty="0"/>
          </a:p>
        </p:txBody>
      </p:sp>
      <p:sp>
        <p:nvSpPr>
          <p:cNvPr id="27" name="Shape 25"/>
          <p:cNvSpPr/>
          <p:nvPr/>
        </p:nvSpPr>
        <p:spPr>
          <a:xfrm>
            <a:off x="457200" y="3017520"/>
            <a:ext cx="5669280" cy="1234440"/>
          </a:xfrm>
          <a:prstGeom prst="rect">
            <a:avLst/>
          </a:prstGeom>
          <a:solidFill>
            <a:srgbClr val="16222B"/>
          </a:solidFill>
          <a:ln w="12700">
            <a:solidFill>
              <a:srgbClr val="16222B"/>
            </a:solidFill>
            <a:prstDash val="solid"/>
          </a:ln>
        </p:spPr>
      </p:sp>
      <p:sp>
        <p:nvSpPr>
          <p:cNvPr id="28" name="Text 26"/>
          <p:cNvSpPr txBox="1"/>
          <p:nvPr/>
        </p:nvSpPr>
        <p:spPr>
          <a:xfrm>
            <a:off x="557784" y="3108960"/>
            <a:ext cx="546811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impress-a run campaigns/mock-stabilize.yaml --model D</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campaign : mock-stabilize-D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cycles   : 3</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stop     : target front size 3 reached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nodes    : 6  front: 4</a:t>
            </a:r>
            <a:endParaRPr lang="en-US" sz="1000" dirty="0"/>
          </a:p>
        </p:txBody>
      </p:sp>
      <p:sp>
        <p:nvSpPr>
          <p:cNvPr id="29" name="Text 27"/>
          <p:cNvSpPr txBox="1"/>
          <p:nvPr/>
        </p:nvSpPr>
        <p:spPr>
          <a:xfrm>
            <a:off x="457200" y="4270248"/>
            <a:ext cx="566928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run.json — mined from a real run, this checkout</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4572000"/>
          <a:ext cx="5669280" cy="914400"/>
        </p:xfrm>
        <a:graphic>
          <a:graphicData uri="http://schemas.openxmlformats.org/drawingml/2006/table">
            <a:tbl>
              <a:tblPr/>
              <a:tblGrid>
                <a:gridCol w="731520"/>
                <a:gridCol w="1234440"/>
                <a:gridCol w="685800"/>
                <a:gridCol w="1051560"/>
                <a:gridCol w="196596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shape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est. gpu-h</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admitted?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9fdcfd20…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0.165</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b="1" dirty="0">
                          <a:solidFill>
                            <a:srgbClr val="C0392B"/>
                          </a:solidFill>
                          <a:latin typeface="Calibri" pitchFamily="34" charset="0"/>
                          <a:ea typeface="Calibri" pitchFamily="34" charset="-122"/>
                          <a:cs typeface="Calibri" pitchFamily="34" charset="-120"/>
                        </a:rPr>
                        <a:t>refused — 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r0004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66bb4923…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0.110</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E7D4F"/>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31" name="Shape 28"/>
          <p:cNvSpPr/>
          <p:nvPr/>
        </p:nvSpPr>
        <p:spPr>
          <a:xfrm>
            <a:off x="6400800" y="3017520"/>
            <a:ext cx="5788152" cy="1463040"/>
          </a:xfrm>
          <a:prstGeom prst="rect">
            <a:avLst/>
          </a:prstGeom>
          <a:solidFill>
            <a:srgbClr val="F9E0DD"/>
          </a:solidFill>
          <a:ln w="12700">
            <a:solidFill>
              <a:srgbClr val="F9E0DD"/>
            </a:solidFill>
            <a:prstDash val="solid"/>
          </a:ln>
        </p:spPr>
      </p:sp>
      <p:sp>
        <p:nvSpPr>
          <p:cNvPr id="32" name="Text 29"/>
          <p:cNvSpPr txBox="1"/>
          <p:nvPr/>
        </p:nvSpPr>
        <p:spPr>
          <a:xfrm>
            <a:off x="6528816" y="3099816"/>
            <a:ext cx="55321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the first row is</a:t>
            </a:r>
            <a:endParaRPr lang="en-US" sz="1300" dirty="0"/>
          </a:p>
        </p:txBody>
      </p:sp>
      <p:sp>
        <p:nvSpPr>
          <p:cNvPr id="33" name="Text 30"/>
          <p:cNvSpPr txBox="1"/>
          <p:nvPr/>
        </p:nvSpPr>
        <p:spPr>
          <a:xfrm>
            <a:off x="6528816" y="3410712"/>
            <a:ext cx="5532120"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provisional pattern capped at 10% of available cpu_hours (1.500 &gt; 1.200)</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policy answered by shrinking from 3 lineages to 2 and resubmitting. That is on_rejected doing its job: a refusal costs an attempt, not the experiment.</a:t>
            </a:r>
            <a:endParaRPr lang="en-US" sz="1050" dirty="0"/>
          </a:p>
        </p:txBody>
      </p:sp>
      <p:sp>
        <p:nvSpPr>
          <p:cNvPr id="34" name="Shape 31"/>
          <p:cNvSpPr/>
          <p:nvPr/>
        </p:nvSpPr>
        <p:spPr>
          <a:xfrm>
            <a:off x="6400800" y="4617720"/>
            <a:ext cx="5788152" cy="1417320"/>
          </a:xfrm>
          <a:prstGeom prst="rect">
            <a:avLst/>
          </a:prstGeom>
          <a:solidFill>
            <a:srgbClr val="EEF2F5"/>
          </a:solidFill>
          <a:ln w="12700">
            <a:solidFill>
              <a:srgbClr val="EEF2F5"/>
            </a:solidFill>
            <a:prstDash val="solid"/>
          </a:ln>
        </p:spPr>
      </p:sp>
      <p:sp>
        <p:nvSpPr>
          <p:cNvPr id="35" name="Text 32"/>
          <p:cNvSpPr txBox="1"/>
          <p:nvPr/>
        </p:nvSpPr>
        <p:spPr>
          <a:xfrm>
            <a:off x="6528816" y="4700016"/>
            <a:ext cx="55321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And what the rest of the run shows</a:t>
            </a:r>
            <a:endParaRPr lang="en-US" sz="1300" dirty="0"/>
          </a:p>
        </p:txBody>
      </p:sp>
      <p:sp>
        <p:nvSpPr>
          <p:cNvPr id="36" name="Text 33"/>
          <p:cNvSpPr txBox="1"/>
          <p:nvPr/>
        </p:nvSpPr>
        <p:spPr>
          <a:xfrm>
            <a:off x="6528816" y="5010912"/>
            <a:ext cx="5532120" cy="9418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6 design nodes over 3 cycles, every one marked suspect — the pattern was provisional until the third clean run promoted it (1 promotion, in trust_events).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Front of 4; the campaign stopped on "target front size 3 reached" rather than on budget.</a:t>
            </a:r>
            <a:endParaRPr lang="en-US" sz="1050" dirty="0"/>
          </a:p>
        </p:txBody>
      </p:sp>
      <p:sp>
        <p:nvSpPr>
          <p:cNvPr id="37" name="Text 3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whole slide is one laptop run against the mock toolkit: real manager, real policies, real composer and validator, stubbed science.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ADMISSION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Admission: five gates, an interlock, and a reservation</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6903720" cy="914400"/>
        </p:xfrm>
        <a:graphic>
          <a:graphicData uri="http://schemas.openxmlformats.org/drawingml/2006/table">
            <a:tbl>
              <a:tblPr/>
              <a:tblGrid>
                <a:gridCol w="1371600"/>
                <a:gridCol w="4937760"/>
                <a:gridCol w="5943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rejects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1 type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edge whose producer type does not unify with the consumer's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:38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2 structure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cycles, empty graphs, a tool composed without its QC gates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:70</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3 parameter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out of range, unknown, or declared frozen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:86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4 resource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SCHEDULED P6, oversize shapes, unproven GPU API, external submission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:103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5 budget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estimate exceeding remaining budget in any dimension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950" dirty="0">
                          <a:solidFill>
                            <a:srgbClr val="5E6B75"/>
                          </a:solidFill>
                          <a:latin typeface="Consolas" pitchFamily="34" charset="0"/>
                          <a:ea typeface="Consolas" pitchFamily="34" charset="-122"/>
                          <a:cs typeface="Consolas" pitchFamily="34" charset="-120"/>
                        </a:rPr>
                        <a:t>:134</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57200" y="3429000"/>
          <a:ext cx="6903720" cy="914400"/>
        </p:xfrm>
        <a:graphic>
          <a:graphicData uri="http://schemas.openxmlformats.org/drawingml/2006/table">
            <a:tbl>
              <a:tblPr/>
              <a:tblGrid>
                <a:gridCol w="1371600"/>
                <a:gridCol w="3840480"/>
                <a:gridCol w="1691640"/>
              </a:tblGrid>
              <a:tr h="27432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then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it does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where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INTERLOCK</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instance in flight for an untrusted shape; a cost cap for a provisional one — both transient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executor.py:331, :337</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DRY-RUN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every task agent parameterizes WITHOUT executing</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validate.py:143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RESERVE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re-check against AVAILABLE budget — remaining less what in-flight runs hold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executor.py:355</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6" name="Text 2"/>
          <p:cNvSpPr txBox="1"/>
          <p:nvPr/>
        </p:nvSpPr>
        <p:spPr>
          <a:xfrm>
            <a:off x="457200" y="5029200"/>
            <a:ext cx="6949440" cy="54864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Why RESERVE is last: </a:t>
            </a:r>
            <a:pPr indent="0" marL="0">
              <a:buNone/>
            </a:pPr>
            <a:r>
              <a:rPr lang="en-US" sz="1150" dirty="0">
                <a:solidFill>
                  <a:srgbClr val="22303C"/>
                </a:solidFill>
                <a:latin typeface="Calibri" pitchFamily="34" charset="0"/>
                <a:ea typeface="Calibri" pitchFamily="34" charset="-122"/>
                <a:cs typeface="Calibri" pitchFamily="34" charset="-120"/>
              </a:rPr>
              <a:t>the dry-run awaits. By the time it returns, another submission may have claimed the budget gate 5 saw, so reserve re-checks and is the authoritative decision.</a:t>
            </a:r>
            <a:endParaRPr lang="en-US" sz="1150" dirty="0"/>
          </a:p>
        </p:txBody>
      </p:sp>
      <p:sp>
        <p:nvSpPr>
          <p:cNvPr id="7" name="Shape 3"/>
          <p:cNvSpPr/>
          <p:nvPr/>
        </p:nvSpPr>
        <p:spPr>
          <a:xfrm>
            <a:off x="7635240" y="1371600"/>
            <a:ext cx="4099255" cy="960120"/>
          </a:xfrm>
          <a:prstGeom prst="rect">
            <a:avLst/>
          </a:prstGeom>
          <a:solidFill>
            <a:srgbClr val="E4F1EA"/>
          </a:solidFill>
          <a:ln w="12700">
            <a:solidFill>
              <a:srgbClr val="E4F1EA"/>
            </a:solidFill>
            <a:prstDash val="solid"/>
          </a:ln>
        </p:spPr>
      </p:sp>
      <p:sp>
        <p:nvSpPr>
          <p:cNvPr id="8" name="Text 4"/>
          <p:cNvSpPr txBox="1"/>
          <p:nvPr/>
        </p:nvSpPr>
        <p:spPr>
          <a:xfrm>
            <a:off x="7763256" y="1453896"/>
            <a:ext cx="384322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pattern is the graph's SHAPE</a:t>
            </a:r>
            <a:endParaRPr lang="en-US" sz="1300" dirty="0"/>
          </a:p>
        </p:txBody>
      </p:sp>
      <p:sp>
        <p:nvSpPr>
          <p:cNvPr id="9" name="Text 5"/>
          <p:cNvSpPr txBox="1"/>
          <p:nvPr/>
        </p:nvSpPr>
        <p:spPr>
          <a:xfrm>
            <a:off x="7763256" y="1764792"/>
            <a:ext cx="3843223" cy="4846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tool ids plus typed edges, hashed. Parameter values are excluded, so tuning a parameter does not reset accumulated trust.</a:t>
            </a:r>
            <a:endParaRPr lang="en-US" sz="1050" dirty="0"/>
          </a:p>
        </p:txBody>
      </p:sp>
      <p:graphicFrame>
        <p:nvGraphicFramePr>
          <p:cNvPr id="22" name="Table 2"/>
          <p:cNvGraphicFramePr>
            <a:graphicFrameLocks noGrp="1"/>
          </p:cNvGraphicFramePr>
          <p:nvPr>
            <p:extLst>
              <p:ext uri="{D42A27DB-BD31-4B8C-83A1-F6EECF244321}">
                <p14:modId xmlns:p14="http://schemas.microsoft.com/office/powerpoint/2010/main" val="1579011935"/>
              </p:ext>
            </p:extLst>
          </p:nvPr>
        </p:nvGraphicFramePr>
        <p:xfrm>
          <a:off x="7635240" y="2514600"/>
          <a:ext cx="4114800" cy="914400"/>
        </p:xfrm>
        <a:graphic>
          <a:graphicData uri="http://schemas.openxmlformats.org/drawingml/2006/table">
            <a:tbl>
              <a:tblPr/>
              <a:tblGrid>
                <a:gridCol w="1234440"/>
                <a:gridCol w="1188720"/>
                <a:gridCol w="1691640"/>
              </a:tblGrid>
              <a:tr h="274320">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trusted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provisional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cost ceiling</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normal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10% of available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dry-run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skipped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forced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its QC verdict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SUSPECT anyway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in flight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E7D4F"/>
                          </a:solidFill>
                          <a:latin typeface="Calibri" pitchFamily="34" charset="0"/>
                          <a:ea typeface="Calibri" pitchFamily="34" charset="-122"/>
                          <a:cs typeface="Calibri" pitchFamily="34" charset="-120"/>
                        </a:rPr>
                        <a:t>many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alibri" pitchFamily="34" charset="0"/>
                          <a:ea typeface="Calibri" pitchFamily="34" charset="-122"/>
                          <a:cs typeface="Calibri" pitchFamily="34" charset="-120"/>
                        </a:rPr>
                        <a:t>one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Shape 6"/>
          <p:cNvSpPr/>
          <p:nvPr/>
        </p:nvSpPr>
        <p:spPr>
          <a:xfrm>
            <a:off x="7635240" y="4114800"/>
            <a:ext cx="4099255" cy="1417320"/>
          </a:xfrm>
          <a:prstGeom prst="rect">
            <a:avLst/>
          </a:prstGeom>
          <a:solidFill>
            <a:srgbClr val="EEF2F5"/>
          </a:solidFill>
          <a:ln w="12700">
            <a:solidFill>
              <a:srgbClr val="EEF2F5"/>
            </a:solidFill>
            <a:prstDash val="solid"/>
          </a:ln>
        </p:spPr>
      </p:sp>
      <p:sp>
        <p:nvSpPr>
          <p:cNvPr id="12" name="Text 7"/>
          <p:cNvSpPr txBox="1"/>
          <p:nvPr/>
        </p:nvSpPr>
        <p:spPr>
          <a:xfrm>
            <a:off x="7763256" y="4197096"/>
            <a:ext cx="38432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Promotion is mechanical</a:t>
            </a:r>
            <a:endParaRPr lang="en-US" sz="1300" dirty="0"/>
          </a:p>
        </p:txBody>
      </p:sp>
      <p:sp>
        <p:nvSpPr>
          <p:cNvPr id="13" name="Text 8"/>
          <p:cNvSpPr txBox="1"/>
          <p:nvPr/>
        </p:nvSpPr>
        <p:spPr>
          <a:xfrm>
            <a:off x="7763256" y="4507992"/>
            <a:ext cx="3843223" cy="9418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 consecutive clean runs promote; any failure demotes immediately and resets the counter.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An untrusted shape may have only ONE instance in flight — N concurrent copies are one draw sampled N times, not N pieces of evidence.</a:t>
            </a:r>
            <a:endParaRPr lang="en-US" sz="1000" dirty="0"/>
          </a:p>
        </p:txBody>
      </p:sp>
      <p:sp>
        <p:nvSpPr>
          <p:cNvPr id="14" name="Text 9"/>
          <p:cNvSpPr txBox="1"/>
          <p:nvPr/>
        </p:nvSpPr>
        <p:spPr>
          <a:xfrm>
            <a:off x="457200" y="5623560"/>
            <a:ext cx="11274552" cy="457200"/>
          </a:xfrm>
          <a:prstGeom prst="rect">
            <a:avLst/>
          </a:prstGeom>
          <a:noFill/>
          <a:ln/>
        </p:spPr>
        <p:txBody>
          <a:bodyPr wrap="square" lIns="0" tIns="0" rIns="0" bIns="0" rtlCol="0" anchor="t"/>
          <a:lstStyle/>
          <a:p>
            <a:pPr indent="0" marL="0">
              <a:buNone/>
            </a:pPr>
            <a:r>
              <a:rPr lang="en-US" sz="1250" b="1" dirty="0">
                <a:solidFill>
                  <a:srgbClr val="C0392B"/>
                </a:solidFill>
                <a:latin typeface="Calibri" pitchFamily="34" charset="0"/>
                <a:ea typeface="Calibri" pitchFamily="34" charset="-122"/>
                <a:cs typeface="Calibri" pitchFamily="34" charset="-120"/>
              </a:rPr>
              <a:t>Be honest about the limit: </a:t>
            </a:r>
            <a:pPr indent="0" marL="0">
              <a:buNone/>
            </a:pPr>
            <a:r>
              <a:rPr lang="en-US" sz="1250" dirty="0">
                <a:solidFill>
                  <a:srgbClr val="22303C"/>
                </a:solidFill>
                <a:latin typeface="Calibri" pitchFamily="34" charset="0"/>
                <a:ea typeface="Calibri" pitchFamily="34" charset="-122"/>
                <a:cs typeface="Calibri" pitchFamily="34" charset="-120"/>
              </a:rPr>
              <a:t>the interlock buys examination and delay, not soundness. A </a:t>
            </a:r>
            <a:pPr indent="0" marL="0">
              <a:buNone/>
            </a:pPr>
            <a:r>
              <a:rPr lang="en-US" sz="1250" i="1" dirty="0">
                <a:solidFill>
                  <a:srgbClr val="22303C"/>
                </a:solidFill>
                <a:latin typeface="Calibri" pitchFamily="34" charset="0"/>
                <a:ea typeface="Calibri" pitchFamily="34" charset="-122"/>
                <a:cs typeface="Calibri" pitchFamily="34" charset="-120"/>
              </a:rPr>
              <a:t>consistent</a:t>
            </a:r>
            <a:pPr indent="0" marL="0">
              <a:buNone/>
            </a:pPr>
            <a:r>
              <a:rPr lang="en-US" sz="1250" dirty="0">
                <a:solidFill>
                  <a:srgbClr val="22303C"/>
                </a:solidFill>
                <a:latin typeface="Calibri" pitchFamily="34" charset="0"/>
                <a:ea typeface="Calibri" pitchFamily="34" charset="-122"/>
                <a:cs typeface="Calibri" pitchFamily="34" charset="-120"/>
              </a:rPr>
              <a:t> novel silent failure promotes.</a:t>
            </a:r>
            <a:endParaRPr lang="en-US" sz="1250" dirty="0"/>
          </a:p>
        </p:txBody>
      </p:sp>
      <p:sp>
        <p:nvSpPr>
          <p:cNvPr id="15" name="Text 1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All of it is one method — runtime/executor.py::_admit_once:304 — and it dispatches nothing. Admission is synchronous everywhere, including over HTTP.</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1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One generic factory, and a submit that does not await</a:t>
            </a:r>
            <a:endParaRPr lang="en-US" sz="2800" dirty="0"/>
          </a:p>
        </p:txBody>
      </p:sp>
      <p:sp>
        <p:nvSpPr>
          <p:cNvPr id="4" name="Shape 2"/>
          <p:cNvSpPr/>
          <p:nvPr/>
        </p:nvSpPr>
        <p:spPr>
          <a:xfrm>
            <a:off x="457200" y="1371600"/>
            <a:ext cx="6537960" cy="1828800"/>
          </a:xfrm>
          <a:prstGeom prst="rect">
            <a:avLst/>
          </a:prstGeom>
          <a:solidFill>
            <a:srgbClr val="16222B"/>
          </a:solidFill>
          <a:ln w="12700">
            <a:solidFill>
              <a:srgbClr val="16222B"/>
            </a:solidFill>
            <a:prstDash val="solid"/>
          </a:ln>
        </p:spPr>
      </p:sp>
      <p:sp>
        <p:nvSpPr>
          <p:cNvPr id="5" name="Text 3"/>
          <p:cNvSpPr txBox="1"/>
          <p:nvPr/>
        </p:nvSpPr>
        <p:spPr>
          <a:xfrm>
            <a:off x="557784" y="1463040"/>
            <a:ext cx="6336792" cy="1645920"/>
          </a:xfrm>
          <a:prstGeom prst="rect">
            <a:avLst/>
          </a:prstGeom>
          <a:noFill/>
          <a:ln/>
        </p:spPr>
        <p:txBody>
          <a:bodyPr wrap="square" lIns="0" tIns="0" rIns="0" bIns="0" rtlCol="0" anchor="t"/>
          <a:lstStyle/>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def _make_task(self, node_id, tool_id, params, invocation="", seed=None):</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"""ONE generic factory for every node in every graph."""</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reg, spec = self.reg, self.reg.get(tool_id)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agent_cls = reg.agent_for(tool_id)</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workdir = self.workdir      # bind locally: the closure is PICKLED</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async def _run(*deps):</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agent = agent_cls(spec)</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req = TaskRequest(tool=tool_id, params=params, seed=seed, ...)</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res = await agent(req)</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{"tool": ..., "metrics": ..., "qc": ..., "cost": ...}</a:t>
            </a:r>
            <a:endParaRPr lang="en-US" sz="741" dirty="0"/>
          </a:p>
          <a:p>
            <a:pPr indent="0" marL="0">
              <a:lnSpc>
                <a:spcPts val="926"/>
              </a:lnSpc>
              <a:buNone/>
            </a:pP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_run.__name__ = node_id   # asyncflow reads the name from __name__</a:t>
            </a:r>
            <a:endParaRPr lang="en-US" sz="741" dirty="0"/>
          </a:p>
          <a:p>
            <a:pPr indent="0" marL="0">
              <a:lnSpc>
                <a:spcPts val="926"/>
              </a:lnSpc>
              <a:buNone/>
            </a:pPr>
            <a:r>
              <a:rPr lang="en-US" sz="741" dirty="0">
                <a:solidFill>
                  <a:srgbClr val="DCE5EC"/>
                </a:solidFill>
                <a:latin typeface="Consolas" pitchFamily="34" charset="0"/>
                <a:ea typeface="Consolas" pitchFamily="34" charset="-122"/>
                <a:cs typeface="Consolas" pitchFamily="34" charset="-120"/>
              </a:rPr>
              <a:t>    return self.flow.function_task(_run)</a:t>
            </a:r>
            <a:endParaRPr lang="en-US" sz="741" dirty="0"/>
          </a:p>
        </p:txBody>
      </p:sp>
      <p:sp>
        <p:nvSpPr>
          <p:cNvPr id="6" name="Text 4"/>
          <p:cNvSpPr txBox="1"/>
          <p:nvPr/>
        </p:nvSpPr>
        <p:spPr>
          <a:xfrm>
            <a:off x="457200" y="321868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exec/dispatch.py:144–163  ·  EDITED — annotations elided</a:t>
            </a:r>
            <a:endParaRPr lang="en-US" sz="850" dirty="0"/>
          </a:p>
        </p:txBody>
      </p:sp>
      <p:sp>
        <p:nvSpPr>
          <p:cNvPr id="7" name="Shape 5"/>
          <p:cNvSpPr/>
          <p:nvPr/>
        </p:nvSpPr>
        <p:spPr>
          <a:xfrm>
            <a:off x="457200" y="3429000"/>
            <a:ext cx="6537960" cy="1280160"/>
          </a:xfrm>
          <a:prstGeom prst="rect">
            <a:avLst/>
          </a:prstGeom>
          <a:solidFill>
            <a:srgbClr val="16222B"/>
          </a:solidFill>
          <a:ln w="12700">
            <a:solidFill>
              <a:srgbClr val="16222B"/>
            </a:solidFill>
            <a:prstDash val="solid"/>
          </a:ln>
        </p:spPr>
      </p:sp>
      <p:sp>
        <p:nvSpPr>
          <p:cNvPr id="8" name="Text 6"/>
          <p:cNvSpPr txBox="1"/>
          <p:nvPr/>
        </p:nvSpPr>
        <p:spPr>
          <a:xfrm>
            <a:off x="557784" y="3520440"/>
            <a:ext cx="6336792" cy="109728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for tid in g.topo_order():                 # edges via unawaited futures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deps = [futures[d] for d in g.nodes[tid].deps]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futures[tid] = tasks[tid](*deps, workflow_id=run_id)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one bad task must not cancel its siblings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gather = asyncio.gather(*futures.values(), return_exceptions=True)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DispatchHandle(run_id=run_id, graph_id=g.id,</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futures=futures, gather=gather)   # NOT awaited</a:t>
            </a:r>
            <a:endParaRPr lang="en-US" sz="864" dirty="0"/>
          </a:p>
        </p:txBody>
      </p:sp>
      <p:sp>
        <p:nvSpPr>
          <p:cNvPr id="9" name="Text 7"/>
          <p:cNvSpPr txBox="1"/>
          <p:nvPr/>
        </p:nvSpPr>
        <p:spPr>
          <a:xfrm>
            <a:off x="457200" y="4727448"/>
            <a:ext cx="65379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exec/dispatch.py:182–190  ·  EDITED — see CODE_FOR_DECK.md</a:t>
            </a:r>
            <a:endParaRPr lang="en-US" sz="850" dirty="0"/>
          </a:p>
        </p:txBody>
      </p:sp>
      <p:sp>
        <p:nvSpPr>
          <p:cNvPr id="10" name="Shape 8"/>
          <p:cNvSpPr/>
          <p:nvPr/>
        </p:nvSpPr>
        <p:spPr>
          <a:xfrm>
            <a:off x="457200" y="4892040"/>
            <a:ext cx="6537960" cy="1463040"/>
          </a:xfrm>
          <a:prstGeom prst="rect">
            <a:avLst/>
          </a:prstGeom>
          <a:solidFill>
            <a:srgbClr val="FCEBDD"/>
          </a:solidFill>
          <a:ln w="12700">
            <a:solidFill>
              <a:srgbClr val="FCEBDD"/>
            </a:solidFill>
            <a:prstDash val="solid"/>
          </a:ln>
        </p:spPr>
      </p:sp>
      <p:sp>
        <p:nvSpPr>
          <p:cNvPr id="11" name="Text 9"/>
          <p:cNvSpPr txBox="1"/>
          <p:nvPr/>
        </p:nvSpPr>
        <p:spPr>
          <a:xfrm>
            <a:off x="585216" y="4974336"/>
            <a:ext cx="6281928"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asyncflow idioms, not interchangeable</a:t>
            </a:r>
            <a:endParaRPr lang="en-US" sz="1300" dirty="0"/>
          </a:p>
        </p:txBody>
      </p:sp>
      <p:sp>
        <p:nvSpPr>
          <p:cNvPr id="12" name="Text 10"/>
          <p:cNvSpPr txBox="1"/>
          <p:nvPr/>
        </p:nvSpPr>
        <p:spPr>
          <a:xfrm>
            <a:off x="585216" y="5285232"/>
            <a:ext cx="628192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unawaited future passed as an argument expresses a DAG edge.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asyncio.gather groups INDEPENDENT work — the replica lineages. The executor, not the dispatcher, decides when to wait on it, racing every in-flight gather with FIRST_COMPLETED.</a:t>
            </a:r>
            <a:endParaRPr lang="en-US" sz="1050" dirty="0"/>
          </a:p>
        </p:txBody>
      </p:sp>
      <p:sp>
        <p:nvSpPr>
          <p:cNvPr id="13" name="Shape 11"/>
          <p:cNvSpPr/>
          <p:nvPr/>
        </p:nvSpPr>
        <p:spPr>
          <a:xfrm>
            <a:off x="7269480" y="1371600"/>
            <a:ext cx="4465015" cy="1600200"/>
          </a:xfrm>
          <a:prstGeom prst="rect">
            <a:avLst/>
          </a:prstGeom>
          <a:solidFill>
            <a:srgbClr val="EEF2F5"/>
          </a:solidFill>
          <a:ln w="12700">
            <a:solidFill>
              <a:srgbClr val="EEF2F5"/>
            </a:solidFill>
            <a:prstDash val="solid"/>
          </a:ln>
        </p:spPr>
      </p:sp>
      <p:sp>
        <p:nvSpPr>
          <p:cNvPr id="14" name="Text 12"/>
          <p:cNvSpPr txBox="1"/>
          <p:nvPr/>
        </p:nvSpPr>
        <p:spPr>
          <a:xfrm>
            <a:off x="7397496" y="1453896"/>
            <a:ext cx="420898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bet, and it held twice</a:t>
            </a:r>
            <a:endParaRPr lang="en-US" sz="1300" dirty="0"/>
          </a:p>
        </p:txBody>
      </p:sp>
      <p:sp>
        <p:nvSpPr>
          <p:cNvPr id="15" name="Text 13"/>
          <p:cNvSpPr txBox="1"/>
          <p:nvPr/>
        </p:nvSpPr>
        <p:spPr>
          <a:xfrm>
            <a:off x="7397496" y="1764792"/>
            <a:ext cx="420898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DAG described as data dispatches with one generic factory — no codegen, no AST work, no templating.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the same factory survived going non-blocking unchanged: submit builds the gather and hands it back instead of awaiting it.</a:t>
            </a:r>
            <a:endParaRPr lang="en-US" sz="1050" dirty="0"/>
          </a:p>
        </p:txBody>
      </p:sp>
      <p:sp>
        <p:nvSpPr>
          <p:cNvPr id="16" name="Shape 14"/>
          <p:cNvSpPr/>
          <p:nvPr/>
        </p:nvSpPr>
        <p:spPr>
          <a:xfrm>
            <a:off x="7269480" y="3108960"/>
            <a:ext cx="4465015" cy="1371600"/>
          </a:xfrm>
          <a:prstGeom prst="rect">
            <a:avLst/>
          </a:prstGeom>
          <a:solidFill>
            <a:srgbClr val="E3F0F1"/>
          </a:solidFill>
          <a:ln w="12700">
            <a:solidFill>
              <a:srgbClr val="E3F0F1"/>
            </a:solidFill>
            <a:prstDash val="solid"/>
          </a:ln>
        </p:spPr>
      </p:sp>
      <p:sp>
        <p:nvSpPr>
          <p:cNvPr id="17" name="Text 15"/>
          <p:cNvSpPr txBox="1"/>
          <p:nvPr/>
        </p:nvSpPr>
        <p:spPr>
          <a:xfrm>
            <a:off x="7397496" y="3191256"/>
            <a:ext cx="420898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Three findings in four lines</a:t>
            </a:r>
            <a:endParaRPr lang="en-US" sz="1300" dirty="0"/>
          </a:p>
        </p:txBody>
      </p:sp>
      <p:sp>
        <p:nvSpPr>
          <p:cNvPr id="18" name="Text 16"/>
          <p:cNvSpPr txBox="1"/>
          <p:nvPr/>
        </p:nvSpPr>
        <p:spPr>
          <a:xfrm>
            <a:off x="7397496" y="3502152"/>
            <a:ext cx="4208983"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task decorators take no name= kwarg — setting __name__ first is what lets one factory serve every node.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workflow_id tags every task, but no lookup API exists, so the handle is the run's own index.</a:t>
            </a:r>
            <a:endParaRPr lang="en-US" sz="1050" dirty="0"/>
          </a:p>
        </p:txBody>
      </p:sp>
      <p:sp>
        <p:nvSpPr>
          <p:cNvPr id="19" name="Shape 17"/>
          <p:cNvSpPr/>
          <p:nvPr/>
        </p:nvSpPr>
        <p:spPr>
          <a:xfrm>
            <a:off x="7269480" y="4617720"/>
            <a:ext cx="4465015" cy="1737360"/>
          </a:xfrm>
          <a:prstGeom prst="rect">
            <a:avLst/>
          </a:prstGeom>
          <a:solidFill>
            <a:srgbClr val="F9E0DD"/>
          </a:solidFill>
          <a:ln w="12700">
            <a:solidFill>
              <a:srgbClr val="F9E0DD"/>
            </a:solidFill>
            <a:prstDash val="solid"/>
          </a:ln>
        </p:spPr>
      </p:sp>
      <p:sp>
        <p:nvSpPr>
          <p:cNvPr id="20" name="Text 18"/>
          <p:cNvSpPr txBox="1"/>
          <p:nvPr/>
        </p:nvSpPr>
        <p:spPr>
          <a:xfrm>
            <a:off x="7397496" y="4700016"/>
            <a:ext cx="420898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Cancellation is advisory</a:t>
            </a:r>
            <a:endParaRPr lang="en-US" sz="1300" dirty="0"/>
          </a:p>
        </p:txBody>
      </p:sp>
      <p:sp>
        <p:nvSpPr>
          <p:cNvPr id="21" name="Text 19"/>
          <p:cNvSpPr txBox="1"/>
          <p:nvPr/>
        </p:nvSpPr>
        <p:spPr>
          <a:xfrm>
            <a:off x="7397496" y="5010912"/>
            <a:ext cx="4208983" cy="12618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Measured, not assumed: Future.cancel() returns False once a callable has started, and asyncflow discards that answer. Queued work is reclaimed, running work is not, and you cannot learn which happened.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run's terminal state always comes from collecting it. Backtracking sidesteps this by branching the tree; reclaiming a GPU from an abandoned run is unsolved.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2 OF 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Building the engine on the loop that will use it</a:t>
            </a:r>
            <a:endParaRPr lang="en-US" sz="2800" dirty="0"/>
          </a:p>
        </p:txBody>
      </p:sp>
      <p:sp>
        <p:nvSpPr>
          <p:cNvPr id="4" name="Shape 2"/>
          <p:cNvSpPr/>
          <p:nvPr/>
        </p:nvSpPr>
        <p:spPr>
          <a:xfrm>
            <a:off x="457200" y="1371600"/>
            <a:ext cx="6675120" cy="1691640"/>
          </a:xfrm>
          <a:prstGeom prst="rect">
            <a:avLst/>
          </a:prstGeom>
          <a:solidFill>
            <a:srgbClr val="16222B"/>
          </a:solidFill>
          <a:ln w="12700">
            <a:solidFill>
              <a:srgbClr val="16222B"/>
            </a:solidFill>
            <a:prstDash val="solid"/>
          </a:ln>
        </p:spPr>
      </p:sp>
      <p:sp>
        <p:nvSpPr>
          <p:cNvPr id="5" name="Text 3"/>
          <p:cNvSpPr txBox="1"/>
          <p:nvPr/>
        </p:nvSpPr>
        <p:spPr>
          <a:xfrm>
            <a:off x="557784" y="1463040"/>
            <a:ext cx="6473952" cy="1508760"/>
          </a:xfrm>
          <a:prstGeom prst="rect">
            <a:avLst/>
          </a:prstGeom>
          <a:noFill/>
          <a:ln/>
        </p:spPr>
        <p:txBody>
          <a:bodyPr wrap="square" lIns="0" tIns="0" rIns="0" bIns="0" rtlCol="0" anchor="t"/>
          <a:lstStyle/>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async def make_engine_bounded(kind, config, timeout_s, heartbeat_s, work_dir):</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if timeout_s &lt;= 0 or kind.lower() in _CHEAP_KINDS: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make_engine(kind, config)</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 ONLY the synchronous construction leaves this loop.</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threading.Thread(target=_construct_backend_in_thread,</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args=(kind, config, fut), daemon=True).start()</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be = await asyncio.wait_for(asyncio.shield(async_fut), timeout_s)</a:t>
            </a:r>
            <a:endParaRPr lang="en-US" sz="792" dirty="0"/>
          </a:p>
          <a:p>
            <a:pPr indent="0" marL="0">
              <a:lnSpc>
                <a:spcPts val="990"/>
              </a:lnSpc>
              <a:buNone/>
            </a:pP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async def _finish():                   # on OUR loop, deliberately</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backend = await _init_backend(be)  # __await__ registers states</a:t>
            </a:r>
            <a:endParaRPr lang="en-US" sz="792" dirty="0"/>
          </a:p>
          <a:p>
            <a:pPr indent="0" marL="0">
              <a:lnSpc>
                <a:spcPts val="990"/>
              </a:lnSpc>
              <a:buNone/>
            </a:pPr>
            <a:r>
              <a:rPr lang="en-US" sz="792" dirty="0">
                <a:solidFill>
                  <a:srgbClr val="DCE5EC"/>
                </a:solidFill>
                <a:latin typeface="Consolas" pitchFamily="34" charset="0"/>
                <a:ea typeface="Consolas" pitchFamily="34" charset="-122"/>
                <a:cs typeface="Consolas" pitchFamily="34" charset="-120"/>
              </a:rPr>
              <a:t>        return await WorkflowEngine.create(backend=backend, work_dir=work_dir), backend</a:t>
            </a:r>
            <a:endParaRPr lang="en-US" sz="792" dirty="0"/>
          </a:p>
        </p:txBody>
      </p:sp>
      <p:sp>
        <p:nvSpPr>
          <p:cNvPr id="6" name="Text 4"/>
          <p:cNvSpPr txBox="1"/>
          <p:nvPr/>
        </p:nvSpPr>
        <p:spPr>
          <a:xfrm>
            <a:off x="457200" y="3081528"/>
            <a:ext cx="66751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exec/backend.py:128–176  ·  EDITED — condensed, see CODE_FOR_DECK.md</a:t>
            </a:r>
            <a:endParaRPr lang="en-US" sz="850" dirty="0"/>
          </a:p>
        </p:txBody>
      </p:sp>
      <p:sp>
        <p:nvSpPr>
          <p:cNvPr id="7" name="Shape 5"/>
          <p:cNvSpPr/>
          <p:nvPr/>
        </p:nvSpPr>
        <p:spPr>
          <a:xfrm>
            <a:off x="457200" y="3310128"/>
            <a:ext cx="6675120" cy="713232"/>
          </a:xfrm>
          <a:prstGeom prst="rect">
            <a:avLst/>
          </a:prstGeom>
          <a:solidFill>
            <a:srgbClr val="EEF2F5"/>
          </a:solidFill>
          <a:ln w="12700">
            <a:solidFill>
              <a:srgbClr val="C9D1D8"/>
            </a:solidFill>
            <a:prstDash val="solid"/>
          </a:ln>
        </p:spPr>
      </p:sp>
      <p:sp>
        <p:nvSpPr>
          <p:cNvPr id="8" name="Text 6"/>
          <p:cNvSpPr txBox="1"/>
          <p:nvPr/>
        </p:nvSpPr>
        <p:spPr>
          <a:xfrm>
            <a:off x="566928" y="3364992"/>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Backends are awaitable, and must be awaited  </a:t>
            </a:r>
            <a:pPr indent="0" marL="0">
              <a:buNone/>
            </a:pPr>
            <a:r>
              <a:rPr lang="en-US" sz="950" dirty="0">
                <a:solidFill>
                  <a:srgbClr val="22303C"/>
                </a:solidFill>
                <a:latin typeface="Calibri" pitchFamily="34" charset="0"/>
                <a:ea typeface="Calibri" pitchFamily="34" charset="-122"/>
                <a:cs typeface="Calibri" pitchFamily="34" charset="-120"/>
              </a:rPr>
              <a:t>__await__ triggers _async_init(), which registers task states. Constructing synchronously appears to work, then fails later with "Backend 'x' not registered. Available backends: []".</a:t>
            </a:r>
            <a:endParaRPr lang="en-US" sz="950" dirty="0"/>
          </a:p>
        </p:txBody>
      </p:sp>
      <p:sp>
        <p:nvSpPr>
          <p:cNvPr id="9" name="Shape 7"/>
          <p:cNvSpPr/>
          <p:nvPr/>
        </p:nvSpPr>
        <p:spPr>
          <a:xfrm>
            <a:off x="457200" y="4023360"/>
            <a:ext cx="6675120" cy="713232"/>
          </a:xfrm>
          <a:prstGeom prst="rect">
            <a:avLst/>
          </a:prstGeom>
          <a:solidFill>
            <a:srgbClr val="FFFFFF"/>
          </a:solidFill>
          <a:ln w="12700">
            <a:solidFill>
              <a:srgbClr val="C9D1D8"/>
            </a:solidFill>
            <a:prstDash val="solid"/>
          </a:ln>
        </p:spPr>
      </p:sp>
      <p:sp>
        <p:nvSpPr>
          <p:cNvPr id="10" name="Text 8"/>
          <p:cNvSpPr txBox="1"/>
          <p:nvPr/>
        </p:nvSpPr>
        <p:spPr>
          <a:xfrm>
            <a:off x="566928" y="4078224"/>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The engine must be built on the loop that will submit to it  </a:t>
            </a:r>
            <a:pPr indent="0" marL="0">
              <a:buNone/>
            </a:pPr>
            <a:r>
              <a:rPr lang="en-US" sz="950" dirty="0">
                <a:solidFill>
                  <a:srgbClr val="22303C"/>
                </a:solidFill>
                <a:latin typeface="Calibri" pitchFamily="34" charset="0"/>
                <a:ea typeface="Calibri" pitchFamily="34" charset="-122"/>
                <a:cs typeface="Calibri" pitchFamily="34" charset="-120"/>
              </a:rPr>
              <a:t>WorkflowEngine.__init__ captures the running loop and puts its run-component dispatch task on it. Build one on a throwaway loop and you get an engine that looks fine and dispatches nothing — silently.</a:t>
            </a:r>
            <a:endParaRPr lang="en-US" sz="950" dirty="0"/>
          </a:p>
        </p:txBody>
      </p:sp>
      <p:sp>
        <p:nvSpPr>
          <p:cNvPr id="11" name="Shape 9"/>
          <p:cNvSpPr/>
          <p:nvPr/>
        </p:nvSpPr>
        <p:spPr>
          <a:xfrm>
            <a:off x="457200" y="4736592"/>
            <a:ext cx="6675120" cy="713232"/>
          </a:xfrm>
          <a:prstGeom prst="rect">
            <a:avLst/>
          </a:prstGeom>
          <a:solidFill>
            <a:srgbClr val="EEF2F5"/>
          </a:solidFill>
          <a:ln w="12700">
            <a:solidFill>
              <a:srgbClr val="C9D1D8"/>
            </a:solidFill>
            <a:prstDash val="solid"/>
          </a:ln>
        </p:spPr>
      </p:sp>
      <p:sp>
        <p:nvSpPr>
          <p:cNvPr id="12" name="Text 10"/>
          <p:cNvSpPr txBox="1"/>
          <p:nvPr/>
        </p:nvSpPr>
        <p:spPr>
          <a:xfrm>
            <a:off x="566928" y="4791456"/>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Real backends live in rhapsody, not asyncflow  </a:t>
            </a:r>
            <a:pPr indent="0" marL="0">
              <a:buNone/>
            </a:pPr>
            <a:r>
              <a:rPr lang="en-US" sz="950" dirty="0">
                <a:solidFill>
                  <a:srgbClr val="22303C"/>
                </a:solidFill>
                <a:latin typeface="Calibri" pitchFamily="34" charset="0"/>
                <a:ea typeface="Calibri" pitchFamily="34" charset="-122"/>
                <a:cs typeface="Calibri" pitchFamily="34" charset="-120"/>
              </a:rPr>
              <a:t>asyncflow exports only Noop and Local. Everything real resolves by NAME through rhapsody.backends.get_backend(), from the campaign spec — so no backend class is named outside one module.</a:t>
            </a:r>
            <a:endParaRPr lang="en-US" sz="950" dirty="0"/>
          </a:p>
        </p:txBody>
      </p:sp>
      <p:sp>
        <p:nvSpPr>
          <p:cNvPr id="13" name="Shape 11"/>
          <p:cNvSpPr/>
          <p:nvPr/>
        </p:nvSpPr>
        <p:spPr>
          <a:xfrm>
            <a:off x="457200" y="5449824"/>
            <a:ext cx="6675120" cy="713232"/>
          </a:xfrm>
          <a:prstGeom prst="rect">
            <a:avLst/>
          </a:prstGeom>
          <a:solidFill>
            <a:srgbClr val="FFFFFF"/>
          </a:solidFill>
          <a:ln w="12700">
            <a:solidFill>
              <a:srgbClr val="C9D1D8"/>
            </a:solidFill>
            <a:prstDash val="solid"/>
          </a:ln>
        </p:spPr>
      </p:sp>
      <p:sp>
        <p:nvSpPr>
          <p:cNvPr id="14" name="Text 12"/>
          <p:cNvSpPr txBox="1"/>
          <p:nvPr/>
        </p:nvSpPr>
        <p:spPr>
          <a:xfrm>
            <a:off x="566928" y="5504688"/>
            <a:ext cx="6455664" cy="603504"/>
          </a:xfrm>
          <a:prstGeom prst="rect">
            <a:avLst/>
          </a:prstGeom>
          <a:noFill/>
          <a:ln/>
        </p:spPr>
        <p:txBody>
          <a:bodyPr wrap="square" lIns="0" tIns="0" rIns="0" bIns="0" rtlCol="0" anchor="t"/>
          <a:lstStyle/>
          <a:p>
            <a:pPr indent="0" marL="0">
              <a:buNone/>
            </a:pPr>
            <a:r>
              <a:rPr lang="en-US" sz="950" b="1" dirty="0">
                <a:solidFill>
                  <a:srgbClr val="16222B"/>
                </a:solidFill>
                <a:latin typeface="Calibri" pitchFamily="34" charset="0"/>
                <a:ea typeface="Calibri" pitchFamily="34" charset="-122"/>
                <a:cs typeface="Calibri" pitchFamily="34" charset="-120"/>
              </a:rPr>
              <a:t>Dragon empties the root logger  </a:t>
            </a:r>
            <a:pPr indent="0" marL="0">
              <a:buNone/>
            </a:pPr>
            <a:r>
              <a:rPr lang="en-US" sz="950" dirty="0">
                <a:solidFill>
                  <a:srgbClr val="22303C"/>
                </a:solidFill>
                <a:latin typeface="Calibri" pitchFamily="34" charset="0"/>
                <a:ea typeface="Calibri" pitchFamily="34" charset="-122"/>
                <a:cs typeface="Calibri" pitchFamily="34" charset="-120"/>
              </a:rPr>
              <a:t>Pool()/ProcessGroup() call setup_BE_logging, which clears root handlers. A run configured with logging.basicConfig alone goes mute the moment the backend comes up.</a:t>
            </a:r>
            <a:endParaRPr lang="en-US" sz="950" dirty="0"/>
          </a:p>
        </p:txBody>
      </p:sp>
      <p:sp>
        <p:nvSpPr>
          <p:cNvPr id="15" name="Shape 13"/>
          <p:cNvSpPr/>
          <p:nvPr/>
        </p:nvSpPr>
        <p:spPr>
          <a:xfrm>
            <a:off x="7406640" y="1371600"/>
            <a:ext cx="4327855" cy="365760"/>
          </a:xfrm>
          <a:prstGeom prst="rect">
            <a:avLst/>
          </a:prstGeom>
          <a:solidFill>
            <a:srgbClr val="C0392B"/>
          </a:solidFill>
          <a:ln w="12700">
            <a:solidFill>
              <a:srgbClr val="C0392B"/>
            </a:solidFill>
            <a:prstDash val="solid"/>
          </a:ln>
        </p:spPr>
      </p:sp>
      <p:sp>
        <p:nvSpPr>
          <p:cNvPr id="16" name="Text 14"/>
          <p:cNvSpPr txBox="1"/>
          <p:nvPr/>
        </p:nvSpPr>
        <p:spPr>
          <a:xfrm>
            <a:off x="7516368" y="1371600"/>
            <a:ext cx="41083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each lesson cost</a:t>
            </a:r>
            <a:endParaRPr lang="en-US" sz="1300" dirty="0"/>
          </a:p>
        </p:txBody>
      </p:sp>
      <p:sp>
        <p:nvSpPr>
          <p:cNvPr id="17" name="Shape 15"/>
          <p:cNvSpPr/>
          <p:nvPr/>
        </p:nvSpPr>
        <p:spPr>
          <a:xfrm>
            <a:off x="7406640" y="1874520"/>
            <a:ext cx="4327855" cy="1051560"/>
          </a:xfrm>
          <a:prstGeom prst="rect">
            <a:avLst/>
          </a:prstGeom>
          <a:solidFill>
            <a:srgbClr val="F9E0DD"/>
          </a:solidFill>
          <a:ln w="12700">
            <a:solidFill>
              <a:srgbClr val="F9E0DD"/>
            </a:solidFill>
            <a:prstDash val="solid"/>
          </a:ln>
        </p:spPr>
      </p:sp>
      <p:sp>
        <p:nvSpPr>
          <p:cNvPr id="18" name="Text 16"/>
          <p:cNvSpPr txBox="1"/>
          <p:nvPr/>
        </p:nvSpPr>
        <p:spPr>
          <a:xfrm>
            <a:off x="7498080" y="1947672"/>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22328172</a:t>
            </a:r>
            <a:endParaRPr lang="en-US" sz="900" dirty="0"/>
          </a:p>
          <a:p>
            <a:pPr indent="0" marL="0">
              <a:buNone/>
            </a:pPr>
            <a:r>
              <a:rPr lang="en-US" sz="900" b="1" dirty="0">
                <a:solidFill>
                  <a:srgbClr val="C0392B"/>
                </a:solidFill>
                <a:latin typeface="Consolas" pitchFamily="34" charset="0"/>
                <a:ea typeface="Consolas" pitchFamily="34" charset="-122"/>
                <a:cs typeface="Consolas" pitchFamily="34" charset="-120"/>
              </a:rPr>
              <a:t>22328262</a:t>
            </a:r>
            <a:endParaRPr lang="en-US" sz="900" dirty="0"/>
          </a:p>
        </p:txBody>
      </p:sp>
      <p:sp>
        <p:nvSpPr>
          <p:cNvPr id="19" name="Text 17"/>
          <p:cNvSpPr txBox="1"/>
          <p:nvPr/>
        </p:nvSpPr>
        <p:spPr>
          <a:xfrm>
            <a:off x="7498080" y="2423160"/>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two full allocations</a:t>
            </a:r>
            <a:endParaRPr lang="en-US" sz="900" dirty="0"/>
          </a:p>
        </p:txBody>
      </p:sp>
      <p:sp>
        <p:nvSpPr>
          <p:cNvPr id="20" name="Text 18"/>
          <p:cNvSpPr txBox="1"/>
          <p:nvPr/>
        </p:nvSpPr>
        <p:spPr>
          <a:xfrm>
            <a:off x="8641080" y="1947672"/>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engine was built on a throwaway loop via asyncio.run on a helper thread — every submitted task hung</a:t>
            </a:r>
            <a:endParaRPr lang="en-US" sz="950" dirty="0"/>
          </a:p>
        </p:txBody>
      </p:sp>
      <p:sp>
        <p:nvSpPr>
          <p:cNvPr id="21" name="Shape 19"/>
          <p:cNvSpPr/>
          <p:nvPr/>
        </p:nvSpPr>
        <p:spPr>
          <a:xfrm>
            <a:off x="7406640" y="2990088"/>
            <a:ext cx="4327855" cy="1051560"/>
          </a:xfrm>
          <a:prstGeom prst="rect">
            <a:avLst/>
          </a:prstGeom>
          <a:solidFill>
            <a:srgbClr val="F9E0DD"/>
          </a:solidFill>
          <a:ln w="12700">
            <a:solidFill>
              <a:srgbClr val="F9E0DD"/>
            </a:solidFill>
            <a:prstDash val="solid"/>
          </a:ln>
        </p:spPr>
      </p:sp>
      <p:sp>
        <p:nvSpPr>
          <p:cNvPr id="22" name="Text 20"/>
          <p:cNvSpPr txBox="1"/>
          <p:nvPr/>
        </p:nvSpPr>
        <p:spPr>
          <a:xfrm>
            <a:off x="7498080" y="3063240"/>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22318678</a:t>
            </a:r>
            <a:endParaRPr lang="en-US" sz="900" dirty="0"/>
          </a:p>
        </p:txBody>
      </p:sp>
      <p:sp>
        <p:nvSpPr>
          <p:cNvPr id="23" name="Text 21"/>
          <p:cNvSpPr txBox="1"/>
          <p:nvPr/>
        </p:nvSpPr>
        <p:spPr>
          <a:xfrm>
            <a:off x="7498080" y="3538728"/>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one 2-hour allocation,</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in full</a:t>
            </a:r>
            <a:endParaRPr lang="en-US" sz="900" dirty="0"/>
          </a:p>
        </p:txBody>
      </p:sp>
      <p:sp>
        <p:nvSpPr>
          <p:cNvPr id="24" name="Text 22"/>
          <p:cNvSpPr txBox="1"/>
          <p:nvPr/>
        </p:nvSpPr>
        <p:spPr>
          <a:xfrm>
            <a:off x="8641080" y="3063240"/>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Dragon's Batch() builds synchronously with no await points. No heartbeat, no campaign log, nothing, until the wall clock killed it</a:t>
            </a:r>
            <a:endParaRPr lang="en-US" sz="950" dirty="0"/>
          </a:p>
        </p:txBody>
      </p:sp>
      <p:sp>
        <p:nvSpPr>
          <p:cNvPr id="25" name="Shape 23"/>
          <p:cNvSpPr/>
          <p:nvPr/>
        </p:nvSpPr>
        <p:spPr>
          <a:xfrm>
            <a:off x="7406640" y="4105656"/>
            <a:ext cx="4327855" cy="1051560"/>
          </a:xfrm>
          <a:prstGeom prst="rect">
            <a:avLst/>
          </a:prstGeom>
          <a:solidFill>
            <a:srgbClr val="F9E0DD"/>
          </a:solidFill>
          <a:ln w="12700">
            <a:solidFill>
              <a:srgbClr val="F9E0DD"/>
            </a:solidFill>
            <a:prstDash val="solid"/>
          </a:ln>
        </p:spPr>
      </p:sp>
      <p:sp>
        <p:nvSpPr>
          <p:cNvPr id="26" name="Text 24"/>
          <p:cNvSpPr txBox="1"/>
          <p:nvPr/>
        </p:nvSpPr>
        <p:spPr>
          <a:xfrm>
            <a:off x="7498080" y="4178808"/>
            <a:ext cx="868680" cy="457200"/>
          </a:xfrm>
          <a:prstGeom prst="rect">
            <a:avLst/>
          </a:prstGeom>
          <a:noFill/>
          <a:ln/>
        </p:spPr>
        <p:txBody>
          <a:bodyPr wrap="square" lIns="0" tIns="0" rIns="0" bIns="0" rtlCol="0" anchor="t"/>
          <a:lstStyle/>
          <a:p>
            <a:pPr indent="0" marL="0">
              <a:buNone/>
            </a:pPr>
            <a:r>
              <a:rPr lang="en-US" sz="900" b="1" dirty="0">
                <a:solidFill>
                  <a:srgbClr val="C0392B"/>
                </a:solidFill>
                <a:latin typeface="Consolas" pitchFamily="34" charset="0"/>
                <a:ea typeface="Consolas" pitchFamily="34" charset="-122"/>
                <a:cs typeface="Consolas" pitchFamily="34" charset="-120"/>
              </a:rPr>
              <a:t>22491438</a:t>
            </a:r>
            <a:endParaRPr lang="en-US" sz="900" dirty="0"/>
          </a:p>
        </p:txBody>
      </p:sp>
      <p:sp>
        <p:nvSpPr>
          <p:cNvPr id="27" name="Text 25"/>
          <p:cNvSpPr txBox="1"/>
          <p:nvPr/>
        </p:nvSpPr>
        <p:spPr>
          <a:xfrm>
            <a:off x="7498080" y="4654296"/>
            <a:ext cx="1051560" cy="411480"/>
          </a:xfrm>
          <a:prstGeom prst="rect">
            <a:avLst/>
          </a:prstGeom>
          <a:noFill/>
          <a:ln/>
        </p:spPr>
        <p:txBody>
          <a:bodyPr wrap="square" lIns="0" tIns="0" rIns="0" bIns="0" rtlCol="0" anchor="t"/>
          <a:lstStyle/>
          <a:p>
            <a:pPr indent="0" marL="0">
              <a:buNone/>
            </a:pPr>
            <a:r>
              <a:rPr lang="en-US" sz="900" b="1" dirty="0">
                <a:solidFill>
                  <a:srgbClr val="C0392B"/>
                </a:solidFill>
                <a:latin typeface="Calibri" pitchFamily="34" charset="0"/>
                <a:ea typeface="Calibri" pitchFamily="34" charset="-122"/>
                <a:cs typeface="Calibri" pitchFamily="34" charset="-120"/>
              </a:rPr>
              <a:t>~64 GPU-hours,</a:t>
            </a:r>
            <a:endParaRPr lang="en-US" sz="900" dirty="0"/>
          </a:p>
          <a:p>
            <a:pPr indent="0" marL="0">
              <a:buNone/>
            </a:pPr>
            <a:r>
              <a:rPr lang="en-US" sz="900" b="1" dirty="0">
                <a:solidFill>
                  <a:srgbClr val="C0392B"/>
                </a:solidFill>
                <a:latin typeface="Calibri" pitchFamily="34" charset="0"/>
                <a:ea typeface="Calibri" pitchFamily="34" charset="-122"/>
                <a:cs typeface="Calibri" pitchFamily="34" charset="-120"/>
              </a:rPr>
              <a:t>37% of the bill</a:t>
            </a:r>
            <a:endParaRPr lang="en-US" sz="900" dirty="0"/>
          </a:p>
        </p:txBody>
      </p:sp>
      <p:sp>
        <p:nvSpPr>
          <p:cNvPr id="28" name="Text 26"/>
          <p:cNvSpPr txBox="1"/>
          <p:nvPr/>
        </p:nvSpPr>
        <p:spPr>
          <a:xfrm>
            <a:off x="8641080" y="4178808"/>
            <a:ext cx="3001975" cy="914400"/>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flow.shutdown() never returned after the science finished. Teardown is the more expensive end</a:t>
            </a:r>
            <a:endParaRPr lang="en-US" sz="950" dirty="0"/>
          </a:p>
        </p:txBody>
      </p:sp>
      <p:sp>
        <p:nvSpPr>
          <p:cNvPr id="29" name="Shape 27"/>
          <p:cNvSpPr/>
          <p:nvPr/>
        </p:nvSpPr>
        <p:spPr>
          <a:xfrm>
            <a:off x="7406640" y="5257800"/>
            <a:ext cx="4327855" cy="1097280"/>
          </a:xfrm>
          <a:prstGeom prst="rect">
            <a:avLst/>
          </a:prstGeom>
          <a:solidFill>
            <a:srgbClr val="EEF2F5"/>
          </a:solidFill>
          <a:ln w="12700">
            <a:solidFill>
              <a:srgbClr val="EEF2F5"/>
            </a:solidFill>
            <a:prstDash val="solid"/>
          </a:ln>
        </p:spPr>
      </p:sp>
      <p:sp>
        <p:nvSpPr>
          <p:cNvPr id="30" name="Text 28"/>
          <p:cNvSpPr txBox="1"/>
          <p:nvPr/>
        </p:nvSpPr>
        <p:spPr>
          <a:xfrm>
            <a:off x="7534656" y="5340096"/>
            <a:ext cx="407182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Both ends are bounded now</a:t>
            </a:r>
            <a:endParaRPr lang="en-US" sz="1300" dirty="0"/>
          </a:p>
        </p:txBody>
      </p:sp>
      <p:sp>
        <p:nvSpPr>
          <p:cNvPr id="31" name="Text 29"/>
          <p:cNvSpPr txBox="1"/>
          <p:nvPr/>
        </p:nvSpPr>
        <p:spPr>
          <a:xfrm>
            <a:off x="7534656" y="5650992"/>
            <a:ext cx="4071823" cy="6217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backend_startup_timeout_s / _heartbeat_s and backend_shutdown_timeout_s. A stuck teardown is abandoned with a warning, never raised — results are already durable by then.</a:t>
            </a:r>
            <a:endParaRPr lang="en-US" sz="1000" dirty="0"/>
          </a:p>
        </p:txBody>
      </p:sp>
      <p:sp>
        <p:nvSpPr>
          <p:cNvPr id="32" name="Text 3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reference IMPRESS pipeline declined the teardown fix and relies on an operator watching the log. We do not.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TOOLS · 1 OF 2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 tool is a spec file, and loading it is validating it</a:t>
            </a:r>
            <a:endParaRPr lang="en-US" sz="2800" dirty="0"/>
          </a:p>
        </p:txBody>
      </p:sp>
      <p:sp>
        <p:nvSpPr>
          <p:cNvPr id="4" name="Shape 2"/>
          <p:cNvSpPr/>
          <p:nvPr/>
        </p:nvSpPr>
        <p:spPr>
          <a:xfrm>
            <a:off x="457200" y="1371600"/>
            <a:ext cx="5760720" cy="1737360"/>
          </a:xfrm>
          <a:prstGeom prst="rect">
            <a:avLst/>
          </a:prstGeom>
          <a:solidFill>
            <a:srgbClr val="16222B"/>
          </a:solidFill>
          <a:ln w="12700">
            <a:solidFill>
              <a:srgbClr val="16222B"/>
            </a:solidFill>
            <a:prstDash val="solid"/>
          </a:ln>
        </p:spPr>
      </p:sp>
      <p:sp>
        <p:nvSpPr>
          <p:cNvPr id="5" name="Text 3"/>
          <p:cNvSpPr txBox="1"/>
          <p:nvPr/>
        </p:nvSpPr>
        <p:spPr>
          <a:xfrm>
            <a:off x="557784" y="1463040"/>
            <a:ext cx="5559552" cy="1554480"/>
          </a:xfrm>
          <a:prstGeom prst="rect">
            <a:avLst/>
          </a:prstGeom>
          <a:noFill/>
          <a:ln/>
        </p:spPr>
        <p:txBody>
          <a:bodyPr wrap="square" lIns="0" tIns="0" rIns="0" bIns="0" rtlCol="0" anchor="t"/>
          <a:lstStyle/>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id: filter_shape</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pattern: P2                 # compute pattern — normative, see docs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entry: impress_a.tools.rosetta_agents.FilterShapeAgent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resources: {cores: 2, walltime_s: 120}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inputs: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outputs:  {structure: {type: Complex}}</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metrics: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qc_gates:</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output_present,  params: {key: result}}</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 {id: metric_in_range, params: {metric: shape_complementarity,</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                                   min: 0.55, max: 1.0}}</a:t>
            </a:r>
            <a:endParaRPr lang="en-US" sz="816" dirty="0"/>
          </a:p>
          <a:p>
            <a:pPr indent="0" marL="0">
              <a:lnSpc>
                <a:spcPts val="1020"/>
              </a:lnSpc>
              <a:buNone/>
            </a:pPr>
            <a:r>
              <a:rPr lang="en-US" sz="816" dirty="0">
                <a:solidFill>
                  <a:srgbClr val="DCE5EC"/>
                </a:solidFill>
                <a:latin typeface="Consolas" pitchFamily="34" charset="0"/>
                <a:ea typeface="Consolas" pitchFamily="34" charset="-122"/>
                <a:cs typeface="Consolas" pitchFamily="34" charset="-120"/>
              </a:rPr>
              <a:t>cost_model: {unit: invocation, cost: {cpu_hours: 0.01}}</a:t>
            </a:r>
            <a:endParaRPr lang="en-US" sz="816" dirty="0"/>
          </a:p>
        </p:txBody>
      </p:sp>
      <p:sp>
        <p:nvSpPr>
          <p:cNvPr id="6" name="Text 4"/>
          <p:cNvSpPr txBox="1"/>
          <p:nvPr/>
        </p:nvSpPr>
        <p:spPr>
          <a:xfrm>
            <a:off x="457200" y="31272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toolkits/rosetta/tools/filter_shape/spec.yaml  ·  EDITED</a:t>
            </a:r>
            <a:endParaRPr lang="en-US" sz="850" dirty="0"/>
          </a:p>
        </p:txBody>
      </p:sp>
      <p:sp>
        <p:nvSpPr>
          <p:cNvPr id="7" name="Shape 5"/>
          <p:cNvSpPr/>
          <p:nvPr/>
        </p:nvSpPr>
        <p:spPr>
          <a:xfrm>
            <a:off x="457200" y="3429000"/>
            <a:ext cx="1325880" cy="548640"/>
          </a:xfrm>
          <a:prstGeom prst="roundRect">
            <a:avLst>
              <a:gd name="adj" fmla="val 13333"/>
            </a:avLst>
          </a:prstGeom>
          <a:solidFill>
            <a:srgbClr val="F3EAF6"/>
          </a:solidFill>
          <a:ln w="19050">
            <a:solidFill>
              <a:srgbClr val="7A4A8C"/>
            </a:solidFill>
            <a:prstDash val="solid"/>
          </a:ln>
        </p:spPr>
      </p:sp>
      <p:sp>
        <p:nvSpPr>
          <p:cNvPr id="8" name="Text 6"/>
          <p:cNvSpPr txBox="1"/>
          <p:nvPr/>
        </p:nvSpPr>
        <p:spPr>
          <a:xfrm>
            <a:off x="53035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pre_process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:55</a:t>
            </a:r>
            <a:endParaRPr lang="en-US" sz="1400" dirty="0"/>
          </a:p>
        </p:txBody>
      </p:sp>
      <p:sp>
        <p:nvSpPr>
          <p:cNvPr id="9" name="Shape 7"/>
          <p:cNvSpPr/>
          <p:nvPr/>
        </p:nvSpPr>
        <p:spPr>
          <a:xfrm>
            <a:off x="1792224" y="3703320"/>
            <a:ext cx="118872" cy="91"/>
          </a:xfrm>
          <a:prstGeom prst="line">
            <a:avLst/>
          </a:prstGeom>
          <a:noFill/>
          <a:ln w="15875">
            <a:solidFill>
              <a:srgbClr val="5E6B75"/>
            </a:solidFill>
            <a:prstDash val="solid"/>
            <a:tailEnd type="triangle"/>
          </a:ln>
        </p:spPr>
      </p:sp>
      <p:sp>
        <p:nvSpPr>
          <p:cNvPr id="10" name="Shape 8"/>
          <p:cNvSpPr/>
          <p:nvPr/>
        </p:nvSpPr>
        <p:spPr>
          <a:xfrm>
            <a:off x="1920240" y="3429000"/>
            <a:ext cx="1325880" cy="548640"/>
          </a:xfrm>
          <a:prstGeom prst="roundRect">
            <a:avLst>
              <a:gd name="adj" fmla="val 13333"/>
            </a:avLst>
          </a:prstGeom>
          <a:solidFill>
            <a:srgbClr val="F3EAF6"/>
          </a:solidFill>
          <a:ln w="19050">
            <a:solidFill>
              <a:srgbClr val="7A4A8C"/>
            </a:solidFill>
            <a:prstDash val="solid"/>
          </a:ln>
        </p:spPr>
      </p:sp>
      <p:sp>
        <p:nvSpPr>
          <p:cNvPr id="11" name="Text 9"/>
          <p:cNvSpPr txBox="1"/>
          <p:nvPr/>
        </p:nvSpPr>
        <p:spPr>
          <a:xfrm>
            <a:off x="199339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parameterize</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:58</a:t>
            </a:r>
            <a:endParaRPr lang="en-US" sz="1400" dirty="0"/>
          </a:p>
        </p:txBody>
      </p:sp>
      <p:sp>
        <p:nvSpPr>
          <p:cNvPr id="12" name="Shape 10"/>
          <p:cNvSpPr/>
          <p:nvPr/>
        </p:nvSpPr>
        <p:spPr>
          <a:xfrm>
            <a:off x="3255264" y="3703320"/>
            <a:ext cx="118872" cy="91"/>
          </a:xfrm>
          <a:prstGeom prst="line">
            <a:avLst/>
          </a:prstGeom>
          <a:noFill/>
          <a:ln w="15875">
            <a:solidFill>
              <a:srgbClr val="5E6B75"/>
            </a:solidFill>
            <a:prstDash val="solid"/>
            <a:tailEnd type="triangle"/>
          </a:ln>
        </p:spPr>
      </p:sp>
      <p:sp>
        <p:nvSpPr>
          <p:cNvPr id="13" name="Shape 11"/>
          <p:cNvSpPr/>
          <p:nvPr/>
        </p:nvSpPr>
        <p:spPr>
          <a:xfrm>
            <a:off x="3383280" y="3429000"/>
            <a:ext cx="1325880" cy="548640"/>
          </a:xfrm>
          <a:prstGeom prst="roundRect">
            <a:avLst>
              <a:gd name="adj" fmla="val 13333"/>
            </a:avLst>
          </a:prstGeom>
          <a:solidFill>
            <a:srgbClr val="F3EAF6"/>
          </a:solidFill>
          <a:ln w="19050">
            <a:solidFill>
              <a:srgbClr val="7A4A8C"/>
            </a:solidFill>
            <a:prstDash val="solid"/>
          </a:ln>
        </p:spPr>
      </p:sp>
      <p:sp>
        <p:nvSpPr>
          <p:cNvPr id="14" name="Text 12"/>
          <p:cNvSpPr txBox="1"/>
          <p:nvPr/>
        </p:nvSpPr>
        <p:spPr>
          <a:xfrm>
            <a:off x="345643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run</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:79</a:t>
            </a:r>
            <a:endParaRPr lang="en-US" sz="1400" dirty="0"/>
          </a:p>
        </p:txBody>
      </p:sp>
      <p:sp>
        <p:nvSpPr>
          <p:cNvPr id="15" name="Shape 13"/>
          <p:cNvSpPr/>
          <p:nvPr/>
        </p:nvSpPr>
        <p:spPr>
          <a:xfrm>
            <a:off x="4718304" y="3703320"/>
            <a:ext cx="118872" cy="91"/>
          </a:xfrm>
          <a:prstGeom prst="line">
            <a:avLst/>
          </a:prstGeom>
          <a:noFill/>
          <a:ln w="15875">
            <a:solidFill>
              <a:srgbClr val="5E6B75"/>
            </a:solidFill>
            <a:prstDash val="solid"/>
            <a:tailEnd type="triangle"/>
          </a:ln>
        </p:spPr>
      </p:sp>
      <p:sp>
        <p:nvSpPr>
          <p:cNvPr id="16" name="Shape 14"/>
          <p:cNvSpPr/>
          <p:nvPr/>
        </p:nvSpPr>
        <p:spPr>
          <a:xfrm>
            <a:off x="4846320" y="3429000"/>
            <a:ext cx="1325880" cy="548640"/>
          </a:xfrm>
          <a:prstGeom prst="roundRect">
            <a:avLst>
              <a:gd name="adj" fmla="val 13333"/>
            </a:avLst>
          </a:prstGeom>
          <a:solidFill>
            <a:srgbClr val="F3EAF6"/>
          </a:solidFill>
          <a:ln w="19050">
            <a:solidFill>
              <a:srgbClr val="7A4A8C"/>
            </a:solidFill>
            <a:prstDash val="solid"/>
          </a:ln>
        </p:spPr>
      </p:sp>
      <p:sp>
        <p:nvSpPr>
          <p:cNvPr id="17" name="Text 15"/>
          <p:cNvSpPr txBox="1"/>
          <p:nvPr/>
        </p:nvSpPr>
        <p:spPr>
          <a:xfrm>
            <a:off x="4919472" y="3474720"/>
            <a:ext cx="1179576" cy="457200"/>
          </a:xfrm>
          <a:prstGeom prst="rect">
            <a:avLst/>
          </a:prstGeom>
          <a:noFill/>
          <a:ln/>
        </p:spPr>
        <p:txBody>
          <a:bodyPr wrap="square" lIns="0" tIns="0" rIns="0" bIns="0" rtlCol="0" anchor="ctr"/>
          <a:lstStyle/>
          <a:p>
            <a:pPr algn="ctr" indent="0" marL="0">
              <a:buNone/>
            </a:pPr>
            <a:r>
              <a:rPr lang="en-US" sz="1050" b="1" dirty="0">
                <a:solidFill>
                  <a:srgbClr val="16222B"/>
                </a:solidFill>
                <a:latin typeface="Calibri" pitchFamily="34" charset="0"/>
                <a:ea typeface="Calibri" pitchFamily="34" charset="-122"/>
                <a:cs typeface="Calibri" pitchFamily="34" charset="-120"/>
              </a:rPr>
              <a:t>post_process</a:t>
            </a:r>
            <a:endParaRPr lang="en-US" sz="1400" dirty="0"/>
          </a:p>
          <a:p>
            <a:pPr algn="ctr" indent="0" marL="0">
              <a:buNone/>
            </a:pPr>
            <a:endParaRPr lang="en-US" sz="1400" dirty="0"/>
          </a:p>
          <a:p>
            <a:pPr algn="ctr" indent="0" marL="0">
              <a:buNone/>
            </a:pPr>
            <a:r>
              <a:rPr lang="en-US" sz="850" dirty="0">
                <a:solidFill>
                  <a:srgbClr val="5E6B75"/>
                </a:solidFill>
                <a:latin typeface="Consolas" pitchFamily="34" charset="0"/>
                <a:ea typeface="Consolas" pitchFamily="34" charset="-122"/>
                <a:cs typeface="Consolas" pitchFamily="34" charset="-120"/>
              </a:rPr>
              <a:t>:110</a:t>
            </a:r>
            <a:endParaRPr lang="en-US" sz="1400" dirty="0"/>
          </a:p>
        </p:txBody>
      </p:sp>
      <p:sp>
        <p:nvSpPr>
          <p:cNvPr id="18" name="Text 16"/>
          <p:cNvSpPr txBox="1"/>
          <p:nvPr/>
        </p:nvSpPr>
        <p:spPr>
          <a:xfrm>
            <a:off x="457200" y="4069080"/>
            <a:ext cx="5760720" cy="411480"/>
          </a:xfrm>
          <a:prstGeom prst="rect">
            <a:avLst/>
          </a:prstGeom>
          <a:noFill/>
          <a:ln/>
        </p:spPr>
        <p:txBody>
          <a:bodyPr wrap="square" lIns="0" tIns="0" rIns="0" bIns="0" rtlCol="0" anchor="t"/>
          <a:lstStyle/>
          <a:p>
            <a:pPr indent="0" marL="0">
              <a:buNone/>
            </a:pPr>
            <a:r>
              <a:rPr lang="en-US" sz="1050" b="1" dirty="0">
                <a:solidFill>
                  <a:srgbClr val="16222B"/>
                </a:solidFill>
                <a:latin typeface="Calibri" pitchFamily="34" charset="0"/>
                <a:ea typeface="Calibri" pitchFamily="34" charset="-122"/>
                <a:cs typeface="Calibri" pitchFamily="34" charset="-120"/>
              </a:rPr>
              <a:t>post_process ENFORCES the spec's qc_gates</a:t>
            </a:r>
            <a:pPr indent="0" marL="0">
              <a:buNone/>
            </a:pPr>
            <a:r>
              <a:rPr lang="en-US" sz="1050" dirty="0">
                <a:solidFill>
                  <a:srgbClr val="22303C"/>
                </a:solidFill>
                <a:latin typeface="Calibri" pitchFamily="34" charset="0"/>
                <a:ea typeface="Calibri" pitchFamily="34" charset="-122"/>
                <a:cs typeface="Calibri" pitchFamily="34" charset="-120"/>
              </a:rPr>
              <a:t> — never skippable, and execute() is not overridable by an adapter: pattern dispatch belongs to the exec layer.</a:t>
            </a:r>
            <a:endParaRPr lang="en-US" sz="1050" dirty="0"/>
          </a:p>
        </p:txBody>
      </p:sp>
      <p:sp>
        <p:nvSpPr>
          <p:cNvPr id="19" name="Shape 17"/>
          <p:cNvSpPr/>
          <p:nvPr/>
        </p:nvSpPr>
        <p:spPr>
          <a:xfrm>
            <a:off x="457200" y="4572000"/>
            <a:ext cx="5760720" cy="1325880"/>
          </a:xfrm>
          <a:prstGeom prst="rect">
            <a:avLst/>
          </a:prstGeom>
          <a:solidFill>
            <a:srgbClr val="E4F1EA"/>
          </a:solidFill>
          <a:ln w="12700">
            <a:solidFill>
              <a:srgbClr val="E4F1EA"/>
            </a:solidFill>
            <a:prstDash val="solid"/>
          </a:ln>
        </p:spPr>
      </p:sp>
      <p:sp>
        <p:nvSpPr>
          <p:cNvPr id="20" name="Text 18"/>
          <p:cNvSpPr txBox="1"/>
          <p:nvPr/>
        </p:nvSpPr>
        <p:spPr>
          <a:xfrm>
            <a:off x="585216" y="4654296"/>
            <a:ext cx="550468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Loading is validating</a:t>
            </a:r>
            <a:endParaRPr lang="en-US" sz="1300" dirty="0"/>
          </a:p>
        </p:txBody>
      </p:sp>
      <p:sp>
        <p:nvSpPr>
          <p:cNvPr id="21" name="Text 19"/>
          <p:cNvSpPr txBox="1"/>
          <p:nvPr/>
        </p:nvSpPr>
        <p:spPr>
          <a:xfrm>
            <a:off x="585216" y="4965192"/>
            <a:ext cx="5504688" cy="8503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default outside its own range, an unknown QC gate id, a P1 tool declaring no GPU, a SKILL.md missing a required section — all are load-time errors.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toolkit that fails anywhere registers NOTHING, never a partial set.</a:t>
            </a:r>
            <a:endParaRPr lang="en-US" sz="1050" dirty="0"/>
          </a:p>
        </p:txBody>
      </p:sp>
      <p:sp>
        <p:nvSpPr>
          <p:cNvPr id="22" name="Shape 20"/>
          <p:cNvSpPr/>
          <p:nvPr/>
        </p:nvSpPr>
        <p:spPr>
          <a:xfrm>
            <a:off x="6492240" y="1371600"/>
            <a:ext cx="5242255" cy="365760"/>
          </a:xfrm>
          <a:prstGeom prst="rect">
            <a:avLst/>
          </a:prstGeom>
          <a:solidFill>
            <a:srgbClr val="16222B"/>
          </a:solidFill>
          <a:ln w="12700">
            <a:solidFill>
              <a:srgbClr val="16222B"/>
            </a:solidFill>
            <a:prstDash val="solid"/>
          </a:ln>
        </p:spPr>
      </p:sp>
      <p:sp>
        <p:nvSpPr>
          <p:cNvPr id="23" name="Text 21"/>
          <p:cNvSpPr txBox="1"/>
          <p:nvPr/>
        </p:nvSpPr>
        <p:spPr>
          <a:xfrm>
            <a:off x="6601968" y="1371600"/>
            <a:ext cx="5022799"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suite manufactures the failure mode</a:t>
            </a:r>
            <a:endParaRPr lang="en-US" sz="1300" dirty="0"/>
          </a:p>
        </p:txBody>
      </p:sp>
      <p:sp>
        <p:nvSpPr>
          <p:cNvPr id="24" name="Shape 22"/>
          <p:cNvSpPr/>
          <p:nvPr/>
        </p:nvSpPr>
        <p:spPr>
          <a:xfrm>
            <a:off x="6492240" y="1828800"/>
            <a:ext cx="5242255" cy="1417320"/>
          </a:xfrm>
          <a:prstGeom prst="rect">
            <a:avLst/>
          </a:prstGeom>
          <a:solidFill>
            <a:srgbClr val="16222B"/>
          </a:solidFill>
          <a:ln w="12700">
            <a:solidFill>
              <a:srgbClr val="16222B"/>
            </a:solidFill>
            <a:prstDash val="solid"/>
          </a:ln>
        </p:spPr>
      </p:sp>
      <p:sp>
        <p:nvSpPr>
          <p:cNvPr id="25" name="Text 23"/>
          <p:cNvSpPr txBox="1"/>
          <p:nvPr/>
        </p:nvSpPr>
        <p:spPr>
          <a:xfrm>
            <a:off x="6592824" y="1920240"/>
            <a:ext cx="5041087" cy="1234440"/>
          </a:xfrm>
          <a:prstGeom prst="rect">
            <a:avLst/>
          </a:prstGeom>
          <a:noFill/>
          <a:ln/>
        </p:spPr>
        <p:txBody>
          <a:bodyPr wrap="square" lIns="0" tIns="0" rIns="0" bIns="0" rtlCol="0" anchor="t"/>
          <a:lstStyle/>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class NoodleAgent(TaskAgent):</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 tool that LIES.</a:t>
            </a:r>
            <a:endParaRPr lang="en-US" sz="778" dirty="0"/>
          </a:p>
          <a:p>
            <a:pPr indent="0" marL="0">
              <a:lnSpc>
                <a:spcPts val="972"/>
              </a:lnSpc>
              <a:buNone/>
            </a:pP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Completes successfully, returns confident-looking numbers,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and produces a structure with no secondary structure.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async def run(self, req, params):</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return {"result": "backbone", ...,</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"outputs": {"designs": "noodle"},</a:t>
            </a:r>
            <a:endParaRPr lang="en-US" sz="778" dirty="0"/>
          </a:p>
          <a:p>
            <a:pPr indent="0" marL="0">
              <a:lnSpc>
                <a:spcPts val="972"/>
              </a:lnSpc>
              <a:buNone/>
            </a:pPr>
            <a:r>
              <a:rPr lang="en-US" sz="778" dirty="0">
                <a:solidFill>
                  <a:srgbClr val="DCE5EC"/>
                </a:solidFill>
                <a:latin typeface="Consolas" pitchFamily="34" charset="0"/>
                <a:ea typeface="Consolas" pitchFamily="34" charset="-122"/>
                <a:cs typeface="Consolas" pitchFamily="34" charset="-120"/>
              </a:rPr>
              <a:t>                "metrics": {"ss_fraction": 0.02, "designability": 0.91}}</a:t>
            </a:r>
            <a:endParaRPr lang="en-US" sz="778" dirty="0"/>
          </a:p>
        </p:txBody>
      </p:sp>
      <p:sp>
        <p:nvSpPr>
          <p:cNvPr id="26" name="Text 24"/>
          <p:cNvSpPr txBox="1"/>
          <p:nvPr/>
        </p:nvSpPr>
        <p:spPr>
          <a:xfrm>
            <a:off x="6492240" y="326440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tools/mock_agents.py:73–84  ·  EDITED</a:t>
            </a:r>
            <a:endParaRPr lang="en-US" sz="850" dirty="0"/>
          </a:p>
        </p:txBody>
      </p:sp>
      <p:sp>
        <p:nvSpPr>
          <p:cNvPr id="27" name="Shape 25"/>
          <p:cNvSpPr/>
          <p:nvPr/>
        </p:nvSpPr>
        <p:spPr>
          <a:xfrm>
            <a:off x="6492240" y="3566160"/>
            <a:ext cx="5242255" cy="777240"/>
          </a:xfrm>
          <a:prstGeom prst="rect">
            <a:avLst/>
          </a:prstGeom>
          <a:solidFill>
            <a:srgbClr val="243240"/>
          </a:solidFill>
          <a:ln w="12700">
            <a:solidFill>
              <a:srgbClr val="243240"/>
            </a:solidFill>
            <a:prstDash val="solid"/>
          </a:ln>
        </p:spPr>
      </p:sp>
      <p:sp>
        <p:nvSpPr>
          <p:cNvPr id="28" name="Text 26"/>
          <p:cNvSpPr txBox="1"/>
          <p:nvPr/>
        </p:nvSpPr>
        <p:spPr>
          <a:xfrm>
            <a:off x="6592824" y="3657600"/>
            <a:ext cx="5041087" cy="594360"/>
          </a:xfrm>
          <a:prstGeom prst="rect">
            <a:avLst/>
          </a:prstGeom>
          <a:noFill/>
          <a:ln/>
        </p:spPr>
        <p:txBody>
          <a:bodyPr wrap="square" lIns="0" tIns="0" rIns="0" bIns="0" rtlCol="0" anchor="t"/>
          <a:lstStyle/>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not res.failures, "the tool must SUCCEED - that is</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                          what makes it silent"</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res.merged_metrics()["designability"] &gt; 0.9</a:t>
            </a:r>
            <a:endParaRPr lang="en-US" sz="936" dirty="0"/>
          </a:p>
          <a:p>
            <a:pPr indent="0" marL="0">
              <a:lnSpc>
                <a:spcPts val="1170"/>
              </a:lnSpc>
              <a:buNone/>
            </a:pPr>
            <a:r>
              <a:rPr lang="en-US" sz="936" dirty="0">
                <a:solidFill>
                  <a:srgbClr val="DCE5EC"/>
                </a:solidFill>
                <a:latin typeface="Consolas" pitchFamily="34" charset="0"/>
                <a:ea typeface="Consolas" pitchFamily="34" charset="-122"/>
                <a:cs typeface="Consolas" pitchFamily="34" charset="-120"/>
              </a:rPr>
              <a:t>assert res.merged_qc().verdict is QCVerdict.FAIL</a:t>
            </a:r>
            <a:endParaRPr lang="en-US" sz="936" dirty="0"/>
          </a:p>
        </p:txBody>
      </p:sp>
      <p:sp>
        <p:nvSpPr>
          <p:cNvPr id="29" name="Text 27"/>
          <p:cNvSpPr txBox="1"/>
          <p:nvPr/>
        </p:nvSpPr>
        <p:spPr>
          <a:xfrm>
            <a:off x="6492240" y="4361688"/>
            <a:ext cx="524225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test_campaign.py:81–83  ·  EDITED (one string wrapped)</a:t>
            </a:r>
            <a:endParaRPr lang="en-US" sz="850" dirty="0"/>
          </a:p>
        </p:txBody>
      </p:sp>
      <p:sp>
        <p:nvSpPr>
          <p:cNvPr id="30" name="Shape 28"/>
          <p:cNvSpPr/>
          <p:nvPr/>
        </p:nvSpPr>
        <p:spPr>
          <a:xfrm>
            <a:off x="6492240" y="4617720"/>
            <a:ext cx="5242255" cy="1828800"/>
          </a:xfrm>
          <a:prstGeom prst="rect">
            <a:avLst/>
          </a:prstGeom>
          <a:solidFill>
            <a:srgbClr val="F9E0DD"/>
          </a:solidFill>
          <a:ln w="12700">
            <a:solidFill>
              <a:srgbClr val="F9E0DD"/>
            </a:solidFill>
            <a:prstDash val="solid"/>
          </a:ln>
        </p:spPr>
      </p:sp>
      <p:sp>
        <p:nvSpPr>
          <p:cNvPr id="31" name="Text 29"/>
          <p:cNvSpPr txBox="1"/>
          <p:nvPr/>
        </p:nvSpPr>
        <p:spPr>
          <a:xfrm>
            <a:off x="6620256" y="4700016"/>
            <a:ext cx="498622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this defence is still thin</a:t>
            </a:r>
            <a:endParaRPr lang="en-US" sz="1300" dirty="0"/>
          </a:p>
        </p:txBody>
      </p:sp>
      <p:sp>
        <p:nvSpPr>
          <p:cNvPr id="32" name="Text 30"/>
          <p:cNvSpPr txBox="1"/>
          <p:nvPr/>
        </p:nvSpPr>
        <p:spPr>
          <a:xfrm>
            <a:off x="6620256" y="5010912"/>
            <a:ext cx="4986223" cy="13533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mock_noodle exists so the QC layer is tested at campaign scale against a tool that lies. The real toolkits have no equivalent.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Their gates are almost entirely metric_in_range against a number the tool chose to report about itself — which is exactly what a confidently-wrong tool passes.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No structural gates: nothing checks the ligand is in the output complex, that there are no chain breaks, or that sequence length matches the contig.</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RFD3 already reports ligand_clashes in a sidecar JSON we now open and do not read. That is the cheapest real structural gate available, and it is backlog B1/G2.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TOOLS · 2 OF 2 · CUTTABLE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Eight compute patterns, and what each one forbids</a:t>
            </a:r>
            <a:endParaRPr lang="en-US" sz="2800" dirty="0"/>
          </a:p>
        </p:txBody>
      </p:sp>
      <p:sp>
        <p:nvSpPr>
          <p:cNvPr id="4" name="Text 2"/>
          <p:cNvSpPr txBox="1"/>
          <p:nvPr/>
        </p:nvSpPr>
        <p:spPr>
          <a:xfrm>
            <a:off x="457200" y="1335024"/>
            <a:ext cx="7616952" cy="237744"/>
          </a:xfrm>
          <a:prstGeom prst="rect">
            <a:avLst/>
          </a:prstGeom>
          <a:noFill/>
          <a:ln/>
        </p:spPr>
        <p:txBody>
          <a:bodyPr wrap="square" lIns="0" tIns="0" rIns="0" bIns="0" rtlCol="0" anchor="ctr"/>
          <a:lstStyle/>
          <a:p>
            <a:pPr algn="l" indent="0" marL="0">
              <a:buNone/>
            </a:pPr>
            <a:r>
              <a:rPr lang="en-US" sz="950" dirty="0">
                <a:solidFill>
                  <a:srgbClr val="5E6B75"/>
                </a:solidFill>
                <a:latin typeface="Consolas" pitchFamily="34" charset="0"/>
                <a:ea typeface="Consolas" pitchFamily="34" charset="-122"/>
                <a:cs typeface="Consolas" pitchFamily="34" charset="-120"/>
              </a:rPr>
              <a:t>core/types.py:12 — organised by scheduling implication, never by science</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91056"/>
          <a:ext cx="7616952" cy="914400"/>
        </p:xfrm>
        <a:graphic>
          <a:graphicData uri="http://schemas.openxmlformats.org/drawingml/2006/table">
            <a:tbl>
              <a:tblPr/>
              <a:tblGrid>
                <a:gridCol w="685800"/>
                <a:gridCol w="2194560"/>
                <a:gridCol w="3200400"/>
                <a:gridCol w="1536192"/>
              </a:tblGrid>
              <a:tr h="283464">
                <a:tc>
                  <a:txBody>
                    <a:bodyPr/>
                    <a:lstStyle/>
                    <a:p>
                      <a:pPr indent="0" marL="0">
                        <a:buNone/>
                      </a:pP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is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forces on the orchestrator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Tools here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P1</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GPU-node-local,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must declare a GPU — a load-time error if not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b="1" dirty="0">
                          <a:solidFill>
                            <a:srgbClr val="2E7D4F"/>
                          </a:solidFill>
                          <a:latin typeface="Consolas" pitchFamily="34" charset="0"/>
                          <a:ea typeface="Consolas" pitchFamily="34" charset="-122"/>
                          <a:cs typeface="Consolas" pitchFamily="34" charset="-120"/>
                        </a:rPr>
                        <a:t>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P2</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CPU-parallel fan-out,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cores, not ranks; no topology to reserve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E7D4F"/>
                          </a:solidFill>
                          <a:latin typeface="Consolas" pitchFamily="34" charset="0"/>
                          <a:ea typeface="Consolas" pitchFamily="34" charset="-122"/>
                          <a:cs typeface="Consolas" pitchFamily="34" charset="-120"/>
                        </a:rPr>
                        <a:t>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P3</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MPI multi-node, in-job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reserved rank layout; no resize mid-run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external HPC job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durable job state — it outlives the agent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P5</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network service over HTTPS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no local cost; quota, latency and outage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P6</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in-process library call</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never a scheduled node — inlined, or refused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composite pipeline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parameterize and observe; stages not steered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83464">
                <a:tc>
                  <a:txBody>
                    <a:bodyPr/>
                    <a:lstStyle/>
                    <a:p>
                      <a:pPr algn="ctr" indent="0" marL="0">
                        <a:buNone/>
                      </a:pPr>
                      <a:r>
                        <a:rPr lang="en-US" sz="1000" b="1" dirty="0">
                          <a:solidFill>
                            <a:srgbClr val="5E6B75"/>
                          </a:solidFill>
                          <a:latin typeface="Consolas" pitchFamily="34" charset="0"/>
                          <a:ea typeface="Consolas" pitchFamily="34" charset="-122"/>
                          <a:cs typeface="Consolas" pitchFamily="34" charset="-120"/>
                        </a:rPr>
                        <a:t>P8</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external experiment (lab)</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completes out of band, days later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C0392B"/>
                          </a:solidFill>
                          <a:latin typeface="Consolas" pitchFamily="34" charset="0"/>
                          <a:ea typeface="Consolas" pitchFamily="34" charset="-122"/>
                          <a:cs typeface="Consolas" pitchFamily="34" charset="-120"/>
                        </a:rPr>
                        <a:t>—</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4370832"/>
            <a:ext cx="7616952" cy="1874520"/>
          </a:xfrm>
          <a:prstGeom prst="rect">
            <a:avLst/>
          </a:prstGeom>
          <a:solidFill>
            <a:srgbClr val="16222B"/>
          </a:solidFill>
          <a:ln w="12700">
            <a:solidFill>
              <a:srgbClr val="16222B"/>
            </a:solidFill>
            <a:prstDash val="solid"/>
          </a:ln>
        </p:spPr>
      </p:sp>
      <p:sp>
        <p:nvSpPr>
          <p:cNvPr id="7" name="Text 4"/>
          <p:cNvSpPr txBox="1"/>
          <p:nvPr/>
        </p:nvSpPr>
        <p:spPr>
          <a:xfrm>
            <a:off x="557784" y="4462272"/>
            <a:ext cx="7415784" cy="169164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class Pattern(str, Enum):      # 8 members, and only 2 rules derived from them</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def is_inline(self):   return self is Pattern.P6</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def is_external(self): return self in (Pattern.P4, Pattern.P8)</a:t>
            </a:r>
            <a:endParaRPr lang="en-US" sz="1000" dirty="0"/>
          </a:p>
          <a:p>
            <a:pPr indent="0" marL="0">
              <a:lnSpc>
                <a:spcPts val="1300"/>
              </a:lnSpc>
              <a:buNone/>
            </a:pP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stages = [t for t in intent.stages            # composer.py - P6 never a node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if self.reg.get(t).pattern is not Pattern.P6]</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spec.pattern is Pattern.P6:                # validate.py - gate 4 refuses 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ValidationFailure(gate="resource", node=tid, reason=...)</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if self.pattern is Pattern.P1 and self.resources.gpus == 0:  # spec.py - at LOAD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raise ValueError(f"{self.id}: P1 declared but resources.gpus == 0")</a:t>
            </a:r>
            <a:endParaRPr lang="en-US" sz="1000" dirty="0"/>
          </a:p>
        </p:txBody>
      </p:sp>
      <p:sp>
        <p:nvSpPr>
          <p:cNvPr id="8" name="Text 5"/>
          <p:cNvSpPr txBox="1"/>
          <p:nvPr/>
        </p:nvSpPr>
        <p:spPr>
          <a:xfrm>
            <a:off x="457200" y="6263640"/>
            <a:ext cx="7616952"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composer.py:45 · validate.py:106 · spec.py:106  ·  EDITED — @property elided</a:t>
            </a:r>
            <a:endParaRPr lang="en-US" sz="850" dirty="0"/>
          </a:p>
        </p:txBody>
      </p:sp>
      <p:sp>
        <p:nvSpPr>
          <p:cNvPr id="9" name="Shape 6"/>
          <p:cNvSpPr/>
          <p:nvPr/>
        </p:nvSpPr>
        <p:spPr>
          <a:xfrm>
            <a:off x="8348472" y="1335024"/>
            <a:ext cx="3386023" cy="1572768"/>
          </a:xfrm>
          <a:prstGeom prst="rect">
            <a:avLst/>
          </a:prstGeom>
          <a:solidFill>
            <a:srgbClr val="EEF2F5"/>
          </a:solidFill>
          <a:ln w="12700">
            <a:solidFill>
              <a:srgbClr val="EEF2F5"/>
            </a:solidFill>
            <a:prstDash val="solid"/>
          </a:ln>
        </p:spPr>
      </p:sp>
      <p:sp>
        <p:nvSpPr>
          <p:cNvPr id="10" name="Text 7"/>
          <p:cNvSpPr txBox="1"/>
          <p:nvPr/>
        </p:nvSpPr>
        <p:spPr>
          <a:xfrm>
            <a:off x="8476488" y="1417320"/>
            <a:ext cx="3129991"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Organised by what it forces</a:t>
            </a:r>
            <a:endParaRPr lang="en-US" sz="1200" dirty="0"/>
          </a:p>
        </p:txBody>
      </p:sp>
      <p:sp>
        <p:nvSpPr>
          <p:cNvPr id="11" name="Text 8"/>
          <p:cNvSpPr txBox="1"/>
          <p:nvPr/>
        </p:nvSpPr>
        <p:spPr>
          <a:xfrm>
            <a:off x="8476488" y="1728216"/>
            <a:ext cx="3129991" cy="109728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Not by what the tool computes. A tool is P4 for where it must be submitted, not because it runs MD.</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Which is why one generic factory serves every node: the differences that would have needed branching were settled before dispatch.</a:t>
            </a:r>
            <a:endParaRPr lang="en-US" sz="950" dirty="0"/>
          </a:p>
        </p:txBody>
      </p:sp>
      <p:sp>
        <p:nvSpPr>
          <p:cNvPr id="12" name="Shape 9"/>
          <p:cNvSpPr/>
          <p:nvPr/>
        </p:nvSpPr>
        <p:spPr>
          <a:xfrm>
            <a:off x="8348472" y="2999232"/>
            <a:ext cx="3386023" cy="1645920"/>
          </a:xfrm>
          <a:prstGeom prst="rect">
            <a:avLst/>
          </a:prstGeom>
          <a:solidFill>
            <a:srgbClr val="F9E0DD"/>
          </a:solidFill>
          <a:ln w="12700">
            <a:solidFill>
              <a:srgbClr val="F9E0DD"/>
            </a:solidFill>
            <a:prstDash val="solid"/>
          </a:ln>
        </p:spPr>
      </p:sp>
      <p:sp>
        <p:nvSpPr>
          <p:cNvPr id="13" name="Text 10"/>
          <p:cNvSpPr txBox="1"/>
          <p:nvPr/>
        </p:nvSpPr>
        <p:spPr>
          <a:xfrm>
            <a:off x="8476488" y="3081528"/>
            <a:ext cx="3129991"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Two of the eight are in use</a:t>
            </a:r>
            <a:endParaRPr lang="en-US" sz="1200" dirty="0"/>
          </a:p>
        </p:txBody>
      </p:sp>
      <p:sp>
        <p:nvSpPr>
          <p:cNvPr id="14" name="Text 11"/>
          <p:cNvSpPr txBox="1"/>
          <p:nvPr/>
        </p:nvSpPr>
        <p:spPr>
          <a:xfrm>
            <a:off x="8476488" y="3392424"/>
            <a:ext cx="3129991" cy="11704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All 11 registered tools are P1 (7) or P2 (4). P3–P8 have no member.</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So the P6-inline path, the P4 ledger and the P5 service path are contracts the suite asserts and no tool has taken.</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exec/ledger.py has existed since the first prototype; nothing has written a P4 record.</a:t>
            </a:r>
            <a:endParaRPr lang="en-US" sz="950" dirty="0"/>
          </a:p>
        </p:txBody>
      </p:sp>
      <p:sp>
        <p:nvSpPr>
          <p:cNvPr id="15" name="Shape 12"/>
          <p:cNvSpPr/>
          <p:nvPr/>
        </p:nvSpPr>
        <p:spPr>
          <a:xfrm>
            <a:off x="8348472" y="4754880"/>
            <a:ext cx="3386023" cy="1645920"/>
          </a:xfrm>
          <a:prstGeom prst="rect">
            <a:avLst/>
          </a:prstGeom>
          <a:solidFill>
            <a:srgbClr val="F9E0DD"/>
          </a:solidFill>
          <a:ln w="12700">
            <a:solidFill>
              <a:srgbClr val="F9E0DD"/>
            </a:solidFill>
            <a:prstDash val="solid"/>
          </a:ln>
        </p:spPr>
      </p:sp>
      <p:sp>
        <p:nvSpPr>
          <p:cNvPr id="16" name="Text 13"/>
          <p:cNvSpPr txBox="1"/>
          <p:nvPr/>
        </p:nvSpPr>
        <p:spPr>
          <a:xfrm>
            <a:off x="8476488" y="4837176"/>
            <a:ext cx="3129991" cy="2743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Dispatch does not branch on it</a:t>
            </a:r>
            <a:endParaRPr lang="en-US" sz="1200" dirty="0"/>
          </a:p>
        </p:txBody>
      </p:sp>
      <p:sp>
        <p:nvSpPr>
          <p:cNvPr id="17" name="Text 14"/>
          <p:cNvSpPr txBox="1"/>
          <p:nvPr/>
        </p:nvSpPr>
        <p:spPr>
          <a:xfrm>
            <a:off x="8476488" y="5148072"/>
            <a:ext cx="3129991" cy="117043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The docstring says "dispatch depends on these." It does not, yet: exec/dispatch.py builds one closure per node, and exec/resources.py translates ResourceShape.</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So every consequence is enforced at load time or by a gate — 5 sites in 3 files, none under exec/ or runtime/.</a:t>
            </a:r>
            <a:endParaRPr lang="en-US" sz="950" dirty="0"/>
          </a:p>
        </p:txBody>
      </p:sp>
      <p:sp>
        <p:nvSpPr>
          <p:cNvPr id="18" name="Text 1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Two senses of one word: a compute pattern is per tool, and is this slide; a composition pattern is a graph's shape (compose/graph.py:51) — that is what the trust ledger scores.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MEASURED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jobs to one completed campaign</a:t>
            </a:r>
            <a:endParaRPr lang="en-US" sz="2800" dirty="0"/>
          </a:p>
        </p:txBody>
      </p:sp>
      <p:sp>
        <p:nvSpPr>
          <p:cNvPr id="4" name="Text 2"/>
          <p:cNvSpPr txBox="1"/>
          <p:nvPr/>
        </p:nvSpPr>
        <p:spPr>
          <a:xfrm>
            <a:off x="457200" y="1481328"/>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22675512 · HDD</a:t>
            </a:r>
            <a:endParaRPr lang="en-US" sz="1050" dirty="0"/>
          </a:p>
        </p:txBody>
      </p:sp>
      <p:sp>
        <p:nvSpPr>
          <p:cNvPr id="5" name="Shape 3"/>
          <p:cNvSpPr/>
          <p:nvPr/>
        </p:nvSpPr>
        <p:spPr>
          <a:xfrm>
            <a:off x="2057400" y="1508760"/>
            <a:ext cx="1737079" cy="237744"/>
          </a:xfrm>
          <a:prstGeom prst="rect">
            <a:avLst/>
          </a:prstGeom>
          <a:solidFill>
            <a:srgbClr val="D9731A"/>
          </a:solidFill>
          <a:ln w="12700">
            <a:solidFill>
              <a:srgbClr val="D9731A"/>
            </a:solidFill>
            <a:prstDash val="solid"/>
          </a:ln>
        </p:spPr>
      </p:sp>
      <p:sp>
        <p:nvSpPr>
          <p:cNvPr id="6" name="Text 4"/>
          <p:cNvSpPr txBox="1"/>
          <p:nvPr/>
        </p:nvSpPr>
        <p:spPr>
          <a:xfrm>
            <a:off x="2057400" y="1508760"/>
            <a:ext cx="1737079"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137</a:t>
            </a:r>
            <a:endParaRPr lang="en-US" sz="800" dirty="0"/>
          </a:p>
        </p:txBody>
      </p:sp>
      <p:sp>
        <p:nvSpPr>
          <p:cNvPr id="7" name="Shape 5"/>
          <p:cNvSpPr/>
          <p:nvPr/>
        </p:nvSpPr>
        <p:spPr>
          <a:xfrm>
            <a:off x="3794479" y="1508760"/>
            <a:ext cx="3704586" cy="237744"/>
          </a:xfrm>
          <a:prstGeom prst="rect">
            <a:avLst/>
          </a:prstGeom>
          <a:solidFill>
            <a:srgbClr val="3B4E8C"/>
          </a:solidFill>
          <a:ln w="12700">
            <a:solidFill>
              <a:srgbClr val="3B4E8C"/>
            </a:solidFill>
            <a:prstDash val="solid"/>
          </a:ln>
        </p:spPr>
      </p:sp>
      <p:sp>
        <p:nvSpPr>
          <p:cNvPr id="8" name="Text 6"/>
          <p:cNvSpPr txBox="1"/>
          <p:nvPr/>
        </p:nvSpPr>
        <p:spPr>
          <a:xfrm>
            <a:off x="3794479" y="1508760"/>
            <a:ext cx="370458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293</a:t>
            </a:r>
            <a:endParaRPr lang="en-US" sz="800" dirty="0"/>
          </a:p>
        </p:txBody>
      </p:sp>
      <p:sp>
        <p:nvSpPr>
          <p:cNvPr id="9" name="Text 7"/>
          <p:cNvSpPr txBox="1"/>
          <p:nvPr/>
        </p:nvSpPr>
        <p:spPr>
          <a:xfrm>
            <a:off x="7553929" y="1508760"/>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430 s of tool time</a:t>
            </a:r>
            <a:endParaRPr lang="en-US" sz="850" dirty="0"/>
          </a:p>
        </p:txBody>
      </p:sp>
      <p:sp>
        <p:nvSpPr>
          <p:cNvPr id="10" name="Text 8"/>
          <p:cNvSpPr txBox="1"/>
          <p:nvPr/>
        </p:nvSpPr>
        <p:spPr>
          <a:xfrm>
            <a:off x="2057400" y="1783080"/>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packmin could not finish `import pyrosetta` in 300 s — nothing downstream ran</a:t>
            </a:r>
            <a:endParaRPr lang="en-US" sz="900" dirty="0"/>
          </a:p>
        </p:txBody>
      </p:sp>
      <p:sp>
        <p:nvSpPr>
          <p:cNvPr id="11" name="Text 9"/>
          <p:cNvSpPr txBox="1"/>
          <p:nvPr/>
        </p:nvSpPr>
        <p:spPr>
          <a:xfrm>
            <a:off x="457200" y="2103120"/>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22684607 · NVMe</a:t>
            </a:r>
            <a:endParaRPr lang="en-US" sz="1050" dirty="0"/>
          </a:p>
        </p:txBody>
      </p:sp>
      <p:sp>
        <p:nvSpPr>
          <p:cNvPr id="12" name="Shape 10"/>
          <p:cNvSpPr/>
          <p:nvPr/>
        </p:nvSpPr>
        <p:spPr>
          <a:xfrm>
            <a:off x="2057400" y="2130552"/>
            <a:ext cx="1844696" cy="237744"/>
          </a:xfrm>
          <a:prstGeom prst="rect">
            <a:avLst/>
          </a:prstGeom>
          <a:solidFill>
            <a:srgbClr val="D9731A"/>
          </a:solidFill>
          <a:ln w="12700">
            <a:solidFill>
              <a:srgbClr val="D9731A"/>
            </a:solidFill>
            <a:prstDash val="solid"/>
          </a:ln>
        </p:spPr>
      </p:sp>
      <p:sp>
        <p:nvSpPr>
          <p:cNvPr id="13" name="Text 11"/>
          <p:cNvSpPr txBox="1"/>
          <p:nvPr/>
        </p:nvSpPr>
        <p:spPr>
          <a:xfrm>
            <a:off x="2057400" y="2130552"/>
            <a:ext cx="1844696"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146</a:t>
            </a:r>
            <a:endParaRPr lang="en-US" sz="800" dirty="0"/>
          </a:p>
        </p:txBody>
      </p:sp>
      <p:sp>
        <p:nvSpPr>
          <p:cNvPr id="14" name="Shape 12"/>
          <p:cNvSpPr/>
          <p:nvPr/>
        </p:nvSpPr>
        <p:spPr>
          <a:xfrm>
            <a:off x="3902096" y="2130552"/>
            <a:ext cx="229163" cy="237744"/>
          </a:xfrm>
          <a:prstGeom prst="rect">
            <a:avLst/>
          </a:prstGeom>
          <a:solidFill>
            <a:srgbClr val="3B4E8C"/>
          </a:solidFill>
          <a:ln w="12700">
            <a:solidFill>
              <a:srgbClr val="3B4E8C"/>
            </a:solidFill>
            <a:prstDash val="solid"/>
          </a:ln>
        </p:spPr>
      </p:sp>
      <p:sp>
        <p:nvSpPr>
          <p:cNvPr id="15" name="Shape 13"/>
          <p:cNvSpPr/>
          <p:nvPr/>
        </p:nvSpPr>
        <p:spPr>
          <a:xfrm>
            <a:off x="4131259" y="2130552"/>
            <a:ext cx="201309" cy="237744"/>
          </a:xfrm>
          <a:prstGeom prst="rect">
            <a:avLst/>
          </a:prstGeom>
          <a:solidFill>
            <a:srgbClr val="1E6470"/>
          </a:solidFill>
          <a:ln w="12700">
            <a:solidFill>
              <a:srgbClr val="1E6470"/>
            </a:solidFill>
            <a:prstDash val="solid"/>
          </a:ln>
        </p:spPr>
      </p:sp>
      <p:sp>
        <p:nvSpPr>
          <p:cNvPr id="16" name="Shape 14"/>
          <p:cNvSpPr/>
          <p:nvPr/>
        </p:nvSpPr>
        <p:spPr>
          <a:xfrm>
            <a:off x="4332568" y="2130552"/>
            <a:ext cx="327918" cy="237744"/>
          </a:xfrm>
          <a:prstGeom prst="rect">
            <a:avLst/>
          </a:prstGeom>
          <a:solidFill>
            <a:srgbClr val="2E7D5B"/>
          </a:solidFill>
          <a:ln w="12700">
            <a:solidFill>
              <a:srgbClr val="2E7D5B"/>
            </a:solidFill>
            <a:prstDash val="solid"/>
          </a:ln>
        </p:spPr>
      </p:sp>
      <p:sp>
        <p:nvSpPr>
          <p:cNvPr id="17" name="Shape 15"/>
          <p:cNvSpPr/>
          <p:nvPr/>
        </p:nvSpPr>
        <p:spPr>
          <a:xfrm>
            <a:off x="4660486" y="2130552"/>
            <a:ext cx="129141" cy="237744"/>
          </a:xfrm>
          <a:prstGeom prst="rect">
            <a:avLst/>
          </a:prstGeom>
          <a:solidFill>
            <a:srgbClr val="7A4A8C"/>
          </a:solidFill>
          <a:ln w="12700">
            <a:solidFill>
              <a:srgbClr val="7A4A8C"/>
            </a:solidFill>
            <a:prstDash val="solid"/>
          </a:ln>
        </p:spPr>
      </p:sp>
      <p:sp>
        <p:nvSpPr>
          <p:cNvPr id="18" name="Text 16"/>
          <p:cNvSpPr txBox="1"/>
          <p:nvPr/>
        </p:nvSpPr>
        <p:spPr>
          <a:xfrm>
            <a:off x="4844491" y="2130552"/>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216 s of tool time</a:t>
            </a:r>
            <a:endParaRPr lang="en-US" sz="850" dirty="0"/>
          </a:p>
        </p:txBody>
      </p:sp>
      <p:sp>
        <p:nvSpPr>
          <p:cNvPr id="19" name="Text 17"/>
          <p:cNvSpPr txBox="1"/>
          <p:nvPr/>
        </p:nvSpPr>
        <p:spPr>
          <a:xfrm>
            <a:off x="2057400" y="2404872"/>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5/5 ok · boltz truncated off the chain by a cost cap</a:t>
            </a:r>
            <a:endParaRPr lang="en-US" sz="900" dirty="0"/>
          </a:p>
        </p:txBody>
      </p:sp>
      <p:sp>
        <p:nvSpPr>
          <p:cNvPr id="20" name="Text 18"/>
          <p:cNvSpPr txBox="1"/>
          <p:nvPr/>
        </p:nvSpPr>
        <p:spPr>
          <a:xfrm>
            <a:off x="457200" y="2724912"/>
            <a:ext cx="1554480" cy="274320"/>
          </a:xfrm>
          <a:prstGeom prst="rect">
            <a:avLst/>
          </a:prstGeom>
          <a:noFill/>
          <a:ln/>
        </p:spPr>
        <p:txBody>
          <a:bodyPr wrap="square" lIns="0" tIns="0" rIns="0" bIns="0" rtlCol="0" anchor="ctr"/>
          <a:lstStyle/>
          <a:p>
            <a:pPr algn="r" indent="0" marL="0">
              <a:buNone/>
            </a:pPr>
            <a:r>
              <a:rPr lang="en-US" sz="1050" b="1" dirty="0">
                <a:solidFill>
                  <a:srgbClr val="22303C"/>
                </a:solidFill>
                <a:latin typeface="Consolas" pitchFamily="34" charset="0"/>
                <a:ea typeface="Consolas" pitchFamily="34" charset="-122"/>
                <a:cs typeface="Consolas" pitchFamily="34" charset="-120"/>
              </a:rPr>
              <a:t>22692304 · NVMe</a:t>
            </a:r>
            <a:endParaRPr lang="en-US" sz="1050" dirty="0"/>
          </a:p>
        </p:txBody>
      </p:sp>
      <p:sp>
        <p:nvSpPr>
          <p:cNvPr id="21" name="Shape 19"/>
          <p:cNvSpPr/>
          <p:nvPr/>
        </p:nvSpPr>
        <p:spPr>
          <a:xfrm>
            <a:off x="2057400" y="2752344"/>
            <a:ext cx="569742" cy="237744"/>
          </a:xfrm>
          <a:prstGeom prst="rect">
            <a:avLst/>
          </a:prstGeom>
          <a:solidFill>
            <a:srgbClr val="D9731A"/>
          </a:solidFill>
          <a:ln w="12700">
            <a:solidFill>
              <a:srgbClr val="D9731A"/>
            </a:solidFill>
            <a:prstDash val="solid"/>
          </a:ln>
        </p:spPr>
      </p:sp>
      <p:sp>
        <p:nvSpPr>
          <p:cNvPr id="22" name="Text 20"/>
          <p:cNvSpPr txBox="1"/>
          <p:nvPr/>
        </p:nvSpPr>
        <p:spPr>
          <a:xfrm>
            <a:off x="2057400" y="2752344"/>
            <a:ext cx="569742"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45</a:t>
            </a:r>
            <a:endParaRPr lang="en-US" sz="800" dirty="0"/>
          </a:p>
        </p:txBody>
      </p:sp>
      <p:sp>
        <p:nvSpPr>
          <p:cNvPr id="23" name="Shape 21"/>
          <p:cNvSpPr/>
          <p:nvPr/>
        </p:nvSpPr>
        <p:spPr>
          <a:xfrm>
            <a:off x="2627142" y="2752344"/>
            <a:ext cx="184849" cy="237744"/>
          </a:xfrm>
          <a:prstGeom prst="rect">
            <a:avLst/>
          </a:prstGeom>
          <a:solidFill>
            <a:srgbClr val="3B4E8C"/>
          </a:solidFill>
          <a:ln w="12700">
            <a:solidFill>
              <a:srgbClr val="3B4E8C"/>
            </a:solidFill>
            <a:prstDash val="solid"/>
          </a:ln>
        </p:spPr>
      </p:sp>
      <p:sp>
        <p:nvSpPr>
          <p:cNvPr id="24" name="Shape 22"/>
          <p:cNvSpPr/>
          <p:nvPr/>
        </p:nvSpPr>
        <p:spPr>
          <a:xfrm>
            <a:off x="2811991" y="2752344"/>
            <a:ext cx="192446" cy="237744"/>
          </a:xfrm>
          <a:prstGeom prst="rect">
            <a:avLst/>
          </a:prstGeom>
          <a:solidFill>
            <a:srgbClr val="1E6470"/>
          </a:solidFill>
          <a:ln w="12700">
            <a:solidFill>
              <a:srgbClr val="1E6470"/>
            </a:solidFill>
            <a:prstDash val="solid"/>
          </a:ln>
        </p:spPr>
      </p:sp>
      <p:sp>
        <p:nvSpPr>
          <p:cNvPr id="25" name="Shape 23"/>
          <p:cNvSpPr/>
          <p:nvPr/>
        </p:nvSpPr>
        <p:spPr>
          <a:xfrm>
            <a:off x="3004437" y="2752344"/>
            <a:ext cx="283605" cy="237744"/>
          </a:xfrm>
          <a:prstGeom prst="rect">
            <a:avLst/>
          </a:prstGeom>
          <a:solidFill>
            <a:srgbClr val="2E7D5B"/>
          </a:solidFill>
          <a:ln w="12700">
            <a:solidFill>
              <a:srgbClr val="2E7D5B"/>
            </a:solidFill>
            <a:prstDash val="solid"/>
          </a:ln>
        </p:spPr>
      </p:sp>
      <p:sp>
        <p:nvSpPr>
          <p:cNvPr id="26" name="Shape 24"/>
          <p:cNvSpPr/>
          <p:nvPr/>
        </p:nvSpPr>
        <p:spPr>
          <a:xfrm>
            <a:off x="3288042" y="2752344"/>
            <a:ext cx="126609" cy="237744"/>
          </a:xfrm>
          <a:prstGeom prst="rect">
            <a:avLst/>
          </a:prstGeom>
          <a:solidFill>
            <a:srgbClr val="7A4A8C"/>
          </a:solidFill>
          <a:ln w="12700">
            <a:solidFill>
              <a:srgbClr val="7A4A8C"/>
            </a:solidFill>
            <a:prstDash val="solid"/>
          </a:ln>
        </p:spPr>
      </p:sp>
      <p:sp>
        <p:nvSpPr>
          <p:cNvPr id="27" name="Shape 25"/>
          <p:cNvSpPr/>
          <p:nvPr/>
        </p:nvSpPr>
        <p:spPr>
          <a:xfrm>
            <a:off x="3414651" y="2752344"/>
            <a:ext cx="731801" cy="237744"/>
          </a:xfrm>
          <a:prstGeom prst="rect">
            <a:avLst/>
          </a:prstGeom>
          <a:solidFill>
            <a:srgbClr val="8C6D1F"/>
          </a:solidFill>
          <a:ln w="12700">
            <a:solidFill>
              <a:srgbClr val="8C6D1F"/>
            </a:solidFill>
            <a:prstDash val="solid"/>
          </a:ln>
        </p:spPr>
      </p:sp>
      <p:sp>
        <p:nvSpPr>
          <p:cNvPr id="28" name="Text 26"/>
          <p:cNvSpPr txBox="1"/>
          <p:nvPr/>
        </p:nvSpPr>
        <p:spPr>
          <a:xfrm>
            <a:off x="3414651" y="2752344"/>
            <a:ext cx="731801" cy="237744"/>
          </a:xfrm>
          <a:prstGeom prst="rect">
            <a:avLst/>
          </a:prstGeom>
          <a:noFill/>
          <a:ln/>
        </p:spPr>
        <p:txBody>
          <a:bodyPr wrap="square" lIns="0" tIns="0" rIns="0" bIns="0" rtlCol="0" anchor="ctr"/>
          <a:lstStyle/>
          <a:p>
            <a:pPr algn="ctr" indent="0" marL="0">
              <a:buNone/>
            </a:pPr>
            <a:r>
              <a:rPr lang="en-US" sz="800" dirty="0">
                <a:solidFill>
                  <a:srgbClr val="FFFFFF"/>
                </a:solidFill>
                <a:latin typeface="Calibri" pitchFamily="34" charset="0"/>
                <a:ea typeface="Calibri" pitchFamily="34" charset="-122"/>
                <a:cs typeface="Calibri" pitchFamily="34" charset="-120"/>
              </a:rPr>
              <a:t>58</a:t>
            </a:r>
            <a:endParaRPr lang="en-US" sz="800" dirty="0"/>
          </a:p>
        </p:txBody>
      </p:sp>
      <p:sp>
        <p:nvSpPr>
          <p:cNvPr id="29" name="Text 27"/>
          <p:cNvSpPr txBox="1"/>
          <p:nvPr/>
        </p:nvSpPr>
        <p:spPr>
          <a:xfrm>
            <a:off x="4201316" y="2752344"/>
            <a:ext cx="1371600" cy="237744"/>
          </a:xfrm>
          <a:prstGeom prst="rect">
            <a:avLst/>
          </a:prstGeom>
          <a:noFill/>
          <a:ln/>
        </p:spPr>
        <p:txBody>
          <a:bodyPr wrap="square" lIns="0" tIns="0" rIns="0" bIns="0" rtlCol="0" anchor="ctr"/>
          <a:lstStyle/>
          <a:p>
            <a:pPr indent="0" marL="0">
              <a:buNone/>
            </a:pPr>
            <a:r>
              <a:rPr lang="en-US" sz="850" dirty="0">
                <a:solidFill>
                  <a:srgbClr val="5E6B75"/>
                </a:solidFill>
                <a:latin typeface="Calibri" pitchFamily="34" charset="0"/>
                <a:ea typeface="Calibri" pitchFamily="34" charset="-122"/>
                <a:cs typeface="Calibri" pitchFamily="34" charset="-120"/>
              </a:rPr>
              <a:t>165 s of tool time</a:t>
            </a:r>
            <a:endParaRPr lang="en-US" sz="850" dirty="0"/>
          </a:p>
        </p:txBody>
      </p:sp>
      <p:sp>
        <p:nvSpPr>
          <p:cNvPr id="30" name="Text 28"/>
          <p:cNvSpPr txBox="1"/>
          <p:nvPr/>
        </p:nvSpPr>
        <p:spPr>
          <a:xfrm>
            <a:off x="2057400" y="3026664"/>
            <a:ext cx="8229600" cy="219456"/>
          </a:xfrm>
          <a:prstGeom prst="rect">
            <a:avLst/>
          </a:prstGeom>
          <a:noFill/>
          <a:ln/>
        </p:spPr>
        <p:txBody>
          <a:bodyPr wrap="square" lIns="0" tIns="0" rIns="0" bIns="0" rtlCol="0" anchor="t"/>
          <a:lstStyle/>
          <a:p>
            <a:pPr indent="0" marL="0">
              <a:buNone/>
            </a:pPr>
            <a:r>
              <a:rPr lang="en-US" sz="900" i="1" dirty="0">
                <a:solidFill>
                  <a:srgbClr val="5E6B75"/>
                </a:solidFill>
                <a:latin typeface="Calibri" pitchFamily="34" charset="0"/>
                <a:ea typeface="Calibri" pitchFamily="34" charset="-122"/>
                <a:cs typeface="Calibri" pitchFamily="34" charset="-120"/>
              </a:rPr>
              <a:t>6/6 ok in 2m53s · the first completed campaign</a:t>
            </a:r>
            <a:endParaRPr lang="en-US" sz="900" dirty="0"/>
          </a:p>
        </p:txBody>
      </p:sp>
      <p:sp>
        <p:nvSpPr>
          <p:cNvPr id="31" name="Shape 29"/>
          <p:cNvSpPr/>
          <p:nvPr/>
        </p:nvSpPr>
        <p:spPr>
          <a:xfrm>
            <a:off x="2057400" y="3300984"/>
            <a:ext cx="6583680" cy="91"/>
          </a:xfrm>
          <a:prstGeom prst="line">
            <a:avLst/>
          </a:prstGeom>
          <a:noFill/>
          <a:ln w="12700">
            <a:solidFill>
              <a:srgbClr val="C9D1D8"/>
            </a:solidFill>
            <a:prstDash val="solid"/>
          </a:ln>
        </p:spPr>
      </p:sp>
      <p:sp>
        <p:nvSpPr>
          <p:cNvPr id="32" name="Shape 30"/>
          <p:cNvSpPr/>
          <p:nvPr/>
        </p:nvSpPr>
        <p:spPr>
          <a:xfrm>
            <a:off x="2057400" y="3300984"/>
            <a:ext cx="91" cy="64008"/>
          </a:xfrm>
          <a:prstGeom prst="line">
            <a:avLst/>
          </a:prstGeom>
          <a:noFill/>
          <a:ln w="12700">
            <a:solidFill>
              <a:srgbClr val="C9D1D8"/>
            </a:solidFill>
            <a:prstDash val="solid"/>
          </a:ln>
        </p:spPr>
      </p:sp>
      <p:sp>
        <p:nvSpPr>
          <p:cNvPr id="33" name="Text 31"/>
          <p:cNvSpPr txBox="1"/>
          <p:nvPr/>
        </p:nvSpPr>
        <p:spPr>
          <a:xfrm>
            <a:off x="1828800"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34" name="Shape 32"/>
          <p:cNvSpPr/>
          <p:nvPr/>
        </p:nvSpPr>
        <p:spPr>
          <a:xfrm>
            <a:off x="3323492" y="3300984"/>
            <a:ext cx="91" cy="64008"/>
          </a:xfrm>
          <a:prstGeom prst="line">
            <a:avLst/>
          </a:prstGeom>
          <a:noFill/>
          <a:ln w="12700">
            <a:solidFill>
              <a:srgbClr val="C9D1D8"/>
            </a:solidFill>
            <a:prstDash val="solid"/>
          </a:ln>
        </p:spPr>
      </p:sp>
      <p:sp>
        <p:nvSpPr>
          <p:cNvPr id="35" name="Text 33"/>
          <p:cNvSpPr txBox="1"/>
          <p:nvPr/>
        </p:nvSpPr>
        <p:spPr>
          <a:xfrm>
            <a:off x="309489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100s</a:t>
            </a:r>
            <a:endParaRPr lang="en-US" sz="1050" dirty="0"/>
          </a:p>
        </p:txBody>
      </p:sp>
      <p:sp>
        <p:nvSpPr>
          <p:cNvPr id="36" name="Shape 34"/>
          <p:cNvSpPr/>
          <p:nvPr/>
        </p:nvSpPr>
        <p:spPr>
          <a:xfrm>
            <a:off x="4589585" y="3300984"/>
            <a:ext cx="91" cy="64008"/>
          </a:xfrm>
          <a:prstGeom prst="line">
            <a:avLst/>
          </a:prstGeom>
          <a:noFill/>
          <a:ln w="12700">
            <a:solidFill>
              <a:srgbClr val="C9D1D8"/>
            </a:solidFill>
            <a:prstDash val="solid"/>
          </a:ln>
        </p:spPr>
      </p:sp>
      <p:sp>
        <p:nvSpPr>
          <p:cNvPr id="37" name="Text 35"/>
          <p:cNvSpPr txBox="1"/>
          <p:nvPr/>
        </p:nvSpPr>
        <p:spPr>
          <a:xfrm>
            <a:off x="4360985"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200s</a:t>
            </a:r>
            <a:endParaRPr lang="en-US" sz="1050" dirty="0"/>
          </a:p>
        </p:txBody>
      </p:sp>
      <p:sp>
        <p:nvSpPr>
          <p:cNvPr id="38" name="Shape 36"/>
          <p:cNvSpPr/>
          <p:nvPr/>
        </p:nvSpPr>
        <p:spPr>
          <a:xfrm>
            <a:off x="5855677" y="3300984"/>
            <a:ext cx="91" cy="64008"/>
          </a:xfrm>
          <a:prstGeom prst="line">
            <a:avLst/>
          </a:prstGeom>
          <a:noFill/>
          <a:ln w="12700">
            <a:solidFill>
              <a:srgbClr val="C9D1D8"/>
            </a:solidFill>
            <a:prstDash val="solid"/>
          </a:ln>
        </p:spPr>
      </p:sp>
      <p:sp>
        <p:nvSpPr>
          <p:cNvPr id="39" name="Text 37"/>
          <p:cNvSpPr txBox="1"/>
          <p:nvPr/>
        </p:nvSpPr>
        <p:spPr>
          <a:xfrm>
            <a:off x="5627077"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300s</a:t>
            </a:r>
            <a:endParaRPr lang="en-US" sz="1050" dirty="0"/>
          </a:p>
        </p:txBody>
      </p:sp>
      <p:sp>
        <p:nvSpPr>
          <p:cNvPr id="40" name="Shape 38"/>
          <p:cNvSpPr/>
          <p:nvPr/>
        </p:nvSpPr>
        <p:spPr>
          <a:xfrm>
            <a:off x="7121769" y="3300984"/>
            <a:ext cx="91" cy="64008"/>
          </a:xfrm>
          <a:prstGeom prst="line">
            <a:avLst/>
          </a:prstGeom>
          <a:noFill/>
          <a:ln w="12700">
            <a:solidFill>
              <a:srgbClr val="C9D1D8"/>
            </a:solidFill>
            <a:prstDash val="solid"/>
          </a:ln>
        </p:spPr>
      </p:sp>
      <p:sp>
        <p:nvSpPr>
          <p:cNvPr id="41" name="Text 39"/>
          <p:cNvSpPr txBox="1"/>
          <p:nvPr/>
        </p:nvSpPr>
        <p:spPr>
          <a:xfrm>
            <a:off x="6893169"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400s</a:t>
            </a:r>
            <a:endParaRPr lang="en-US" sz="1050" dirty="0"/>
          </a:p>
        </p:txBody>
      </p:sp>
      <p:sp>
        <p:nvSpPr>
          <p:cNvPr id="42" name="Shape 40"/>
          <p:cNvSpPr/>
          <p:nvPr/>
        </p:nvSpPr>
        <p:spPr>
          <a:xfrm>
            <a:off x="8387862" y="3300984"/>
            <a:ext cx="91" cy="64008"/>
          </a:xfrm>
          <a:prstGeom prst="line">
            <a:avLst/>
          </a:prstGeom>
          <a:noFill/>
          <a:ln w="12700">
            <a:solidFill>
              <a:srgbClr val="C9D1D8"/>
            </a:solidFill>
            <a:prstDash val="solid"/>
          </a:ln>
        </p:spPr>
      </p:sp>
      <p:sp>
        <p:nvSpPr>
          <p:cNvPr id="43" name="Text 41"/>
          <p:cNvSpPr txBox="1"/>
          <p:nvPr/>
        </p:nvSpPr>
        <p:spPr>
          <a:xfrm>
            <a:off x="8159262" y="337413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500s</a:t>
            </a:r>
            <a:endParaRPr lang="en-US" sz="1050" dirty="0"/>
          </a:p>
        </p:txBody>
      </p:sp>
      <p:sp>
        <p:nvSpPr>
          <p:cNvPr id="44" name="Shape 42"/>
          <p:cNvSpPr/>
          <p:nvPr/>
        </p:nvSpPr>
        <p:spPr>
          <a:xfrm>
            <a:off x="457200" y="3685032"/>
            <a:ext cx="164592" cy="118872"/>
          </a:xfrm>
          <a:prstGeom prst="rect">
            <a:avLst/>
          </a:prstGeom>
          <a:solidFill>
            <a:srgbClr val="D9731A"/>
          </a:solidFill>
          <a:ln w="12700">
            <a:solidFill>
              <a:srgbClr val="D9731A"/>
            </a:solidFill>
            <a:prstDash val="solid"/>
          </a:ln>
        </p:spPr>
      </p:sp>
      <p:sp>
        <p:nvSpPr>
          <p:cNvPr id="45" name="Text 43"/>
          <p:cNvSpPr txBox="1"/>
          <p:nvPr/>
        </p:nvSpPr>
        <p:spPr>
          <a:xfrm>
            <a:off x="66751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rfd3_design</a:t>
            </a:r>
            <a:endParaRPr lang="en-US" sz="750" dirty="0"/>
          </a:p>
        </p:txBody>
      </p:sp>
      <p:sp>
        <p:nvSpPr>
          <p:cNvPr id="46" name="Shape 44"/>
          <p:cNvSpPr/>
          <p:nvPr/>
        </p:nvSpPr>
        <p:spPr>
          <a:xfrm>
            <a:off x="1755648" y="3685032"/>
            <a:ext cx="164592" cy="118872"/>
          </a:xfrm>
          <a:prstGeom prst="rect">
            <a:avLst/>
          </a:prstGeom>
          <a:solidFill>
            <a:srgbClr val="3B4E8C"/>
          </a:solidFill>
          <a:ln w="12700">
            <a:solidFill>
              <a:srgbClr val="3B4E8C"/>
            </a:solidFill>
            <a:prstDash val="solid"/>
          </a:ln>
        </p:spPr>
      </p:sp>
      <p:sp>
        <p:nvSpPr>
          <p:cNvPr id="47" name="Text 45"/>
          <p:cNvSpPr txBox="1"/>
          <p:nvPr/>
        </p:nvSpPr>
        <p:spPr>
          <a:xfrm>
            <a:off x="1965960"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ligandmpnn_design</a:t>
            </a:r>
            <a:endParaRPr lang="en-US" sz="750" dirty="0"/>
          </a:p>
        </p:txBody>
      </p:sp>
      <p:sp>
        <p:nvSpPr>
          <p:cNvPr id="48" name="Shape 46"/>
          <p:cNvSpPr/>
          <p:nvPr/>
        </p:nvSpPr>
        <p:spPr>
          <a:xfrm>
            <a:off x="3054096" y="3685032"/>
            <a:ext cx="164592" cy="118872"/>
          </a:xfrm>
          <a:prstGeom prst="rect">
            <a:avLst/>
          </a:prstGeom>
          <a:solidFill>
            <a:srgbClr val="1E6470"/>
          </a:solidFill>
          <a:ln w="12700">
            <a:solidFill>
              <a:srgbClr val="1E6470"/>
            </a:solidFill>
            <a:prstDash val="solid"/>
          </a:ln>
        </p:spPr>
      </p:sp>
      <p:sp>
        <p:nvSpPr>
          <p:cNvPr id="49" name="Text 47"/>
          <p:cNvSpPr txBox="1"/>
          <p:nvPr/>
        </p:nvSpPr>
        <p:spPr>
          <a:xfrm>
            <a:off x="3264408"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packmin</a:t>
            </a:r>
            <a:endParaRPr lang="en-US" sz="750" dirty="0"/>
          </a:p>
        </p:txBody>
      </p:sp>
      <p:sp>
        <p:nvSpPr>
          <p:cNvPr id="50" name="Shape 48"/>
          <p:cNvSpPr/>
          <p:nvPr/>
        </p:nvSpPr>
        <p:spPr>
          <a:xfrm>
            <a:off x="4352544" y="3685032"/>
            <a:ext cx="164592" cy="118872"/>
          </a:xfrm>
          <a:prstGeom prst="rect">
            <a:avLst/>
          </a:prstGeom>
          <a:solidFill>
            <a:srgbClr val="2E7D5B"/>
          </a:solidFill>
          <a:ln w="12700">
            <a:solidFill>
              <a:srgbClr val="2E7D5B"/>
            </a:solidFill>
            <a:prstDash val="solid"/>
          </a:ln>
        </p:spPr>
      </p:sp>
      <p:sp>
        <p:nvSpPr>
          <p:cNvPr id="51" name="Text 49"/>
          <p:cNvSpPr txBox="1"/>
          <p:nvPr/>
        </p:nvSpPr>
        <p:spPr>
          <a:xfrm>
            <a:off x="4562856"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fastrelax</a:t>
            </a:r>
            <a:endParaRPr lang="en-US" sz="750" dirty="0"/>
          </a:p>
        </p:txBody>
      </p:sp>
      <p:sp>
        <p:nvSpPr>
          <p:cNvPr id="52" name="Shape 50"/>
          <p:cNvSpPr/>
          <p:nvPr/>
        </p:nvSpPr>
        <p:spPr>
          <a:xfrm>
            <a:off x="5650992" y="3685032"/>
            <a:ext cx="164592" cy="118872"/>
          </a:xfrm>
          <a:prstGeom prst="rect">
            <a:avLst/>
          </a:prstGeom>
          <a:solidFill>
            <a:srgbClr val="7A4A8C"/>
          </a:solidFill>
          <a:ln w="12700">
            <a:solidFill>
              <a:srgbClr val="7A4A8C"/>
            </a:solidFill>
            <a:prstDash val="solid"/>
          </a:ln>
        </p:spPr>
      </p:sp>
      <p:sp>
        <p:nvSpPr>
          <p:cNvPr id="53" name="Text 51"/>
          <p:cNvSpPr txBox="1"/>
          <p:nvPr/>
        </p:nvSpPr>
        <p:spPr>
          <a:xfrm>
            <a:off x="5861304"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filter_shape</a:t>
            </a:r>
            <a:endParaRPr lang="en-US" sz="750" dirty="0"/>
          </a:p>
        </p:txBody>
      </p:sp>
      <p:sp>
        <p:nvSpPr>
          <p:cNvPr id="54" name="Shape 52"/>
          <p:cNvSpPr/>
          <p:nvPr/>
        </p:nvSpPr>
        <p:spPr>
          <a:xfrm>
            <a:off x="6949440" y="3685032"/>
            <a:ext cx="164592" cy="118872"/>
          </a:xfrm>
          <a:prstGeom prst="rect">
            <a:avLst/>
          </a:prstGeom>
          <a:solidFill>
            <a:srgbClr val="8C6D1F"/>
          </a:solidFill>
          <a:ln w="12700">
            <a:solidFill>
              <a:srgbClr val="8C6D1F"/>
            </a:solidFill>
            <a:prstDash val="solid"/>
          </a:ln>
        </p:spPr>
      </p:sp>
      <p:sp>
        <p:nvSpPr>
          <p:cNvPr id="55" name="Text 53"/>
          <p:cNvSpPr txBox="1"/>
          <p:nvPr/>
        </p:nvSpPr>
        <p:spPr>
          <a:xfrm>
            <a:off x="7159752" y="3648456"/>
            <a:ext cx="1088136" cy="201168"/>
          </a:xfrm>
          <a:prstGeom prst="rect">
            <a:avLst/>
          </a:prstGeom>
          <a:noFill/>
          <a:ln/>
        </p:spPr>
        <p:txBody>
          <a:bodyPr wrap="square" lIns="0" tIns="0" rIns="0" bIns="0" rtlCol="0" anchor="ctr"/>
          <a:lstStyle/>
          <a:p>
            <a:pPr indent="0" marL="0">
              <a:buNone/>
            </a:pPr>
            <a:r>
              <a:rPr lang="en-US" sz="750" dirty="0">
                <a:solidFill>
                  <a:srgbClr val="5E6B75"/>
                </a:solidFill>
                <a:latin typeface="Consolas" pitchFamily="34" charset="0"/>
                <a:ea typeface="Consolas" pitchFamily="34" charset="-122"/>
                <a:cs typeface="Consolas" pitchFamily="34" charset="-120"/>
              </a:rPr>
              <a:t>boltz_predict</a:t>
            </a:r>
            <a:endParaRPr lang="en-US" sz="750" dirty="0"/>
          </a:p>
        </p:txBody>
      </p:sp>
      <p:sp>
        <p:nvSpPr>
          <p:cNvPr id="56" name="Shape 54"/>
          <p:cNvSpPr/>
          <p:nvPr/>
        </p:nvSpPr>
        <p:spPr>
          <a:xfrm>
            <a:off x="8823960" y="1463040"/>
            <a:ext cx="2910535" cy="1874520"/>
          </a:xfrm>
          <a:prstGeom prst="rect">
            <a:avLst/>
          </a:prstGeom>
          <a:solidFill>
            <a:srgbClr val="F9E0DD"/>
          </a:solidFill>
          <a:ln w="12700">
            <a:solidFill>
              <a:srgbClr val="F9E0DD"/>
            </a:solidFill>
            <a:prstDash val="solid"/>
          </a:ln>
        </p:spPr>
      </p:sp>
      <p:sp>
        <p:nvSpPr>
          <p:cNvPr id="57" name="Text 55"/>
          <p:cNvSpPr txBox="1"/>
          <p:nvPr/>
        </p:nvSpPr>
        <p:spPr>
          <a:xfrm>
            <a:off x="8951976" y="1545336"/>
            <a:ext cx="265450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Where the bytes live</a:t>
            </a:r>
            <a:endParaRPr lang="en-US" sz="1300" dirty="0"/>
          </a:p>
        </p:txBody>
      </p:sp>
      <p:sp>
        <p:nvSpPr>
          <p:cNvPr id="58" name="Text 56"/>
          <p:cNvSpPr txBox="1"/>
          <p:nvPr/>
        </p:nvSpPr>
        <p:spPr>
          <a:xfrm>
            <a:off x="8951976" y="1856232"/>
            <a:ext cx="2654503" cy="13990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import pyrosetta off HDD-backed Lustre: 471 s, a 598 MB rosetta.so demand-paged. import torch: ~280 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On NVMe both are seconds. That single variable is the whole difference between rows one and two.</a:t>
            </a:r>
            <a:endParaRPr lang="en-US" sz="1000" dirty="0"/>
          </a:p>
        </p:txBody>
      </p:sp>
      <p:sp>
        <p:nvSpPr>
          <p:cNvPr id="59" name="Shape 57"/>
          <p:cNvSpPr/>
          <p:nvPr/>
        </p:nvSpPr>
        <p:spPr>
          <a:xfrm>
            <a:off x="8823960" y="3474720"/>
            <a:ext cx="2910535" cy="1600200"/>
          </a:xfrm>
          <a:prstGeom prst="rect">
            <a:avLst/>
          </a:prstGeom>
          <a:solidFill>
            <a:srgbClr val="EEF2F5"/>
          </a:solidFill>
          <a:ln w="12700">
            <a:solidFill>
              <a:srgbClr val="EEF2F5"/>
            </a:solidFill>
            <a:prstDash val="solid"/>
          </a:ln>
        </p:spPr>
      </p:sp>
      <p:sp>
        <p:nvSpPr>
          <p:cNvPr id="60" name="Text 58"/>
          <p:cNvSpPr txBox="1"/>
          <p:nvPr/>
        </p:nvSpPr>
        <p:spPr>
          <a:xfrm>
            <a:off x="8951976" y="3557016"/>
            <a:ext cx="26545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Wall time is not stable</a:t>
            </a:r>
            <a:endParaRPr lang="en-US" sz="1300" dirty="0"/>
          </a:p>
        </p:txBody>
      </p:sp>
      <p:sp>
        <p:nvSpPr>
          <p:cNvPr id="61" name="Text 59"/>
          <p:cNvSpPr txBox="1"/>
          <p:nvPr/>
        </p:nvSpPr>
        <p:spPr>
          <a:xfrm>
            <a:off x="8951976" y="3867912"/>
            <a:ext cx="2654503" cy="11247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rfd3_design took 145.7 s in 22684607 and 45 s in 22692304 — same campaign, same allocation shape, same parameters, 3.2× apart.</a:t>
            </a:r>
            <a:endParaRPr lang="en-US" sz="1000" dirty="0"/>
          </a:p>
        </p:txBody>
      </p:sp>
      <p:sp>
        <p:nvSpPr>
          <p:cNvPr id="62" name="Shape 60"/>
          <p:cNvSpPr/>
          <p:nvPr/>
        </p:nvSpPr>
        <p:spPr>
          <a:xfrm>
            <a:off x="8823960" y="5212080"/>
            <a:ext cx="2910535" cy="1143000"/>
          </a:xfrm>
          <a:prstGeom prst="rect">
            <a:avLst/>
          </a:prstGeom>
          <a:solidFill>
            <a:srgbClr val="E4F1EA"/>
          </a:solidFill>
          <a:ln w="12700">
            <a:solidFill>
              <a:srgbClr val="E4F1EA"/>
            </a:solidFill>
            <a:prstDash val="solid"/>
          </a:ln>
        </p:spPr>
      </p:sp>
      <p:sp>
        <p:nvSpPr>
          <p:cNvPr id="63" name="Text 61"/>
          <p:cNvSpPr txBox="1"/>
          <p:nvPr/>
        </p:nvSpPr>
        <p:spPr>
          <a:xfrm>
            <a:off x="8951976" y="5294376"/>
            <a:ext cx="2654503" cy="274320"/>
          </a:xfrm>
          <a:prstGeom prst="rect">
            <a:avLst/>
          </a:prstGeom>
          <a:noFill/>
          <a:ln/>
        </p:spPr>
        <p:txBody>
          <a:bodyPr wrap="square" lIns="0" tIns="0" rIns="0" bIns="0" rtlCol="0" anchor="t"/>
          <a:lstStyle/>
          <a:p>
            <a:pPr indent="0" marL="0">
              <a:buNone/>
            </a:pPr>
            <a:r>
              <a:rPr lang="en-US" sz="1150" b="1" dirty="0">
                <a:solidFill>
                  <a:srgbClr val="2E7D5B"/>
                </a:solidFill>
                <a:latin typeface="Calibri" pitchFamily="34" charset="0"/>
                <a:ea typeface="Calibri" pitchFamily="34" charset="-122"/>
                <a:cs typeface="Calibri" pitchFamily="34" charset="-120"/>
              </a:rPr>
              <a:t>So do not tune cost models to it</a:t>
            </a:r>
            <a:endParaRPr lang="en-US" sz="1150" dirty="0"/>
          </a:p>
        </p:txBody>
      </p:sp>
      <p:sp>
        <p:nvSpPr>
          <p:cNvPr id="64" name="Text 62"/>
          <p:cNvSpPr txBox="1"/>
          <p:nvPr/>
        </p:nvSpPr>
        <p:spPr>
          <a:xfrm>
            <a:off x="8951976" y="5605272"/>
            <a:ext cx="2654503" cy="6675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They feed gate 5 and the untrusted cap, which REFUSE graphs. They sit a few multiples above measurement on purpose.</a:t>
            </a:r>
            <a:endParaRPr lang="en-US" sz="1000" dirty="0"/>
          </a:p>
        </p:txBody>
      </p:sp>
      <p:sp>
        <p:nvSpPr>
          <p:cNvPr id="65" name="Text 6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Durations transcribed from plans/first-real-run.md — the raw logs live under $WORK_DIR/impress_a_runs on Delta. Bars are tool time; campaign wall clock is slightly longer.</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A DRY RUN CANNOT SEE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defects that reached real hardware</a:t>
            </a:r>
            <a:endParaRPr lang="en-US" sz="2800" dirty="0"/>
          </a:p>
        </p:txBody>
      </p:sp>
      <p:sp>
        <p:nvSpPr>
          <p:cNvPr id="4" name="Shape 2"/>
          <p:cNvSpPr/>
          <p:nvPr/>
        </p:nvSpPr>
        <p:spPr>
          <a:xfrm>
            <a:off x="457200" y="1371600"/>
            <a:ext cx="11274552" cy="1078992"/>
          </a:xfrm>
          <a:prstGeom prst="rect">
            <a:avLst/>
          </a:prstGeom>
          <a:solidFill>
            <a:srgbClr val="EEF2F5"/>
          </a:solidFill>
          <a:ln w="12700">
            <a:solidFill>
              <a:srgbClr val="C9D1D8"/>
            </a:solidFill>
            <a:prstDash val="solid"/>
          </a:ln>
        </p:spPr>
      </p:sp>
      <p:sp>
        <p:nvSpPr>
          <p:cNvPr id="5" name="Text 3"/>
          <p:cNvSpPr txBox="1"/>
          <p:nvPr/>
        </p:nvSpPr>
        <p:spPr>
          <a:xfrm>
            <a:off x="548640" y="1444752"/>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914400" y="1463040"/>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What a tool writes</a:t>
            </a:r>
            <a:endParaRPr lang="en-US" sz="1250" dirty="0"/>
          </a:p>
        </p:txBody>
      </p:sp>
      <p:sp>
        <p:nvSpPr>
          <p:cNvPr id="7" name="Text 5"/>
          <p:cNvSpPr txBox="1"/>
          <p:nvPr/>
        </p:nvSpPr>
        <p:spPr>
          <a:xfrm>
            <a:off x="3291840" y="1444752"/>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The *.cif.gz glob selected a diffusion TRAJECTORY, not the design — same extension, and `denoised` sorts first. A 5.7 MB multi-frame stack went downstream as the backbone, against a 19 KB design.</a:t>
            </a:r>
            <a:endParaRPr lang="en-US" sz="950" dirty="0"/>
          </a:p>
        </p:txBody>
      </p:sp>
      <p:sp>
        <p:nvSpPr>
          <p:cNvPr id="8" name="Text 6"/>
          <p:cNvSpPr txBox="1"/>
          <p:nvPr/>
        </p:nvSpPr>
        <p:spPr>
          <a:xfrm>
            <a:off x="8549640" y="1444752"/>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Discovery goes through the sidecar *_model_*.json now, and an out_dir it cannot identify a design in raises rather than guessing.</a:t>
            </a:r>
            <a:endParaRPr lang="en-US" sz="950" dirty="0"/>
          </a:p>
        </p:txBody>
      </p:sp>
      <p:sp>
        <p:nvSpPr>
          <p:cNvPr id="9" name="Shape 7"/>
          <p:cNvSpPr/>
          <p:nvPr/>
        </p:nvSpPr>
        <p:spPr>
          <a:xfrm>
            <a:off x="457200" y="2487168"/>
            <a:ext cx="11274552" cy="1078992"/>
          </a:xfrm>
          <a:prstGeom prst="rect">
            <a:avLst/>
          </a:prstGeom>
          <a:solidFill>
            <a:srgbClr val="FFFFFF"/>
          </a:solidFill>
          <a:ln w="12700">
            <a:solidFill>
              <a:srgbClr val="C9D1D8"/>
            </a:solidFill>
            <a:prstDash val="solid"/>
          </a:ln>
        </p:spPr>
      </p:sp>
      <p:sp>
        <p:nvSpPr>
          <p:cNvPr id="10" name="Text 8"/>
          <p:cNvSpPr txBox="1"/>
          <p:nvPr/>
        </p:nvSpPr>
        <p:spPr>
          <a:xfrm>
            <a:off x="548640" y="2560320"/>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2</a:t>
            </a:r>
            <a:endParaRPr lang="en-US" sz="1800" dirty="0"/>
          </a:p>
        </p:txBody>
      </p:sp>
      <p:sp>
        <p:nvSpPr>
          <p:cNvPr id="11" name="Text 9"/>
          <p:cNvSpPr txBox="1"/>
          <p:nvPr/>
        </p:nvSpPr>
        <p:spPr>
          <a:xfrm>
            <a:off x="914400" y="2578608"/>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Whether a tool can import</a:t>
            </a:r>
            <a:endParaRPr lang="en-US" sz="1250" dirty="0"/>
          </a:p>
        </p:txBody>
      </p:sp>
      <p:sp>
        <p:nvSpPr>
          <p:cNvPr id="12" name="Text 10"/>
          <p:cNvSpPr txBox="1"/>
          <p:nvPr/>
        </p:nvSpPr>
        <p:spPr>
          <a:xfrm>
            <a:off x="3291840" y="2560320"/>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LigandMPNN died in run.py's MODULE-LEVEL imports, before parsing an argument: a missing ml_collections, then np.int, removed in numpy 1.24 and still used by its vendored openfold.</a:t>
            </a:r>
            <a:endParaRPr lang="en-US" sz="950" dirty="0"/>
          </a:p>
        </p:txBody>
      </p:sp>
      <p:sp>
        <p:nvSpPr>
          <p:cNvPr id="13" name="Text 11"/>
          <p:cNvSpPr txBox="1"/>
          <p:nvPr/>
        </p:nvSpPr>
        <p:spPr>
          <a:xfrm>
            <a:off x="8549640" y="2560320"/>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It runs through MPNN_SHIM now — the shim restores the aliases and hands off via runpy — never run.py directly.</a:t>
            </a:r>
            <a:endParaRPr lang="en-US" sz="950" dirty="0"/>
          </a:p>
        </p:txBody>
      </p:sp>
      <p:sp>
        <p:nvSpPr>
          <p:cNvPr id="14" name="Shape 12"/>
          <p:cNvSpPr/>
          <p:nvPr/>
        </p:nvSpPr>
        <p:spPr>
          <a:xfrm>
            <a:off x="457200" y="3602736"/>
            <a:ext cx="11274552" cy="1078992"/>
          </a:xfrm>
          <a:prstGeom prst="rect">
            <a:avLst/>
          </a:prstGeom>
          <a:solidFill>
            <a:srgbClr val="EEF2F5"/>
          </a:solidFill>
          <a:ln w="12700">
            <a:solidFill>
              <a:srgbClr val="C9D1D8"/>
            </a:solidFill>
            <a:prstDash val="solid"/>
          </a:ln>
        </p:spPr>
      </p:sp>
      <p:sp>
        <p:nvSpPr>
          <p:cNvPr id="15" name="Text 13"/>
          <p:cNvSpPr txBox="1"/>
          <p:nvPr/>
        </p:nvSpPr>
        <p:spPr>
          <a:xfrm>
            <a:off x="548640" y="3675888"/>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3</a:t>
            </a:r>
            <a:endParaRPr lang="en-US" sz="1800" dirty="0"/>
          </a:p>
        </p:txBody>
      </p:sp>
      <p:sp>
        <p:nvSpPr>
          <p:cNvPr id="16" name="Text 14"/>
          <p:cNvSpPr txBox="1"/>
          <p:nvPr/>
        </p:nvSpPr>
        <p:spPr>
          <a:xfrm>
            <a:off x="914400" y="3694176"/>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Where the bytes live</a:t>
            </a:r>
            <a:endParaRPr lang="en-US" sz="1250" dirty="0"/>
          </a:p>
        </p:txBody>
      </p:sp>
      <p:sp>
        <p:nvSpPr>
          <p:cNvPr id="17" name="Text 15"/>
          <p:cNvSpPr txBox="1"/>
          <p:nvPr/>
        </p:nvSpPr>
        <p:spPr>
          <a:xfrm>
            <a:off x="3291840" y="3675888"/>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import pyrosetta cost 471 s off HDD, so packmin could not finish starting inside its 300 s budget. The queued fix was to raise three walltimes 6×, which would have hidden the real cost.</a:t>
            </a:r>
            <a:endParaRPr lang="en-US" sz="950" dirty="0"/>
          </a:p>
        </p:txBody>
      </p:sp>
      <p:sp>
        <p:nvSpPr>
          <p:cNvPr id="18" name="Text 16"/>
          <p:cNvSpPr txBox="1"/>
          <p:nvPr/>
        </p:nvSpPr>
        <p:spPr>
          <a:xfrm>
            <a:off x="8549640" y="3675888"/>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WORK_DIR on NVMe; `impress-a preflight` now flags a venv still on slow storage.</a:t>
            </a:r>
            <a:endParaRPr lang="en-US" sz="950" dirty="0"/>
          </a:p>
        </p:txBody>
      </p:sp>
      <p:sp>
        <p:nvSpPr>
          <p:cNvPr id="19" name="Shape 17"/>
          <p:cNvSpPr/>
          <p:nvPr/>
        </p:nvSpPr>
        <p:spPr>
          <a:xfrm>
            <a:off x="457200" y="4718304"/>
            <a:ext cx="11274552" cy="1078992"/>
          </a:xfrm>
          <a:prstGeom prst="rect">
            <a:avLst/>
          </a:prstGeom>
          <a:solidFill>
            <a:srgbClr val="FFFFFF"/>
          </a:solidFill>
          <a:ln w="12700">
            <a:solidFill>
              <a:srgbClr val="C9D1D8"/>
            </a:solidFill>
            <a:prstDash val="solid"/>
          </a:ln>
        </p:spPr>
      </p:sp>
      <p:sp>
        <p:nvSpPr>
          <p:cNvPr id="20" name="Text 18"/>
          <p:cNvSpPr txBox="1"/>
          <p:nvPr/>
        </p:nvSpPr>
        <p:spPr>
          <a:xfrm>
            <a:off x="548640" y="4791456"/>
            <a:ext cx="320040" cy="365760"/>
          </a:xfrm>
          <a:prstGeom prst="rect">
            <a:avLst/>
          </a:prstGeom>
          <a:noFill/>
          <a:ln/>
        </p:spPr>
        <p:txBody>
          <a:bodyPr wrap="square" lIns="0" tIns="0" rIns="0" bIns="0" rtlCol="0" anchor="t"/>
          <a:lstStyle/>
          <a:p>
            <a:pPr algn="ctr" indent="0" marL="0">
              <a:buNone/>
            </a:pPr>
            <a:r>
              <a:rPr lang="en-US" sz="1800" b="1" dirty="0">
                <a:solidFill>
                  <a:srgbClr val="C0392B"/>
                </a:solidFill>
                <a:latin typeface="Cambria" pitchFamily="34" charset="0"/>
                <a:ea typeface="Cambria" pitchFamily="34" charset="-122"/>
                <a:cs typeface="Cambria" pitchFamily="34" charset="-120"/>
              </a:rPr>
              <a:t>4</a:t>
            </a:r>
            <a:endParaRPr lang="en-US" sz="1800" dirty="0"/>
          </a:p>
        </p:txBody>
      </p:sp>
      <p:sp>
        <p:nvSpPr>
          <p:cNvPr id="21" name="Text 19"/>
          <p:cNvSpPr txBox="1"/>
          <p:nvPr/>
        </p:nvSpPr>
        <p:spPr>
          <a:xfrm>
            <a:off x="914400" y="4809744"/>
            <a:ext cx="2286000" cy="41148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An estimate that refuses work</a:t>
            </a:r>
            <a:endParaRPr lang="en-US" sz="1250" dirty="0"/>
          </a:p>
        </p:txBody>
      </p:sp>
      <p:sp>
        <p:nvSpPr>
          <p:cNvPr id="22" name="Text 20"/>
          <p:cNvSpPr txBox="1"/>
          <p:nvPr/>
        </p:nvSpPr>
        <p:spPr>
          <a:xfrm>
            <a:off x="3291840" y="4791456"/>
            <a:ext cx="5120640" cy="932688"/>
          </a:xfrm>
          <a:prstGeom prst="rect">
            <a:avLst/>
          </a:prstGeom>
          <a:noFill/>
          <a:ln/>
        </p:spPr>
        <p:txBody>
          <a:bodyPr wrap="square" lIns="0" tIns="0" rIns="0" bIns="0" rtlCol="0" anchor="t"/>
          <a:lstStyle/>
          <a:p>
            <a:pPr indent="0" marL="0">
              <a:buNone/>
            </a:pPr>
            <a:r>
              <a:rPr lang="en-US" sz="950" dirty="0">
                <a:solidFill>
                  <a:srgbClr val="22303C"/>
                </a:solidFill>
                <a:latin typeface="Calibri" pitchFamily="34" charset="0"/>
                <a:ea typeface="Calibri" pitchFamily="34" charset="-122"/>
                <a:cs typeface="Calibri" pitchFamily="34" charset="-120"/>
              </a:rPr>
              <a:t>cost_model figures were literature guesses 6–69× over measurement. The inflated GPU side summed past the untrusted cap, the chain was refused, and the policy truncated boltz_predict off the end — silently.</a:t>
            </a:r>
            <a:endParaRPr lang="en-US" sz="950" dirty="0"/>
          </a:p>
        </p:txBody>
      </p:sp>
      <p:sp>
        <p:nvSpPr>
          <p:cNvPr id="23" name="Text 21"/>
          <p:cNvSpPr txBox="1"/>
          <p:nvPr/>
        </p:nvSpPr>
        <p:spPr>
          <a:xfrm>
            <a:off x="8549640" y="4791456"/>
            <a:ext cx="3063240" cy="932688"/>
          </a:xfrm>
          <a:prstGeom prst="rect">
            <a:avLst/>
          </a:prstGeom>
          <a:noFill/>
          <a:ln/>
        </p:spPr>
        <p:txBody>
          <a:bodyPr wrap="square" lIns="0" tIns="0" rIns="0" bIns="0" rtlCol="0" anchor="t"/>
          <a:lstStyle/>
          <a:p>
            <a:pPr indent="0" marL="0">
              <a:buNone/>
            </a:pPr>
            <a:r>
              <a:rPr lang="en-US" sz="950" b="1" dirty="0">
                <a:solidFill>
                  <a:srgbClr val="2E7D4F"/>
                </a:solidFill>
                <a:latin typeface="Calibri" pitchFamily="34" charset="0"/>
                <a:ea typeface="Calibri" pitchFamily="34" charset="-122"/>
                <a:cs typeface="Calibri" pitchFamily="34" charset="-120"/>
              </a:rPr>
              <a:t>now:  </a:t>
            </a:r>
            <a:pPr indent="0" marL="0">
              <a:buNone/>
            </a:pPr>
            <a:r>
              <a:rPr lang="en-US" sz="950" dirty="0">
                <a:solidFill>
                  <a:srgbClr val="22303C"/>
                </a:solidFill>
                <a:latin typeface="Calibri" pitchFamily="34" charset="0"/>
                <a:ea typeface="Calibri" pitchFamily="34" charset="-122"/>
                <a:cs typeface="Calibri" pitchFamily="34" charset="-120"/>
              </a:rPr>
              <a:t>Costs corrected from measurement, and _objectives_without_a_producer now WARNs. It is a heuristic, not a gate.</a:t>
            </a:r>
            <a:endParaRPr lang="en-US" sz="950" dirty="0"/>
          </a:p>
        </p:txBody>
      </p:sp>
      <p:sp>
        <p:nvSpPr>
          <p:cNvPr id="24" name="Shape 22"/>
          <p:cNvSpPr/>
          <p:nvPr/>
        </p:nvSpPr>
        <p:spPr>
          <a:xfrm>
            <a:off x="457200" y="5833872"/>
            <a:ext cx="11274552" cy="566928"/>
          </a:xfrm>
          <a:prstGeom prst="rect">
            <a:avLst/>
          </a:prstGeom>
          <a:solidFill>
            <a:srgbClr val="16222B"/>
          </a:solidFill>
          <a:ln w="12700">
            <a:solidFill>
              <a:srgbClr val="16222B"/>
            </a:solidFill>
            <a:prstDash val="solid"/>
          </a:ln>
        </p:spPr>
      </p:sp>
      <p:sp>
        <p:nvSpPr>
          <p:cNvPr id="25" name="Text 23"/>
          <p:cNvSpPr txBox="1"/>
          <p:nvPr/>
        </p:nvSpPr>
        <p:spPr>
          <a:xfrm>
            <a:off x="640080" y="5897880"/>
            <a:ext cx="10927080" cy="457200"/>
          </a:xfrm>
          <a:prstGeom prst="rect">
            <a:avLst/>
          </a:prstGeom>
          <a:noFill/>
          <a:ln/>
        </p:spPr>
        <p:txBody>
          <a:bodyPr wrap="square" lIns="0" tIns="0" rIns="0" bIns="0" rtlCol="0" anchor="t"/>
          <a:lstStyle/>
          <a:p>
            <a:pPr indent="0" marL="0">
              <a:buNone/>
            </a:pPr>
            <a:r>
              <a:rPr lang="en-US" sz="1200" b="1" dirty="0">
                <a:solidFill>
                  <a:srgbClr val="F0C898"/>
                </a:solidFill>
                <a:latin typeface="Calibri" pitchFamily="34" charset="0"/>
                <a:ea typeface="Calibri" pitchFamily="34" charset="-122"/>
                <a:cs typeface="Calibri" pitchFamily="34" charset="-120"/>
              </a:rPr>
              <a:t>Two things to carry away.  </a:t>
            </a:r>
            <a:pPr indent="0" marL="0">
              <a:buNone/>
            </a:pPr>
            <a:r>
              <a:rPr lang="en-US" sz="1200" dirty="0">
                <a:solidFill>
                  <a:srgbClr val="DCE5EC"/>
                </a:solidFill>
                <a:latin typeface="Calibri" pitchFamily="34" charset="0"/>
                <a:ea typeface="Calibri" pitchFamily="34" charset="-122"/>
                <a:cs typeface="Calibri" pitchFamily="34" charset="-120"/>
              </a:rPr>
              <a:t>"Checked against the binary" is not "executed" — numbers 1 and 2 were both invisible to every contract check we had. And a plausible explanation is not a diagnosis: the trajectory bug was a convincing cause for a LigandMPNN failure it had nothing to do with.</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TRUST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ledger that forgot — and what it still forgets</a:t>
            </a:r>
            <a:endParaRPr lang="en-US" sz="2800" dirty="0"/>
          </a:p>
        </p:txBody>
      </p:sp>
      <p:sp>
        <p:nvSpPr>
          <p:cNvPr id="4" name="Shape 2"/>
          <p:cNvSpPr/>
          <p:nvPr/>
        </p:nvSpPr>
        <p:spPr>
          <a:xfrm>
            <a:off x="457200" y="1325880"/>
            <a:ext cx="11274552" cy="347472"/>
          </a:xfrm>
          <a:prstGeom prst="rect">
            <a:avLst/>
          </a:prstGeom>
          <a:solidFill>
            <a:srgbClr val="1E6470"/>
          </a:solidFill>
          <a:ln w="12700">
            <a:solidFill>
              <a:srgbClr val="1E6470"/>
            </a:solidFill>
            <a:prstDash val="solid"/>
          </a:ln>
        </p:spPr>
      </p:sp>
      <p:sp>
        <p:nvSpPr>
          <p:cNvPr id="5" name="Text 3"/>
          <p:cNvSpPr txBox="1"/>
          <p:nvPr/>
        </p:nvSpPr>
        <p:spPr>
          <a:xfrm>
            <a:off x="566928" y="1325880"/>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1 · Promotion was structurally unreachable on Delta, and it looked exactly like "not enough runs yet"</a:t>
            </a:r>
            <a:endParaRPr lang="en-US" sz="1250" dirty="0"/>
          </a:p>
        </p:txBody>
      </p:sp>
      <p:sp>
        <p:nvSpPr>
          <p:cNvPr id="6" name="Shape 4"/>
          <p:cNvSpPr/>
          <p:nvPr/>
        </p:nvSpPr>
        <p:spPr>
          <a:xfrm>
            <a:off x="457200" y="1783080"/>
            <a:ext cx="5760720" cy="1005840"/>
          </a:xfrm>
          <a:prstGeom prst="rect">
            <a:avLst/>
          </a:prstGeom>
          <a:solidFill>
            <a:srgbClr val="16222B"/>
          </a:solidFill>
          <a:ln w="12700">
            <a:solidFill>
              <a:srgbClr val="16222B"/>
            </a:solidFill>
            <a:prstDash val="solid"/>
          </a:ln>
        </p:spPr>
      </p:sp>
      <p:sp>
        <p:nvSpPr>
          <p:cNvPr id="7" name="Text 5"/>
          <p:cNvSpPr txBox="1"/>
          <p:nvPr/>
        </p:nvSpPr>
        <p:spPr>
          <a:xfrm>
            <a:off x="557784" y="1874520"/>
            <a:ext cx="5559552" cy="82296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executor.py loaded the ledger from Path(spec.root) / "_trust",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and spec.root defaults to the RELATIVE "campaigns/_runs".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delta_gpu_run.sh cds into $WORK_DIR/impress_a_runs/$SLURM_JOB_ID:</a:t>
            </a:r>
            <a:endParaRPr lang="en-US" sz="864" dirty="0"/>
          </a:p>
          <a:p>
            <a:pPr indent="0" marL="0">
              <a:lnSpc>
                <a:spcPts val="1080"/>
              </a:lnSpc>
              <a:buNone/>
            </a:pP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22684607/campaigns/_runs/_trust/cuda.jsonl    0 clean</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22692304/campaigns/_runs/_trust/cuda.jsonl    1 clean</a:t>
            </a:r>
            <a:endParaRPr lang="en-US" sz="864" dirty="0"/>
          </a:p>
        </p:txBody>
      </p:sp>
      <p:sp>
        <p:nvSpPr>
          <p:cNvPr id="8" name="Text 6"/>
          <p:cNvSpPr txBox="1"/>
          <p:nvPr/>
        </p:nvSpPr>
        <p:spPr>
          <a:xfrm>
            <a:off x="457200" y="280720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fixed in 52332c6 — CampaignSpec.trust_root</a:t>
            </a:r>
            <a:endParaRPr lang="en-US" sz="850" dirty="0"/>
          </a:p>
        </p:txBody>
      </p:sp>
      <p:sp>
        <p:nvSpPr>
          <p:cNvPr id="9" name="Shape 7"/>
          <p:cNvSpPr/>
          <p:nvPr/>
        </p:nvSpPr>
        <p:spPr>
          <a:xfrm>
            <a:off x="6492240" y="1783080"/>
            <a:ext cx="5696712" cy="1005840"/>
          </a:xfrm>
          <a:prstGeom prst="rect">
            <a:avLst/>
          </a:prstGeom>
          <a:solidFill>
            <a:srgbClr val="F9E0DD"/>
          </a:solidFill>
          <a:ln w="12700">
            <a:solidFill>
              <a:srgbClr val="F9E0DD"/>
            </a:solidFill>
            <a:prstDash val="solid"/>
          </a:ln>
        </p:spPr>
      </p:sp>
      <p:sp>
        <p:nvSpPr>
          <p:cNvPr id="10" name="Text 8"/>
          <p:cNvSpPr txBox="1"/>
          <p:nvPr/>
        </p:nvSpPr>
        <p:spPr>
          <a:xfrm>
            <a:off x="6620256" y="1865376"/>
            <a:ext cx="544068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promote_after = 3 counts within ONE file</a:t>
            </a:r>
            <a:endParaRPr lang="en-US" sz="1300" dirty="0"/>
          </a:p>
        </p:txBody>
      </p:sp>
      <p:sp>
        <p:nvSpPr>
          <p:cNvPr id="11" name="Text 9"/>
          <p:cNvSpPr txBox="1"/>
          <p:nvPr/>
        </p:nvSpPr>
        <p:spPr>
          <a:xfrm>
            <a:off x="6620256" y="2176272"/>
            <a:ext cx="5440680" cy="5303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Two more jobs would have produced three files holding one run each, a pattern still untrusted, and two allocations spent for nothing.</a:t>
            </a:r>
            <a:endParaRPr lang="en-US" sz="1050" dirty="0"/>
          </a:p>
        </p:txBody>
      </p:sp>
      <p:sp>
        <p:nvSpPr>
          <p:cNvPr id="12" name="Text 10"/>
          <p:cNvSpPr txBox="1"/>
          <p:nvPr/>
        </p:nvSpPr>
        <p:spPr>
          <a:xfrm>
            <a:off x="457200" y="2926080"/>
            <a:ext cx="11274552" cy="68580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How it hid: </a:t>
            </a:r>
            <a:pPr indent="0" marL="0">
              <a:buNone/>
            </a:pPr>
            <a:r>
              <a:rPr lang="en-US" sz="1150" dirty="0">
                <a:solidFill>
                  <a:srgbClr val="22303C"/>
                </a:solidFill>
                <a:latin typeface="Calibri" pitchFamily="34" charset="0"/>
                <a:ea typeface="Calibri" pitchFamily="34" charset="-122"/>
                <a:cs typeface="Calibri" pitchFamily="34" charset="-120"/>
              </a:rPr>
              <a:t>nothing ever logged where the ledger was, so a file that silently reset looked identical to one that had not earned promotion yet — and it was reported that way. Campaign start now prints the absolute path with a pattern and trusted count. It had been true since the first Delta job, so </a:t>
            </a:r>
            <a:pPr indent="0" marL="0">
              <a:buNone/>
            </a:pPr>
            <a:r>
              <a:rPr lang="en-US" sz="1150" b="1" dirty="0">
                <a:solidFill>
                  <a:srgbClr val="C0392B"/>
                </a:solidFill>
                <a:latin typeface="Calibri" pitchFamily="34" charset="0"/>
                <a:ea typeface="Calibri" pitchFamily="34" charset="-122"/>
                <a:cs typeface="Calibri" pitchFamily="34" charset="-120"/>
              </a:rPr>
              <a:t>the trusted code path has never executed</a:t>
            </a:r>
            <a:pPr indent="0" marL="0">
              <a:buNone/>
            </a:pPr>
            <a:r>
              <a:rPr lang="en-US" sz="1150" dirty="0">
                <a:solidFill>
                  <a:srgbClr val="22303C"/>
                </a:solidFill>
                <a:latin typeface="Calibri" pitchFamily="34" charset="0"/>
                <a:ea typeface="Calibri" pitchFamily="34" charset="-122"/>
                <a:cs typeface="Calibri" pitchFamily="34" charset="-120"/>
              </a:rPr>
              <a:t>: no pattern has ever skipped the forced dry-run, and the 10% cap has applied to every graph ever composed on real hardware.</a:t>
            </a:r>
            <a:endParaRPr lang="en-US" sz="1150" dirty="0"/>
          </a:p>
        </p:txBody>
      </p:sp>
      <p:sp>
        <p:nvSpPr>
          <p:cNvPr id="13" name="Shape 11"/>
          <p:cNvSpPr/>
          <p:nvPr/>
        </p:nvSpPr>
        <p:spPr>
          <a:xfrm>
            <a:off x="457200" y="3639312"/>
            <a:ext cx="11274552" cy="347472"/>
          </a:xfrm>
          <a:prstGeom prst="rect">
            <a:avLst/>
          </a:prstGeom>
          <a:solidFill>
            <a:srgbClr val="C0392B"/>
          </a:solidFill>
          <a:ln w="12700">
            <a:solidFill>
              <a:srgbClr val="C0392B"/>
            </a:solidFill>
            <a:prstDash val="solid"/>
          </a:ln>
        </p:spPr>
      </p:sp>
      <p:sp>
        <p:nvSpPr>
          <p:cNvPr id="14" name="Text 12"/>
          <p:cNvSpPr txBox="1"/>
          <p:nvPr/>
        </p:nvSpPr>
        <p:spPr>
          <a:xfrm>
            <a:off x="566928" y="3639312"/>
            <a:ext cx="1106424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2 · And a pattern's identity includes its BREADTH — found while building this deck</a:t>
            </a:r>
            <a:endParaRPr lang="en-US" sz="1250" dirty="0"/>
          </a:p>
        </p:txBody>
      </p:sp>
      <p:sp>
        <p:nvSpPr>
          <p:cNvPr id="15" name="Shape 13"/>
          <p:cNvSpPr/>
          <p:nvPr/>
        </p:nvSpPr>
        <p:spPr>
          <a:xfrm>
            <a:off x="457200" y="4069080"/>
            <a:ext cx="5760720" cy="868680"/>
          </a:xfrm>
          <a:prstGeom prst="rect">
            <a:avLst/>
          </a:prstGeom>
          <a:solidFill>
            <a:srgbClr val="16222B"/>
          </a:solidFill>
          <a:ln w="12700">
            <a:solidFill>
              <a:srgbClr val="16222B"/>
            </a:solidFill>
            <a:prstDash val="solid"/>
          </a:ln>
        </p:spPr>
      </p:sp>
      <p:sp>
        <p:nvSpPr>
          <p:cNvPr id="16" name="Text 14"/>
          <p:cNvSpPr txBox="1"/>
          <p:nvPr/>
        </p:nvSpPr>
        <p:spPr>
          <a:xfrm>
            <a:off x="557784" y="4160520"/>
            <a:ext cx="5559552" cy="68580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parts = sorted(                       # ONE string per NODE</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f"{n.tool}&lt;-{','.join(sorted(self.nodes[d].tool for d in n.deps))}"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for n in self.nodes.values()</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return hashlib.sha256("|".join(parts).encode()).hexdigest()[:16]</a:t>
            </a:r>
            <a:endParaRPr lang="en-US" sz="864" dirty="0"/>
          </a:p>
        </p:txBody>
      </p:sp>
      <p:sp>
        <p:nvSpPr>
          <p:cNvPr id="17" name="Text 15"/>
          <p:cNvSpPr txBox="1"/>
          <p:nvPr/>
        </p:nvSpPr>
        <p:spPr>
          <a:xfrm>
            <a:off x="457200" y="495604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compose/graph.py:51  ·  VERBATIM + one added comment</a:t>
            </a:r>
            <a:endParaRPr lang="en-US" sz="850" dirty="0"/>
          </a:p>
        </p:txBody>
      </p:sp>
      <p:sp>
        <p:nvSpPr>
          <p:cNvPr id="18" name="Text 16"/>
          <p:cNvSpPr txBox="1"/>
          <p:nvPr/>
        </p:nvSpPr>
        <p:spPr>
          <a:xfrm>
            <a:off x="457200" y="5084064"/>
            <a:ext cx="5760720" cy="402336"/>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 lineages give N duplicate parts, so the hash changes with the replica count — the way it deliberately does not change with a parameter:</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92240" y="4069080"/>
          <a:ext cx="5696712" cy="914400"/>
        </p:xfrm>
        <a:graphic>
          <a:graphicData uri="http://schemas.openxmlformats.org/drawingml/2006/table">
            <a:tbl>
              <a:tblPr/>
              <a:tblGrid>
                <a:gridCol w="2377440"/>
                <a:gridCol w="640080"/>
                <a:gridCol w="2679192"/>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the real six-stage chain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nodes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signature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C0392B"/>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f5b21d82924fbcd0</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f8bcefed63c493ae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78e730c67750a361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replicas: 1, num_designs: 3</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b="1" dirty="0">
                          <a:solidFill>
                            <a:srgbClr val="2E7D4F"/>
                          </a:solidFill>
                          <a:latin typeface="Consolas" pitchFamily="34" charset="0"/>
                          <a:ea typeface="Consolas" pitchFamily="34" charset="-122"/>
                          <a:cs typeface="Consolas" pitchFamily="34" charset="-120"/>
                        </a:rPr>
                        <a:t>f5b21d82924fbcd0  ← unchanged</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0" name="Shape 17"/>
          <p:cNvSpPr/>
          <p:nvPr/>
        </p:nvSpPr>
        <p:spPr>
          <a:xfrm>
            <a:off x="457200" y="5559552"/>
            <a:ext cx="7040880" cy="868680"/>
          </a:xfrm>
          <a:prstGeom prst="rect">
            <a:avLst/>
          </a:prstGeom>
          <a:solidFill>
            <a:srgbClr val="F9E0DD"/>
          </a:solidFill>
          <a:ln w="12700">
            <a:solidFill>
              <a:srgbClr val="F9E0DD"/>
            </a:solidFill>
            <a:prstDash val="solid"/>
          </a:ln>
        </p:spPr>
      </p:sp>
      <p:sp>
        <p:nvSpPr>
          <p:cNvPr id="21" name="Text 18"/>
          <p:cNvSpPr txBox="1"/>
          <p:nvPr/>
        </p:nvSpPr>
        <p:spPr>
          <a:xfrm>
            <a:off x="585216" y="5641848"/>
            <a:ext cx="678484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that costs, concretely</a:t>
            </a:r>
            <a:endParaRPr lang="en-US" sz="1300" dirty="0"/>
          </a:p>
        </p:txBody>
      </p:sp>
      <p:sp>
        <p:nvSpPr>
          <p:cNvPr id="22" name="Text 19"/>
          <p:cNvSpPr txBox="1"/>
          <p:nvPr/>
        </p:nvSpPr>
        <p:spPr>
          <a:xfrm>
            <a:off x="585216" y="5952744"/>
            <a:ext cx="6784848"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Backlog A10's cheapest route — promote at replicas: 1, then run replicas: 4 — does not work. That is a different, untrusted pattern: still capped, refused at 0.68 vs 0.6 gpu-h, and on_rejected would silently shrink it to three lineages.</a:t>
            </a:r>
            <a:endParaRPr lang="en-US" sz="1000" dirty="0"/>
          </a:p>
        </p:txBody>
      </p:sp>
      <p:sp>
        <p:nvSpPr>
          <p:cNvPr id="23" name="Shape 20"/>
          <p:cNvSpPr/>
          <p:nvPr/>
        </p:nvSpPr>
        <p:spPr>
          <a:xfrm>
            <a:off x="7772400" y="5559552"/>
            <a:ext cx="4416552" cy="868680"/>
          </a:xfrm>
          <a:prstGeom prst="rect">
            <a:avLst/>
          </a:prstGeom>
          <a:solidFill>
            <a:srgbClr val="EEF2F5"/>
          </a:solidFill>
          <a:ln w="12700">
            <a:solidFill>
              <a:srgbClr val="EEF2F5"/>
            </a:solidFill>
            <a:prstDash val="solid"/>
          </a:ln>
        </p:spPr>
      </p:sp>
      <p:sp>
        <p:nvSpPr>
          <p:cNvPr id="24" name="Text 21"/>
          <p:cNvSpPr txBox="1"/>
          <p:nvPr/>
        </p:nvSpPr>
        <p:spPr>
          <a:xfrm>
            <a:off x="7900416" y="5641848"/>
            <a:ext cx="41605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question for the room</a:t>
            </a:r>
            <a:endParaRPr lang="en-US" sz="1300" dirty="0"/>
          </a:p>
        </p:txBody>
      </p:sp>
      <p:sp>
        <p:nvSpPr>
          <p:cNvPr id="25" name="Text 22"/>
          <p:cNvSpPr txBox="1"/>
          <p:nvPr/>
        </p:nvSpPr>
        <p:spPr>
          <a:xfrm>
            <a:off x="7900416" y="5952744"/>
            <a:ext cx="4160520" cy="3931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Is trust earned at one lineage evidence about four, when the cap it would lift exists to bound blast radius?</a:t>
            </a:r>
            <a:endParaRPr lang="en-US" sz="1000" dirty="0"/>
          </a:p>
        </p:txBody>
      </p:sp>
      <p:sp>
        <p:nvSpPr>
          <p:cNvPr id="26" name="Text 2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Signatures computed live by slides/run_model.py against this checkout — the mock run on slide 6 shows the same shape, the shrink from 3 lineages to 2 producing a new pattern.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RUN IT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and what the test tiers actually cover</a:t>
            </a:r>
            <a:endParaRPr lang="en-US" sz="2800" dirty="0"/>
          </a:p>
        </p:txBody>
      </p:sp>
      <p:sp>
        <p:nvSpPr>
          <p:cNvPr id="4" name="Shape 2"/>
          <p:cNvSpPr/>
          <p:nvPr/>
        </p:nvSpPr>
        <p:spPr>
          <a:xfrm>
            <a:off x="457200" y="1371600"/>
            <a:ext cx="6492240" cy="1463040"/>
          </a:xfrm>
          <a:prstGeom prst="rect">
            <a:avLst/>
          </a:prstGeom>
          <a:solidFill>
            <a:srgbClr val="16222B"/>
          </a:solidFill>
          <a:ln w="12700">
            <a:solidFill>
              <a:srgbClr val="16222B"/>
            </a:solidFill>
            <a:prstDash val="solid"/>
          </a:ln>
        </p:spPr>
      </p:sp>
      <p:sp>
        <p:nvSpPr>
          <p:cNvPr id="5" name="Text 3"/>
          <p:cNvSpPr txBox="1"/>
          <p:nvPr/>
        </p:nvSpPr>
        <p:spPr>
          <a:xfrm>
            <a:off x="557784" y="1463040"/>
            <a:ext cx="6291072" cy="1280160"/>
          </a:xfrm>
          <a:prstGeom prst="rect">
            <a:avLst/>
          </a:prstGeom>
          <a:noFill/>
          <a:ln/>
        </p:spPr>
        <p:txBody>
          <a:bodyPr wrap="square" lIns="0" tIns="0" rIns="0" bIns="0" rtlCol="0" anchor="t"/>
          <a:lstStyle/>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source .venv/bin/activate          # NOT system python — see CLAUDE.md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pip install -e ".[dev]"</a:t>
            </a:r>
            <a:endParaRPr lang="en-US" sz="1000" dirty="0"/>
          </a:p>
          <a:p>
            <a:pPr indent="0" marL="0">
              <a:lnSpc>
                <a:spcPts val="1260"/>
              </a:lnSpc>
              <a:buNone/>
            </a:pP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pytest tests -q                    # 154 tests, no allocation</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tools                    # list the registered tools</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preflight campaigns/&lt;spec&gt;.yaml      # BEFORE sbatch</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impress-a run campaigns/mock-stabilize.yaml --model D</a:t>
            </a:r>
            <a:endParaRPr lang="en-US" sz="1000" dirty="0"/>
          </a:p>
          <a:p>
            <a:pPr indent="0" marL="0">
              <a:lnSpc>
                <a:spcPts val="1260"/>
              </a:lnSpc>
              <a:buNone/>
            </a:pPr>
            <a:r>
              <a:rPr lang="en-US" sz="1000" dirty="0">
                <a:solidFill>
                  <a:srgbClr val="DCE5EC"/>
                </a:solidFill>
                <a:latin typeface="Consolas" pitchFamily="34" charset="0"/>
                <a:ea typeface="Consolas" pitchFamily="34" charset="-122"/>
                <a:cs typeface="Consolas" pitchFamily="34" charset="-120"/>
              </a:rPr>
              <a:t>#   --model A|B|C|D|null|replay    --no-guard  drops the correction wrapper</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63240"/>
          <a:ext cx="6492240" cy="914400"/>
        </p:xfrm>
        <a:graphic>
          <a:graphicData uri="http://schemas.openxmlformats.org/drawingml/2006/table">
            <a:tbl>
              <a:tblPr/>
              <a:tblGrid>
                <a:gridCol w="2148840"/>
                <a:gridCol w="4343400"/>
              </a:tblGrid>
              <a:tr h="27432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file</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covers</a:t>
                      </a:r>
                      <a:endParaRPr lang="en-US" sz="100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test_core.py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pure logic — tree, Pareto, budget, QC</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test_validation.py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five gates, the interlock, the trust ledger</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test_campaign.py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full campaigns on a concurrent backend with mock tools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test_real_toolkits.py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real specs, without executing any real binary</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test_backend_bound.py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startup timeout/heartbeat against a fake backend that blocks its own thread's loop the way Dragon's Batch() does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test_http_adapter.py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campaign driven end to end over a loopback socket</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test_remote_session.py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a reasoner in another process, over the control plane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test_layering.py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the import contract, walked with ast rather than trusted to review</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test_gate_fixtures.py</a:t>
                      </a:r>
                      <a:endParaRPr lang="en-US" sz="90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22303C"/>
                          </a:solidFill>
                          <a:latin typeface="Calibri" pitchFamily="34" charset="0"/>
                          <a:ea typeface="Calibri" pitchFamily="34" charset="-122"/>
                          <a:cs typeface="Calibri" pitchFamily="34" charset="-120"/>
                        </a:rPr>
                        <a:t>each real tool's gates against its known-bad fixtures, and the registry against the directories on disk</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Shape 4"/>
          <p:cNvSpPr/>
          <p:nvPr/>
        </p:nvSpPr>
        <p:spPr>
          <a:xfrm>
            <a:off x="7223760" y="1371600"/>
            <a:ext cx="4510735" cy="1463040"/>
          </a:xfrm>
          <a:prstGeom prst="rect">
            <a:avLst/>
          </a:prstGeom>
          <a:solidFill>
            <a:srgbClr val="E3F0F1"/>
          </a:solidFill>
          <a:ln w="12700">
            <a:solidFill>
              <a:srgbClr val="E3F0F1"/>
            </a:solidFill>
            <a:prstDash val="solid"/>
          </a:ln>
        </p:spPr>
      </p:sp>
      <p:sp>
        <p:nvSpPr>
          <p:cNvPr id="8" name="Text 5"/>
          <p:cNvSpPr txBox="1"/>
          <p:nvPr/>
        </p:nvSpPr>
        <p:spPr>
          <a:xfrm>
            <a:off x="7351776" y="1453896"/>
            <a:ext cx="425470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The whole local tier runs on a laptop</a:t>
            </a:r>
            <a:endParaRPr lang="en-US" sz="1300" dirty="0"/>
          </a:p>
        </p:txBody>
      </p:sp>
      <p:sp>
        <p:nvSpPr>
          <p:cNvPr id="9" name="Text 6"/>
          <p:cNvSpPr txBox="1"/>
          <p:nvPr/>
        </p:nvSpPr>
        <p:spPr>
          <a:xfrm>
            <a:off x="7351776" y="1764792"/>
            <a:ext cx="4254703"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complete campaign — real manager, real policies, real composer and validator, stubbed science. HPC iteration is slow and expensive, so almost everything is verifiable locally.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corollary: everything only verifiable on HPC is unverified.</a:t>
            </a:r>
            <a:endParaRPr lang="en-US" sz="1050" dirty="0"/>
          </a:p>
        </p:txBody>
      </p:sp>
      <p:sp>
        <p:nvSpPr>
          <p:cNvPr id="10" name="Shape 7"/>
          <p:cNvSpPr/>
          <p:nvPr/>
        </p:nvSpPr>
        <p:spPr>
          <a:xfrm>
            <a:off x="7223760" y="2971800"/>
            <a:ext cx="4510735" cy="1600200"/>
          </a:xfrm>
          <a:prstGeom prst="rect">
            <a:avLst/>
          </a:prstGeom>
          <a:solidFill>
            <a:srgbClr val="EEF2F5"/>
          </a:solidFill>
          <a:ln w="12700">
            <a:solidFill>
              <a:srgbClr val="EEF2F5"/>
            </a:solidFill>
            <a:prstDash val="solid"/>
          </a:ln>
        </p:spPr>
      </p:sp>
      <p:sp>
        <p:nvSpPr>
          <p:cNvPr id="11" name="Text 8"/>
          <p:cNvSpPr txBox="1"/>
          <p:nvPr/>
        </p:nvSpPr>
        <p:spPr>
          <a:xfrm>
            <a:off x="7351776" y="3054096"/>
            <a:ext cx="425470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Two conventions worth stealing</a:t>
            </a:r>
            <a:endParaRPr lang="en-US" sz="1300" dirty="0"/>
          </a:p>
        </p:txBody>
      </p:sp>
      <p:sp>
        <p:nvSpPr>
          <p:cNvPr id="12" name="Text 9"/>
          <p:cNvSpPr txBox="1"/>
          <p:nvPr/>
        </p:nvSpPr>
        <p:spPr>
          <a:xfrm>
            <a:off x="7351776" y="3364992"/>
            <a:ext cx="4254703"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Counts are not restated in prose. test_gate_fixtures derives the tool count from the directories rather than asserting a number.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magic number in a test is often a bug report: stagnation_limit = 10_000 appeared in three tests before anyone noticed the defect was in the executor, not the setup.</a:t>
            </a:r>
            <a:endParaRPr lang="en-US" sz="1050" dirty="0"/>
          </a:p>
        </p:txBody>
      </p:sp>
      <p:sp>
        <p:nvSpPr>
          <p:cNvPr id="13" name="Shape 10"/>
          <p:cNvSpPr/>
          <p:nvPr/>
        </p:nvSpPr>
        <p:spPr>
          <a:xfrm>
            <a:off x="7223760" y="4709160"/>
            <a:ext cx="4510735" cy="1645920"/>
          </a:xfrm>
          <a:prstGeom prst="rect">
            <a:avLst/>
          </a:prstGeom>
          <a:solidFill>
            <a:srgbClr val="E4F1EA"/>
          </a:solidFill>
          <a:ln w="12700">
            <a:solidFill>
              <a:srgbClr val="E4F1EA"/>
            </a:solidFill>
            <a:prstDash val="solid"/>
          </a:ln>
        </p:spPr>
      </p:sp>
      <p:sp>
        <p:nvSpPr>
          <p:cNvPr id="14" name="Text 11"/>
          <p:cNvSpPr txBox="1"/>
          <p:nvPr/>
        </p:nvSpPr>
        <p:spPr>
          <a:xfrm>
            <a:off x="7351776" y="4791456"/>
            <a:ext cx="4254703"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A 20-second demo, if the room wants it</a:t>
            </a:r>
            <a:endParaRPr lang="en-US" sz="1300" dirty="0"/>
          </a:p>
        </p:txBody>
      </p:sp>
      <p:sp>
        <p:nvSpPr>
          <p:cNvPr id="15" name="Text 12"/>
          <p:cNvSpPr txBox="1"/>
          <p:nvPr/>
        </p:nvSpPr>
        <p:spPr>
          <a:xfrm>
            <a:off x="7351776" y="5102352"/>
            <a:ext cx="4254703" cy="11704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pytest tests -q -k lying — the bundled tool that succeeds, reports 0.91 designability, and is failed by QC anyway.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impress-a run campaigns/delta-small-molecule-smoke.yaml --model D must compose rfd3_design…, never mock_… — that confusion is the bug that made the smoke campaign necessary.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a:t>
            </a:r>
            <a:endParaRPr lang="en-US" sz="2800" dirty="0"/>
          </a:p>
        </p:txBody>
      </p:sp>
      <p:sp>
        <p:nvSpPr>
          <p:cNvPr id="4" name="Shape 2"/>
          <p:cNvSpPr/>
          <p:nvPr/>
        </p:nvSpPr>
        <p:spPr>
          <a:xfrm>
            <a:off x="457200" y="1325880"/>
            <a:ext cx="5577840" cy="384048"/>
          </a:xfrm>
          <a:prstGeom prst="rect">
            <a:avLst/>
          </a:prstGeom>
          <a:solidFill>
            <a:srgbClr val="2E7D4F"/>
          </a:solidFill>
          <a:ln w="12700">
            <a:solidFill>
              <a:srgbClr val="2E7D4F"/>
            </a:solidFill>
            <a:prstDash val="solid"/>
          </a:ln>
        </p:spPr>
      </p:sp>
      <p:sp>
        <p:nvSpPr>
          <p:cNvPr id="5" name="Text 3"/>
          <p:cNvSpPr txBox="1"/>
          <p:nvPr/>
        </p:nvSpPr>
        <p:spPr>
          <a:xfrm>
            <a:off x="585216" y="1325880"/>
            <a:ext cx="530352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Runs, for real</a:t>
            </a:r>
            <a:endParaRPr lang="en-US" sz="1350" dirty="0"/>
          </a:p>
        </p:txBody>
      </p:sp>
      <p:sp>
        <p:nvSpPr>
          <p:cNvPr id="6" name="Shape 4"/>
          <p:cNvSpPr/>
          <p:nvPr/>
        </p:nvSpPr>
        <p:spPr>
          <a:xfrm>
            <a:off x="6245352" y="1325880"/>
            <a:ext cx="5486400" cy="384048"/>
          </a:xfrm>
          <a:prstGeom prst="rect">
            <a:avLst/>
          </a:prstGeom>
          <a:solidFill>
            <a:srgbClr val="C0392B"/>
          </a:solidFill>
          <a:ln w="12700">
            <a:solidFill>
              <a:srgbClr val="C0392B"/>
            </a:solidFill>
            <a:prstDash val="solid"/>
          </a:ln>
        </p:spPr>
      </p:sp>
      <p:sp>
        <p:nvSpPr>
          <p:cNvPr id="7" name="Text 5"/>
          <p:cNvSpPr txBox="1"/>
          <p:nvPr/>
        </p:nvSpPr>
        <p:spPr>
          <a:xfrm>
            <a:off x="6373368" y="1325880"/>
            <a:ext cx="5212080" cy="384048"/>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Has never run</a:t>
            </a:r>
            <a:endParaRPr lang="en-US" sz="1350" dirty="0"/>
          </a:p>
        </p:txBody>
      </p:sp>
      <p:sp>
        <p:nvSpPr>
          <p:cNvPr id="8" name="Shape 6"/>
          <p:cNvSpPr/>
          <p:nvPr/>
        </p:nvSpPr>
        <p:spPr>
          <a:xfrm>
            <a:off x="457200" y="1828800"/>
            <a:ext cx="5577840" cy="566928"/>
          </a:xfrm>
          <a:prstGeom prst="rect">
            <a:avLst/>
          </a:prstGeom>
          <a:solidFill>
            <a:srgbClr val="F0F6F2"/>
          </a:solidFill>
          <a:ln w="12700">
            <a:solidFill>
              <a:srgbClr val="C9D1D8"/>
            </a:solidFill>
            <a:prstDash val="solid"/>
          </a:ln>
        </p:spPr>
      </p:sp>
      <p:sp>
        <p:nvSpPr>
          <p:cNvPr id="9" name="Text 7"/>
          <p:cNvSpPr txBox="1"/>
          <p:nvPr/>
        </p:nvSpPr>
        <p:spPr>
          <a:xfrm>
            <a:off x="566928" y="1874520"/>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A six-stage real-toolkit campaign ran end to end on Delta: 6/6 tasks, four objectives, a front.</a:t>
            </a:r>
            <a:endParaRPr lang="en-US" sz="1000" dirty="0"/>
          </a:p>
        </p:txBody>
      </p:sp>
      <p:sp>
        <p:nvSpPr>
          <p:cNvPr id="10" name="Shape 8"/>
          <p:cNvSpPr/>
          <p:nvPr/>
        </p:nvSpPr>
        <p:spPr>
          <a:xfrm>
            <a:off x="457200" y="2432304"/>
            <a:ext cx="5577840" cy="566928"/>
          </a:xfrm>
          <a:prstGeom prst="rect">
            <a:avLst/>
          </a:prstGeom>
          <a:solidFill>
            <a:srgbClr val="FFFFFF"/>
          </a:solidFill>
          <a:ln w="12700">
            <a:solidFill>
              <a:srgbClr val="C9D1D8"/>
            </a:solidFill>
            <a:prstDash val="solid"/>
          </a:ln>
        </p:spPr>
      </p:sp>
      <p:sp>
        <p:nvSpPr>
          <p:cNvPr id="11" name="Text 9"/>
          <p:cNvSpPr txBox="1"/>
          <p:nvPr/>
        </p:nvSpPr>
        <p:spPr>
          <a:xfrm>
            <a:off x="566928" y="2478024"/>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The engine — compose, five gates, interlock, Pareto tree, provenance, durable run ledger.</a:t>
            </a:r>
            <a:endParaRPr lang="en-US" sz="1000" dirty="0"/>
          </a:p>
        </p:txBody>
      </p:sp>
      <p:sp>
        <p:nvSpPr>
          <p:cNvPr id="12" name="Shape 10"/>
          <p:cNvSpPr/>
          <p:nvPr/>
        </p:nvSpPr>
        <p:spPr>
          <a:xfrm>
            <a:off x="457200" y="3035808"/>
            <a:ext cx="5577840" cy="566928"/>
          </a:xfrm>
          <a:prstGeom prst="rect">
            <a:avLst/>
          </a:prstGeom>
          <a:solidFill>
            <a:srgbClr val="F0F6F2"/>
          </a:solidFill>
          <a:ln w="12700">
            <a:solidFill>
              <a:srgbClr val="C9D1D8"/>
            </a:solidFill>
            <a:prstDash val="solid"/>
          </a:ln>
        </p:spPr>
      </p:sp>
      <p:sp>
        <p:nvSpPr>
          <p:cNvPr id="13" name="Text 11"/>
          <p:cNvSpPr txBox="1"/>
          <p:nvPr/>
        </p:nvSpPr>
        <p:spPr>
          <a:xfrm>
            <a:off x="566928" y="3081528"/>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Four control models, plus conduct() reasoners, over one shared executor.</a:t>
            </a:r>
            <a:endParaRPr lang="en-US" sz="1000" dirty="0"/>
          </a:p>
        </p:txBody>
      </p:sp>
      <p:sp>
        <p:nvSpPr>
          <p:cNvPr id="14" name="Shape 12"/>
          <p:cNvSpPr/>
          <p:nvPr/>
        </p:nvSpPr>
        <p:spPr>
          <a:xfrm>
            <a:off x="457200" y="3639312"/>
            <a:ext cx="5577840" cy="566928"/>
          </a:xfrm>
          <a:prstGeom prst="rect">
            <a:avLst/>
          </a:prstGeom>
          <a:solidFill>
            <a:srgbClr val="FFFFFF"/>
          </a:solidFill>
          <a:ln w="12700">
            <a:solidFill>
              <a:srgbClr val="C9D1D8"/>
            </a:solidFill>
            <a:prstDash val="solid"/>
          </a:ln>
        </p:spPr>
      </p:sp>
      <p:sp>
        <p:nvSpPr>
          <p:cNvPr id="15" name="Text 13"/>
          <p:cNvSpPr txBox="1"/>
          <p:nvPr/>
        </p:nvSpPr>
        <p:spPr>
          <a:xfrm>
            <a:off x="566928" y="3685032"/>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Control plane: in-process and HTTP+SSE, with synchronous admission, covered end to end.</a:t>
            </a:r>
            <a:endParaRPr lang="en-US" sz="1000" dirty="0"/>
          </a:p>
        </p:txBody>
      </p:sp>
      <p:sp>
        <p:nvSpPr>
          <p:cNvPr id="16" name="Shape 14"/>
          <p:cNvSpPr/>
          <p:nvPr/>
        </p:nvSpPr>
        <p:spPr>
          <a:xfrm>
            <a:off x="457200" y="4242816"/>
            <a:ext cx="5577840" cy="566928"/>
          </a:xfrm>
          <a:prstGeom prst="rect">
            <a:avLst/>
          </a:prstGeom>
          <a:solidFill>
            <a:srgbClr val="F0F6F2"/>
          </a:solidFill>
          <a:ln w="12700">
            <a:solidFill>
              <a:srgbClr val="C9D1D8"/>
            </a:solidFill>
            <a:prstDash val="solid"/>
          </a:ln>
        </p:spPr>
      </p:sp>
      <p:sp>
        <p:nvSpPr>
          <p:cNvPr id="17" name="Text 15"/>
          <p:cNvSpPr txBox="1"/>
          <p:nvPr/>
        </p:nvSpPr>
        <p:spPr>
          <a:xfrm>
            <a:off x="566928" y="4288536"/>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A reasoner in another process, driving a campaign over the HTTP plane.</a:t>
            </a:r>
            <a:endParaRPr lang="en-US" sz="1000" dirty="0"/>
          </a:p>
        </p:txBody>
      </p:sp>
      <p:sp>
        <p:nvSpPr>
          <p:cNvPr id="18" name="Shape 16"/>
          <p:cNvSpPr/>
          <p:nvPr/>
        </p:nvSpPr>
        <p:spPr>
          <a:xfrm>
            <a:off x="457200" y="4846320"/>
            <a:ext cx="5577840" cy="566928"/>
          </a:xfrm>
          <a:prstGeom prst="rect">
            <a:avLst/>
          </a:prstGeom>
          <a:solidFill>
            <a:srgbClr val="FFFFFF"/>
          </a:solidFill>
          <a:ln w="12700">
            <a:solidFill>
              <a:srgbClr val="C9D1D8"/>
            </a:solidFill>
            <a:prstDash val="solid"/>
          </a:ln>
        </p:spPr>
      </p:sp>
      <p:sp>
        <p:nvSpPr>
          <p:cNvPr id="19" name="Text 17"/>
          <p:cNvSpPr txBox="1"/>
          <p:nvPr/>
        </p:nvSpPr>
        <p:spPr>
          <a:xfrm>
            <a:off x="566928" y="4892040"/>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Dragon startup AND teardown bounded; both measured against real lost allocations.</a:t>
            </a:r>
            <a:endParaRPr lang="en-US" sz="1000" dirty="0"/>
          </a:p>
        </p:txBody>
      </p:sp>
      <p:sp>
        <p:nvSpPr>
          <p:cNvPr id="20" name="Shape 18"/>
          <p:cNvSpPr/>
          <p:nvPr/>
        </p:nvSpPr>
        <p:spPr>
          <a:xfrm>
            <a:off x="457200" y="5449824"/>
            <a:ext cx="5577840" cy="566928"/>
          </a:xfrm>
          <a:prstGeom prst="rect">
            <a:avLst/>
          </a:prstGeom>
          <a:solidFill>
            <a:srgbClr val="F0F6F2"/>
          </a:solidFill>
          <a:ln w="12700">
            <a:solidFill>
              <a:srgbClr val="C9D1D8"/>
            </a:solidFill>
            <a:prstDash val="solid"/>
          </a:ln>
        </p:spPr>
      </p:sp>
      <p:sp>
        <p:nvSpPr>
          <p:cNvPr id="21" name="Text 19"/>
          <p:cNvSpPr txBox="1"/>
          <p:nvPr/>
        </p:nvSpPr>
        <p:spPr>
          <a:xfrm>
            <a:off x="566928" y="5495544"/>
            <a:ext cx="535838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Per-tool cost measured for all six real tools, and the specs corrected from measurement.</a:t>
            </a:r>
            <a:endParaRPr lang="en-US" sz="1000" dirty="0"/>
          </a:p>
        </p:txBody>
      </p:sp>
      <p:sp>
        <p:nvSpPr>
          <p:cNvPr id="22" name="Shape 20"/>
          <p:cNvSpPr/>
          <p:nvPr/>
        </p:nvSpPr>
        <p:spPr>
          <a:xfrm>
            <a:off x="6245352" y="1828800"/>
            <a:ext cx="5486400" cy="566928"/>
          </a:xfrm>
          <a:prstGeom prst="rect">
            <a:avLst/>
          </a:prstGeom>
          <a:solidFill>
            <a:srgbClr val="F9E0DD"/>
          </a:solidFill>
          <a:ln w="12700">
            <a:solidFill>
              <a:srgbClr val="C9D1D8"/>
            </a:solidFill>
            <a:prstDash val="solid"/>
          </a:ln>
        </p:spPr>
      </p:sp>
      <p:sp>
        <p:nvSpPr>
          <p:cNvPr id="23" name="Text 21"/>
          <p:cNvSpPr txBox="1"/>
          <p:nvPr/>
        </p:nvSpPr>
        <p:spPr>
          <a:xfrm>
            <a:off x="6355080" y="1874520"/>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replicas &gt; 1 has NEVER executed. The independence invariant is the one most likely to be silently wrong, and it is unexercised.</a:t>
            </a:r>
            <a:endParaRPr lang="en-US" sz="1000" dirty="0"/>
          </a:p>
        </p:txBody>
      </p:sp>
      <p:sp>
        <p:nvSpPr>
          <p:cNvPr id="24" name="Shape 22"/>
          <p:cNvSpPr/>
          <p:nvPr/>
        </p:nvSpPr>
        <p:spPr>
          <a:xfrm>
            <a:off x="6245352" y="2432304"/>
            <a:ext cx="5486400" cy="566928"/>
          </a:xfrm>
          <a:prstGeom prst="rect">
            <a:avLst/>
          </a:prstGeom>
          <a:solidFill>
            <a:srgbClr val="FFFFFF"/>
          </a:solidFill>
          <a:ln w="12700">
            <a:solidFill>
              <a:srgbClr val="C9D1D8"/>
            </a:solidFill>
            <a:prstDash val="solid"/>
          </a:ln>
        </p:spPr>
      </p:sp>
      <p:sp>
        <p:nvSpPr>
          <p:cNvPr id="25" name="Text 23"/>
          <p:cNvSpPr txBox="1"/>
          <p:nvPr/>
        </p:nvSpPr>
        <p:spPr>
          <a:xfrm>
            <a:off x="6355080" y="2478024"/>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Nothing has ever been promoted by the trust ledger, so the trusted path has never run.</a:t>
            </a:r>
            <a:endParaRPr lang="en-US" sz="1000" dirty="0"/>
          </a:p>
        </p:txBody>
      </p:sp>
      <p:sp>
        <p:nvSpPr>
          <p:cNvPr id="26" name="Shape 24"/>
          <p:cNvSpPr/>
          <p:nvPr/>
        </p:nvSpPr>
        <p:spPr>
          <a:xfrm>
            <a:off x="6245352" y="3035808"/>
            <a:ext cx="5486400" cy="566928"/>
          </a:xfrm>
          <a:prstGeom prst="rect">
            <a:avLst/>
          </a:prstGeom>
          <a:solidFill>
            <a:srgbClr val="F9E0DD"/>
          </a:solidFill>
          <a:ln w="12700">
            <a:solidFill>
              <a:srgbClr val="C9D1D8"/>
            </a:solidFill>
            <a:prstDash val="solid"/>
          </a:ln>
        </p:spPr>
      </p:sp>
      <p:sp>
        <p:nvSpPr>
          <p:cNvPr id="27" name="Text 25"/>
          <p:cNvSpPr txBox="1"/>
          <p:nvPr/>
        </p:nvSpPr>
        <p:spPr>
          <a:xfrm>
            <a:off x="6355080" y="3081528"/>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measurement has superseded a prediction — the calibration machinery is untested.</a:t>
            </a:r>
            <a:endParaRPr lang="en-US" sz="1000" dirty="0"/>
          </a:p>
        </p:txBody>
      </p:sp>
      <p:sp>
        <p:nvSpPr>
          <p:cNvPr id="28" name="Shape 26"/>
          <p:cNvSpPr/>
          <p:nvPr/>
        </p:nvSpPr>
        <p:spPr>
          <a:xfrm>
            <a:off x="6245352" y="3639312"/>
            <a:ext cx="5486400" cy="566928"/>
          </a:xfrm>
          <a:prstGeom prst="rect">
            <a:avLst/>
          </a:prstGeom>
          <a:solidFill>
            <a:srgbClr val="FFFFFF"/>
          </a:solidFill>
          <a:ln w="12700">
            <a:solidFill>
              <a:srgbClr val="C9D1D8"/>
            </a:solidFill>
            <a:prstDash val="solid"/>
          </a:ln>
        </p:spPr>
      </p:sp>
      <p:sp>
        <p:nvSpPr>
          <p:cNvPr id="29" name="Text 27"/>
          <p:cNvSpPr txBox="1"/>
          <p:nvPr/>
        </p:nvSpPr>
        <p:spPr>
          <a:xfrm>
            <a:off x="6355080" y="3685032"/>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structural QC gate exists for any real tool; every real gate is a threshold on a self-reported number.</a:t>
            </a:r>
            <a:endParaRPr lang="en-US" sz="1000" dirty="0"/>
          </a:p>
        </p:txBody>
      </p:sp>
      <p:sp>
        <p:nvSpPr>
          <p:cNvPr id="30" name="Shape 28"/>
          <p:cNvSpPr/>
          <p:nvPr/>
        </p:nvSpPr>
        <p:spPr>
          <a:xfrm>
            <a:off x="6245352" y="4242816"/>
            <a:ext cx="5486400" cy="566928"/>
          </a:xfrm>
          <a:prstGeom prst="rect">
            <a:avLst/>
          </a:prstGeom>
          <a:solidFill>
            <a:srgbClr val="F9E0DD"/>
          </a:solidFill>
          <a:ln w="12700">
            <a:solidFill>
              <a:srgbClr val="C9D1D8"/>
            </a:solidFill>
            <a:prstDash val="solid"/>
          </a:ln>
        </p:spPr>
      </p:sp>
      <p:sp>
        <p:nvSpPr>
          <p:cNvPr id="31" name="Text 29"/>
          <p:cNvSpPr txBox="1"/>
          <p:nvPr/>
        </p:nvSpPr>
        <p:spPr>
          <a:xfrm>
            <a:off x="6355080" y="4288536"/>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No resume: the ledger and reattach() exist, nothing resumes from them.</a:t>
            </a:r>
            <a:endParaRPr lang="en-US" sz="1000" dirty="0"/>
          </a:p>
        </p:txBody>
      </p:sp>
      <p:sp>
        <p:nvSpPr>
          <p:cNvPr id="32" name="Shape 30"/>
          <p:cNvSpPr/>
          <p:nvPr/>
        </p:nvSpPr>
        <p:spPr>
          <a:xfrm>
            <a:off x="6245352" y="4846320"/>
            <a:ext cx="5486400" cy="566928"/>
          </a:xfrm>
          <a:prstGeom prst="rect">
            <a:avLst/>
          </a:prstGeom>
          <a:solidFill>
            <a:srgbClr val="FFFFFF"/>
          </a:solidFill>
          <a:ln w="12700">
            <a:solidFill>
              <a:srgbClr val="C9D1D8"/>
            </a:solidFill>
            <a:prstDash val="solid"/>
          </a:ln>
        </p:spPr>
      </p:sp>
      <p:sp>
        <p:nvSpPr>
          <p:cNvPr id="33" name="Text 31"/>
          <p:cNvSpPr txBox="1"/>
          <p:nvPr/>
        </p:nvSpPr>
        <p:spPr>
          <a:xfrm>
            <a:off x="6355080" y="4892040"/>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impress-a serve / reason do not exist, so --model C fails open and reports a model-D campaign as model C.</a:t>
            </a:r>
            <a:endParaRPr lang="en-US" sz="1000" dirty="0"/>
          </a:p>
        </p:txBody>
      </p:sp>
      <p:sp>
        <p:nvSpPr>
          <p:cNvPr id="34" name="Shape 32"/>
          <p:cNvSpPr/>
          <p:nvPr/>
        </p:nvSpPr>
        <p:spPr>
          <a:xfrm>
            <a:off x="6245352" y="5449824"/>
            <a:ext cx="5486400" cy="566928"/>
          </a:xfrm>
          <a:prstGeom prst="rect">
            <a:avLst/>
          </a:prstGeom>
          <a:solidFill>
            <a:srgbClr val="F9E0DD"/>
          </a:solidFill>
          <a:ln w="12700">
            <a:solidFill>
              <a:srgbClr val="C9D1D8"/>
            </a:solidFill>
            <a:prstDash val="solid"/>
          </a:ln>
        </p:spPr>
      </p:sp>
      <p:sp>
        <p:nvSpPr>
          <p:cNvPr id="35" name="Text 33"/>
          <p:cNvSpPr txBox="1"/>
          <p:nvPr/>
        </p:nvSpPr>
        <p:spPr>
          <a:xfrm>
            <a:off x="6355080" y="5495544"/>
            <a:ext cx="5266944" cy="475488"/>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sites/*.yaml is read by no code. MCP is designed, not built.</a:t>
            </a:r>
            <a:endParaRPr lang="en-US" sz="1000" dirty="0"/>
          </a:p>
        </p:txBody>
      </p:sp>
      <p:sp>
        <p:nvSpPr>
          <p:cNvPr id="36" name="Text 34"/>
          <p:cNvSpPr txBox="1"/>
          <p:nvPr/>
        </p:nvSpPr>
        <p:spPr>
          <a:xfrm>
            <a:off x="457200" y="6053328"/>
            <a:ext cx="11274552" cy="45720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One campaign has completed. </a:t>
            </a:r>
            <a:pPr indent="0" marL="0">
              <a:buNone/>
            </a:pPr>
            <a:r>
              <a:rPr lang="en-US" sz="1250" dirty="0">
                <a:solidFill>
                  <a:srgbClr val="22303C"/>
                </a:solidFill>
                <a:latin typeface="Calibri" pitchFamily="34" charset="0"/>
                <a:ea typeface="Calibri" pitchFamily="34" charset="-122"/>
                <a:cs typeface="Calibri" pitchFamily="34" charset="-120"/>
              </a:rPr>
              <a:t>One lineage, one cycle, one draw — and the node it produced is marked suspect, which is the interlock working rather than a defect.</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57200"/>
            <a:ext cx="5486400" cy="320040"/>
          </a:xfrm>
          <a:prstGeom prst="rect">
            <a:avLst/>
          </a:prstGeom>
          <a:noFill/>
          <a:ln/>
        </p:spPr>
        <p:txBody>
          <a:bodyPr wrap="square" lIns="0" tIns="0" rIns="0" bIns="0" rtlCol="0" anchor="t"/>
          <a:lstStyle/>
          <a:p>
            <a:pPr indent="0" marL="0">
              <a:buNone/>
            </a:pPr>
            <a:r>
              <a:rPr lang="en-US" sz="1300" b="1" spc="300" kern="0" dirty="0">
                <a:solidFill>
                  <a:srgbClr val="8FB8C9"/>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457200" y="777240"/>
            <a:ext cx="11274552" cy="6400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things I would like this room's opinion on</a:t>
            </a:r>
            <a:endParaRPr lang="en-US" sz="2800" dirty="0"/>
          </a:p>
        </p:txBody>
      </p:sp>
      <p:sp>
        <p:nvSpPr>
          <p:cNvPr id="4" name="Shape 2"/>
          <p:cNvSpPr/>
          <p:nvPr/>
        </p:nvSpPr>
        <p:spPr>
          <a:xfrm>
            <a:off x="457200" y="1600200"/>
            <a:ext cx="5513832" cy="1444752"/>
          </a:xfrm>
          <a:prstGeom prst="rect">
            <a:avLst/>
          </a:prstGeom>
          <a:solidFill>
            <a:srgbClr val="1E2C36"/>
          </a:solidFill>
          <a:ln w="12700">
            <a:solidFill>
              <a:srgbClr val="2E414F"/>
            </a:solidFill>
            <a:prstDash val="solid"/>
          </a:ln>
        </p:spPr>
      </p:sp>
      <p:sp>
        <p:nvSpPr>
          <p:cNvPr id="5" name="Shape 3"/>
          <p:cNvSpPr/>
          <p:nvPr/>
        </p:nvSpPr>
        <p:spPr>
          <a:xfrm>
            <a:off x="457200" y="1600200"/>
            <a:ext cx="54864" cy="1444752"/>
          </a:xfrm>
          <a:prstGeom prst="rect">
            <a:avLst/>
          </a:prstGeom>
          <a:solidFill>
            <a:srgbClr val="D9731A"/>
          </a:solidFill>
          <a:ln w="12700">
            <a:solidFill>
              <a:srgbClr val="D9731A"/>
            </a:solidFill>
            <a:prstDash val="solid"/>
          </a:ln>
        </p:spPr>
      </p:sp>
      <p:sp>
        <p:nvSpPr>
          <p:cNvPr id="6" name="Text 4"/>
          <p:cNvSpPr txBox="1"/>
          <p:nvPr/>
        </p:nvSpPr>
        <p:spPr>
          <a:xfrm>
            <a:off x="621792" y="1673352"/>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960120" y="1691640"/>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rhapsody's monitor loop drops a whole sweep</a:t>
            </a:r>
            <a:endParaRPr lang="en-US" sz="1250" dirty="0"/>
          </a:p>
        </p:txBody>
      </p:sp>
      <p:sp>
        <p:nvSpPr>
          <p:cNvPr id="8" name="Text 6"/>
          <p:cNvSpPr txBox="1"/>
          <p:nvPr/>
        </p:nvSpPr>
        <p:spPr>
          <a:xfrm>
            <a:off x="960120" y="2039112"/>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A worker exception that cannot be unpickled takes out every completion in that sweep. batch_task.get() is guarded; the follow-up get_stdout(block=False) re-reads the same entry and catches only OSError. Our half is fixed (SubprocessError.__reduce__). Should that handler catch Exception and fail the ONE task?</a:t>
            </a:r>
            <a:endParaRPr lang="en-US" sz="950" dirty="0"/>
          </a:p>
        </p:txBody>
      </p:sp>
      <p:sp>
        <p:nvSpPr>
          <p:cNvPr id="9" name="Shape 7"/>
          <p:cNvSpPr/>
          <p:nvPr/>
        </p:nvSpPr>
        <p:spPr>
          <a:xfrm>
            <a:off x="457200" y="3172968"/>
            <a:ext cx="5513832" cy="1444752"/>
          </a:xfrm>
          <a:prstGeom prst="rect">
            <a:avLst/>
          </a:prstGeom>
          <a:solidFill>
            <a:srgbClr val="1E2C36"/>
          </a:solidFill>
          <a:ln w="12700">
            <a:solidFill>
              <a:srgbClr val="2E414F"/>
            </a:solidFill>
            <a:prstDash val="solid"/>
          </a:ln>
        </p:spPr>
      </p:sp>
      <p:sp>
        <p:nvSpPr>
          <p:cNvPr id="10" name="Shape 8"/>
          <p:cNvSpPr/>
          <p:nvPr/>
        </p:nvSpPr>
        <p:spPr>
          <a:xfrm>
            <a:off x="457200" y="3172968"/>
            <a:ext cx="54864" cy="1444752"/>
          </a:xfrm>
          <a:prstGeom prst="rect">
            <a:avLst/>
          </a:prstGeom>
          <a:solidFill>
            <a:srgbClr val="D9731A"/>
          </a:solidFill>
          <a:ln w="12700">
            <a:solidFill>
              <a:srgbClr val="D9731A"/>
            </a:solidFill>
            <a:prstDash val="solid"/>
          </a:ln>
        </p:spPr>
      </p:sp>
      <p:sp>
        <p:nvSpPr>
          <p:cNvPr id="11" name="Text 9"/>
          <p:cNvSpPr txBox="1"/>
          <p:nvPr/>
        </p:nvSpPr>
        <p:spPr>
          <a:xfrm>
            <a:off x="621792" y="3246120"/>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960120" y="3264408"/>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Why does Dragon's Batch() stall?</a:t>
            </a:r>
            <a:endParaRPr lang="en-US" sz="1250" dirty="0"/>
          </a:p>
        </p:txBody>
      </p:sp>
      <p:sp>
        <p:nvSpPr>
          <p:cNvPr id="13" name="Text 11"/>
          <p:cNvSpPr txBox="1"/>
          <p:nvPr/>
        </p:nvSpPr>
        <p:spPr>
          <a:xfrm>
            <a:off x="960120" y="3611880"/>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Bounded now, but not diagnosed. Job 22318678 produced only infra-connect lines for two hours. Best guess: GPU-affinity worker rendezvous, or OFI/libfabric negotiation under single-node mode. We now fail fast enough to iterate — what should we instrument?</a:t>
            </a:r>
            <a:endParaRPr lang="en-US" sz="950" dirty="0"/>
          </a:p>
        </p:txBody>
      </p:sp>
      <p:sp>
        <p:nvSpPr>
          <p:cNvPr id="14" name="Shape 12"/>
          <p:cNvSpPr/>
          <p:nvPr/>
        </p:nvSpPr>
        <p:spPr>
          <a:xfrm>
            <a:off x="457200" y="4745736"/>
            <a:ext cx="5513832" cy="1444752"/>
          </a:xfrm>
          <a:prstGeom prst="rect">
            <a:avLst/>
          </a:prstGeom>
          <a:solidFill>
            <a:srgbClr val="1E2C36"/>
          </a:solidFill>
          <a:ln w="12700">
            <a:solidFill>
              <a:srgbClr val="2E414F"/>
            </a:solidFill>
            <a:prstDash val="solid"/>
          </a:ln>
        </p:spPr>
      </p:sp>
      <p:sp>
        <p:nvSpPr>
          <p:cNvPr id="15" name="Shape 13"/>
          <p:cNvSpPr/>
          <p:nvPr/>
        </p:nvSpPr>
        <p:spPr>
          <a:xfrm>
            <a:off x="457200" y="4745736"/>
            <a:ext cx="54864" cy="1444752"/>
          </a:xfrm>
          <a:prstGeom prst="rect">
            <a:avLst/>
          </a:prstGeom>
          <a:solidFill>
            <a:srgbClr val="D9731A"/>
          </a:solidFill>
          <a:ln w="12700">
            <a:solidFill>
              <a:srgbClr val="D9731A"/>
            </a:solidFill>
            <a:prstDash val="solid"/>
          </a:ln>
        </p:spPr>
      </p:sp>
      <p:sp>
        <p:nvSpPr>
          <p:cNvPr id="16" name="Text 14"/>
          <p:cNvSpPr txBox="1"/>
          <p:nvPr/>
        </p:nvSpPr>
        <p:spPr>
          <a:xfrm>
            <a:off x="621792" y="4818888"/>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960120" y="4837176"/>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Can a running task's GPU ever be reclaimed?</a:t>
            </a:r>
            <a:endParaRPr lang="en-US" sz="1250" dirty="0"/>
          </a:p>
        </p:txBody>
      </p:sp>
      <p:sp>
        <p:nvSpPr>
          <p:cNvPr id="18" name="Text 16"/>
          <p:cNvSpPr txBox="1"/>
          <p:nvPr/>
        </p:nvSpPr>
        <p:spPr>
          <a:xfrm>
            <a:off x="960120" y="5184648"/>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Future.cancel() returns False once started and asyncflow discards the answer, so we cannot even learn which happened. Is cooperative cancellation inside the task the only route, or is there a backend-level kill we should be using?</a:t>
            </a:r>
            <a:endParaRPr lang="en-US" sz="950" dirty="0"/>
          </a:p>
        </p:txBody>
      </p:sp>
      <p:sp>
        <p:nvSpPr>
          <p:cNvPr id="19" name="Shape 17"/>
          <p:cNvSpPr/>
          <p:nvPr/>
        </p:nvSpPr>
        <p:spPr>
          <a:xfrm>
            <a:off x="6217920" y="1600200"/>
            <a:ext cx="5513832" cy="1444752"/>
          </a:xfrm>
          <a:prstGeom prst="rect">
            <a:avLst/>
          </a:prstGeom>
          <a:solidFill>
            <a:srgbClr val="1E2C36"/>
          </a:solidFill>
          <a:ln w="12700">
            <a:solidFill>
              <a:srgbClr val="2E414F"/>
            </a:solidFill>
            <a:prstDash val="solid"/>
          </a:ln>
        </p:spPr>
      </p:sp>
      <p:sp>
        <p:nvSpPr>
          <p:cNvPr id="20" name="Shape 18"/>
          <p:cNvSpPr/>
          <p:nvPr/>
        </p:nvSpPr>
        <p:spPr>
          <a:xfrm>
            <a:off x="6217920" y="1600200"/>
            <a:ext cx="54864" cy="1444752"/>
          </a:xfrm>
          <a:prstGeom prst="rect">
            <a:avLst/>
          </a:prstGeom>
          <a:solidFill>
            <a:srgbClr val="D9731A"/>
          </a:solidFill>
          <a:ln w="12700">
            <a:solidFill>
              <a:srgbClr val="D9731A"/>
            </a:solidFill>
            <a:prstDash val="solid"/>
          </a:ln>
        </p:spPr>
      </p:sp>
      <p:sp>
        <p:nvSpPr>
          <p:cNvPr id="21" name="Text 19"/>
          <p:cNvSpPr txBox="1"/>
          <p:nvPr/>
        </p:nvSpPr>
        <p:spPr>
          <a:xfrm>
            <a:off x="6382512" y="1673352"/>
            <a:ext cx="274320" cy="320040"/>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6720840" y="1691640"/>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workflow_id tags tasks but nothing looks them up</a:t>
            </a:r>
            <a:endParaRPr lang="en-US" sz="1250" dirty="0"/>
          </a:p>
        </p:txBody>
      </p:sp>
      <p:sp>
        <p:nvSpPr>
          <p:cNvPr id="23" name="Text 21"/>
          <p:cNvSpPr txBox="1"/>
          <p:nvPr/>
        </p:nvSpPr>
        <p:spPr>
          <a:xfrm>
            <a:off x="6720840" y="2039112"/>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So "which tasks belong to run R" is answered by our own handle, which cancellation and draining both need. Is a lookup API wanted upstream, or is the tag meant to stay a label?</a:t>
            </a:r>
            <a:endParaRPr lang="en-US" sz="950" dirty="0"/>
          </a:p>
        </p:txBody>
      </p:sp>
      <p:sp>
        <p:nvSpPr>
          <p:cNvPr id="24" name="Shape 22"/>
          <p:cNvSpPr/>
          <p:nvPr/>
        </p:nvSpPr>
        <p:spPr>
          <a:xfrm>
            <a:off x="6217920" y="3172968"/>
            <a:ext cx="5513832" cy="1444752"/>
          </a:xfrm>
          <a:prstGeom prst="rect">
            <a:avLst/>
          </a:prstGeom>
          <a:solidFill>
            <a:srgbClr val="1E2C36"/>
          </a:solidFill>
          <a:ln w="12700">
            <a:solidFill>
              <a:srgbClr val="2E414F"/>
            </a:solidFill>
            <a:prstDash val="solid"/>
          </a:ln>
        </p:spPr>
      </p:sp>
      <p:sp>
        <p:nvSpPr>
          <p:cNvPr id="25" name="Shape 23"/>
          <p:cNvSpPr/>
          <p:nvPr/>
        </p:nvSpPr>
        <p:spPr>
          <a:xfrm>
            <a:off x="6217920" y="3172968"/>
            <a:ext cx="54864" cy="1444752"/>
          </a:xfrm>
          <a:prstGeom prst="rect">
            <a:avLst/>
          </a:prstGeom>
          <a:solidFill>
            <a:srgbClr val="2E7D5B"/>
          </a:solidFill>
          <a:ln w="12700">
            <a:solidFill>
              <a:srgbClr val="2E7D5B"/>
            </a:solidFill>
            <a:prstDash val="solid"/>
          </a:ln>
        </p:spPr>
      </p:sp>
      <p:sp>
        <p:nvSpPr>
          <p:cNvPr id="26" name="Text 24"/>
          <p:cNvSpPr txBox="1"/>
          <p:nvPr/>
        </p:nvSpPr>
        <p:spPr>
          <a:xfrm>
            <a:off x="6382512" y="3246120"/>
            <a:ext cx="274320" cy="320040"/>
          </a:xfrm>
          <a:prstGeom prst="rect">
            <a:avLst/>
          </a:prstGeom>
          <a:noFill/>
          <a:ln/>
        </p:spPr>
        <p:txBody>
          <a:bodyPr wrap="square" lIns="0" tIns="0" rIns="0" bIns="0" rtlCol="0" anchor="t"/>
          <a:lstStyle/>
          <a:p>
            <a:pPr indent="0" marL="0">
              <a:buNone/>
            </a:pPr>
            <a:r>
              <a:rPr lang="en-US" sz="1500" b="1" dirty="0">
                <a:solidFill>
                  <a:srgbClr val="2E7D5B"/>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6720840" y="3264408"/>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Does breadth belong in a pattern's identity?</a:t>
            </a:r>
            <a:endParaRPr lang="en-US" sz="1250" dirty="0"/>
          </a:p>
        </p:txBody>
      </p:sp>
      <p:sp>
        <p:nvSpPr>
          <p:cNvPr id="28" name="Text 26"/>
          <p:cNvSpPr txBox="1"/>
          <p:nvPr/>
        </p:nvSpPr>
        <p:spPr>
          <a:xfrm>
            <a:off x="6720840" y="3611880"/>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Slide 14. Parameters are deliberately excluded from the signature; replica count is not. Is trust earned at one lineage evidence about four, when the cap it would lift exists to bound blast radius?</a:t>
            </a:r>
            <a:endParaRPr lang="en-US" sz="950" dirty="0"/>
          </a:p>
        </p:txBody>
      </p:sp>
      <p:sp>
        <p:nvSpPr>
          <p:cNvPr id="29" name="Shape 27"/>
          <p:cNvSpPr/>
          <p:nvPr/>
        </p:nvSpPr>
        <p:spPr>
          <a:xfrm>
            <a:off x="6217920" y="4745736"/>
            <a:ext cx="5513832" cy="1444752"/>
          </a:xfrm>
          <a:prstGeom prst="rect">
            <a:avLst/>
          </a:prstGeom>
          <a:solidFill>
            <a:srgbClr val="1E2C36"/>
          </a:solidFill>
          <a:ln w="12700">
            <a:solidFill>
              <a:srgbClr val="2E414F"/>
            </a:solidFill>
            <a:prstDash val="solid"/>
          </a:ln>
        </p:spPr>
      </p:sp>
      <p:sp>
        <p:nvSpPr>
          <p:cNvPr id="30" name="Shape 28"/>
          <p:cNvSpPr/>
          <p:nvPr/>
        </p:nvSpPr>
        <p:spPr>
          <a:xfrm>
            <a:off x="6217920" y="4745736"/>
            <a:ext cx="54864" cy="1444752"/>
          </a:xfrm>
          <a:prstGeom prst="rect">
            <a:avLst/>
          </a:prstGeom>
          <a:solidFill>
            <a:srgbClr val="7A4A8C"/>
          </a:solidFill>
          <a:ln w="12700">
            <a:solidFill>
              <a:srgbClr val="7A4A8C"/>
            </a:solidFill>
            <a:prstDash val="solid"/>
          </a:ln>
        </p:spPr>
      </p:sp>
      <p:sp>
        <p:nvSpPr>
          <p:cNvPr id="31" name="Text 29"/>
          <p:cNvSpPr txBox="1"/>
          <p:nvPr/>
        </p:nvSpPr>
        <p:spPr>
          <a:xfrm>
            <a:off x="6382512" y="4818888"/>
            <a:ext cx="274320" cy="320040"/>
          </a:xfrm>
          <a:prstGeom prst="rect">
            <a:avLst/>
          </a:prstGeom>
          <a:noFill/>
          <a:ln/>
        </p:spPr>
        <p:txBody>
          <a:bodyPr wrap="square" lIns="0" tIns="0" rIns="0" bIns="0" rtlCol="0" anchor="t"/>
          <a:lstStyle/>
          <a:p>
            <a:pPr indent="0" marL="0">
              <a:buNone/>
            </a:pPr>
            <a:r>
              <a:rPr lang="en-US" sz="1500" b="1" dirty="0">
                <a:solidFill>
                  <a:srgbClr val="7A4A8C"/>
                </a:solidFill>
                <a:latin typeface="Cambria" pitchFamily="34" charset="0"/>
                <a:ea typeface="Cambria" pitchFamily="34" charset="-122"/>
                <a:cs typeface="Cambria" pitchFamily="34" charset="-120"/>
              </a:rPr>
              <a:t>6</a:t>
            </a:r>
            <a:endParaRPr lang="en-US" sz="1500" dirty="0"/>
          </a:p>
        </p:txBody>
      </p:sp>
      <p:sp>
        <p:nvSpPr>
          <p:cNvPr id="32" name="Text 30"/>
          <p:cNvSpPr txBox="1"/>
          <p:nvPr/>
        </p:nvSpPr>
        <p:spPr>
          <a:xfrm>
            <a:off x="6720840" y="4837176"/>
            <a:ext cx="4892040" cy="32004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What is the cheapest real structural gate?</a:t>
            </a:r>
            <a:endParaRPr lang="en-US" sz="1250" dirty="0"/>
          </a:p>
        </p:txBody>
      </p:sp>
      <p:sp>
        <p:nvSpPr>
          <p:cNvPr id="33" name="Text 31"/>
          <p:cNvSpPr txBox="1"/>
          <p:nvPr/>
        </p:nvSpPr>
        <p:spPr>
          <a:xfrm>
            <a:off x="6720840" y="5184648"/>
            <a:ext cx="4892040" cy="914400"/>
          </a:xfrm>
          <a:prstGeom prst="rect">
            <a:avLst/>
          </a:prstGeom>
          <a:noFill/>
          <a:ln/>
        </p:spPr>
        <p:txBody>
          <a:bodyPr wrap="square" lIns="0" tIns="0" rIns="0" bIns="0" rtlCol="0" anchor="t"/>
          <a:lstStyle/>
          <a:p>
            <a:pPr indent="0" marL="0">
              <a:buNone/>
            </a:pPr>
            <a:r>
              <a:rPr lang="en-US" sz="950" dirty="0">
                <a:solidFill>
                  <a:srgbClr val="B8C6D1"/>
                </a:solidFill>
                <a:latin typeface="Calibri" pitchFamily="34" charset="0"/>
                <a:ea typeface="Calibri" pitchFamily="34" charset="-122"/>
                <a:cs typeface="Calibri" pitchFamily="34" charset="-120"/>
              </a:rPr>
              <a:t>Every real gate today is a threshold on a number the tool reports about itself. RFD3 gives us ligand_clashes and per-residue clash counts in a sidecar JSON we already open. For the Rosetta stages, upstream gates on interaction_energy, which we do not compute. Where would you start?</a:t>
            </a:r>
            <a:endParaRPr lang="en-US" sz="950" dirty="0"/>
          </a:p>
        </p:txBody>
      </p:sp>
      <p:sp>
        <p:nvSpPr>
          <p:cNvPr id="34" name="Text 32"/>
          <p:cNvSpPr txBox="1"/>
          <p:nvPr/>
        </p:nvSpPr>
        <p:spPr>
          <a:xfrm>
            <a:off x="457200" y="6355080"/>
            <a:ext cx="11274552" cy="320040"/>
          </a:xfrm>
          <a:prstGeom prst="rect">
            <a:avLst/>
          </a:prstGeom>
          <a:noFill/>
          <a:ln/>
        </p:spPr>
        <p:txBody>
          <a:bodyPr wrap="square" lIns="0" tIns="0" rIns="0" bIns="0" rtlCol="0" anchor="t"/>
          <a:lstStyle/>
          <a:p>
            <a:pPr indent="0" marL="0">
              <a:buNone/>
            </a:pPr>
            <a:r>
              <a:rPr lang="en-US" sz="1100" i="1" dirty="0">
                <a:solidFill>
                  <a:srgbClr val="7E8F9C"/>
                </a:solidFill>
                <a:latin typeface="Calibri" pitchFamily="34" charset="0"/>
                <a:ea typeface="Calibri" pitchFamily="34" charset="-122"/>
                <a:cs typeface="Calibri" pitchFamily="34" charset="-120"/>
              </a:rPr>
              <a:t>Everything above is reproducible from this checkout, and every file:line on these slides is greppable from your laptop while I talk.</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the control plane and the remote reasoner</a:t>
            </a:r>
            <a:endParaRPr lang="en-US" sz="2800" dirty="0"/>
          </a:p>
        </p:txBody>
      </p:sp>
      <p:sp>
        <p:nvSpPr>
          <p:cNvPr id="4" name="Shape 2"/>
          <p:cNvSpPr/>
          <p:nvPr/>
        </p:nvSpPr>
        <p:spPr>
          <a:xfrm>
            <a:off x="457200" y="1371600"/>
            <a:ext cx="11274552" cy="749808"/>
          </a:xfrm>
          <a:prstGeom prst="roundRect">
            <a:avLst>
              <a:gd name="adj" fmla="val 9756"/>
            </a:avLst>
          </a:prstGeom>
          <a:solidFill>
            <a:srgbClr val="E3F0F1"/>
          </a:solidFill>
          <a:ln w="19050">
            <a:solidFill>
              <a:srgbClr val="1E6470"/>
            </a:solidFill>
            <a:prstDash val="solid"/>
          </a:ln>
        </p:spPr>
      </p:sp>
      <p:sp>
        <p:nvSpPr>
          <p:cNvPr id="5" name="Text 3"/>
          <p:cNvSpPr txBox="1"/>
          <p:nvPr/>
        </p:nvSpPr>
        <p:spPr>
          <a:xfrm>
            <a:off x="530352" y="1417320"/>
            <a:ext cx="11128248" cy="658368"/>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CampaignControlPlane — one protocol, adapters translate transport only</a:t>
            </a:r>
            <a:endParaRPr lang="en-US" sz="1400" dirty="0"/>
          </a:p>
          <a:p>
            <a:pPr algn="l" indent="0" marL="0">
              <a:buNone/>
            </a:pPr>
            <a:endParaRPr lang="en-US" sz="1400" dirty="0"/>
          </a:p>
          <a:p>
            <a:pPr algn="l" indent="0" marL="0">
              <a:buNone/>
            </a:pPr>
            <a:r>
              <a:rPr lang="en-US" sz="900" dirty="0">
                <a:solidFill>
                  <a:srgbClr val="5E6B75"/>
                </a:solidFill>
                <a:latin typeface="Calibri" pitchFamily="34" charset="0"/>
                <a:ea typeface="Calibri" pitchFamily="34" charset="-122"/>
                <a:cs typeface="Calibri" pitchFamily="34" charset="-120"/>
              </a:rPr>
              <a:t>observe · events · steer · pause · resume · stop · artifacts · provenance · ingest_measurement · status · inflight · backtrack · request_human · submit_run · list_runs · run_result · await_run_result · cancel_run</a:t>
            </a:r>
            <a:endParaRPr lang="en-US" sz="1400" dirty="0"/>
          </a:p>
        </p:txBody>
      </p:sp>
      <p:sp>
        <p:nvSpPr>
          <p:cNvPr id="6" name="Shape 4"/>
          <p:cNvSpPr/>
          <p:nvPr/>
        </p:nvSpPr>
        <p:spPr>
          <a:xfrm>
            <a:off x="457200" y="2267712"/>
            <a:ext cx="3648456" cy="658368"/>
          </a:xfrm>
          <a:prstGeom prst="roundRect">
            <a:avLst>
              <a:gd name="adj" fmla="val 11111"/>
            </a:avLst>
          </a:prstGeom>
          <a:solidFill>
            <a:srgbClr val="FFFFFF"/>
          </a:solidFill>
          <a:ln w="19050">
            <a:solidFill>
              <a:srgbClr val="1E6470"/>
            </a:solidFill>
            <a:prstDash val="solid"/>
          </a:ln>
        </p:spPr>
      </p:sp>
      <p:sp>
        <p:nvSpPr>
          <p:cNvPr id="7" name="Text 5"/>
          <p:cNvSpPr txBox="1"/>
          <p:nvPr/>
        </p:nvSpPr>
        <p:spPr>
          <a:xfrm>
            <a:off x="530352"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in-process</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control/plane.py::InProcessControlPlane</a:t>
            </a:r>
            <a:endParaRPr lang="en-US" sz="1400" dirty="0"/>
          </a:p>
        </p:txBody>
      </p:sp>
      <p:sp>
        <p:nvSpPr>
          <p:cNvPr id="8" name="Shape 6"/>
          <p:cNvSpPr/>
          <p:nvPr/>
        </p:nvSpPr>
        <p:spPr>
          <a:xfrm>
            <a:off x="4270248" y="2267712"/>
            <a:ext cx="3648456" cy="658368"/>
          </a:xfrm>
          <a:prstGeom prst="roundRect">
            <a:avLst>
              <a:gd name="adj" fmla="val 11111"/>
            </a:avLst>
          </a:prstGeom>
          <a:solidFill>
            <a:srgbClr val="FFFFFF"/>
          </a:solidFill>
          <a:ln w="19050">
            <a:solidFill>
              <a:srgbClr val="1E6470"/>
            </a:solidFill>
            <a:prstDash val="solid"/>
          </a:ln>
        </p:spPr>
      </p:sp>
      <p:sp>
        <p:nvSpPr>
          <p:cNvPr id="9" name="Text 7"/>
          <p:cNvSpPr txBox="1"/>
          <p:nvPr/>
        </p:nvSpPr>
        <p:spPr>
          <a:xfrm>
            <a:off x="4343400"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HTTP + SSE</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control/http.py::ControlPlaneServer</a:t>
            </a:r>
            <a:endParaRPr lang="en-US" sz="1400" dirty="0"/>
          </a:p>
        </p:txBody>
      </p:sp>
      <p:sp>
        <p:nvSpPr>
          <p:cNvPr id="10" name="Shape 8"/>
          <p:cNvSpPr/>
          <p:nvPr/>
        </p:nvSpPr>
        <p:spPr>
          <a:xfrm>
            <a:off x="8083296" y="2267712"/>
            <a:ext cx="3648456" cy="658368"/>
          </a:xfrm>
          <a:prstGeom prst="roundRect">
            <a:avLst>
              <a:gd name="adj" fmla="val 11111"/>
            </a:avLst>
          </a:prstGeom>
          <a:solidFill>
            <a:srgbClr val="FFFFFF"/>
          </a:solidFill>
          <a:ln w="19050">
            <a:solidFill>
              <a:srgbClr val="5E6B75"/>
            </a:solidFill>
            <a:prstDash val="dash"/>
          </a:ln>
        </p:spPr>
      </p:sp>
      <p:sp>
        <p:nvSpPr>
          <p:cNvPr id="11" name="Text 9"/>
          <p:cNvSpPr txBox="1"/>
          <p:nvPr/>
        </p:nvSpPr>
        <p:spPr>
          <a:xfrm>
            <a:off x="8156448" y="2313432"/>
            <a:ext cx="3502152" cy="56692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MCP</a:t>
            </a:r>
            <a:endParaRPr lang="en-US" sz="1400" dirty="0"/>
          </a:p>
          <a:p>
            <a:pPr algn="ctr" indent="0" marL="0">
              <a:buNone/>
            </a:pPr>
            <a:endParaRPr lang="en-US" sz="1400" dirty="0"/>
          </a:p>
          <a:p>
            <a:pPr algn="ctr" indent="0" marL="0">
              <a:buNone/>
            </a:pPr>
            <a:r>
              <a:rPr lang="en-US" sz="900" dirty="0">
                <a:solidFill>
                  <a:srgbClr val="5E6B75"/>
                </a:solidFill>
                <a:latin typeface="Consolas" pitchFamily="34" charset="0"/>
                <a:ea typeface="Consolas" pitchFamily="34" charset="-122"/>
                <a:cs typeface="Consolas" pitchFamily="34" charset="-120"/>
              </a:rPr>
              <a:t>the same protocol, a third transport</a:t>
            </a:r>
            <a:endParaRPr lang="en-US" sz="1400" dirty="0"/>
          </a:p>
        </p:txBody>
      </p:sp>
      <p:sp>
        <p:nvSpPr>
          <p:cNvPr id="12" name="Shape 10"/>
          <p:cNvSpPr/>
          <p:nvPr/>
        </p:nvSpPr>
        <p:spPr>
          <a:xfrm>
            <a:off x="457200" y="3108960"/>
            <a:ext cx="5577840" cy="1554480"/>
          </a:xfrm>
          <a:prstGeom prst="rect">
            <a:avLst/>
          </a:prstGeom>
          <a:solidFill>
            <a:srgbClr val="E3F0F1"/>
          </a:solidFill>
          <a:ln w="12700">
            <a:solidFill>
              <a:srgbClr val="E3F0F1"/>
            </a:solidFill>
            <a:prstDash val="solid"/>
          </a:ln>
        </p:spPr>
      </p:sp>
      <p:sp>
        <p:nvSpPr>
          <p:cNvPr id="13" name="Text 11"/>
          <p:cNvSpPr txBox="1"/>
          <p:nvPr/>
        </p:nvSpPr>
        <p:spPr>
          <a:xfrm>
            <a:off x="585216" y="3191256"/>
            <a:ext cx="532180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observe() returns what a policy sees</a:t>
            </a:r>
            <a:endParaRPr lang="en-US" sz="1300" dirty="0"/>
          </a:p>
        </p:txBody>
      </p:sp>
      <p:sp>
        <p:nvSpPr>
          <p:cNvPr id="14" name="Text 12"/>
          <p:cNvSpPr txBox="1"/>
          <p:nvPr/>
        </p:nvSpPr>
        <p:spPr>
          <a:xfrm>
            <a:off x="585216" y="3502152"/>
            <a:ext cx="532180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same CampaignObservation object a policy's decide() receives — informed monitoring means parity of evidence, not a progress bar.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Admission is synchronous even over HTTP: 202 with a run id, or 409 with the gate and the reason that refused it.</a:t>
            </a:r>
            <a:endParaRPr lang="en-US" sz="1050" dirty="0"/>
          </a:p>
        </p:txBody>
      </p:sp>
      <p:sp>
        <p:nvSpPr>
          <p:cNvPr id="15" name="Shape 13"/>
          <p:cNvSpPr/>
          <p:nvPr/>
        </p:nvSpPr>
        <p:spPr>
          <a:xfrm>
            <a:off x="6245352" y="3108960"/>
            <a:ext cx="5486400" cy="1554480"/>
          </a:xfrm>
          <a:prstGeom prst="rect">
            <a:avLst/>
          </a:prstGeom>
          <a:solidFill>
            <a:srgbClr val="EEF2F5"/>
          </a:solidFill>
          <a:ln w="12700">
            <a:solidFill>
              <a:srgbClr val="EEF2F5"/>
            </a:solidFill>
            <a:prstDash val="solid"/>
          </a:ln>
        </p:spPr>
      </p:sp>
      <p:sp>
        <p:nvSpPr>
          <p:cNvPr id="16" name="Text 14"/>
          <p:cNvSpPr txBox="1"/>
          <p:nvPr/>
        </p:nvSpPr>
        <p:spPr>
          <a:xfrm>
            <a:off x="6373368" y="319125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admission cannot be deferred</a:t>
            </a:r>
            <a:endParaRPr lang="en-US" sz="1300" dirty="0"/>
          </a:p>
        </p:txBody>
      </p:sp>
      <p:sp>
        <p:nvSpPr>
          <p:cNvPr id="17" name="Text 15"/>
          <p:cNvSpPr txBox="1"/>
          <p:nvPr/>
        </p:nvSpPr>
        <p:spPr>
          <a:xfrm>
            <a:off x="6373368" y="3502152"/>
            <a:ext cx="523036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Accept-then-reject-later would sever a rejection from the request that caused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it cannot work anyway: the dry-run instantiates task agents, so admission has to happen where the toolkit is installed.</a:t>
            </a:r>
            <a:endParaRPr lang="en-US" sz="1050" dirty="0"/>
          </a:p>
        </p:txBody>
      </p:sp>
      <p:sp>
        <p:nvSpPr>
          <p:cNvPr id="18" name="Shape 16"/>
          <p:cNvSpPr/>
          <p:nvPr/>
        </p:nvSpPr>
        <p:spPr>
          <a:xfrm>
            <a:off x="457200" y="4800600"/>
            <a:ext cx="11274552" cy="1600200"/>
          </a:xfrm>
          <a:prstGeom prst="rect">
            <a:avLst/>
          </a:prstGeom>
          <a:solidFill>
            <a:srgbClr val="F9E0DD"/>
          </a:solidFill>
          <a:ln w="12700">
            <a:solidFill>
              <a:srgbClr val="F9E0DD"/>
            </a:solidFill>
            <a:prstDash val="solid"/>
          </a:ln>
        </p:spPr>
      </p:sp>
      <p:sp>
        <p:nvSpPr>
          <p:cNvPr id="19" name="Text 17"/>
          <p:cNvSpPr txBox="1"/>
          <p:nvPr/>
        </p:nvSpPr>
        <p:spPr>
          <a:xfrm>
            <a:off x="585216" y="4882896"/>
            <a:ext cx="110185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is still missing — backlog C5, C6, C7</a:t>
            </a:r>
            <a:endParaRPr lang="en-US" sz="1300" dirty="0"/>
          </a:p>
        </p:txBody>
      </p:sp>
      <p:sp>
        <p:nvSpPr>
          <p:cNvPr id="20" name="Text 18"/>
          <p:cNvSpPr txBox="1"/>
          <p:nvPr/>
        </p:nvSpPr>
        <p:spPr>
          <a:xfrm>
            <a:off x="585216" y="5193792"/>
            <a:ext cx="11018520" cy="11247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RemoteSession and the routes it needs are covered end to end, but only tests/ ever constructs a server. There is no impress-a serve and no impress-a reason, so the split is reachable from the suite and not from a shell.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Because of that, --model C builds an ExternalPolicy whose inbox can never be filled: it times out every 5 s and silently runs the model-D policy instead, while reporting itself as model C. It should refuse.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where the plane should live relative to the allocation is undecided — http.py is loopback, single trusted client, no auth, no TLS.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 four control models over one executor</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4552" cy="914400"/>
        </p:xfrm>
        <a:graphic>
          <a:graphicData uri="http://schemas.openxmlformats.org/drawingml/2006/table">
            <a:tbl>
              <a:tblPr/>
              <a:tblGrid>
                <a:gridCol w="457200"/>
                <a:gridCol w="2560320"/>
                <a:gridCol w="1371600"/>
                <a:gridCol w="4846320"/>
                <a:gridCol w="2039112"/>
              </a:tblGrid>
              <a:tr h="384048">
                <a:tc>
                  <a:txBody>
                    <a:bodyPr/>
                    <a:lstStyle/>
                    <a:p>
                      <a:pPr indent="0" marL="0">
                        <a:buNone/>
                      </a:pP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decide() works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Four-node agentic loop</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LangGraph graph: hypothesize → parameterize, auditable node by node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policy/agentic.py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Heavyweight LLM oracle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One structured call over rich campaign state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policy/oracle.py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External caller steering</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headless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Blocks on the control plane for a directive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policy/external.py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ctr" indent="0" marL="0">
                        <a:buNone/>
                      </a:pPr>
                      <a:r>
                        <a:rPr lang="en-US" sz="1100" b="1" dirty="0">
                          <a:solidFill>
                            <a:srgbClr val="22303C"/>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Explicit policy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autonomous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Rules, bandit, Bayesian optimization, or replay — fully reproducible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policy/explicit.py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383280"/>
            <a:ext cx="5577840" cy="1463040"/>
          </a:xfrm>
          <a:prstGeom prst="rect">
            <a:avLst/>
          </a:prstGeom>
          <a:solidFill>
            <a:srgbClr val="E9EDF7"/>
          </a:solidFill>
          <a:ln w="12700">
            <a:solidFill>
              <a:srgbClr val="E9EDF7"/>
            </a:solidFill>
            <a:prstDash val="solid"/>
          </a:ln>
        </p:spPr>
      </p:sp>
      <p:sp>
        <p:nvSpPr>
          <p:cNvPr id="6" name="Text 3"/>
          <p:cNvSpPr txBox="1"/>
          <p:nvPr/>
        </p:nvSpPr>
        <p:spPr>
          <a:xfrm>
            <a:off x="585216" y="3465576"/>
            <a:ext cx="532180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They compose rather than inherit</a:t>
            </a:r>
            <a:endParaRPr lang="en-US" sz="1300" dirty="0"/>
          </a:p>
        </p:txBody>
      </p:sp>
      <p:sp>
        <p:nvSpPr>
          <p:cNvPr id="7" name="Text 4"/>
          <p:cNvSpPr txBox="1"/>
          <p:nvPr/>
        </p:nvSpPr>
        <p:spPr>
          <a:xfrm>
            <a:off x="585216" y="3776472"/>
            <a:ext cx="532180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RuleCorrectionsPolicy wraps any policy in an unconditional external guard; LoggingPolicy wraps any policy for provenance. Decorators, not subclasses.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Writing a fifth is subclassing BasePolicy and implementing one method.</a:t>
            </a:r>
            <a:endParaRPr lang="en-US" sz="1050" dirty="0"/>
          </a:p>
        </p:txBody>
      </p:sp>
      <p:sp>
        <p:nvSpPr>
          <p:cNvPr id="8" name="Shape 5"/>
          <p:cNvSpPr/>
          <p:nvPr/>
        </p:nvSpPr>
        <p:spPr>
          <a:xfrm>
            <a:off x="6245352" y="3383280"/>
            <a:ext cx="5486400" cy="1463040"/>
          </a:xfrm>
          <a:prstGeom prst="rect">
            <a:avLst/>
          </a:prstGeom>
          <a:solidFill>
            <a:srgbClr val="EEF2F5"/>
          </a:solidFill>
          <a:ln w="12700">
            <a:solidFill>
              <a:srgbClr val="EEF2F5"/>
            </a:solidFill>
            <a:prstDash val="solid"/>
          </a:ln>
        </p:spPr>
      </p:sp>
      <p:sp>
        <p:nvSpPr>
          <p:cNvPr id="9" name="Text 6"/>
          <p:cNvSpPr txBox="1"/>
          <p:nvPr/>
        </p:nvSpPr>
        <p:spPr>
          <a:xfrm>
            <a:off x="6373368" y="3465576"/>
            <a:ext cx="52303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claim the whole design rests on</a:t>
            </a:r>
            <a:endParaRPr lang="en-US" sz="1300" dirty="0"/>
          </a:p>
        </p:txBody>
      </p:sp>
      <p:sp>
        <p:nvSpPr>
          <p:cNvPr id="10" name="Text 7"/>
          <p:cNvSpPr txBox="1"/>
          <p:nvPr/>
        </p:nvSpPr>
        <p:spPr>
          <a:xfrm>
            <a:off x="6373368" y="3776472"/>
            <a:ext cx="523036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below the policy layer is byte-identical across A, B, C and D. A campaign run by a hand-written rule cascade exercises the same machinery as one steered by a frontier LLM.</a:t>
            </a:r>
            <a:endParaRPr lang="en-US" sz="1050" dirty="0"/>
          </a:p>
        </p:txBody>
      </p:sp>
      <p:sp>
        <p:nvSpPr>
          <p:cNvPr id="11" name="Shape 8"/>
          <p:cNvSpPr/>
          <p:nvPr/>
        </p:nvSpPr>
        <p:spPr>
          <a:xfrm>
            <a:off x="457200" y="5029200"/>
            <a:ext cx="11274552" cy="1371600"/>
          </a:xfrm>
          <a:prstGeom prst="rect">
            <a:avLst/>
          </a:prstGeom>
          <a:solidFill>
            <a:srgbClr val="E4F1EA"/>
          </a:solidFill>
          <a:ln w="12700">
            <a:solidFill>
              <a:srgbClr val="E4F1EA"/>
            </a:solidFill>
            <a:prstDash val="solid"/>
          </a:ln>
        </p:spPr>
      </p:sp>
      <p:sp>
        <p:nvSpPr>
          <p:cNvPr id="12" name="Text 9"/>
          <p:cNvSpPr txBox="1"/>
          <p:nvPr/>
        </p:nvSpPr>
        <p:spPr>
          <a:xfrm>
            <a:off x="585216" y="5111496"/>
            <a:ext cx="1101852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editorial point, since Flowgentic's authors are here</a:t>
            </a:r>
            <a:endParaRPr lang="en-US" sz="1300" dirty="0"/>
          </a:p>
        </p:txBody>
      </p:sp>
      <p:sp>
        <p:nvSpPr>
          <p:cNvPr id="13" name="Text 10"/>
          <p:cNvSpPr txBox="1"/>
          <p:nvPr/>
        </p:nvSpPr>
        <p:spPr>
          <a:xfrm>
            <a:off x="585216" y="5422392"/>
            <a:ext cx="11018520"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outer loop is still ours, deliberately — it is just two coroutines now instead of one. Ceding it to a framework pushes the validation gates, the dry-run and the interlock into awkward places.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own README reaches the same conclusion: it recommends the augmented rung — the application owns the loop, agents are bound at decision points — over the fully agentic one.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IMPRESS-A: an agent that composes its own workflows</dc:title>
  <dc:subject>PptxGenJS Presentation</dc:subject>
  <dc:creator>IMPRESS-A</dc:creator>
  <cp:lastModifiedBy>IMPRESS-A</cp:lastModifiedBy>
  <cp:revision>1</cp:revision>
  <dcterms:created xsi:type="dcterms:W3CDTF">2026-10-07T04:06:58Z</dcterms:created>
  <dcterms:modified xsi:type="dcterms:W3CDTF">2026-10-07T04:06:58Z</dcterms:modified>
</cp:coreProperties>
</file>