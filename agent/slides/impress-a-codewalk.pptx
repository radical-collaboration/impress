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 there is no fixed pipeline anywhere in this repository, and most of the code I will show you exists because of that one fact. But "no fixed pipeline" is only interesting against something, and the something is in this room: the reference IMPRESS pipeline, which is adaptive, which works, and which has run at a scale we have not. The comparison all the way through is against a pipeline that is written down, not against no framework.
Three acts: what you can ask for, what it costs, and what it is usable as. I will name the weakest of the three in the next three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shape of a campaign, and then what one actually produced.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all four objectives with real values, admitted on the first attempt, cost measured per stage.
Right card, because you would ask and I would rather say it first. Every run we have ever done is a single lineage on one of four GPUs — their comparable runs carry sixteen to two hundred and fifty-six pipelines, so nothing in this deck is a throughput comparison. This node is suspect rather than pass because its pattern was provisional — the interlock working, not a failure. And no measurement has ever superseded a prediction, which is the one capability a composed graph has that a written-down one does not.
Read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What this is compared against. Not a blank page.
The reference IMPRESS pipeline does adaptive protein design at a scale we have not touched — twenty-four thousand task directories, nine hundred passing folds, no task failures on the clean runs. It also solved the thing we have not: eight pipelines per GPU takes utilisation from twelve percent to seventy and cuts cost per fold threefold. And its orchestration is not the overhead, at under two percent of the manager's wall clock.
So the question is not whether an adaptive pipeline works. It does. The question is what it costs to change one — the middle band, mined from their own code rather than quoted. The shape of the graph is nineteen assignments to next_step inside one decision function; the thresholds are a dataclass in the runner; the QC verdict is computed inside the coroutine that parses the output; the hook is a plain closure with full object access and no schema. One use case is fourteen hundred lines plus a runner — and the non-adaptive version of the same science is a hundred-line routing table, which is what a declarative rewrite actually looks like.
The bottom cards are why I think composition is worth the trouble, and they are their numbers. Their guided feedback, against its own parent fold, is flat — plus nought point nought one one pLDDT, p of nought point eight five. A cheap re-sampler, not a ratchet — and still worth having at four times cheaper per fold. And eight hundred passing folds are five hundred and ninety-six clusters: width buys independent searches, depth refines one.
The last line is owed rather than implied — that pipeline paid for lessons we inherited for free, including the storage fix in act two. And the half of it in their colour is owed too: these are their best figures, not their current ones. With the same decision function their own fastrelax rate fell sixty-four to forty-nine percent by October twenty-second, and binder length explains one point of fourteen. I am crediting the healthy period on purpose, and I am not using the rest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Three dimensions, because this audience arrives with three questions and each takes a different kind of evidence. The deck is three acts in that order: what you can ask for, what it costs in hardware and in yield, and what it is usable as.
I would rather name the weak one now than have it extracted at minute twenty-five. It is the middle column, and specifically performance at scale. Every performance number here comes from one lineage on one GPU — sixteen complete runs, all serial. Replicas greater than one has never executed, so the invariant that N lineages give N independent results is the piece most likely to be silently wrong.
And there is no head-to-head. I have their numbers and ours, on different hardware at different scales, and I will not divide one by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each with the file that implements it. A policy emits abstract intent, not a DAG. Everything is validated before it executes. Trust is scored on shape and has to be earned. Exit code is never evidence. And exactly one component writes state and decides when to stop.
The flip side at the bottom is the hinge of the talk. If a person reviewed every graph before it ran, you would write the DAG down once and schedule it, and most of this would stop paying for itself. That is not a strawman — it is the right answer under review, and next door it is fourteen hundred lines of pipeline class per use case that works. Act one is what you get for not writing it down; act two is what that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one: functionality. Not features — tasks. What can you ask this thing that you cannot ask an adaptive pipeline?
A goal rather than a pipeline. A tool that is a spec file, with its gates part of the spec. A control model you can swap without the layer below knowing.
The weakest claim in red, before the act rather than after it: every graph we have composed is the six-stage chain the reference pipeline already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Two coroutines meeting at a session, and the asymmetry between them is the point.
Left, a reasoner: observe, decide, submit, wait. Two ways to be one — implement decide and let a driver play the loop, which is what models A through D do, or implement conduct and drive yourself, collecting experiments in the order they finish. The second is what makes a federation of agents generating an ensemble in parallel expressible at all.
Right, the executor: admit, dispatch, reap, absorb, and the only writer of campaign state. Note what it is not: not the loop body with a policy called inside it. The reasoner is a peer.
The red arrow is the one people miss. A rejected submission does not burn the experiment — the policy gets a structured reason and another attempt, bounded twice, because a conduct reasoner is under no obligation to honour anything the driver promises.
Two rules hold it together: one writer, with every mutating block await-free so an observation is never taken mid-absorb;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Eight layers, and the thing worth looking at is in red: four arrows that do not exist. A policy may not import tools, exec or runtime; compose may not import exec. I draw them because an edge that is merely absent reads as an oversight, and this room will ask whether the rule is enforced or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first refusal wins. Gate two rejects a tool composed without its QC gates, so you cannot compose your way out of quality control. Gate four rejects a P6 tool somebody tried to schedule.
Then three things that are not gates: the interlock; a dry-run where every agent parameterizes without executing, which catches a graph that type-checks but cannot be turned into a command line; and a reservation. Reserve is last because the dry-run awaits, and by then another submission may have claimed the budget gate five saw.
The trust half on the right is the part a written-down pipeline has no need for. A pattern is the graph's shape, hashed, with parameter values deliberately excluded so tuning a parameter does not reset trust. A provisional shape is capped, forced through a dry-run, marked suspect whatever it scores, and may have only one instance in flight — promotion counts consecutive clean runs, and N concurrent copies are one draw sampled N times. Clean means no integrity gate failed; a design that merely scores badly fails its node but is not evidence against the shape. Counting it was why our five-cycle trust run promoted nothing.
And the limit, from our own limitations doc: this buys examination and delay, not soundness.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Adding a tool is a YAML file plus a subclass, never a change to the composer, validator or manager. If you have to touch those, the layering is wrong.
The spec declares typed ports, a compute pattern, resources, the metrics it reports, mandatory gates resolved by id from a shared library, and a cost model that feeds gate five. Loading is validating: an unknown gate id or a missing skill section is a load-time error, and a toolkit that fails anywhere registers nothing rather than a partial set.
The table at the bottom left is the comparison I think is defensible, and it is not about strictness. Here the verdict is declared in the tool's spec, resolved out of a shared gate library, mandatory for every scheduled tool, and a failed node can never reach the front whatever it scored. There it is computed inside the same coroutine that parses the output and read back out of pipeline state as a boolean called pass. Neither is unsafe — one can be left out by whoever writes the next stage, the other cannot.
Then the third row, which I want to say before anyone looks it up. On the two Rosetta stages we share, their thresholds are stricter than ours: total score under minus two-fifty, repulsion under a hundred, and an interaction energy we do not compute at all. So the claim is about where the verdict lives and whether it is optional — not about us being more careful. We are not, yet.
On the right, the tool that lies: it succeeds, reports designability of nought point nine one, and emits a structure with two percent secondary structure. One test asserts all three at once. The real toolkits have no equivalent, and that is ask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two: performance — both kinds, because hardware cost and scientific yield are not linear in each other.
The loop is not the cost. The failures that eat allocations are bounded in code, both ends of the backend lifecycle. And the headroom is not orchestration: tasks fill ninety-five percent of elapsed, so what is idle is three of four GPUs.
In red: no serial baseline and no head-to-head. Nothing in this act divides into a speedup.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slide I would defend hardest, and it is four lines of real code.
A task graph is plain data. To run it, one generic factory builds a closure per node, sets its dunder-name to the node id, and hands it to asyncflow's function_task decorator. That is the whole adapter — no codegen, no templating. And setting dunder-name first is not a trick: the decorators take no name keyword, so this is exactly what lets one factory serve every node of every graph. The closure binds workdir to a local rather than reaching through self, because it gets pickled to a process pool and self would drag the dispatcher along with it.
Second block, submission. Walk the graph topologically, pass each dependency's unawaited future as an argument — that is how you express an edge — build a gather with return_exceptions, and return without awaiting. That one change is what let the reasoner stop being the loop body. Two idioms, not interchangeable: unawaited futures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second half of the seam is construction, and this is where the expensive lessons are.
Three things in make_engine_bounded are load-bearing. Only the synchronous construction goes to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is what registers the task states. Construct one synchronously and it appears to work, then fails much later with "backend not registered, available backends: empty list".
The right column is what each lesson cost. Two full allocations went to an engine built on a throwaway loop — asyncflow captures the running loop in its constructor and puts its dispatch task on it, so an engine built on a closed loop looks fine and dispatches nothing. One two-hour allocation went entirely to Dragon's Batch constructor, which blocks the loop, so our own heartbeat never fired once.
And the most expensive item is teardown, not startup: on the reference pipeline, shutdown never returned after the science had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measured half of the act, and the figure is deliberately about one variable.
Two bars: the median untrusted run and the median trusted run, split into time inside a task and time anywhere else. Everything else means dispatch, absorb, QC, the Pareto update, provenance and the durable ledger — all of it a median of two point eight seconds out of a hundred and sixty. And the comparison is the point: running untrusted, which means a forced dry-run, a cost cap and a suspect verdict whatever it scores, costs zero point zero seconds, interval minus nought point nine to plus one point two. The scrutiny is free, and that is measured rather than argued.
Underneath, the cost models: nought point one seven GPU-hours declared per chain against nought point oh two nine measured. Every declared figure is at least two and a quarter times the worst task observed, because gate five and the untrusted cap refuse graphs against those numbers. Headroom is not inefficiency.
The red card is written as refusals, not apologies. No serial baseline, so nothing here is a speedup. GPU utilisation is recorded nowhere, so seventeen percent is an upper bound with model load inside it.
And the band is the conclusion: the loop costs about two percent and the hardware is eighty-three percent idle. The next real gain is not in this orchestrator — it is giving the other three GPUs work, which is ask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Seven jobs, and the figure at the top is really about one variable.
Top row, the HDD baseline: diffusion 137 seconds, sequence design 293, and then packmin could not finish importing PyRosetta inside its three-hundred-second budget, so nothing downstream ran. Middle row, the same campaign with one thing changed — the virtual environment moved to NVMe. Sequence design went from 293 seconds to 18, packmin from not finishing to sixteen.
The reason is on the right. Importing PyRosetta off that filesystem costs 471 seconds, a 598-megabyte shared object demand-paged; torch is another 280. On NVMe both are seconds. That was the single largest cost this project was paying, it was invisible because it looked like a tool timing out — and we did not find it. The fix is ported from their PR sixty-seven.
Bottom right, the caveat for anyone reading our cost models: diffusion took 146 seconds in one job and 45 in the next, same campaign, same parameters. Those numbers feed gates that refuse graphs, so they sit deliberately above measurement.
The table underneath is three later jobs that changed nothing about the science and asked one question — does the shape earn trust. The first ran thirty tasks out of thirty cleanly and promoted nothing, because we were counting design quality as evidence about the workflow. With only integrity gates counting, the same chain promoted after its second run in both later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slide worth the most in this act, and almost none of it is our data.
Top left: their search improves and then stops. Median pLDDT by episode tercile goes ninety point seven, ninety-five point two, ninety-five point oh — plus four and a half, then minus nought point two. Depth buys you something and then it buys you nothing, and they have the sample size to say so where we do not.
Bottom left is the pair worth staring at. Their eight hundred and four passing folds are five hundred and ninety-six clusters — seventy-four percent independent. Our seventeen designs cluster into five structural groups: twenty-nine percent. We are the worse number. Both analyses overcount their own yield, and both point at the same lever: width, not depth.
Right side is what this project does about it, and the dotted borders are doing the work. Replicas-N means N independent lineages, one node each, and the executor never funnels them back into one candidate. The front is deliberately not monotonic, so a node promoted on an optimistic prediction gets demoted by its own assay. Trust is scored on shape, so breadth has an identity of its own.
All of it dotted — written, typed, unit-tested, and never executed on real tools; the only lineages that have run are mock ones. And the cheap route is closed: the signature includes replica multiplicity, so trust earned at one lineage does not transfer to four. A four-lineage graph arrives untrusted, under a cap it already exceeds. That is ask five.
And the second half of that box is newer than the rest of this deck. The same archive, re-derived at five packing rungs with one policy held fixed: packing alone is worth five and a half times on backbones per node-hour, against about three times for the best decision layer anybody has run. Nobody has had both. We run one lineage on one of four GPUs — the cheap lever, un-pulled.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defects reached real hardware, each invisible to a dry run. The pattern across them is more useful than any one.
The first two as a pair: one picked the wrong file of the right extension, the other died in its module-level imports before parsing a single argument we passed it. No contract check we had could see either. Then the storage story from the last slide — where the queued fix was to raise three walltimes six-fold, which would have hidden a 471-second import behind a timeout.
And the subtle one: an estimate that refuses work. Our cost models were literature guesses six to sixty-nine times over reality, and gate five and the interlock cap refuse graphs against those numbers. The inflated GPU side summed past the cap, so the policy truncated the last stage off the chain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Two findings about the trust ledger, and the second is open.
The first: the ledger path was relative to the campaign root, and the Delta launcher changes into a per-job directory, so it resolved inside each job and started empty every time — while promotion counts three consecutive clean runs within one file.
What is worth your time is how it hid. Nothing logged where the ledger was, so a file that silently reset looked exactly like one that had not earned promotion yet, and I reported it that way. It had been true since the first Delta job, which is why the trusted path did not execute until 22726105. The fix did more than stop the reset: the ledger is site-wide now, so evidence accumulates across jobs — which is why promotion came a run early and the job after it ran three trusted cycles clean.
The second I hit while generating these numbers, and I have not changed the code. The signature emits one string per node, so N lineages give N duplicate parts and the hash moves with the replica count — though it deliberately does not move when you tune a parameter. The cost is concrete: the cheap route to four lineages was to promote at one and then widen. It does not work. Four is a different, untrusted pattern, still capped, still refused, and the policy would quietly shrink it to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Act three: usability — the short act, which is information rather than a problem.
As an application, yes. As a platform, yes, and the seam is not the command line. As a component in someone else's workflow: no evidence, because nothing else has ever driven it.
And in red — because serve and reason do not exist, asking for the headless control model silently gives you the explicit one and reports it as headless.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Act three, and the easy claim first: as an application this is one YAML and one command.
The command worth pointing at is preflight — it checks the container path, the checkpoints, the Boltz cache, whether PyRosetta imports, and whether the virtual environment is still on slow storage, all on a login node before you spend a queue slot.
The split that matters is that the entire local tier runs on a laptop in about fifteen seconds with no allocation: a complete campaign with a real manager, real policies, a real composer and validator, stubbed science. The corollary is the uncomfortable half — everything only verifiable on HPC is unverified.
One convention worth stealing: a magic number in a test is often a bug report. A stagnation limit of ten thousand appeared in three tests before anyone noticed the defect was in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And as a platform — the more interesting claim, because the seam someone else plugs into is not the command line.
One protocol, nineteen operations, adapters that translate transport only. The decision worth stating is that observe returns the same observation object a policy's decide receives: informed monitoring means parity of evidence, not a progress bar.
Admission is synchronous even over HTTP — a 202 with a run id, or a 409 with the gate and the reason. That is not a style choice. Accepting and rejecting later would sever a rejection from the request that caused it, and it cannot work anyway, because the dry-run instantiates task agents and has to run where the toolkit is installed.
The gap is honest and annoying: all of this is reachable from the test suite and not from a shell. There is no serve command and no reason command, so model C fails open — it builds a policy whose inbox nothing can fill, times out every five seconds, and runs the model-D cascade while reporting itself as model C.
Which is also the answer to the third use case. As a component in someone else's workflow there is no evidence at all: nothing external has ever driven a campaign outside tests, there is no resume, and the site files are read by no code. One of your pipelines running as a tool of ours would be the obvious proof, and that is the P7 row with no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I will not compress this slide, because an audience that catches you overclaiming stops believing everything else. Three columns, three green rows and three red rows each, and the equal lengths are the argument.
Functionality: a real six-stage campaign end to end, the whole engine, four control models over one executor, and adding a tool has never touched the composer. Against that — replicas greater than one has never run on real tools; no measurement has superseded a prediction, which is exactly the capability a composed graph has and a written-down one does not; and six of the eight compute patterns have no member, including the one reserved for running their pipeline as one of ours.
Performance: the trusted path promoted after the second run and held three cycles with no safety net; the scrutiny is measured and free; both ends of the Dragon lifecycle bounded against real lost allocations. Against that — no serial baseline; one GPU of four ever works; and no node has reached a plain pass, which wants more draws rather than more code.
Usability: one YAML and one command, the local tier with no allocation, runtime-discovered toolkits, a reasoner in another process. Against that — no resume, no serve or reason command so the headless model lies about which model it is, and the site files are read by nothing.
Sixteen complete runs, the trusted path held, and every one of them one lineage on a system built for 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I would rather end on questions than a summary, and they are grouped by what each one costs rather than by who owns it.
Left column, things that produce a wrong answer or burn an allocation. One: a worker exception that cannot be unpickled takes out a whole monitor sweep rather than one task, so a failing run reaches no terminal state and sits in flight until the wall clock. Our half is fixed; the handler around get_stdout catches only OSError, and I think it wants to catch Exception and fail the single task.
Two and three are shorter. Batch stalled for two hours and we still do not know why; it is bounded now, so we fail in minutes instead of losing an allocation — what should we instrument? And can a running task's GPU ever be reclaimed at all?
Seven is the new one, and it comes out of your numbers. You take GPU utilisation from twelve percent to seventy by packing eight pipelines onto a GPU; we are at seventeen with three idle. Is that expressible in a rhapsody resource shape, or does it need Dragon placement we do not control? It is the largest performance number on our table and I do not know whether it is reachable from where we sit.
Right column, things paid by whoever picks this stack up next. Workflow_id tags every task but nothing looks tasks up by it. Does breadth belong in a pattern's identity? And for the domain people: every real gate we have is a threshold on a number the tool reports about itself, while you gate on clash counts and an interaction energy we never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The first row was refused by the interlock — a provisional pattern is capped at ten percent of available budget and three lineages did not fit. The policy shrank to two and resubmitted. That is the retry doing its job: a refusal costs an attempt, not the experiment.
Every design node is marked suspect, because the shape is provisional while it runs. Promotion takes three clean runs, and the card on the right says whether this one got there before the front target stopped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P7 deserves singling out in this room, because it is the pattern reserved for running one of their pipelines as a single tool of ours — parameterize it, observe it, never steer inside it. It has no member. So if you have heard me say IMPRESS becomes one of our tools, that is a contract and a taxonomy entry, not something that has happened.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Composing the pipeline instead of writing it down</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what that buys over an adaptive pipeline that already works, what it costs, and which of the three I cannot yet show you</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all four objectives valued. Job 22728140: the same shape promoted, then 3 consecutive trusted cycles with no demotion</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in three acts · agent/ · slides/impress-a-api-user-slides @ bf32d1d · 6.6k lines of source, 168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run so far is ONE lineage, on ONE of four GPUs. The reference pipeline's comparable runs carry 16 to 256 concurrent pipelines, so this is not a scale result and nothing here is a throughput comparison.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node has reached plain pass. This one is suspect because its pattern was still provisional; all 5 trusted nodes since missed an acceptance threshold instead.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 the one thing a composed graph gets that a written-down one does not —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8A6A3B"/>
                </a:solidFill>
                <a:latin typeface="Calibri" pitchFamily="34" charset="0"/>
                <a:ea typeface="Calibri" pitchFamily="34" charset="-122"/>
                <a:cs typeface="Calibri" pitchFamily="34" charset="-120"/>
              </a:rPr>
              <a:t>WHAT WE ARE COMPARED AGAINST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baseline is not a blank page</a:t>
            </a:r>
            <a:endParaRPr lang="en-US" sz="2800" dirty="0"/>
          </a:p>
        </p:txBody>
      </p:sp>
      <p:sp>
        <p:nvSpPr>
          <p:cNvPr id="4" name="Shape 2"/>
          <p:cNvSpPr/>
          <p:nvPr/>
        </p:nvSpPr>
        <p:spPr>
          <a:xfrm>
            <a:off x="457200" y="1261872"/>
            <a:ext cx="11274552" cy="1609344"/>
          </a:xfrm>
          <a:prstGeom prst="rect">
            <a:avLst/>
          </a:prstGeom>
          <a:solidFill>
            <a:srgbClr val="F5EEE2"/>
          </a:solidFill>
          <a:ln w="19050">
            <a:solidFill>
              <a:srgbClr val="8A6A3B"/>
            </a:solidFill>
            <a:prstDash val="solid"/>
          </a:ln>
        </p:spPr>
      </p:sp>
      <p:sp>
        <p:nvSpPr>
          <p:cNvPr id="5" name="Text 3"/>
          <p:cNvSpPr txBox="1"/>
          <p:nvPr/>
        </p:nvSpPr>
        <p:spPr>
          <a:xfrm>
            <a:off x="603504" y="1325880"/>
            <a:ext cx="6949440" cy="274320"/>
          </a:xfrm>
          <a:prstGeom prst="rect">
            <a:avLst/>
          </a:prstGeom>
          <a:noFill/>
          <a:ln/>
        </p:spPr>
        <p:txBody>
          <a:bodyPr wrap="square" lIns="0" tIns="0" rIns="0" bIns="0" rtlCol="0" anchor="t"/>
          <a:lstStyle/>
          <a:p>
            <a:pPr indent="0" marL="0">
              <a:buNone/>
            </a:pPr>
            <a:r>
              <a:rPr lang="en-US" sz="1300" b="1" dirty="0">
                <a:solidFill>
                  <a:srgbClr val="8A6A3B"/>
                </a:solidFill>
                <a:latin typeface="Calibri" pitchFamily="34" charset="0"/>
                <a:ea typeface="Calibri" pitchFamily="34" charset="-122"/>
                <a:cs typeface="Calibri" pitchFamily="34" charset="-120"/>
              </a:rPr>
              <a:t>IMPRESS, the reference adaptive pipeline — what it already does</a:t>
            </a:r>
            <a:endParaRPr lang="en-US" sz="1300" dirty="0"/>
          </a:p>
        </p:txBody>
      </p:sp>
      <p:sp>
        <p:nvSpPr>
          <p:cNvPr id="6" name="Text 4"/>
          <p:cNvSpPr txBox="1"/>
          <p:nvPr/>
        </p:nvSpPr>
        <p:spPr>
          <a:xfrm>
            <a:off x="7680960" y="1325880"/>
            <a:ext cx="3931920" cy="274320"/>
          </a:xfrm>
          <a:prstGeom prst="rect">
            <a:avLst/>
          </a:prstGeom>
          <a:noFill/>
          <a:ln/>
        </p:spPr>
        <p:txBody>
          <a:bodyPr wrap="square" lIns="0" tIns="0" rIns="0" bIns="0" rtlCol="0" anchor="t"/>
          <a:lstStyle/>
          <a:p>
            <a:pPr algn="r" indent="0" marL="0">
              <a:buNone/>
            </a:pPr>
            <a:r>
              <a:rPr lang="en-US" sz="1000" i="1" dirty="0">
                <a:solidFill>
                  <a:srgbClr val="5E6B75"/>
                </a:solidFill>
                <a:latin typeface="Calibri" pitchFamily="34" charset="0"/>
                <a:ea typeface="Calibri" pitchFamily="34" charset="-122"/>
                <a:cs typeface="Calibri" pitchFamily="34" charset="-120"/>
              </a:rPr>
              <a:t>A40, 1-8 nodes, 8-256 pipelines</a:t>
            </a:r>
            <a:endParaRPr lang="en-US" sz="1000" dirty="0"/>
          </a:p>
        </p:txBody>
      </p:sp>
      <p:sp>
        <p:nvSpPr>
          <p:cNvPr id="7" name="Text 5"/>
          <p:cNvSpPr txBox="1"/>
          <p:nvPr/>
        </p:nvSpPr>
        <p:spPr>
          <a:xfrm>
            <a:off x="603504"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24,026</a:t>
            </a:r>
            <a:endParaRPr lang="en-US" sz="2200" dirty="0"/>
          </a:p>
        </p:txBody>
      </p:sp>
      <p:sp>
        <p:nvSpPr>
          <p:cNvPr id="8" name="Text 6"/>
          <p:cNvSpPr txBox="1"/>
          <p:nvPr/>
        </p:nvSpPr>
        <p:spPr>
          <a:xfrm>
            <a:off x="603504"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task directories, 4 campaigns</a:t>
            </a:r>
            <a:endParaRPr lang="en-US" sz="950" dirty="0"/>
          </a:p>
        </p:txBody>
      </p:sp>
      <p:sp>
        <p:nvSpPr>
          <p:cNvPr id="9" name="Text 7"/>
          <p:cNvSpPr txBox="1"/>
          <p:nvPr/>
        </p:nvSpPr>
        <p:spPr>
          <a:xfrm>
            <a:off x="2779776"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913</a:t>
            </a:r>
            <a:endParaRPr lang="en-US" sz="2200" dirty="0"/>
          </a:p>
        </p:txBody>
      </p:sp>
      <p:sp>
        <p:nvSpPr>
          <p:cNvPr id="10" name="Text 8"/>
          <p:cNvSpPr txBox="1"/>
          <p:nvPr/>
        </p:nvSpPr>
        <p:spPr>
          <a:xfrm>
            <a:off x="2779776"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passing folds, 0 task failures</a:t>
            </a:r>
            <a:endParaRPr lang="en-US" sz="950" dirty="0"/>
          </a:p>
        </p:txBody>
      </p:sp>
      <p:sp>
        <p:nvSpPr>
          <p:cNvPr id="11" name="Text 9"/>
          <p:cNvSpPr txBox="1"/>
          <p:nvPr/>
        </p:nvSpPr>
        <p:spPr>
          <a:xfrm>
            <a:off x="4956048"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267.9</a:t>
            </a:r>
            <a:endParaRPr lang="en-US" sz="2200" dirty="0"/>
          </a:p>
        </p:txBody>
      </p:sp>
      <p:sp>
        <p:nvSpPr>
          <p:cNvPr id="12" name="Text 10"/>
          <p:cNvSpPr txBox="1"/>
          <p:nvPr/>
        </p:nvSpPr>
        <p:spPr>
          <a:xfrm>
            <a:off x="4956048"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GPU-hours billed</a:t>
            </a:r>
            <a:endParaRPr lang="en-US" sz="950" dirty="0"/>
          </a:p>
        </p:txBody>
      </p:sp>
      <p:sp>
        <p:nvSpPr>
          <p:cNvPr id="13" name="Text 11"/>
          <p:cNvSpPr txBox="1"/>
          <p:nvPr/>
        </p:nvSpPr>
        <p:spPr>
          <a:xfrm>
            <a:off x="7132320"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71%</a:t>
            </a:r>
            <a:endParaRPr lang="en-US" sz="2200" dirty="0"/>
          </a:p>
        </p:txBody>
      </p:sp>
      <p:sp>
        <p:nvSpPr>
          <p:cNvPr id="14" name="Text 12"/>
          <p:cNvSpPr txBox="1"/>
          <p:nvPr/>
        </p:nvSpPr>
        <p:spPr>
          <a:xfrm>
            <a:off x="7132320"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 busy at 8 pipelines per GPU (12% at one)</a:t>
            </a:r>
            <a:endParaRPr lang="en-US" sz="950" dirty="0"/>
          </a:p>
        </p:txBody>
      </p:sp>
      <p:sp>
        <p:nvSpPr>
          <p:cNvPr id="15" name="Text 13"/>
          <p:cNvSpPr txBox="1"/>
          <p:nvPr/>
        </p:nvSpPr>
        <p:spPr>
          <a:xfrm>
            <a:off x="9308592" y="1645920"/>
            <a:ext cx="2048256" cy="384048"/>
          </a:xfrm>
          <a:prstGeom prst="rect">
            <a:avLst/>
          </a:prstGeom>
          <a:noFill/>
          <a:ln/>
        </p:spPr>
        <p:txBody>
          <a:bodyPr wrap="square" lIns="0" tIns="0" rIns="0" bIns="0" rtlCol="0" anchor="t"/>
          <a:lstStyle/>
          <a:p>
            <a:pPr indent="0" marL="0">
              <a:buNone/>
            </a:pPr>
            <a:r>
              <a:rPr lang="en-US" sz="2200" b="1" dirty="0">
                <a:solidFill>
                  <a:srgbClr val="8A6A3B"/>
                </a:solidFill>
                <a:latin typeface="Cambria" pitchFamily="34" charset="0"/>
                <a:ea typeface="Cambria" pitchFamily="34" charset="-122"/>
                <a:cs typeface="Cambria" pitchFamily="34" charset="-120"/>
              </a:rPr>
              <a:t>0.053</a:t>
            </a:r>
            <a:endParaRPr lang="en-US" sz="2200" dirty="0"/>
          </a:p>
        </p:txBody>
      </p:sp>
      <p:sp>
        <p:nvSpPr>
          <p:cNvPr id="16" name="Text 14"/>
          <p:cNvSpPr txBox="1"/>
          <p:nvPr/>
        </p:nvSpPr>
        <p:spPr>
          <a:xfrm>
            <a:off x="9308592" y="2029968"/>
            <a:ext cx="2048256" cy="4572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GPU-h per passing fold (from 0.159)</a:t>
            </a:r>
            <a:endParaRPr lang="en-US" sz="950" dirty="0"/>
          </a:p>
        </p:txBody>
      </p:sp>
      <p:sp>
        <p:nvSpPr>
          <p:cNvPr id="17" name="Text 15"/>
          <p:cNvSpPr txBox="1"/>
          <p:nvPr/>
        </p:nvSpPr>
        <p:spPr>
          <a:xfrm>
            <a:off x="603504" y="2359152"/>
            <a:ext cx="10972800" cy="420624"/>
          </a:xfrm>
          <a:prstGeom prst="rect">
            <a:avLst/>
          </a:prstGeom>
          <a:noFill/>
          <a:ln/>
        </p:spPr>
        <p:txBody>
          <a:bodyPr wrap="square" lIns="0" tIns="0" rIns="0" bIns="0" rtlCol="0" anchor="t"/>
          <a:lstStyle/>
          <a:p>
            <a:pPr indent="0" marL="0">
              <a:buNone/>
            </a:pPr>
            <a:r>
              <a:rPr lang="en-US" sz="1000" b="1" dirty="0">
                <a:solidFill>
                  <a:srgbClr val="22303C"/>
                </a:solidFill>
                <a:latin typeface="Calibri" pitchFamily="34" charset="0"/>
                <a:ea typeface="Calibri" pitchFamily="34" charset="-122"/>
                <a:cs typeface="Calibri" pitchFamily="34" charset="-120"/>
              </a:rPr>
              <a:t>Its orchestration is not the overhead either: </a:t>
            </a:r>
            <a:pPr indent="0" marL="0">
              <a:buNone/>
            </a:pPr>
            <a:r>
              <a:rPr lang="en-US" sz="1000" dirty="0">
                <a:solidFill>
                  <a:srgbClr val="22303C"/>
                </a:solidFill>
                <a:latin typeface="Calibri" pitchFamily="34" charset="0"/>
                <a:ea typeface="Calibri" pitchFamily="34" charset="-122"/>
                <a:cs typeface="Calibri" pitchFamily="34" charset="-120"/>
              </a:rPr>
              <a:t>the adaptive callback is 0%–2% of the manager's wall clock and backend dispatch has a median of 0.001s, and its pipelines are busy 96%–98% of the time.</a:t>
            </a:r>
            <a:endParaRPr lang="en-US" sz="1000" dirty="0"/>
          </a:p>
        </p:txBody>
      </p:sp>
      <p:sp>
        <p:nvSpPr>
          <p:cNvPr id="18" name="Text 16"/>
          <p:cNvSpPr txBox="1"/>
          <p:nvPr/>
        </p:nvSpPr>
        <p:spPr>
          <a:xfrm>
            <a:off x="457200" y="2944368"/>
            <a:ext cx="11274552"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And what it costs to change it: </a:t>
            </a:r>
            <a:pPr indent="0" marL="0">
              <a:buNone/>
            </a:pPr>
            <a:r>
              <a:rPr lang="en-US" sz="1200" dirty="0">
                <a:solidFill>
                  <a:srgbClr val="22303C"/>
                </a:solidFill>
                <a:latin typeface="Calibri" pitchFamily="34" charset="0"/>
                <a:ea typeface="Calibri" pitchFamily="34" charset="-122"/>
                <a:cs typeface="Calibri" pitchFamily="34" charset="-120"/>
              </a:rPr>
              <a:t>one use case is a 1,362-line pipeline class plus a 575-line runner; its non-adaptive variant is 110 lines.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255264"/>
          <a:ext cx="11274552" cy="914400"/>
        </p:xfrm>
        <a:graphic>
          <a:graphicData uri="http://schemas.openxmlformats.org/drawingml/2006/table">
            <a:tbl>
              <a:tblPr/>
              <a:tblGrid>
                <a:gridCol w="2286000"/>
                <a:gridCol w="6720840"/>
                <a:gridCol w="2267712"/>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 the pipeline's shape lives</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is actually written down</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8A6A3B"/>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stage graph</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19 next_step assignments in one 236-line decision function, over 7 STEP_ constants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750" dirty="0">
                          <a:solidFill>
                            <a:srgbClr val="5E6B75"/>
                          </a:solidFill>
                          <a:latin typeface="Consolas" pitchFamily="34" charset="0"/>
                          <a:ea typeface="Consolas" pitchFamily="34" charset="-122"/>
                          <a:cs typeface="Consolas" pitchFamily="34" charset="-120"/>
                        </a:rPr>
                        <a:t>run_small_molecule_binding.py:191</a:t>
                      </a:r>
                      <a:endParaRPr lang="en-US" sz="7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thresholds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PROD dataclass in the runner — fa_rep &lt; 100, total_score &lt; -250, interaction_energy &lt; -8</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5E6B75"/>
                          </a:solidFill>
                          <a:latin typeface="Consolas" pitchFamily="34" charset="0"/>
                          <a:ea typeface="Consolas" pitchFamily="34" charset="-122"/>
                          <a:cs typeface="Consolas" pitchFamily="34" charset="-120"/>
                        </a:rPr>
                        <a:t>…:63</a:t>
                      </a:r>
                      <a:endParaRPr lang="en-US" sz="7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QC verdict</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computed inside the coroutine that parses the output, then read back out of pipeline.state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750" dirty="0">
                          <a:solidFill>
                            <a:srgbClr val="5E6B75"/>
                          </a:solidFill>
                          <a:latin typeface="Consolas" pitchFamily="34" charset="0"/>
                          <a:ea typeface="Consolas" pitchFamily="34" charset="-122"/>
                          <a:cs typeface="Consolas" pitchFamily="34" charset="-120"/>
                        </a:rPr>
                        <a:t>small_molecule_binding.py:1074</a:t>
                      </a:r>
                      <a:endParaRPr lang="en-US" sz="7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5603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the adaptive hook</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plain Python closure with full object access, defined in the runner script</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750" dirty="0">
                          <a:solidFill>
                            <a:srgbClr val="5E6B75"/>
                          </a:solidFill>
                          <a:latin typeface="Consolas" pitchFamily="34" charset="0"/>
                          <a:ea typeface="Consolas" pitchFamily="34" charset="-122"/>
                          <a:cs typeface="Consolas" pitchFamily="34" charset="-120"/>
                        </a:rPr>
                        <a:t>briefs/impress.md:112</a:t>
                      </a:r>
                      <a:endParaRPr lang="en-US" sz="7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4846320"/>
            <a:ext cx="5559552" cy="1078992"/>
          </a:xfrm>
          <a:prstGeom prst="rect">
            <a:avLst/>
          </a:prstGeom>
          <a:solidFill>
            <a:srgbClr val="F5EEE2"/>
          </a:solidFill>
          <a:ln w="12700">
            <a:solidFill>
              <a:srgbClr val="F5EEE2"/>
            </a:solidFill>
            <a:prstDash val="solid"/>
          </a:ln>
        </p:spPr>
      </p:sp>
      <p:sp>
        <p:nvSpPr>
          <p:cNvPr id="21" name="Text 18"/>
          <p:cNvSpPr txBox="1"/>
          <p:nvPr/>
        </p:nvSpPr>
        <p:spPr>
          <a:xfrm>
            <a:off x="585216" y="4928616"/>
            <a:ext cx="5303520" cy="274320"/>
          </a:xfrm>
          <a:prstGeom prst="rect">
            <a:avLst/>
          </a:prstGeom>
          <a:noFill/>
          <a:ln/>
        </p:spPr>
        <p:txBody>
          <a:bodyPr wrap="square" lIns="0" tIns="0" rIns="0" bIns="0" rtlCol="0" anchor="t"/>
          <a:lstStyle/>
          <a:p>
            <a:pPr indent="0" marL="0">
              <a:buNone/>
            </a:pPr>
            <a:r>
              <a:rPr lang="en-US" sz="1150" b="1" dirty="0">
                <a:solidFill>
                  <a:srgbClr val="8A6A3B"/>
                </a:solidFill>
                <a:latin typeface="Calibri" pitchFamily="34" charset="0"/>
                <a:ea typeface="Calibri" pitchFamily="34" charset="-122"/>
                <a:cs typeface="Calibri" pitchFamily="34" charset="-120"/>
              </a:rPr>
              <a:t>Its adaptivity is a re-sampler, not a ratchet</a:t>
            </a:r>
            <a:endParaRPr lang="en-US" sz="1150" dirty="0"/>
          </a:p>
        </p:txBody>
      </p:sp>
      <p:sp>
        <p:nvSpPr>
          <p:cNvPr id="22" name="Text 19"/>
          <p:cNvSpPr txBox="1"/>
          <p:nvPr/>
        </p:nvSpPr>
        <p:spPr>
          <a:xfrm>
            <a:off x="585216" y="5239512"/>
            <a:ext cx="5303520" cy="60350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 guided child against its OWN parent fold: ΔpLDDT +0.011, better in 51% of 602 pairs, p = 0.85. Depth plateaus by the middle third (90.7 → 95.2 → 95). Still worth having: 8.1 tasks per fold against 34.8 from scratch.</a:t>
            </a:r>
            <a:endParaRPr lang="en-US" sz="950" dirty="0"/>
          </a:p>
        </p:txBody>
      </p:sp>
      <p:sp>
        <p:nvSpPr>
          <p:cNvPr id="23" name="Shape 20"/>
          <p:cNvSpPr/>
          <p:nvPr/>
        </p:nvSpPr>
        <p:spPr>
          <a:xfrm>
            <a:off x="6172200" y="4846320"/>
            <a:ext cx="5559552" cy="1078992"/>
          </a:xfrm>
          <a:prstGeom prst="rect">
            <a:avLst/>
          </a:prstGeom>
          <a:solidFill>
            <a:srgbClr val="F5EEE2"/>
          </a:solidFill>
          <a:ln w="12700">
            <a:solidFill>
              <a:srgbClr val="F5EEE2"/>
            </a:solidFill>
            <a:prstDash val="solid"/>
          </a:ln>
        </p:spPr>
      </p:sp>
      <p:sp>
        <p:nvSpPr>
          <p:cNvPr id="24" name="Text 21"/>
          <p:cNvSpPr txBox="1"/>
          <p:nvPr/>
        </p:nvSpPr>
        <p:spPr>
          <a:xfrm>
            <a:off x="6300216" y="4928616"/>
            <a:ext cx="5303520" cy="274320"/>
          </a:xfrm>
          <a:prstGeom prst="rect">
            <a:avLst/>
          </a:prstGeom>
          <a:noFill/>
          <a:ln/>
        </p:spPr>
        <p:txBody>
          <a:bodyPr wrap="square" lIns="0" tIns="0" rIns="0" bIns="0" rtlCol="0" anchor="t"/>
          <a:lstStyle/>
          <a:p>
            <a:pPr indent="0" marL="0">
              <a:buNone/>
            </a:pPr>
            <a:r>
              <a:rPr lang="en-US" sz="1150" b="1" dirty="0">
                <a:solidFill>
                  <a:srgbClr val="8A6A3B"/>
                </a:solidFill>
                <a:latin typeface="Calibri" pitchFamily="34" charset="0"/>
                <a:ea typeface="Calibri" pitchFamily="34" charset="-122"/>
                <a:cs typeface="Calibri" pitchFamily="34" charset="-120"/>
              </a:rPr>
              <a:t>And its yield needs a novelty haircut</a:t>
            </a:r>
            <a:endParaRPr lang="en-US" sz="1150" dirty="0"/>
          </a:p>
        </p:txBody>
      </p:sp>
      <p:sp>
        <p:nvSpPr>
          <p:cNvPr id="25" name="Text 22"/>
          <p:cNvSpPr txBox="1"/>
          <p:nvPr/>
        </p:nvSpPr>
        <p:spPr>
          <a:xfrm>
            <a:off x="6300216" y="5239512"/>
            <a:ext cx="5303520" cy="603504"/>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804 passing folds are 596 clusters at ≥90% identity — 1.3 folds each. Between different pipelines, median identity 0.11. Width buys independent searches; depth refines one. That is the argument for lineages and a front, and act 2 says what we have run.</a:t>
            </a:r>
            <a:endParaRPr lang="en-US" sz="950" dirty="0"/>
          </a:p>
        </p:txBody>
      </p:sp>
      <p:sp>
        <p:nvSpPr>
          <p:cNvPr id="26" name="Text 23"/>
          <p:cNvSpPr txBox="1"/>
          <p:nvPr/>
        </p:nvSpPr>
        <p:spPr>
          <a:xfrm>
            <a:off x="457200" y="5961888"/>
            <a:ext cx="11274552" cy="36576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Said plainly, because it is owed: </a:t>
            </a:r>
            <a:pPr indent="0" marL="0">
              <a:buNone/>
            </a:pPr>
            <a:r>
              <a:rPr lang="en-US" sz="1050" dirty="0">
                <a:solidFill>
                  <a:srgbClr val="22303C"/>
                </a:solidFill>
                <a:latin typeface="Calibri" pitchFamily="34" charset="0"/>
                <a:ea typeface="Calibri" pitchFamily="34" charset="-122"/>
                <a:cs typeface="Calibri" pitchFamily="34" charset="-120"/>
              </a:rPr>
              <a:t>it paid for lessons we inherited for free, including the NVMe fix this project ported out of its PR #67. Nothing here divides its numbers by ours. </a:t>
            </a:r>
            <a:pPr indent="0" marL="0">
              <a:buNone/>
            </a:pPr>
            <a:r>
              <a:rPr lang="en-US" sz="1050" b="1" dirty="0">
                <a:solidFill>
                  <a:srgbClr val="8A6A3B"/>
                </a:solidFill>
                <a:latin typeface="Calibri" pitchFamily="34" charset="0"/>
                <a:ea typeface="Calibri" pitchFamily="34" charset="-122"/>
                <a:cs typeface="Calibri" pitchFamily="34" charset="-120"/>
              </a:rPr>
              <a:t>And these are its BEST figures: same decision function, its own fastrelax rate fell 64%→49% by 2026-10-22, only 1.3 of 14.2 points from binder length. I credit the healthy period on purpose.</a:t>
            </a:r>
            <a:endParaRPr lang="en-US" sz="10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source: IMPRESS small-molecule performance report (impress-smallmol-performance/report.md), over impress_runs_export_nvme_2026-10-08.tar.gz; fastrelax series TRANSCRIBED, impress-agentic-performance report.md §13; structural counts mined from examples/small_molecule_binding at bf32d1d.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READ THIS DECK</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dimensions, and the one I have least evidence for</a:t>
            </a:r>
            <a:endParaRPr lang="en-US" sz="2800" dirty="0"/>
          </a:p>
        </p:txBody>
      </p:sp>
      <p:sp>
        <p:nvSpPr>
          <p:cNvPr id="4" name="Shape 2"/>
          <p:cNvSpPr/>
          <p:nvPr/>
        </p:nvSpPr>
        <p:spPr>
          <a:xfrm>
            <a:off x="457200" y="1371600"/>
            <a:ext cx="3657600" cy="384048"/>
          </a:xfrm>
          <a:prstGeom prst="rect">
            <a:avLst/>
          </a:prstGeom>
          <a:solidFill>
            <a:srgbClr val="2E7D5B"/>
          </a:solidFill>
          <a:ln w="12700">
            <a:solidFill>
              <a:srgbClr val="2E7D5B"/>
            </a:solidFill>
            <a:prstDash val="solid"/>
          </a:ln>
        </p:spPr>
      </p:sp>
      <p:sp>
        <p:nvSpPr>
          <p:cNvPr id="5" name="Text 3"/>
          <p:cNvSpPr txBox="1"/>
          <p:nvPr/>
        </p:nvSpPr>
        <p:spPr>
          <a:xfrm>
            <a:off x="585216"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55648"/>
            <a:ext cx="3657600" cy="950976"/>
          </a:xfrm>
          <a:prstGeom prst="rect">
            <a:avLst/>
          </a:prstGeom>
          <a:solidFill>
            <a:srgbClr val="E4F1EA"/>
          </a:solidFill>
          <a:ln w="12700">
            <a:solidFill>
              <a:srgbClr val="E4F1EA"/>
            </a:solidFill>
            <a:prstDash val="solid"/>
          </a:ln>
        </p:spPr>
      </p:sp>
      <p:sp>
        <p:nvSpPr>
          <p:cNvPr id="7" name="Text 5"/>
          <p:cNvSpPr txBox="1"/>
          <p:nvPr/>
        </p:nvSpPr>
        <p:spPr>
          <a:xfrm>
            <a:off x="585216"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What specific tasks can you ask for that an adaptive pipeline cannot be asked? Not features — tasks, carried end to end with no human in the middle.</a:t>
            </a:r>
            <a:endParaRPr lang="en-US" sz="1050" dirty="0"/>
          </a:p>
        </p:txBody>
      </p:sp>
      <p:sp>
        <p:nvSpPr>
          <p:cNvPr id="8" name="Text 6"/>
          <p:cNvSpPr txBox="1"/>
          <p:nvPr/>
        </p:nvSpPr>
        <p:spPr>
          <a:xfrm>
            <a:off x="585216" y="2743200"/>
            <a:ext cx="3401568" cy="219456"/>
          </a:xfrm>
          <a:prstGeom prst="rect">
            <a:avLst/>
          </a:prstGeom>
          <a:noFill/>
          <a:ln/>
        </p:spPr>
        <p:txBody>
          <a:bodyPr wrap="square" lIns="0" tIns="0" rIns="0" bIns="0" rtlCol="0" anchor="t"/>
          <a:lstStyle/>
          <a:p>
            <a:pPr indent="0" marL="0">
              <a:buNone/>
            </a:pPr>
            <a:r>
              <a:rPr lang="en-US" sz="900" b="1" i="1" dirty="0">
                <a:solidFill>
                  <a:srgbClr val="2E7D5B"/>
                </a:solidFill>
                <a:latin typeface="Calibri" pitchFamily="34" charset="0"/>
                <a:ea typeface="Calibri" pitchFamily="34" charset="-122"/>
                <a:cs typeface="Calibri" pitchFamily="34" charset="-120"/>
              </a:rPr>
              <a:t>what it answers</a:t>
            </a:r>
            <a:endParaRPr lang="en-US" sz="900" dirty="0"/>
          </a:p>
        </p:txBody>
      </p:sp>
      <p:sp>
        <p:nvSpPr>
          <p:cNvPr id="9" name="Shape 7"/>
          <p:cNvSpPr/>
          <p:nvPr/>
        </p:nvSpPr>
        <p:spPr>
          <a:xfrm>
            <a:off x="457200" y="3017520"/>
            <a:ext cx="3657600" cy="658368"/>
          </a:xfrm>
          <a:prstGeom prst="rect">
            <a:avLst/>
          </a:prstGeom>
          <a:solidFill>
            <a:srgbClr val="EEF2F5"/>
          </a:solidFill>
          <a:ln w="12700">
            <a:solidFill>
              <a:srgbClr val="C9D1D8"/>
            </a:solidFill>
            <a:prstDash val="solid"/>
          </a:ln>
        </p:spPr>
      </p:sp>
      <p:sp>
        <p:nvSpPr>
          <p:cNvPr id="10" name="Text 8"/>
          <p:cNvSpPr txBox="1"/>
          <p:nvPr/>
        </p:nvSpPr>
        <p:spPr>
          <a:xfrm>
            <a:off x="566928"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Composed per cycle, not written down</a:t>
            </a:r>
            <a:endParaRPr lang="en-US" sz="1050" dirty="0"/>
          </a:p>
        </p:txBody>
      </p:sp>
      <p:sp>
        <p:nvSpPr>
          <p:cNvPr id="11" name="Text 9"/>
          <p:cNvSpPr txBox="1"/>
          <p:nvPr/>
        </p:nvSpPr>
        <p:spPr>
          <a:xfrm>
            <a:off x="566928"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five gates and a dry-run before anything executes</a:t>
            </a:r>
            <a:endParaRPr lang="en-US" sz="950" dirty="0"/>
          </a:p>
        </p:txBody>
      </p:sp>
      <p:sp>
        <p:nvSpPr>
          <p:cNvPr id="12" name="Shape 10"/>
          <p:cNvSpPr/>
          <p:nvPr/>
        </p:nvSpPr>
        <p:spPr>
          <a:xfrm>
            <a:off x="457200" y="3730752"/>
            <a:ext cx="3657600" cy="658368"/>
          </a:xfrm>
          <a:prstGeom prst="rect">
            <a:avLst/>
          </a:prstGeom>
          <a:solidFill>
            <a:srgbClr val="FFFFFF"/>
          </a:solidFill>
          <a:ln w="12700">
            <a:solidFill>
              <a:srgbClr val="C9D1D8"/>
            </a:solidFill>
            <a:prstDash val="solid"/>
          </a:ln>
        </p:spPr>
      </p:sp>
      <p:sp>
        <p:nvSpPr>
          <p:cNvPr id="13" name="Text 11"/>
          <p:cNvSpPr txBox="1"/>
          <p:nvPr/>
        </p:nvSpPr>
        <p:spPr>
          <a:xfrm>
            <a:off x="566928"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11 tools, zero composer edits</a:t>
            </a:r>
            <a:endParaRPr lang="en-US" sz="1050" dirty="0"/>
          </a:p>
        </p:txBody>
      </p:sp>
      <p:sp>
        <p:nvSpPr>
          <p:cNvPr id="14" name="Text 12"/>
          <p:cNvSpPr txBox="1"/>
          <p:nvPr/>
        </p:nvSpPr>
        <p:spPr>
          <a:xfrm>
            <a:off x="566928"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 tool is a spec.yaml, a task agent and mandatory gates</a:t>
            </a:r>
            <a:endParaRPr lang="en-US" sz="950" dirty="0"/>
          </a:p>
        </p:txBody>
      </p:sp>
      <p:sp>
        <p:nvSpPr>
          <p:cNvPr id="15" name="Shape 13"/>
          <p:cNvSpPr/>
          <p:nvPr/>
        </p:nvSpPr>
        <p:spPr>
          <a:xfrm>
            <a:off x="457200" y="4443984"/>
            <a:ext cx="3657600" cy="658368"/>
          </a:xfrm>
          <a:prstGeom prst="rect">
            <a:avLst/>
          </a:prstGeom>
          <a:solidFill>
            <a:srgbClr val="EEF2F5"/>
          </a:solidFill>
          <a:ln w="12700">
            <a:solidFill>
              <a:srgbClr val="C9D1D8"/>
            </a:solidFill>
            <a:prstDash val="solid"/>
          </a:ln>
        </p:spPr>
      </p:sp>
      <p:sp>
        <p:nvSpPr>
          <p:cNvPr id="16" name="Text 14"/>
          <p:cNvSpPr txBox="1"/>
          <p:nvPr/>
        </p:nvSpPr>
        <p:spPr>
          <a:xfrm>
            <a:off x="566928"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Four control models, one executor</a:t>
            </a:r>
            <a:endParaRPr lang="en-US" sz="1050" dirty="0"/>
          </a:p>
        </p:txBody>
      </p:sp>
      <p:sp>
        <p:nvSpPr>
          <p:cNvPr id="17" name="Text 15"/>
          <p:cNvSpPr txBox="1"/>
          <p:nvPr/>
        </p:nvSpPr>
        <p:spPr>
          <a:xfrm>
            <a:off x="566928"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byte-identical below the policy layer, which is what makes them comparable</a:t>
            </a:r>
            <a:endParaRPr lang="en-US" sz="950" dirty="0"/>
          </a:p>
        </p:txBody>
      </p:sp>
      <p:sp>
        <p:nvSpPr>
          <p:cNvPr id="18" name="Shape 16"/>
          <p:cNvSpPr/>
          <p:nvPr/>
        </p:nvSpPr>
        <p:spPr>
          <a:xfrm>
            <a:off x="4370832" y="1371600"/>
            <a:ext cx="3657600" cy="384048"/>
          </a:xfrm>
          <a:prstGeom prst="rect">
            <a:avLst/>
          </a:prstGeom>
          <a:solidFill>
            <a:srgbClr val="1E6470"/>
          </a:solidFill>
          <a:ln w="12700">
            <a:solidFill>
              <a:srgbClr val="1E6470"/>
            </a:solidFill>
            <a:prstDash val="solid"/>
          </a:ln>
        </p:spPr>
      </p:sp>
      <p:sp>
        <p:nvSpPr>
          <p:cNvPr id="19" name="Text 17"/>
          <p:cNvSpPr txBox="1"/>
          <p:nvPr/>
        </p:nvSpPr>
        <p:spPr>
          <a:xfrm>
            <a:off x="4498848"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20" name="Shape 18"/>
          <p:cNvSpPr/>
          <p:nvPr/>
        </p:nvSpPr>
        <p:spPr>
          <a:xfrm>
            <a:off x="4370832" y="1755648"/>
            <a:ext cx="3657600" cy="950976"/>
          </a:xfrm>
          <a:prstGeom prst="rect">
            <a:avLst/>
          </a:prstGeom>
          <a:solidFill>
            <a:srgbClr val="E3F0F1"/>
          </a:solidFill>
          <a:ln w="12700">
            <a:solidFill>
              <a:srgbClr val="E3F0F1"/>
            </a:solidFill>
            <a:prstDash val="solid"/>
          </a:ln>
        </p:spPr>
      </p:sp>
      <p:sp>
        <p:nvSpPr>
          <p:cNvPr id="21" name="Text 19"/>
          <p:cNvSpPr txBox="1"/>
          <p:nvPr/>
        </p:nvSpPr>
        <p:spPr>
          <a:xfrm>
            <a:off x="4498848"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What does composing, validating and scoring a graph cost — in wall clock, in hardware, and in scientific yield? Those three are not linear in each other.</a:t>
            </a:r>
            <a:endParaRPr lang="en-US" sz="1050" dirty="0"/>
          </a:p>
        </p:txBody>
      </p:sp>
      <p:sp>
        <p:nvSpPr>
          <p:cNvPr id="22" name="Text 20"/>
          <p:cNvSpPr txBox="1"/>
          <p:nvPr/>
        </p:nvSpPr>
        <p:spPr>
          <a:xfrm>
            <a:off x="4498848" y="2743200"/>
            <a:ext cx="3401568" cy="219456"/>
          </a:xfrm>
          <a:prstGeom prst="rect">
            <a:avLst/>
          </a:prstGeom>
          <a:noFill/>
          <a:ln/>
        </p:spPr>
        <p:txBody>
          <a:bodyPr wrap="square" lIns="0" tIns="0" rIns="0" bIns="0" rtlCol="0" anchor="t"/>
          <a:lstStyle/>
          <a:p>
            <a:pPr indent="0" marL="0">
              <a:buNone/>
            </a:pPr>
            <a:r>
              <a:rPr lang="en-US" sz="900" b="1" i="1" dirty="0">
                <a:solidFill>
                  <a:srgbClr val="1E6470"/>
                </a:solidFill>
                <a:latin typeface="Calibri" pitchFamily="34" charset="0"/>
                <a:ea typeface="Calibri" pitchFamily="34" charset="-122"/>
                <a:cs typeface="Calibri" pitchFamily="34" charset="-120"/>
              </a:rPr>
              <a:t>what it answers · and what it does not</a:t>
            </a:r>
            <a:endParaRPr lang="en-US" sz="900" dirty="0"/>
          </a:p>
        </p:txBody>
      </p:sp>
      <p:sp>
        <p:nvSpPr>
          <p:cNvPr id="23" name="Shape 21"/>
          <p:cNvSpPr/>
          <p:nvPr/>
        </p:nvSpPr>
        <p:spPr>
          <a:xfrm>
            <a:off x="4370832" y="3017520"/>
            <a:ext cx="3657600" cy="658368"/>
          </a:xfrm>
          <a:prstGeom prst="rect">
            <a:avLst/>
          </a:prstGeom>
          <a:solidFill>
            <a:srgbClr val="EEF2F5"/>
          </a:solidFill>
          <a:ln w="12700">
            <a:solidFill>
              <a:srgbClr val="C9D1D8"/>
            </a:solidFill>
            <a:prstDash val="solid"/>
          </a:ln>
        </p:spPr>
      </p:sp>
      <p:sp>
        <p:nvSpPr>
          <p:cNvPr id="24" name="Text 22"/>
          <p:cNvSpPr txBox="1"/>
          <p:nvPr/>
        </p:nvSpPr>
        <p:spPr>
          <a:xfrm>
            <a:off x="4480560"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Overhead 2.8s of a 159s run</a:t>
            </a:r>
            <a:endParaRPr lang="en-US" sz="1050" dirty="0"/>
          </a:p>
        </p:txBody>
      </p:sp>
      <p:sp>
        <p:nvSpPr>
          <p:cNvPr id="25" name="Text 23"/>
          <p:cNvSpPr txBox="1"/>
          <p:nvPr/>
        </p:nvSpPr>
        <p:spPr>
          <a:xfrm>
            <a:off x="4480560"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and scrutiny itself costs 0.0s</a:t>
            </a:r>
            <a:endParaRPr lang="en-US" sz="950" dirty="0"/>
          </a:p>
        </p:txBody>
      </p:sp>
      <p:sp>
        <p:nvSpPr>
          <p:cNvPr id="26" name="Shape 24"/>
          <p:cNvSpPr/>
          <p:nvPr/>
        </p:nvSpPr>
        <p:spPr>
          <a:xfrm>
            <a:off x="4370832" y="3730752"/>
            <a:ext cx="3657600" cy="658368"/>
          </a:xfrm>
          <a:prstGeom prst="rect">
            <a:avLst/>
          </a:prstGeom>
          <a:solidFill>
            <a:srgbClr val="FFFFFF"/>
          </a:solidFill>
          <a:ln w="12700">
            <a:solidFill>
              <a:srgbClr val="C9D1D8"/>
            </a:solidFill>
            <a:prstDash val="solid"/>
          </a:ln>
        </p:spPr>
      </p:sp>
      <p:sp>
        <p:nvSpPr>
          <p:cNvPr id="27" name="Text 25"/>
          <p:cNvSpPr txBox="1"/>
          <p:nvPr/>
        </p:nvSpPr>
        <p:spPr>
          <a:xfrm>
            <a:off x="4480560"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GPU ≤17%, tasks 95% of elapsed</a:t>
            </a:r>
            <a:endParaRPr lang="en-US" sz="1050" dirty="0"/>
          </a:p>
        </p:txBody>
      </p:sp>
      <p:sp>
        <p:nvSpPr>
          <p:cNvPr id="28" name="Text 26"/>
          <p:cNvSpPr txBox="1"/>
          <p:nvPr/>
        </p:nvSpPr>
        <p:spPr>
          <a:xfrm>
            <a:off x="4480560"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one GPU works, three idle — we have never packed one</a:t>
            </a:r>
            <a:endParaRPr lang="en-US" sz="950" dirty="0"/>
          </a:p>
        </p:txBody>
      </p:sp>
      <p:sp>
        <p:nvSpPr>
          <p:cNvPr id="29" name="Shape 27"/>
          <p:cNvSpPr/>
          <p:nvPr/>
        </p:nvSpPr>
        <p:spPr>
          <a:xfrm>
            <a:off x="4370832" y="4443984"/>
            <a:ext cx="3657600" cy="658368"/>
          </a:xfrm>
          <a:prstGeom prst="rect">
            <a:avLst/>
          </a:prstGeom>
          <a:solidFill>
            <a:srgbClr val="EEF2F5"/>
          </a:solidFill>
          <a:ln w="12700">
            <a:solidFill>
              <a:srgbClr val="C9D1D8"/>
            </a:solidFill>
            <a:prstDash val="solid"/>
          </a:ln>
        </p:spPr>
      </p:sp>
      <p:sp>
        <p:nvSpPr>
          <p:cNvPr id="30" name="Text 28"/>
          <p:cNvSpPr txBox="1"/>
          <p:nvPr/>
        </p:nvSpPr>
        <p:spPr>
          <a:xfrm>
            <a:off x="4480560"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17 designs in 5 seed groups</a:t>
            </a:r>
            <a:endParaRPr lang="en-US" sz="1050" dirty="0"/>
          </a:p>
        </p:txBody>
      </p:sp>
      <p:sp>
        <p:nvSpPr>
          <p:cNvPr id="31" name="Text 29"/>
          <p:cNvSpPr txBox="1"/>
          <p:nvPr/>
        </p:nvSpPr>
        <p:spPr>
          <a:xfrm>
            <a:off x="4480560"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and no node has ever reached a plain pass</a:t>
            </a:r>
            <a:endParaRPr lang="en-US" sz="950" dirty="0"/>
          </a:p>
        </p:txBody>
      </p:sp>
      <p:sp>
        <p:nvSpPr>
          <p:cNvPr id="32" name="Shape 30"/>
          <p:cNvSpPr/>
          <p:nvPr/>
        </p:nvSpPr>
        <p:spPr>
          <a:xfrm>
            <a:off x="8284464" y="1371600"/>
            <a:ext cx="3657600" cy="384048"/>
          </a:xfrm>
          <a:prstGeom prst="rect">
            <a:avLst/>
          </a:prstGeom>
          <a:solidFill>
            <a:srgbClr val="7A4A8C"/>
          </a:solidFill>
          <a:ln w="12700">
            <a:solidFill>
              <a:srgbClr val="7A4A8C"/>
            </a:solidFill>
            <a:prstDash val="solid"/>
          </a:ln>
        </p:spPr>
      </p:sp>
      <p:sp>
        <p:nvSpPr>
          <p:cNvPr id="33" name="Text 31"/>
          <p:cNvSpPr txBox="1"/>
          <p:nvPr/>
        </p:nvSpPr>
        <p:spPr>
          <a:xfrm>
            <a:off x="8412480" y="1371600"/>
            <a:ext cx="3401568" cy="384048"/>
          </a:xfrm>
          <a:prstGeom prst="rect">
            <a:avLst/>
          </a:prstGeom>
          <a:noFill/>
          <a:ln/>
        </p:spPr>
        <p:txBody>
          <a:bodyPr wrap="square" lIns="0" tIns="0" rIns="0" bIns="0" rtlCol="0" anchor="ctr"/>
          <a:lstStyle/>
          <a:p>
            <a:pP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34" name="Shape 32"/>
          <p:cNvSpPr/>
          <p:nvPr/>
        </p:nvSpPr>
        <p:spPr>
          <a:xfrm>
            <a:off x="8284464" y="1755648"/>
            <a:ext cx="3657600" cy="950976"/>
          </a:xfrm>
          <a:prstGeom prst="rect">
            <a:avLst/>
          </a:prstGeom>
          <a:solidFill>
            <a:srgbClr val="F3EAF6"/>
          </a:solidFill>
          <a:ln w="12700">
            <a:solidFill>
              <a:srgbClr val="F3EAF6"/>
            </a:solidFill>
            <a:prstDash val="solid"/>
          </a:ln>
        </p:spPr>
      </p:sp>
      <p:sp>
        <p:nvSpPr>
          <p:cNvPr id="35" name="Text 33"/>
          <p:cNvSpPr txBox="1"/>
          <p:nvPr/>
        </p:nvSpPr>
        <p:spPr>
          <a:xfrm>
            <a:off x="8412480" y="1819656"/>
            <a:ext cx="3401568" cy="841248"/>
          </a:xfrm>
          <a:prstGeom prst="rect">
            <a:avLst/>
          </a:prstGeom>
          <a:noFill/>
          <a:ln/>
        </p:spPr>
        <p:txBody>
          <a:bodyPr wrap="square" lIns="0" tIns="0" rIns="0" bIns="0" rtlCol="0" anchor="t"/>
          <a:lstStyle/>
          <a:p>
            <a:pPr indent="0" marL="0">
              <a:buNone/>
            </a:pPr>
            <a:r>
              <a:rPr lang="en-US" sz="1050" dirty="0">
                <a:solidFill>
                  <a:srgbClr val="22303C"/>
                </a:solidFill>
                <a:latin typeface="Calibri" pitchFamily="34" charset="0"/>
                <a:ea typeface="Calibri" pitchFamily="34" charset="-122"/>
                <a:cs typeface="Calibri" pitchFamily="34" charset="-120"/>
              </a:rPr>
              <a:t>Not the interface — the use cases. Is this an application someone opens, a platform other people plug into, or a component something else drives?</a:t>
            </a:r>
            <a:endParaRPr lang="en-US" sz="1050" dirty="0"/>
          </a:p>
        </p:txBody>
      </p:sp>
      <p:sp>
        <p:nvSpPr>
          <p:cNvPr id="36" name="Text 34"/>
          <p:cNvSpPr txBox="1"/>
          <p:nvPr/>
        </p:nvSpPr>
        <p:spPr>
          <a:xfrm>
            <a:off x="8412480" y="2743200"/>
            <a:ext cx="3401568" cy="219456"/>
          </a:xfrm>
          <a:prstGeom prst="rect">
            <a:avLst/>
          </a:prstGeom>
          <a:noFill/>
          <a:ln/>
        </p:spPr>
        <p:txBody>
          <a:bodyPr wrap="square" lIns="0" tIns="0" rIns="0" bIns="0" rtlCol="0" anchor="t"/>
          <a:lstStyle/>
          <a:p>
            <a:pPr indent="0" marL="0">
              <a:buNone/>
            </a:pPr>
            <a:r>
              <a:rPr lang="en-US" sz="900" b="1" i="1" dirty="0">
                <a:solidFill>
                  <a:srgbClr val="7A4A8C"/>
                </a:solidFill>
                <a:latin typeface="Calibri" pitchFamily="34" charset="0"/>
                <a:ea typeface="Calibri" pitchFamily="34" charset="-122"/>
                <a:cs typeface="Calibri" pitchFamily="34" charset="-120"/>
              </a:rPr>
              <a:t>what it answers</a:t>
            </a:r>
            <a:endParaRPr lang="en-US" sz="900" dirty="0"/>
          </a:p>
        </p:txBody>
      </p:sp>
      <p:sp>
        <p:nvSpPr>
          <p:cNvPr id="37" name="Shape 35"/>
          <p:cNvSpPr/>
          <p:nvPr/>
        </p:nvSpPr>
        <p:spPr>
          <a:xfrm>
            <a:off x="8284464" y="3017520"/>
            <a:ext cx="3657600" cy="658368"/>
          </a:xfrm>
          <a:prstGeom prst="rect">
            <a:avLst/>
          </a:prstGeom>
          <a:solidFill>
            <a:srgbClr val="EEF2F5"/>
          </a:solidFill>
          <a:ln w="12700">
            <a:solidFill>
              <a:srgbClr val="C9D1D8"/>
            </a:solidFill>
            <a:prstDash val="solid"/>
          </a:ln>
        </p:spPr>
      </p:sp>
      <p:sp>
        <p:nvSpPr>
          <p:cNvPr id="38" name="Text 36"/>
          <p:cNvSpPr txBox="1"/>
          <p:nvPr/>
        </p:nvSpPr>
        <p:spPr>
          <a:xfrm>
            <a:off x="8394192" y="3054096"/>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an application — yes</a:t>
            </a:r>
            <a:endParaRPr lang="en-US" sz="1050" dirty="0"/>
          </a:p>
        </p:txBody>
      </p:sp>
      <p:sp>
        <p:nvSpPr>
          <p:cNvPr id="39" name="Text 37"/>
          <p:cNvSpPr txBox="1"/>
          <p:nvPr/>
        </p:nvSpPr>
        <p:spPr>
          <a:xfrm>
            <a:off x="8394192" y="3328416"/>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one YAML, one command, 168 tests with no allocation</a:t>
            </a:r>
            <a:endParaRPr lang="en-US" sz="950" dirty="0"/>
          </a:p>
        </p:txBody>
      </p:sp>
      <p:sp>
        <p:nvSpPr>
          <p:cNvPr id="40" name="Shape 38"/>
          <p:cNvSpPr/>
          <p:nvPr/>
        </p:nvSpPr>
        <p:spPr>
          <a:xfrm>
            <a:off x="8284464" y="3730752"/>
            <a:ext cx="3657600" cy="658368"/>
          </a:xfrm>
          <a:prstGeom prst="rect">
            <a:avLst/>
          </a:prstGeom>
          <a:solidFill>
            <a:srgbClr val="FFFFFF"/>
          </a:solidFill>
          <a:ln w="12700">
            <a:solidFill>
              <a:srgbClr val="C9D1D8"/>
            </a:solidFill>
            <a:prstDash val="solid"/>
          </a:ln>
        </p:spPr>
      </p:sp>
      <p:sp>
        <p:nvSpPr>
          <p:cNvPr id="41" name="Text 39"/>
          <p:cNvSpPr txBox="1"/>
          <p:nvPr/>
        </p:nvSpPr>
        <p:spPr>
          <a:xfrm>
            <a:off x="8394192" y="3767328"/>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 platform — yes</a:t>
            </a:r>
            <a:endParaRPr lang="en-US" sz="1050" dirty="0"/>
          </a:p>
        </p:txBody>
      </p:sp>
      <p:sp>
        <p:nvSpPr>
          <p:cNvPr id="42" name="Text 40"/>
          <p:cNvSpPr txBox="1"/>
          <p:nvPr/>
        </p:nvSpPr>
        <p:spPr>
          <a:xfrm>
            <a:off x="8394192" y="4041648"/>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runtime-discovered toolkits, and a control plane in two transports</a:t>
            </a:r>
            <a:endParaRPr lang="en-US" sz="950" dirty="0"/>
          </a:p>
        </p:txBody>
      </p:sp>
      <p:sp>
        <p:nvSpPr>
          <p:cNvPr id="43" name="Shape 41"/>
          <p:cNvSpPr/>
          <p:nvPr/>
        </p:nvSpPr>
        <p:spPr>
          <a:xfrm>
            <a:off x="8284464" y="4443984"/>
            <a:ext cx="3657600" cy="658368"/>
          </a:xfrm>
          <a:prstGeom prst="rect">
            <a:avLst/>
          </a:prstGeom>
          <a:solidFill>
            <a:srgbClr val="EEF2F5"/>
          </a:solidFill>
          <a:ln w="12700">
            <a:solidFill>
              <a:srgbClr val="C9D1D8"/>
            </a:solidFill>
            <a:prstDash val="solid"/>
          </a:ln>
        </p:spPr>
      </p:sp>
      <p:sp>
        <p:nvSpPr>
          <p:cNvPr id="44" name="Text 42"/>
          <p:cNvSpPr txBox="1"/>
          <p:nvPr/>
        </p:nvSpPr>
        <p:spPr>
          <a:xfrm>
            <a:off x="8394192" y="4480560"/>
            <a:ext cx="3438144" cy="27432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As a component — no evidence</a:t>
            </a:r>
            <a:endParaRPr lang="en-US" sz="1050" dirty="0"/>
          </a:p>
        </p:txBody>
      </p:sp>
      <p:sp>
        <p:nvSpPr>
          <p:cNvPr id="45" name="Text 43"/>
          <p:cNvSpPr txBox="1"/>
          <p:nvPr/>
        </p:nvSpPr>
        <p:spPr>
          <a:xfrm>
            <a:off x="8394192" y="4754880"/>
            <a:ext cx="3438144" cy="310896"/>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nothing else has ever driven it, and there is no resume</a:t>
            </a:r>
            <a:endParaRPr lang="en-US" sz="950" dirty="0"/>
          </a:p>
        </p:txBody>
      </p:sp>
      <p:sp>
        <p:nvSpPr>
          <p:cNvPr id="46" name="Shape 44"/>
          <p:cNvSpPr/>
          <p:nvPr/>
        </p:nvSpPr>
        <p:spPr>
          <a:xfrm>
            <a:off x="457200" y="5285232"/>
            <a:ext cx="11274552" cy="960120"/>
          </a:xfrm>
          <a:prstGeom prst="rect">
            <a:avLst/>
          </a:prstGeom>
          <a:solidFill>
            <a:srgbClr val="16222B"/>
          </a:solidFill>
          <a:ln w="12700">
            <a:solidFill>
              <a:srgbClr val="16222B"/>
            </a:solidFill>
            <a:prstDash val="solid"/>
          </a:ln>
        </p:spPr>
      </p:sp>
      <p:sp>
        <p:nvSpPr>
          <p:cNvPr id="47" name="Text 45"/>
          <p:cNvSpPr txBox="1"/>
          <p:nvPr/>
        </p:nvSpPr>
        <p:spPr>
          <a:xfrm>
            <a:off x="640080" y="5376672"/>
            <a:ext cx="10927080" cy="804672"/>
          </a:xfrm>
          <a:prstGeom prst="rect">
            <a:avLst/>
          </a:prstGeom>
          <a:noFill/>
          <a:ln/>
        </p:spPr>
        <p:txBody>
          <a:bodyPr wrap="square" lIns="0" tIns="0" rIns="0" bIns="0" rtlCol="0" anchor="t"/>
          <a:lstStyle/>
          <a:p>
            <a:pPr indent="0" marL="0">
              <a:buNone/>
            </a:pPr>
            <a:r>
              <a:rPr lang="en-US" sz="1250" b="1" dirty="0">
                <a:solidFill>
                  <a:srgbClr val="F09A8C"/>
                </a:solidFill>
                <a:latin typeface="Calibri" pitchFamily="34" charset="0"/>
                <a:ea typeface="Calibri" pitchFamily="34" charset="-122"/>
                <a:cs typeface="Calibri" pitchFamily="34" charset="-120"/>
              </a:rPr>
              <a:t>The weak column is the middle one, and specifically performance at scale.  </a:t>
            </a:r>
            <a:pPr indent="0" marL="0">
              <a:buNone/>
            </a:pPr>
            <a:r>
              <a:rPr lang="en-US" sz="1250" dirty="0">
                <a:solidFill>
                  <a:srgbClr val="DCE5EC"/>
                </a:solidFill>
                <a:latin typeface="Calibri" pitchFamily="34" charset="0"/>
                <a:ea typeface="Calibri" pitchFamily="34" charset="-122"/>
                <a:cs typeface="Calibri" pitchFamily="34" charset="-120"/>
              </a:rPr>
              <a:t>Every figure in it comes from one lineage on one GPU: 16 complete six-stage runs, all of them serial. On real tools replicas &gt; 1 has never executed — only against mocks — so the invariant that N lineages must produce N independent nodes is unexercised, and it is the one most likely to be silently wrong. There is no head-to-head against the reference pipeline and I am not going to construct one.</a:t>
            </a:r>
            <a:endParaRPr lang="en-US" sz="1250" dirty="0"/>
          </a:p>
        </p:txBody>
      </p:sp>
      <p:sp>
        <p:nvSpPr>
          <p:cNvPr id="48" name="Text 4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Each dimension gets an act, in this order, and each act names its own weakest claim before it rather than after.</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integrity-clean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07024"/>
            <a:ext cx="11274552" cy="585216"/>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 you would write the DAG down once and schedule it. That is the right answer under review, and next door it is 1,362 lines of pipeline class per use case. Everything in act 1 is what you get for not writing it down; everything in act 2 is what that costs.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specific tasks can you ask for that an adaptive pipeline cannot be asked?</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You state a goal, not a pipeline</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An ExperimentIntent is a list of tool ids; the composer types it, five gates check it, and a dry-run parameterizes every stage before anything executes. The reference pipeline's shape lives in 19 next_step assignments inside one decision function.</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tool is a spec file, and QC is part of the spec</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11 tools in 5 toolkits, each a spec.yaml plus an agent. Adding one never edits the composer, the validator or the manager - and gates are mandatory, shared by id, and not written by whoever parses the output.</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control model is swappable, and the layer below it does not know which one ran</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Four models plus conduct() reasoners over one executor, byte-identical below the policy layer - which is what makes comparing an LLM against a rule cascade mean anything at all.</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every graph we have ever composed is the same six-stage chain the reference pipeline already had. Free composition is real in the code and unexercised in the evidence.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_submit_with_retry:98</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integrity-clean runs promote; any integrity failure demotes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QC is part of the spec</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310128"/>
            <a:ext cx="1325880" cy="530352"/>
          </a:xfrm>
          <a:prstGeom prst="roundRect">
            <a:avLst>
              <a:gd name="adj" fmla="val 13793"/>
            </a:avLst>
          </a:prstGeom>
          <a:solidFill>
            <a:srgbClr val="F3EAF6"/>
          </a:solidFill>
          <a:ln w="19050">
            <a:solidFill>
              <a:srgbClr val="7A4A8C"/>
            </a:solidFill>
            <a:prstDash val="solid"/>
          </a:ln>
        </p:spPr>
      </p:sp>
      <p:sp>
        <p:nvSpPr>
          <p:cNvPr id="8" name="Text 6"/>
          <p:cNvSpPr txBox="1"/>
          <p:nvPr/>
        </p:nvSpPr>
        <p:spPr>
          <a:xfrm>
            <a:off x="53035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575304"/>
            <a:ext cx="118872" cy="91"/>
          </a:xfrm>
          <a:prstGeom prst="line">
            <a:avLst/>
          </a:prstGeom>
          <a:noFill/>
          <a:ln w="15875">
            <a:solidFill>
              <a:srgbClr val="5E6B75"/>
            </a:solidFill>
            <a:prstDash val="solid"/>
            <a:tailEnd type="triangle"/>
          </a:ln>
        </p:spPr>
      </p:sp>
      <p:sp>
        <p:nvSpPr>
          <p:cNvPr id="10" name="Shape 8"/>
          <p:cNvSpPr/>
          <p:nvPr/>
        </p:nvSpPr>
        <p:spPr>
          <a:xfrm>
            <a:off x="1920240" y="3310128"/>
            <a:ext cx="1325880" cy="530352"/>
          </a:xfrm>
          <a:prstGeom prst="roundRect">
            <a:avLst>
              <a:gd name="adj" fmla="val 13793"/>
            </a:avLst>
          </a:prstGeom>
          <a:solidFill>
            <a:srgbClr val="F3EAF6"/>
          </a:solidFill>
          <a:ln w="19050">
            <a:solidFill>
              <a:srgbClr val="7A4A8C"/>
            </a:solidFill>
            <a:prstDash val="solid"/>
          </a:ln>
        </p:spPr>
      </p:sp>
      <p:sp>
        <p:nvSpPr>
          <p:cNvPr id="11" name="Text 9"/>
          <p:cNvSpPr txBox="1"/>
          <p:nvPr/>
        </p:nvSpPr>
        <p:spPr>
          <a:xfrm>
            <a:off x="199339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575304"/>
            <a:ext cx="118872" cy="91"/>
          </a:xfrm>
          <a:prstGeom prst="line">
            <a:avLst/>
          </a:prstGeom>
          <a:noFill/>
          <a:ln w="15875">
            <a:solidFill>
              <a:srgbClr val="5E6B75"/>
            </a:solidFill>
            <a:prstDash val="solid"/>
            <a:tailEnd type="triangle"/>
          </a:ln>
        </p:spPr>
      </p:sp>
      <p:sp>
        <p:nvSpPr>
          <p:cNvPr id="13" name="Shape 11"/>
          <p:cNvSpPr/>
          <p:nvPr/>
        </p:nvSpPr>
        <p:spPr>
          <a:xfrm>
            <a:off x="3383280" y="3310128"/>
            <a:ext cx="1325880" cy="530352"/>
          </a:xfrm>
          <a:prstGeom prst="roundRect">
            <a:avLst>
              <a:gd name="adj" fmla="val 13793"/>
            </a:avLst>
          </a:prstGeom>
          <a:solidFill>
            <a:srgbClr val="F3EAF6"/>
          </a:solidFill>
          <a:ln w="19050">
            <a:solidFill>
              <a:srgbClr val="7A4A8C"/>
            </a:solidFill>
            <a:prstDash val="solid"/>
          </a:ln>
        </p:spPr>
      </p:sp>
      <p:sp>
        <p:nvSpPr>
          <p:cNvPr id="14" name="Text 12"/>
          <p:cNvSpPr txBox="1"/>
          <p:nvPr/>
        </p:nvSpPr>
        <p:spPr>
          <a:xfrm>
            <a:off x="345643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575304"/>
            <a:ext cx="118872" cy="91"/>
          </a:xfrm>
          <a:prstGeom prst="line">
            <a:avLst/>
          </a:prstGeom>
          <a:noFill/>
          <a:ln w="15875">
            <a:solidFill>
              <a:srgbClr val="5E6B75"/>
            </a:solidFill>
            <a:prstDash val="solid"/>
            <a:tailEnd type="triangle"/>
          </a:ln>
        </p:spPr>
      </p:sp>
      <p:sp>
        <p:nvSpPr>
          <p:cNvPr id="16" name="Shape 14"/>
          <p:cNvSpPr/>
          <p:nvPr/>
        </p:nvSpPr>
        <p:spPr>
          <a:xfrm>
            <a:off x="4846320" y="3310128"/>
            <a:ext cx="1325880" cy="530352"/>
          </a:xfrm>
          <a:prstGeom prst="roundRect">
            <a:avLst>
              <a:gd name="adj" fmla="val 13793"/>
            </a:avLst>
          </a:prstGeom>
          <a:solidFill>
            <a:srgbClr val="F3EAF6"/>
          </a:solidFill>
          <a:ln w="19050">
            <a:solidFill>
              <a:srgbClr val="7A4A8C"/>
            </a:solidFill>
            <a:prstDash val="solid"/>
          </a:ln>
        </p:spPr>
      </p:sp>
      <p:sp>
        <p:nvSpPr>
          <p:cNvPr id="17" name="Text 15"/>
          <p:cNvSpPr txBox="1"/>
          <p:nvPr/>
        </p:nvSpPr>
        <p:spPr>
          <a:xfrm>
            <a:off x="4919472" y="3355848"/>
            <a:ext cx="1179576" cy="438912"/>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3931920"/>
            <a:ext cx="5760720" cy="566928"/>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Loading is validating too: a default outside its own range, an unknown gate id or a SKILL.md missing a section is a load-time error, and a toolkit that fails anywhere registers NOTHING rather than a partial set.</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4590288"/>
          <a:ext cx="5760720" cy="914400"/>
        </p:xfrm>
        <a:graphic>
          <a:graphicData uri="http://schemas.openxmlformats.org/drawingml/2006/table">
            <a:tbl>
              <a:tblPr/>
              <a:tblGrid>
                <a:gridCol w="1691640"/>
                <a:gridCol w="2103120"/>
                <a:gridCol w="1965960"/>
              </a:tblGrid>
              <a:tr h="237744">
                <a:tc>
                  <a:txBody>
                    <a:bodyPr/>
                    <a:lstStyle/>
                    <a:p>
                      <a:pPr indent="0" marL="0">
                        <a:buNone/>
                      </a:pP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here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the reference pipeline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r>
              <a:tr h="45720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verdict</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declared in the spec, resolved by id, mandatory — and a FAIL node never reaches the front</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computed in the coroutine that parses the output, as 'pass' in pipeline.state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the thresholds</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in the spec, beside the tool</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in a PROD dataclass in the runner (14 fields)</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900" b="1" dirty="0">
                          <a:solidFill>
                            <a:srgbClr val="22303C"/>
                          </a:solidFill>
                          <a:latin typeface="Calibri" pitchFamily="34" charset="0"/>
                          <a:ea typeface="Calibri" pitchFamily="34" charset="-122"/>
                          <a:cs typeface="Calibri" pitchFamily="34" charset="-120"/>
                        </a:rPr>
                        <a:t>who is stricter, on the two stages we share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22303C"/>
                          </a:solidFill>
                          <a:latin typeface="Calibri" pitchFamily="34" charset="0"/>
                          <a:ea typeface="Calibri" pitchFamily="34" charset="-122"/>
                          <a:cs typeface="Calibri" pitchFamily="34" charset="-120"/>
                        </a:rPr>
                        <a:t>total_score ≤ 0, fa_rep ≤ 500, no interaction_energy</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b="1" dirty="0">
                          <a:solidFill>
                            <a:srgbClr val="C0392B"/>
                          </a:solidFill>
                          <a:latin typeface="Calibri" pitchFamily="34" charset="0"/>
                          <a:ea typeface="Calibri" pitchFamily="34" charset="-122"/>
                          <a:cs typeface="Calibri" pitchFamily="34" charset="-120"/>
                        </a:rPr>
                        <a:t>&lt; -250, &lt; 100, &lt; -8 — THEY ARE</a:t>
                      </a:r>
                      <a:endParaRPr lang="en-US" sz="9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20" name="Shape 17"/>
          <p:cNvSpPr/>
          <p:nvPr/>
        </p:nvSpPr>
        <p:spPr>
          <a:xfrm>
            <a:off x="6492240" y="1371600"/>
            <a:ext cx="5242255" cy="365760"/>
          </a:xfrm>
          <a:prstGeom prst="rect">
            <a:avLst/>
          </a:prstGeom>
          <a:solidFill>
            <a:srgbClr val="16222B"/>
          </a:solidFill>
          <a:ln w="12700">
            <a:solidFill>
              <a:srgbClr val="16222B"/>
            </a:solidFill>
            <a:prstDash val="solid"/>
          </a:ln>
        </p:spPr>
      </p:sp>
      <p:sp>
        <p:nvSpPr>
          <p:cNvPr id="21" name="Text 18"/>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2" name="Shape 19"/>
          <p:cNvSpPr/>
          <p:nvPr/>
        </p:nvSpPr>
        <p:spPr>
          <a:xfrm>
            <a:off x="6492240" y="1828800"/>
            <a:ext cx="5242255" cy="1417320"/>
          </a:xfrm>
          <a:prstGeom prst="rect">
            <a:avLst/>
          </a:prstGeom>
          <a:solidFill>
            <a:srgbClr val="16222B"/>
          </a:solidFill>
          <a:ln w="12700">
            <a:solidFill>
              <a:srgbClr val="16222B"/>
            </a:solidFill>
            <a:prstDash val="solid"/>
          </a:ln>
        </p:spPr>
      </p:sp>
      <p:sp>
        <p:nvSpPr>
          <p:cNvPr id="23" name="Text 20"/>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4" name="Text 21"/>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tools/mock_agents.py:84–95  ·  EDITED</a:t>
            </a:r>
            <a:endParaRPr lang="en-US" sz="850" dirty="0"/>
          </a:p>
        </p:txBody>
      </p:sp>
      <p:sp>
        <p:nvSpPr>
          <p:cNvPr id="25" name="Shape 22"/>
          <p:cNvSpPr/>
          <p:nvPr/>
        </p:nvSpPr>
        <p:spPr>
          <a:xfrm>
            <a:off x="6492240" y="3566160"/>
            <a:ext cx="5242255" cy="777240"/>
          </a:xfrm>
          <a:prstGeom prst="rect">
            <a:avLst/>
          </a:prstGeom>
          <a:solidFill>
            <a:srgbClr val="243240"/>
          </a:solidFill>
          <a:ln w="12700">
            <a:solidFill>
              <a:srgbClr val="243240"/>
            </a:solidFill>
            <a:prstDash val="solid"/>
          </a:ln>
        </p:spPr>
      </p:sp>
      <p:sp>
        <p:nvSpPr>
          <p:cNvPr id="26" name="Text 23"/>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7" name="Text 24"/>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tests/test_campaign.py:96–98  ·  EDITED (wrapped, messages dropped)</a:t>
            </a:r>
            <a:endParaRPr lang="en-US" sz="850" dirty="0"/>
          </a:p>
        </p:txBody>
      </p:sp>
      <p:sp>
        <p:nvSpPr>
          <p:cNvPr id="28" name="Shape 25"/>
          <p:cNvSpPr/>
          <p:nvPr/>
        </p:nvSpPr>
        <p:spPr>
          <a:xfrm>
            <a:off x="6492240" y="4590288"/>
            <a:ext cx="5242255" cy="1755648"/>
          </a:xfrm>
          <a:prstGeom prst="rect">
            <a:avLst/>
          </a:prstGeom>
          <a:solidFill>
            <a:srgbClr val="F9E0DD"/>
          </a:solidFill>
          <a:ln w="12700">
            <a:solidFill>
              <a:srgbClr val="F9E0DD"/>
            </a:solidFill>
            <a:prstDash val="solid"/>
          </a:ln>
        </p:spPr>
      </p:sp>
      <p:sp>
        <p:nvSpPr>
          <p:cNvPr id="29" name="Text 26"/>
          <p:cNvSpPr txBox="1"/>
          <p:nvPr/>
        </p:nvSpPr>
        <p:spPr>
          <a:xfrm>
            <a:off x="6620256" y="4672584"/>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0" name="Text 27"/>
          <p:cNvSpPr txBox="1"/>
          <p:nvPr/>
        </p:nvSpPr>
        <p:spPr>
          <a:xfrm>
            <a:off x="6620256" y="4983480"/>
            <a:ext cx="4986223" cy="128016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 The reference pipeline gates on RFD3's clash counts; we open that sidecar JSON and do not read it (backlog B1/G2).</a:t>
            </a:r>
            <a:endParaRPr lang="en-US" sz="1000" dirty="0"/>
          </a:p>
        </p:txBody>
      </p:sp>
      <p:sp>
        <p:nvSpPr>
          <p:cNvPr id="31" name="Text 28"/>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Our thresholds are mined from the spec files, theirs from their runner's PROD dataclass — the one comparison in this deck where we are behind.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does composing, validating and scoring a graph cost - in wall clock, in hardware, and in scientific yield?</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loop is not the cost</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Over 16 six-stage runs, everything outside a task - dispatch, absorb, QC, provenance - is a median 2.8s of a 159s run, and running untrusted costs 0.0s [-0.9, 1.2]. The reference manager's adaptive callback is the same order: 0%-2% of wall.</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failures that eat allocations are bounded, in code</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Backend startup and teardown both, measured against two lost allocations and the 64 GPU-h a teardown that never returned cost the reference pipeline - 37% of that job's billed total, spent after the science was done.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headroom is not orchestration</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Tasks fill 95% of elapsed, so the idle hardware is the three GPUs we never give work to - and packing is the lever the reference pipeline already pulled, from 12% to 71%.</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serial baseline and no head-to-head. One lineage, one GPU, three idle, on a different partition from every reference figure - so nothing here divides into a speedup.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SEAM,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 work_dir):</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work_dir=work_dir),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MEASURED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the loop costs, and what is not measured</a:t>
            </a:r>
            <a:endParaRPr lang="en-US" sz="2800" dirty="0"/>
          </a:p>
        </p:txBody>
      </p:sp>
      <p:sp>
        <p:nvSpPr>
          <p:cNvPr id="4" name="Text 2"/>
          <p:cNvSpPr txBox="1"/>
          <p:nvPr/>
        </p:nvSpPr>
        <p:spPr>
          <a:xfrm>
            <a:off x="457200" y="1298448"/>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 six-stage run, by where its seconds go</a:t>
            </a:r>
            <a:endParaRPr lang="en-US" sz="1250" dirty="0"/>
          </a:p>
        </p:txBody>
      </p:sp>
      <p:sp>
        <p:nvSpPr>
          <p:cNvPr id="5" name="Text 3"/>
          <p:cNvSpPr txBox="1"/>
          <p:nvPr/>
        </p:nvSpPr>
        <p:spPr>
          <a:xfrm>
            <a:off x="457200" y="1627632"/>
            <a:ext cx="1033272" cy="384048"/>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untrusted</a:t>
            </a:r>
            <a:endParaRPr lang="en-US" sz="1000" dirty="0"/>
          </a:p>
          <a:p>
            <a:pPr algn="r" indent="0" marL="0">
              <a:buNone/>
            </a:pPr>
            <a:r>
              <a:rPr lang="en-US" sz="1000" dirty="0">
                <a:solidFill>
                  <a:srgbClr val="22303C"/>
                </a:solidFill>
                <a:latin typeface="Calibri" pitchFamily="34" charset="0"/>
                <a:ea typeface="Calibri" pitchFamily="34" charset="-122"/>
                <a:cs typeface="Calibri" pitchFamily="34" charset="-120"/>
              </a:rPr>
              <a:t>(n = 11)</a:t>
            </a:r>
            <a:endParaRPr lang="en-US" sz="1000" dirty="0"/>
          </a:p>
        </p:txBody>
      </p:sp>
      <p:sp>
        <p:nvSpPr>
          <p:cNvPr id="6" name="Shape 4"/>
          <p:cNvSpPr/>
          <p:nvPr/>
        </p:nvSpPr>
        <p:spPr>
          <a:xfrm>
            <a:off x="1600200" y="1664208"/>
            <a:ext cx="3584600" cy="310896"/>
          </a:xfrm>
          <a:prstGeom prst="rect">
            <a:avLst/>
          </a:prstGeom>
          <a:solidFill>
            <a:srgbClr val="1E6470"/>
          </a:solidFill>
          <a:ln w="12700">
            <a:solidFill>
              <a:srgbClr val="1E6470"/>
            </a:solidFill>
            <a:prstDash val="solid"/>
          </a:ln>
        </p:spPr>
      </p:sp>
      <p:sp>
        <p:nvSpPr>
          <p:cNvPr id="7" name="Shape 5"/>
          <p:cNvSpPr/>
          <p:nvPr/>
        </p:nvSpPr>
        <p:spPr>
          <a:xfrm>
            <a:off x="5184800" y="1664208"/>
            <a:ext cx="64008" cy="310896"/>
          </a:xfrm>
          <a:prstGeom prst="rect">
            <a:avLst/>
          </a:prstGeom>
          <a:solidFill>
            <a:srgbClr val="D9731A"/>
          </a:solidFill>
          <a:ln w="12700">
            <a:solidFill>
              <a:srgbClr val="D9731A"/>
            </a:solidFill>
            <a:prstDash val="solid"/>
          </a:ln>
        </p:spPr>
      </p:sp>
      <p:sp>
        <p:nvSpPr>
          <p:cNvPr id="8" name="Text 6"/>
          <p:cNvSpPr txBox="1"/>
          <p:nvPr/>
        </p:nvSpPr>
        <p:spPr>
          <a:xfrm>
            <a:off x="5321960" y="1645920"/>
            <a:ext cx="822960" cy="347472"/>
          </a:xfrm>
          <a:prstGeom prst="rect">
            <a:avLst/>
          </a:prstGeom>
          <a:noFill/>
          <a:ln/>
        </p:spPr>
        <p:txBody>
          <a:bodyPr wrap="square" lIns="0" tIns="0" rIns="0" bIns="0" rtlCol="0" anchor="ctr"/>
          <a:lstStyle/>
          <a:p>
            <a:pPr indent="0" marL="0">
              <a:buNone/>
            </a:pPr>
            <a:r>
              <a:rPr lang="en-US" sz="1050" b="1" dirty="0">
                <a:solidFill>
                  <a:srgbClr val="22303C"/>
                </a:solidFill>
                <a:latin typeface="Calibri" pitchFamily="34" charset="0"/>
                <a:ea typeface="Calibri" pitchFamily="34" charset="-122"/>
                <a:cs typeface="Calibri" pitchFamily="34" charset="-120"/>
              </a:rPr>
              <a:t>167.0s</a:t>
            </a:r>
            <a:endParaRPr lang="en-US" sz="1050" dirty="0"/>
          </a:p>
        </p:txBody>
      </p:sp>
      <p:sp>
        <p:nvSpPr>
          <p:cNvPr id="9" name="Text 7"/>
          <p:cNvSpPr txBox="1"/>
          <p:nvPr/>
        </p:nvSpPr>
        <p:spPr>
          <a:xfrm>
            <a:off x="457200" y="2340864"/>
            <a:ext cx="1033272" cy="384048"/>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trusted</a:t>
            </a:r>
            <a:endParaRPr lang="en-US" sz="1000" dirty="0"/>
          </a:p>
          <a:p>
            <a:pPr algn="r" indent="0" marL="0">
              <a:buNone/>
            </a:pPr>
            <a:r>
              <a:rPr lang="en-US" sz="1000" dirty="0">
                <a:solidFill>
                  <a:srgbClr val="22303C"/>
                </a:solidFill>
                <a:latin typeface="Calibri" pitchFamily="34" charset="0"/>
                <a:ea typeface="Calibri" pitchFamily="34" charset="-122"/>
                <a:cs typeface="Calibri" pitchFamily="34" charset="-120"/>
              </a:rPr>
              <a:t>(n = 5)</a:t>
            </a:r>
            <a:endParaRPr lang="en-US" sz="1000" dirty="0"/>
          </a:p>
        </p:txBody>
      </p:sp>
      <p:sp>
        <p:nvSpPr>
          <p:cNvPr id="10" name="Shape 8"/>
          <p:cNvSpPr/>
          <p:nvPr/>
        </p:nvSpPr>
        <p:spPr>
          <a:xfrm>
            <a:off x="1600200" y="2377440"/>
            <a:ext cx="3414217" cy="310896"/>
          </a:xfrm>
          <a:prstGeom prst="rect">
            <a:avLst/>
          </a:prstGeom>
          <a:solidFill>
            <a:srgbClr val="1E6470"/>
          </a:solidFill>
          <a:ln w="12700">
            <a:solidFill>
              <a:srgbClr val="1E6470"/>
            </a:solidFill>
            <a:prstDash val="solid"/>
          </a:ln>
        </p:spPr>
      </p:sp>
      <p:sp>
        <p:nvSpPr>
          <p:cNvPr id="11" name="Shape 9"/>
          <p:cNvSpPr/>
          <p:nvPr/>
        </p:nvSpPr>
        <p:spPr>
          <a:xfrm>
            <a:off x="5014417" y="2377440"/>
            <a:ext cx="64008" cy="310896"/>
          </a:xfrm>
          <a:prstGeom prst="rect">
            <a:avLst/>
          </a:prstGeom>
          <a:solidFill>
            <a:srgbClr val="D9731A"/>
          </a:solidFill>
          <a:ln w="12700">
            <a:solidFill>
              <a:srgbClr val="D9731A"/>
            </a:solidFill>
            <a:prstDash val="solid"/>
          </a:ln>
        </p:spPr>
      </p:sp>
      <p:sp>
        <p:nvSpPr>
          <p:cNvPr id="12" name="Text 10"/>
          <p:cNvSpPr txBox="1"/>
          <p:nvPr/>
        </p:nvSpPr>
        <p:spPr>
          <a:xfrm>
            <a:off x="5151577" y="2359152"/>
            <a:ext cx="822960" cy="347472"/>
          </a:xfrm>
          <a:prstGeom prst="rect">
            <a:avLst/>
          </a:prstGeom>
          <a:noFill/>
          <a:ln/>
        </p:spPr>
        <p:txBody>
          <a:bodyPr wrap="square" lIns="0" tIns="0" rIns="0" bIns="0" rtlCol="0" anchor="ctr"/>
          <a:lstStyle/>
          <a:p>
            <a:pPr indent="0" marL="0">
              <a:buNone/>
            </a:pPr>
            <a:r>
              <a:rPr lang="en-US" sz="1050" b="1" dirty="0">
                <a:solidFill>
                  <a:srgbClr val="22303C"/>
                </a:solidFill>
                <a:latin typeface="Calibri" pitchFamily="34" charset="0"/>
                <a:ea typeface="Calibri" pitchFamily="34" charset="-122"/>
                <a:cs typeface="Calibri" pitchFamily="34" charset="-120"/>
              </a:rPr>
              <a:t>159.1s</a:t>
            </a:r>
            <a:endParaRPr lang="en-US" sz="1050" dirty="0"/>
          </a:p>
        </p:txBody>
      </p:sp>
      <p:sp>
        <p:nvSpPr>
          <p:cNvPr id="13" name="Shape 11"/>
          <p:cNvSpPr/>
          <p:nvPr/>
        </p:nvSpPr>
        <p:spPr>
          <a:xfrm>
            <a:off x="1600200" y="3035808"/>
            <a:ext cx="4206240" cy="91"/>
          </a:xfrm>
          <a:prstGeom prst="line">
            <a:avLst/>
          </a:prstGeom>
          <a:noFill/>
          <a:ln w="12700">
            <a:solidFill>
              <a:srgbClr val="C9D1D8"/>
            </a:solidFill>
            <a:prstDash val="solid"/>
          </a:ln>
        </p:spPr>
      </p:sp>
      <p:sp>
        <p:nvSpPr>
          <p:cNvPr id="14" name="Shape 12"/>
          <p:cNvSpPr/>
          <p:nvPr/>
        </p:nvSpPr>
        <p:spPr>
          <a:xfrm>
            <a:off x="1600200" y="3035808"/>
            <a:ext cx="91" cy="64008"/>
          </a:xfrm>
          <a:prstGeom prst="line">
            <a:avLst/>
          </a:prstGeom>
          <a:noFill/>
          <a:ln w="12700">
            <a:solidFill>
              <a:srgbClr val="C9D1D8"/>
            </a:solidFill>
            <a:prstDash val="solid"/>
          </a:ln>
        </p:spPr>
      </p:sp>
      <p:sp>
        <p:nvSpPr>
          <p:cNvPr id="15" name="Text 13"/>
          <p:cNvSpPr txBox="1"/>
          <p:nvPr/>
        </p:nvSpPr>
        <p:spPr>
          <a:xfrm>
            <a:off x="132588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0</a:t>
            </a:r>
            <a:endParaRPr lang="en-US" sz="900" dirty="0"/>
          </a:p>
        </p:txBody>
      </p:sp>
      <p:sp>
        <p:nvSpPr>
          <p:cNvPr id="16" name="Shape 14"/>
          <p:cNvSpPr/>
          <p:nvPr/>
        </p:nvSpPr>
        <p:spPr>
          <a:xfrm>
            <a:off x="2910840" y="3035808"/>
            <a:ext cx="91" cy="64008"/>
          </a:xfrm>
          <a:prstGeom prst="line">
            <a:avLst/>
          </a:prstGeom>
          <a:noFill/>
          <a:ln w="12700">
            <a:solidFill>
              <a:srgbClr val="C9D1D8"/>
            </a:solidFill>
            <a:prstDash val="solid"/>
          </a:ln>
        </p:spPr>
      </p:sp>
      <p:sp>
        <p:nvSpPr>
          <p:cNvPr id="17" name="Text 15"/>
          <p:cNvSpPr txBox="1"/>
          <p:nvPr/>
        </p:nvSpPr>
        <p:spPr>
          <a:xfrm>
            <a:off x="263652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60</a:t>
            </a:r>
            <a:endParaRPr lang="en-US" sz="900" dirty="0"/>
          </a:p>
        </p:txBody>
      </p:sp>
      <p:sp>
        <p:nvSpPr>
          <p:cNvPr id="18" name="Shape 16"/>
          <p:cNvSpPr/>
          <p:nvPr/>
        </p:nvSpPr>
        <p:spPr>
          <a:xfrm>
            <a:off x="4221480" y="3035808"/>
            <a:ext cx="91" cy="64008"/>
          </a:xfrm>
          <a:prstGeom prst="line">
            <a:avLst/>
          </a:prstGeom>
          <a:noFill/>
          <a:ln w="12700">
            <a:solidFill>
              <a:srgbClr val="C9D1D8"/>
            </a:solidFill>
            <a:prstDash val="solid"/>
          </a:ln>
        </p:spPr>
      </p:sp>
      <p:sp>
        <p:nvSpPr>
          <p:cNvPr id="19" name="Text 17"/>
          <p:cNvSpPr txBox="1"/>
          <p:nvPr/>
        </p:nvSpPr>
        <p:spPr>
          <a:xfrm>
            <a:off x="394716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120</a:t>
            </a:r>
            <a:endParaRPr lang="en-US" sz="900" dirty="0"/>
          </a:p>
        </p:txBody>
      </p:sp>
      <p:sp>
        <p:nvSpPr>
          <p:cNvPr id="20" name="Shape 18"/>
          <p:cNvSpPr/>
          <p:nvPr/>
        </p:nvSpPr>
        <p:spPr>
          <a:xfrm>
            <a:off x="5532120" y="3035808"/>
            <a:ext cx="91" cy="64008"/>
          </a:xfrm>
          <a:prstGeom prst="line">
            <a:avLst/>
          </a:prstGeom>
          <a:noFill/>
          <a:ln w="12700">
            <a:solidFill>
              <a:srgbClr val="C9D1D8"/>
            </a:solidFill>
            <a:prstDash val="solid"/>
          </a:ln>
        </p:spPr>
      </p:sp>
      <p:sp>
        <p:nvSpPr>
          <p:cNvPr id="21" name="Text 19"/>
          <p:cNvSpPr txBox="1"/>
          <p:nvPr/>
        </p:nvSpPr>
        <p:spPr>
          <a:xfrm>
            <a:off x="5257800" y="3108960"/>
            <a:ext cx="548640" cy="237744"/>
          </a:xfrm>
          <a:prstGeom prst="rect">
            <a:avLst/>
          </a:prstGeom>
          <a:noFill/>
          <a:ln/>
        </p:spPr>
        <p:txBody>
          <a:bodyPr wrap="square" lIns="0" tIns="0" rIns="0" bIns="0" rtlCol="0" anchor="ctr"/>
          <a:lstStyle/>
          <a:p>
            <a:pPr algn="ctr" indent="0" marL="0">
              <a:buNone/>
            </a:pPr>
            <a:r>
              <a:rPr lang="en-US" sz="900" dirty="0">
                <a:solidFill>
                  <a:srgbClr val="5E6B75"/>
                </a:solidFill>
                <a:latin typeface="Calibri" pitchFamily="34" charset="0"/>
                <a:ea typeface="Calibri" pitchFamily="34" charset="-122"/>
                <a:cs typeface="Calibri" pitchFamily="34" charset="-120"/>
              </a:rPr>
              <a:t>180</a:t>
            </a:r>
            <a:endParaRPr lang="en-US" sz="900" dirty="0"/>
          </a:p>
        </p:txBody>
      </p:sp>
      <p:sp>
        <p:nvSpPr>
          <p:cNvPr id="22" name="Text 20"/>
          <p:cNvSpPr txBox="1"/>
          <p:nvPr/>
        </p:nvSpPr>
        <p:spPr>
          <a:xfrm>
            <a:off x="1600200" y="3310128"/>
            <a:ext cx="3931920" cy="237744"/>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seconds of run wall clock, median</a:t>
            </a:r>
            <a:endParaRPr lang="en-US" sz="950" dirty="0"/>
          </a:p>
        </p:txBody>
      </p:sp>
      <p:sp>
        <p:nvSpPr>
          <p:cNvPr id="23" name="Shape 21"/>
          <p:cNvSpPr/>
          <p:nvPr/>
        </p:nvSpPr>
        <p:spPr>
          <a:xfrm>
            <a:off x="1600200" y="3547872"/>
            <a:ext cx="1234440" cy="237744"/>
          </a:xfrm>
          <a:prstGeom prst="roundRect">
            <a:avLst>
              <a:gd name="adj" fmla="val 57692"/>
            </a:avLst>
          </a:prstGeom>
          <a:solidFill>
            <a:srgbClr val="1E6470"/>
          </a:solidFill>
          <a:ln w="12700">
            <a:solidFill>
              <a:srgbClr val="1E6470"/>
            </a:solidFill>
            <a:prstDash val="solid"/>
          </a:ln>
        </p:spPr>
      </p:sp>
      <p:sp>
        <p:nvSpPr>
          <p:cNvPr id="24" name="Text 22"/>
          <p:cNvSpPr txBox="1"/>
          <p:nvPr/>
        </p:nvSpPr>
        <p:spPr>
          <a:xfrm>
            <a:off x="1600200" y="3547872"/>
            <a:ext cx="12344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inside a task</a:t>
            </a:r>
            <a:endParaRPr lang="en-US" sz="900" dirty="0"/>
          </a:p>
        </p:txBody>
      </p:sp>
      <p:sp>
        <p:nvSpPr>
          <p:cNvPr id="25" name="Shape 23"/>
          <p:cNvSpPr/>
          <p:nvPr/>
        </p:nvSpPr>
        <p:spPr>
          <a:xfrm>
            <a:off x="2926080" y="3547872"/>
            <a:ext cx="1463040" cy="237744"/>
          </a:xfrm>
          <a:prstGeom prst="roundRect">
            <a:avLst>
              <a:gd name="adj" fmla="val 57692"/>
            </a:avLst>
          </a:prstGeom>
          <a:solidFill>
            <a:srgbClr val="D9731A"/>
          </a:solidFill>
          <a:ln w="12700">
            <a:solidFill>
              <a:srgbClr val="D9731A"/>
            </a:solidFill>
            <a:prstDash val="solid"/>
          </a:ln>
        </p:spPr>
      </p:sp>
      <p:sp>
        <p:nvSpPr>
          <p:cNvPr id="26" name="Text 24"/>
          <p:cNvSpPr txBox="1"/>
          <p:nvPr/>
        </p:nvSpPr>
        <p:spPr>
          <a:xfrm>
            <a:off x="2926080" y="3547872"/>
            <a:ext cx="1463040"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everything else</a:t>
            </a:r>
            <a:endParaRPr lang="en-US" sz="900" dirty="0"/>
          </a:p>
        </p:txBody>
      </p:sp>
      <p:sp>
        <p:nvSpPr>
          <p:cNvPr id="27" name="Text 25"/>
          <p:cNvSpPr txBox="1"/>
          <p:nvPr/>
        </p:nvSpPr>
        <p:spPr>
          <a:xfrm>
            <a:off x="457200" y="3877056"/>
            <a:ext cx="5486400" cy="658368"/>
          </a:xfrm>
          <a:prstGeom prst="rect">
            <a:avLst/>
          </a:prstGeom>
          <a:noFill/>
          <a:ln/>
        </p:spPr>
        <p:txBody>
          <a:bodyPr wrap="square" lIns="0" tIns="0" rIns="0" bIns="0" rtlCol="0" anchor="t"/>
          <a:lstStyle/>
          <a:p>
            <a:pPr indent="0" marL="0">
              <a:buNone/>
            </a:pPr>
            <a:r>
              <a:rPr lang="en-US" sz="1050" b="1" dirty="0">
                <a:solidFill>
                  <a:srgbClr val="D9731A"/>
                </a:solidFill>
                <a:latin typeface="Calibri" pitchFamily="34" charset="0"/>
                <a:ea typeface="Calibri" pitchFamily="34" charset="-122"/>
                <a:cs typeface="Calibri" pitchFamily="34" charset="-120"/>
              </a:rPr>
              <a:t>Everything else</a:t>
            </a:r>
            <a:pPr indent="0" marL="0">
              <a:buNone/>
            </a:pPr>
            <a:r>
              <a:rPr lang="en-US" sz="1050" dirty="0">
                <a:solidFill>
                  <a:srgbClr val="22303C"/>
                </a:solidFill>
                <a:latin typeface="Calibri" pitchFamily="34" charset="0"/>
                <a:ea typeface="Calibri" pitchFamily="34" charset="-122"/>
                <a:cs typeface="Calibri" pitchFamily="34" charset="-120"/>
              </a:rPr>
              <a:t> is dispatch, absorb, QC, Pareto, provenance and the ledger: a median 2.8s. Running UNTRUSTED — forced dry-run, cost cap, suspect verdict — costs 0.0s [-0.9, 1.2] on top of that. The gates are not the cost.</a:t>
            </a:r>
            <a:endParaRPr lang="en-US" sz="1050" dirty="0"/>
          </a:p>
        </p:txBody>
      </p:sp>
      <p:sp>
        <p:nvSpPr>
          <p:cNvPr id="28" name="Text 26"/>
          <p:cNvSpPr txBox="1"/>
          <p:nvPr/>
        </p:nvSpPr>
        <p:spPr>
          <a:xfrm>
            <a:off x="457200" y="4572000"/>
            <a:ext cx="5486400" cy="548640"/>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Declared vs measured, per six-stage chain: 0.17 GPU-h declared, 0.0285 measured (max 0.0337). Every declared figure is ≥2.25× the worst task observed, deliberately — gate 5 and the untrusted cap REFUSE graphs against them, so they err high.</a:t>
            </a:r>
            <a:endParaRPr lang="en-US" sz="1000" dirty="0"/>
          </a:p>
        </p:txBody>
      </p:sp>
      <p:sp>
        <p:nvSpPr>
          <p:cNvPr id="29" name="Shape 27"/>
          <p:cNvSpPr/>
          <p:nvPr/>
        </p:nvSpPr>
        <p:spPr>
          <a:xfrm>
            <a:off x="6245352" y="1298448"/>
            <a:ext cx="5486400" cy="2066544"/>
          </a:xfrm>
          <a:prstGeom prst="rect">
            <a:avLst/>
          </a:prstGeom>
          <a:solidFill>
            <a:srgbClr val="EEF2F5"/>
          </a:solidFill>
          <a:ln w="12700">
            <a:solidFill>
              <a:srgbClr val="EEF2F5"/>
            </a:solidFill>
            <a:prstDash val="solid"/>
          </a:ln>
        </p:spPr>
      </p:sp>
      <p:sp>
        <p:nvSpPr>
          <p:cNvPr id="30" name="Text 28"/>
          <p:cNvSpPr txBox="1"/>
          <p:nvPr/>
        </p:nvSpPr>
        <p:spPr>
          <a:xfrm>
            <a:off x="6373368" y="1380744"/>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31" name="Text 29"/>
          <p:cNvSpPr txBox="1"/>
          <p:nvPr/>
        </p:nvSpPr>
        <p:spPr>
          <a:xfrm>
            <a:off x="6373368" y="1691640"/>
            <a:ext cx="5230368" cy="15910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101 timed tasks over 5 jobs, from asyncflow's own RUNNING → DONE lines in campaign.log — the only per-task wall time a run records.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Per-stage spread: rfd3 41s median, 15 of 17 tasks in 40–45s, one outlier at 145.7s.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Where the allocation goes: tasks 95% of elapsed, CPU efficiency 42%, peak memory 16.3 of 240 GB.</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Queue wait, unbilled but real: 184–26,626s against campaign elapsed of 191–821s. It is the real latency of a test cycle, and it is nobody's code.</a:t>
            </a:r>
            <a:endParaRPr lang="en-US" sz="950" dirty="0"/>
          </a:p>
        </p:txBody>
      </p:sp>
      <p:sp>
        <p:nvSpPr>
          <p:cNvPr id="32" name="Shape 30"/>
          <p:cNvSpPr/>
          <p:nvPr/>
        </p:nvSpPr>
        <p:spPr>
          <a:xfrm>
            <a:off x="6245352" y="3456432"/>
            <a:ext cx="5486400" cy="2066544"/>
          </a:xfrm>
          <a:prstGeom prst="rect">
            <a:avLst/>
          </a:prstGeom>
          <a:solidFill>
            <a:srgbClr val="F9E0DD"/>
          </a:solidFill>
          <a:ln w="12700">
            <a:solidFill>
              <a:srgbClr val="F9E0DD"/>
            </a:solidFill>
            <a:prstDash val="solid"/>
          </a:ln>
        </p:spPr>
      </p:sp>
      <p:sp>
        <p:nvSpPr>
          <p:cNvPr id="33" name="Text 31"/>
          <p:cNvSpPr txBox="1"/>
          <p:nvPr/>
        </p:nvSpPr>
        <p:spPr>
          <a:xfrm>
            <a:off x="6373368" y="3538728"/>
            <a:ext cx="52303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34" name="Text 32"/>
          <p:cNvSpPr txBox="1"/>
          <p:nvPr/>
        </p:nvSpPr>
        <p:spPr>
          <a:xfrm>
            <a:off x="6373368" y="3849624"/>
            <a:ext cx="5230368" cy="1591056"/>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 serial baseline exists, so nothing on this slide divides into a speedup.</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GPU utilisation is recorded nowhere in a run. ≤17% of billed GPU time is an UPPER BOUND with model load counted inside it.</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Concurrency has never happened: every run is one serial chain, so this is not a scheduling result. Packing more than one lineage onto a GPU has never been attempted.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ledger's cost field is the admission estimate echoed back. It is not evidence and no figure here uses it.</a:t>
            </a:r>
            <a:endParaRPr lang="en-US" sz="950" dirty="0"/>
          </a:p>
        </p:txBody>
      </p:sp>
      <p:sp>
        <p:nvSpPr>
          <p:cNvPr id="35" name="Shape 33"/>
          <p:cNvSpPr/>
          <p:nvPr/>
        </p:nvSpPr>
        <p:spPr>
          <a:xfrm>
            <a:off x="457200" y="5669280"/>
            <a:ext cx="11274552" cy="566928"/>
          </a:xfrm>
          <a:prstGeom prst="rect">
            <a:avLst/>
          </a:prstGeom>
          <a:solidFill>
            <a:srgbClr val="16222B"/>
          </a:solidFill>
          <a:ln w="12700">
            <a:solidFill>
              <a:srgbClr val="16222B"/>
            </a:solidFill>
            <a:prstDash val="solid"/>
          </a:ln>
        </p:spPr>
      </p:sp>
      <p:sp>
        <p:nvSpPr>
          <p:cNvPr id="36" name="Text 34"/>
          <p:cNvSpPr txBox="1"/>
          <p:nvPr/>
        </p:nvSpPr>
        <p:spPr>
          <a:xfrm>
            <a:off x="640080" y="5742432"/>
            <a:ext cx="10927080" cy="420624"/>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Where this stops being a systems question:  </a:t>
            </a:r>
            <a:pPr indent="0" marL="0">
              <a:buNone/>
            </a:pPr>
            <a:r>
              <a:rPr lang="en-US" sz="1200" dirty="0">
                <a:solidFill>
                  <a:srgbClr val="DCE5EC"/>
                </a:solidFill>
                <a:latin typeface="Calibri" pitchFamily="34" charset="0"/>
                <a:ea typeface="Calibri" pitchFamily="34" charset="-122"/>
                <a:cs typeface="Calibri" pitchFamily="34" charset="-120"/>
              </a:rPr>
              <a:t>the loop is ~2% of a run and the hardware is 83% idle. The next real gain is not in this orchestrator — it is giving the other three GPUs work, which is a lineage-count question, not a scheduling one.</a:t>
            </a:r>
            <a:endParaRPr lang="en-US" sz="1200" dirty="0"/>
          </a:p>
        </p:txBody>
      </p:sp>
      <p:sp>
        <p:nvSpPr>
          <p:cNvPr id="37"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source: performance_analysis report 2026-10-09 over impress_a_runs_2026-10-08.tar.gz (22702568, 22726105, 22728140 trust; 22684607, 22692304 smoke), code at d3c20ca</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Seven jobs: what storage bought, and what trust cost</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import pyrosetta off HDD-backed Lustre: 471 s for a 598 MB rosetta.so, demand-paged. torch: ~280 s.</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On NVMe both are seconds — the single variable behind rows one and two.</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And we did not find it: the $WORK_DIR move is ported from their own PR #67.</a:t>
            </a:r>
            <a:endParaRPr lang="en-US" sz="95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Shape 63"/>
          <p:cNvSpPr/>
          <p:nvPr/>
        </p:nvSpPr>
        <p:spPr>
          <a:xfrm>
            <a:off x="457200" y="3913632"/>
            <a:ext cx="8229600" cy="292608"/>
          </a:xfrm>
          <a:prstGeom prst="rect">
            <a:avLst/>
          </a:prstGeom>
          <a:solidFill>
            <a:srgbClr val="2E7D5B"/>
          </a:solidFill>
          <a:ln w="12700">
            <a:solidFill>
              <a:srgbClr val="2E7D5B"/>
            </a:solidFill>
            <a:prstDash val="solid"/>
          </a:ln>
        </p:spPr>
      </p:sp>
      <p:sp>
        <p:nvSpPr>
          <p:cNvPr id="66" name="Text 64"/>
          <p:cNvSpPr txBox="1"/>
          <p:nvPr/>
        </p:nvSpPr>
        <p:spPr>
          <a:xfrm>
            <a:off x="566928" y="3913632"/>
            <a:ext cx="8046720" cy="292608"/>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Then three jobs about the SHAPE, not the science — 15 runs, 6/6 tasks every time</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4242816"/>
          <a:ext cx="8229600" cy="914400"/>
        </p:xfrm>
        <a:graphic>
          <a:graphicData uri="http://schemas.openxmlformats.org/drawingml/2006/table">
            <a:tbl>
              <a:tblPr/>
              <a:tblGrid>
                <a:gridCol w="731520"/>
                <a:gridCol w="3749040"/>
                <a:gridCol w="3749040"/>
              </a:tblGrid>
              <a:tr h="23774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22726105 · 13m41s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22728140 · 13m37s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clean → PROMOTED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r0003</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r0004</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C0392B"/>
                          </a:solidFill>
                          <a:latin typeface="Calibri" pitchFamily="34" charset="0"/>
                          <a:ea typeface="Calibri" pitchFamily="34" charset="-122"/>
                          <a:cs typeface="Calibri" pitchFamily="34" charset="-120"/>
                        </a:rPr>
                        <a:t>trusted · INTEGRITY fail → demoted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37744">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r0005</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provisional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b="1" dirty="0">
                          <a:solidFill>
                            <a:srgbClr val="2E7D4F"/>
                          </a:solidFill>
                          <a:latin typeface="Calibri" pitchFamily="34" charset="0"/>
                          <a:ea typeface="Calibri" pitchFamily="34" charset="-122"/>
                          <a:cs typeface="Calibri" pitchFamily="34" charset="-120"/>
                        </a:rPr>
                        <a:t>trusted · fail (acceptance)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8" name="Text 65"/>
          <p:cNvSpPr txBox="1"/>
          <p:nvPr/>
        </p:nvSpPr>
        <p:spPr>
          <a:xfrm>
            <a:off x="457200" y="5925312"/>
            <a:ext cx="8229600" cy="512064"/>
          </a:xfrm>
          <a:prstGeom prst="rect">
            <a:avLst/>
          </a:prstGeom>
          <a:noFill/>
          <a:ln/>
        </p:spPr>
        <p:txBody>
          <a:bodyPr wrap="square" lIns="0" tIns="0" rIns="0" bIns="0" rtlCol="0" anchor="t"/>
          <a:lstStyle/>
          <a:p>
            <a:pPr indent="0" marL="0">
              <a:buNone/>
            </a:pPr>
            <a:r>
              <a:rPr lang="en-US" sz="950" b="1" dirty="0">
                <a:solidFill>
                  <a:srgbClr val="22303C"/>
                </a:solidFill>
                <a:latin typeface="Calibri" pitchFamily="34" charset="0"/>
                <a:ea typeface="Calibri" pitchFamily="34" charset="-122"/>
                <a:cs typeface="Calibri" pitchFamily="34" charset="-120"/>
              </a:rPr>
              <a:t>22702568 ran 30/30 tasks clean and promoted nothing</a:t>
            </a:r>
            <a:pPr indent="0" marL="0">
              <a:buNone/>
            </a:pPr>
            <a:r>
              <a:rPr lang="en-US" sz="950" dirty="0">
                <a:solidFill>
                  <a:srgbClr val="22303C"/>
                </a:solidFill>
                <a:latin typeface="Calibri" pitchFamily="34" charset="0"/>
                <a:ea typeface="Calibri" pitchFamily="34" charset="-122"/>
                <a:cs typeface="Calibri" pitchFamily="34" charset="-120"/>
              </a:rPr>
              <a:t> — the all-gates rule made promotion a function of target difficulty (decision 0013). Two defects, both fixed: packmin's total_score &lt;= 1000 bound was ONE observation wide and demoted r0004 over a +1064.5 pose fastrelax took to -336, and the driver counted a Backtrack as a cycle, so every job asked for 6 runs and ran 5.</a:t>
            </a:r>
            <a:endParaRPr lang="en-US" sz="950" dirty="0"/>
          </a:p>
        </p:txBody>
      </p:sp>
      <p:sp>
        <p:nvSpPr>
          <p:cNvPr id="69" name="Text 6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the trust runs from plans/next-run-promotion.md and plans/next-run-sustained-trust.md — the raw logs live under $WORK_DIR/impress_a_runs on Delta. Bars are tool time.</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PERFORMANCE · THE SCIENTIFIC HALF</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Where scale stops buying yield</a:t>
            </a:r>
            <a:endParaRPr lang="en-US" sz="2800" dirty="0"/>
          </a:p>
        </p:txBody>
      </p:sp>
      <p:sp>
        <p:nvSpPr>
          <p:cNvPr id="4" name="Text 2"/>
          <p:cNvSpPr txBox="1"/>
          <p:nvPr/>
        </p:nvSpPr>
        <p:spPr>
          <a:xfrm>
            <a:off x="457200" y="1298448"/>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Its search improves, then plateaus — by the middle third</a:t>
            </a:r>
            <a:endParaRPr lang="en-US" sz="1250" dirty="0"/>
          </a:p>
        </p:txBody>
      </p:sp>
      <p:sp>
        <p:nvSpPr>
          <p:cNvPr id="5" name="Shape 3"/>
          <p:cNvSpPr/>
          <p:nvPr/>
        </p:nvSpPr>
        <p:spPr>
          <a:xfrm>
            <a:off x="457200" y="1627632"/>
            <a:ext cx="1463040" cy="566928"/>
          </a:xfrm>
          <a:prstGeom prst="roundRect">
            <a:avLst>
              <a:gd name="adj" fmla="val 12903"/>
            </a:avLst>
          </a:prstGeom>
          <a:solidFill>
            <a:srgbClr val="F5EEE2"/>
          </a:solidFill>
          <a:ln w="19050">
            <a:solidFill>
              <a:srgbClr val="8A6A3B"/>
            </a:solidFill>
            <a:prstDash val="solid"/>
          </a:ln>
        </p:spPr>
      </p:sp>
      <p:sp>
        <p:nvSpPr>
          <p:cNvPr id="6" name="Text 4"/>
          <p:cNvSpPr txBox="1"/>
          <p:nvPr/>
        </p:nvSpPr>
        <p:spPr>
          <a:xfrm>
            <a:off x="53035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90.7</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first third</a:t>
            </a:r>
            <a:endParaRPr lang="en-US" sz="1400" dirty="0"/>
          </a:p>
        </p:txBody>
      </p:sp>
      <p:sp>
        <p:nvSpPr>
          <p:cNvPr id="7" name="Shape 5"/>
          <p:cNvSpPr/>
          <p:nvPr/>
        </p:nvSpPr>
        <p:spPr>
          <a:xfrm>
            <a:off x="1956816" y="1911096"/>
            <a:ext cx="338328" cy="91"/>
          </a:xfrm>
          <a:prstGeom prst="line">
            <a:avLst/>
          </a:prstGeom>
          <a:noFill/>
          <a:ln w="19050">
            <a:solidFill>
              <a:srgbClr val="2E7D4F"/>
            </a:solidFill>
            <a:prstDash val="solid"/>
            <a:tailEnd type="triangle"/>
          </a:ln>
        </p:spPr>
      </p:sp>
      <p:sp>
        <p:nvSpPr>
          <p:cNvPr id="8" name="Text 6"/>
          <p:cNvSpPr txBox="1"/>
          <p:nvPr/>
        </p:nvSpPr>
        <p:spPr>
          <a:xfrm>
            <a:off x="1828800" y="1938528"/>
            <a:ext cx="640080" cy="237744"/>
          </a:xfrm>
          <a:prstGeom prst="rect">
            <a:avLst/>
          </a:prstGeom>
          <a:noFill/>
          <a:ln/>
        </p:spPr>
        <p:txBody>
          <a:bodyPr wrap="square" lIns="0" tIns="0" rIns="0" bIns="0" rtlCol="0" anchor="t"/>
          <a:lstStyle/>
          <a:p>
            <a:pPr algn="ctr" indent="0" marL="0">
              <a:buNone/>
            </a:pPr>
            <a:r>
              <a:rPr lang="en-US" sz="1000" b="1" dirty="0">
                <a:solidFill>
                  <a:srgbClr val="2E7D4F"/>
                </a:solidFill>
                <a:latin typeface="Calibri" pitchFamily="34" charset="0"/>
                <a:ea typeface="Calibri" pitchFamily="34" charset="-122"/>
                <a:cs typeface="Calibri" pitchFamily="34" charset="-120"/>
              </a:rPr>
              <a:t>+4.5</a:t>
            </a:r>
            <a:endParaRPr lang="en-US" sz="1000" dirty="0"/>
          </a:p>
        </p:txBody>
      </p:sp>
      <p:sp>
        <p:nvSpPr>
          <p:cNvPr id="9" name="Shape 7"/>
          <p:cNvSpPr/>
          <p:nvPr/>
        </p:nvSpPr>
        <p:spPr>
          <a:xfrm>
            <a:off x="2331720" y="1627632"/>
            <a:ext cx="1463040" cy="566928"/>
          </a:xfrm>
          <a:prstGeom prst="roundRect">
            <a:avLst>
              <a:gd name="adj" fmla="val 12903"/>
            </a:avLst>
          </a:prstGeom>
          <a:solidFill>
            <a:srgbClr val="F5EEE2"/>
          </a:solidFill>
          <a:ln w="19050">
            <a:solidFill>
              <a:srgbClr val="8A6A3B"/>
            </a:solidFill>
            <a:prstDash val="solid"/>
          </a:ln>
        </p:spPr>
      </p:sp>
      <p:sp>
        <p:nvSpPr>
          <p:cNvPr id="10" name="Text 8"/>
          <p:cNvSpPr txBox="1"/>
          <p:nvPr/>
        </p:nvSpPr>
        <p:spPr>
          <a:xfrm>
            <a:off x="240487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95.2</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middle</a:t>
            </a:r>
            <a:endParaRPr lang="en-US" sz="1400" dirty="0"/>
          </a:p>
        </p:txBody>
      </p:sp>
      <p:sp>
        <p:nvSpPr>
          <p:cNvPr id="11" name="Shape 9"/>
          <p:cNvSpPr/>
          <p:nvPr/>
        </p:nvSpPr>
        <p:spPr>
          <a:xfrm>
            <a:off x="3831336" y="1911096"/>
            <a:ext cx="338328" cy="91"/>
          </a:xfrm>
          <a:prstGeom prst="line">
            <a:avLst/>
          </a:prstGeom>
          <a:noFill/>
          <a:ln w="19050">
            <a:solidFill>
              <a:srgbClr val="5E6B75"/>
            </a:solidFill>
            <a:prstDash val="solid"/>
            <a:tailEnd type="triangle"/>
          </a:ln>
        </p:spPr>
      </p:sp>
      <p:sp>
        <p:nvSpPr>
          <p:cNvPr id="12" name="Text 10"/>
          <p:cNvSpPr txBox="1"/>
          <p:nvPr/>
        </p:nvSpPr>
        <p:spPr>
          <a:xfrm>
            <a:off x="3703320" y="1938528"/>
            <a:ext cx="640080" cy="237744"/>
          </a:xfrm>
          <a:prstGeom prst="rect">
            <a:avLst/>
          </a:prstGeom>
          <a:noFill/>
          <a:ln/>
        </p:spPr>
        <p:txBody>
          <a:bodyPr wrap="square" lIns="0" tIns="0" rIns="0" bIns="0" rtlCol="0" anchor="t"/>
          <a:lstStyle/>
          <a:p>
            <a:pPr algn="ctr" indent="0" marL="0">
              <a:buNone/>
            </a:pPr>
            <a:r>
              <a:rPr lang="en-US" sz="1000" b="1" dirty="0">
                <a:solidFill>
                  <a:srgbClr val="5E6B75"/>
                </a:solidFill>
                <a:latin typeface="Calibri" pitchFamily="34" charset="0"/>
                <a:ea typeface="Calibri" pitchFamily="34" charset="-122"/>
                <a:cs typeface="Calibri" pitchFamily="34" charset="-120"/>
              </a:rPr>
              <a:t>-0.2</a:t>
            </a:r>
            <a:endParaRPr lang="en-US" sz="1000" dirty="0"/>
          </a:p>
        </p:txBody>
      </p:sp>
      <p:sp>
        <p:nvSpPr>
          <p:cNvPr id="13" name="Shape 11"/>
          <p:cNvSpPr/>
          <p:nvPr/>
        </p:nvSpPr>
        <p:spPr>
          <a:xfrm>
            <a:off x="4206240" y="1627632"/>
            <a:ext cx="1463040" cy="566928"/>
          </a:xfrm>
          <a:prstGeom prst="roundRect">
            <a:avLst>
              <a:gd name="adj" fmla="val 12903"/>
            </a:avLst>
          </a:prstGeom>
          <a:solidFill>
            <a:srgbClr val="F5EEE2"/>
          </a:solidFill>
          <a:ln w="19050">
            <a:solidFill>
              <a:srgbClr val="8A6A3B"/>
            </a:solidFill>
            <a:prstDash val="solid"/>
          </a:ln>
        </p:spPr>
      </p:sp>
      <p:sp>
        <p:nvSpPr>
          <p:cNvPr id="14" name="Text 12"/>
          <p:cNvSpPr txBox="1"/>
          <p:nvPr/>
        </p:nvSpPr>
        <p:spPr>
          <a:xfrm>
            <a:off x="4279392" y="1673352"/>
            <a:ext cx="1316736" cy="475488"/>
          </a:xfrm>
          <a:prstGeom prst="rect">
            <a:avLst/>
          </a:prstGeom>
          <a:noFill/>
          <a:ln/>
        </p:spPr>
        <p:txBody>
          <a:bodyPr wrap="square" lIns="0" tIns="0" rIns="0" bIns="0" rtlCol="0" anchor="ctr"/>
          <a:lstStyle/>
          <a:p>
            <a:pPr algn="ctr" indent="0" marL="0">
              <a:buNone/>
            </a:pPr>
            <a:r>
              <a:rPr lang="en-US" sz="1700" b="1" dirty="0">
                <a:solidFill>
                  <a:srgbClr val="8A6A3B"/>
                </a:solidFill>
                <a:latin typeface="Calibri" pitchFamily="34" charset="0"/>
                <a:ea typeface="Calibri" pitchFamily="34" charset="-122"/>
                <a:cs typeface="Calibri" pitchFamily="34" charset="-120"/>
              </a:rPr>
              <a:t>95.0</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last third</a:t>
            </a:r>
            <a:endParaRPr lang="en-US" sz="1400" dirty="0"/>
          </a:p>
        </p:txBody>
      </p:sp>
      <p:sp>
        <p:nvSpPr>
          <p:cNvPr id="15" name="Text 13"/>
          <p:cNvSpPr txBox="1"/>
          <p:nvPr/>
        </p:nvSpPr>
        <p:spPr>
          <a:xfrm>
            <a:off x="457200" y="2249424"/>
            <a:ext cx="5486400" cy="365760"/>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median complex pLDDT by episode tercile, pooled over its clean runs — and median ligand_iptm does the same: 0.845 → 0.889 → 0.896</a:t>
            </a:r>
            <a:endParaRPr lang="en-US" sz="950" dirty="0"/>
          </a:p>
        </p:txBody>
      </p:sp>
      <p:sp>
        <p:nvSpPr>
          <p:cNvPr id="16" name="Text 14"/>
          <p:cNvSpPr txBox="1"/>
          <p:nvPr/>
        </p:nvSpPr>
        <p:spPr>
          <a:xfrm>
            <a:off x="457200" y="2706624"/>
            <a:ext cx="5486400" cy="256032"/>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And the headline count is not the yield</a:t>
            </a:r>
            <a:endParaRPr lang="en-US" sz="1250" dirty="0"/>
          </a:p>
        </p:txBody>
      </p:sp>
      <p:sp>
        <p:nvSpPr>
          <p:cNvPr id="17" name="Text 15"/>
          <p:cNvSpPr txBox="1"/>
          <p:nvPr/>
        </p:nvSpPr>
        <p:spPr>
          <a:xfrm>
            <a:off x="457200" y="3035808"/>
            <a:ext cx="2176272" cy="274320"/>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IMPRESS, 804 passing folds</a:t>
            </a:r>
            <a:endParaRPr lang="en-US" sz="1000" dirty="0"/>
          </a:p>
        </p:txBody>
      </p:sp>
      <p:sp>
        <p:nvSpPr>
          <p:cNvPr id="18" name="Shape 16"/>
          <p:cNvSpPr/>
          <p:nvPr/>
        </p:nvSpPr>
        <p:spPr>
          <a:xfrm>
            <a:off x="2743200" y="3054096"/>
            <a:ext cx="2834640" cy="237744"/>
          </a:xfrm>
          <a:prstGeom prst="rect">
            <a:avLst/>
          </a:prstGeom>
          <a:solidFill>
            <a:srgbClr val="C9D1D8"/>
          </a:solidFill>
          <a:ln w="12700">
            <a:solidFill>
              <a:srgbClr val="C9D1D8"/>
            </a:solidFill>
            <a:prstDash val="solid"/>
          </a:ln>
        </p:spPr>
      </p:sp>
      <p:sp>
        <p:nvSpPr>
          <p:cNvPr id="19" name="Shape 17"/>
          <p:cNvSpPr/>
          <p:nvPr/>
        </p:nvSpPr>
        <p:spPr>
          <a:xfrm>
            <a:off x="2743200" y="3054096"/>
            <a:ext cx="2101300" cy="237744"/>
          </a:xfrm>
          <a:prstGeom prst="rect">
            <a:avLst/>
          </a:prstGeom>
          <a:solidFill>
            <a:srgbClr val="8A6A3B"/>
          </a:solidFill>
          <a:ln w="12700">
            <a:solidFill>
              <a:srgbClr val="8A6A3B"/>
            </a:solidFill>
            <a:prstDash val="solid"/>
          </a:ln>
        </p:spPr>
      </p:sp>
      <p:sp>
        <p:nvSpPr>
          <p:cNvPr id="20" name="Text 18"/>
          <p:cNvSpPr txBox="1"/>
          <p:nvPr/>
        </p:nvSpPr>
        <p:spPr>
          <a:xfrm>
            <a:off x="5650992" y="3017520"/>
            <a:ext cx="548640" cy="310896"/>
          </a:xfrm>
          <a:prstGeom prst="rect">
            <a:avLst/>
          </a:prstGeom>
          <a:noFill/>
          <a:ln/>
        </p:spPr>
        <p:txBody>
          <a:bodyPr wrap="square" lIns="0" tIns="0" rIns="0" bIns="0" rtlCol="0" anchor="ctr"/>
          <a:lstStyle/>
          <a:p>
            <a:pPr indent="0" marL="0">
              <a:buNone/>
            </a:pPr>
            <a:r>
              <a:rPr lang="en-US" sz="1050" b="1" dirty="0">
                <a:solidFill>
                  <a:srgbClr val="8A6A3B"/>
                </a:solidFill>
                <a:latin typeface="Calibri" pitchFamily="34" charset="0"/>
                <a:ea typeface="Calibri" pitchFamily="34" charset="-122"/>
                <a:cs typeface="Calibri" pitchFamily="34" charset="-120"/>
              </a:rPr>
              <a:t>74%</a:t>
            </a:r>
            <a:endParaRPr lang="en-US" sz="1050" dirty="0"/>
          </a:p>
        </p:txBody>
      </p:sp>
      <p:sp>
        <p:nvSpPr>
          <p:cNvPr id="21" name="Text 19"/>
          <p:cNvSpPr txBox="1"/>
          <p:nvPr/>
        </p:nvSpPr>
        <p:spPr>
          <a:xfrm>
            <a:off x="2743200" y="3310128"/>
            <a:ext cx="3474720" cy="237744"/>
          </a:xfrm>
          <a:prstGeom prst="rect">
            <a:avLst/>
          </a:prstGeom>
          <a:noFill/>
          <a:ln/>
        </p:spPr>
        <p:txBody>
          <a:bodyPr wrap="square" lIns="0" tIns="0" rIns="0" bIns="0" rtlCol="0" anchor="t"/>
          <a:lstStyle/>
          <a:p>
            <a:pPr indent="0" marL="0">
              <a:buNone/>
            </a:pPr>
            <a:r>
              <a:rPr lang="en-US" sz="900" dirty="0">
                <a:solidFill>
                  <a:srgbClr val="5E6B75"/>
                </a:solidFill>
                <a:latin typeface="Calibri" pitchFamily="34" charset="0"/>
                <a:ea typeface="Calibri" pitchFamily="34" charset="-122"/>
                <a:cs typeface="Calibri" pitchFamily="34" charset="-120"/>
              </a:rPr>
              <a:t>596 clusters at ≥90% identity</a:t>
            </a:r>
            <a:endParaRPr lang="en-US" sz="900" dirty="0"/>
          </a:p>
        </p:txBody>
      </p:sp>
      <p:sp>
        <p:nvSpPr>
          <p:cNvPr id="22" name="Text 20"/>
          <p:cNvSpPr txBox="1"/>
          <p:nvPr/>
        </p:nvSpPr>
        <p:spPr>
          <a:xfrm>
            <a:off x="457200" y="3712464"/>
            <a:ext cx="2176272" cy="274320"/>
          </a:xfrm>
          <a:prstGeom prst="rect">
            <a:avLst/>
          </a:prstGeom>
          <a:noFill/>
          <a:ln/>
        </p:spPr>
        <p:txBody>
          <a:bodyPr wrap="square" lIns="0" tIns="0" rIns="0" bIns="0" rtlCol="0" anchor="ctr"/>
          <a:lstStyle/>
          <a:p>
            <a:pPr algn="r" indent="0" marL="0">
              <a:buNone/>
            </a:pPr>
            <a:r>
              <a:rPr lang="en-US" sz="1000" dirty="0">
                <a:solidFill>
                  <a:srgbClr val="22303C"/>
                </a:solidFill>
                <a:latin typeface="Calibri" pitchFamily="34" charset="0"/>
                <a:ea typeface="Calibri" pitchFamily="34" charset="-122"/>
                <a:cs typeface="Calibri" pitchFamily="34" charset="-120"/>
              </a:rPr>
              <a:t>IMPRESS-A, 17 designs</a:t>
            </a:r>
            <a:endParaRPr lang="en-US" sz="1000" dirty="0"/>
          </a:p>
        </p:txBody>
      </p:sp>
      <p:sp>
        <p:nvSpPr>
          <p:cNvPr id="23" name="Shape 21"/>
          <p:cNvSpPr/>
          <p:nvPr/>
        </p:nvSpPr>
        <p:spPr>
          <a:xfrm>
            <a:off x="2743200" y="3730752"/>
            <a:ext cx="2834640" cy="237744"/>
          </a:xfrm>
          <a:prstGeom prst="rect">
            <a:avLst/>
          </a:prstGeom>
          <a:solidFill>
            <a:srgbClr val="C9D1D8"/>
          </a:solidFill>
          <a:ln w="12700">
            <a:solidFill>
              <a:srgbClr val="C9D1D8"/>
            </a:solidFill>
            <a:prstDash val="solid"/>
          </a:ln>
        </p:spPr>
      </p:sp>
      <p:sp>
        <p:nvSpPr>
          <p:cNvPr id="24" name="Shape 22"/>
          <p:cNvSpPr/>
          <p:nvPr/>
        </p:nvSpPr>
        <p:spPr>
          <a:xfrm>
            <a:off x="2743200" y="3730752"/>
            <a:ext cx="833718" cy="237744"/>
          </a:xfrm>
          <a:prstGeom prst="rect">
            <a:avLst/>
          </a:prstGeom>
          <a:solidFill>
            <a:srgbClr val="1E6470"/>
          </a:solidFill>
          <a:ln w="12700">
            <a:solidFill>
              <a:srgbClr val="1E6470"/>
            </a:solidFill>
            <a:prstDash val="solid"/>
          </a:ln>
        </p:spPr>
      </p:sp>
      <p:sp>
        <p:nvSpPr>
          <p:cNvPr id="25" name="Text 23"/>
          <p:cNvSpPr txBox="1"/>
          <p:nvPr/>
        </p:nvSpPr>
        <p:spPr>
          <a:xfrm>
            <a:off x="5650992" y="3694176"/>
            <a:ext cx="548640" cy="310896"/>
          </a:xfrm>
          <a:prstGeom prst="rect">
            <a:avLst/>
          </a:prstGeom>
          <a:noFill/>
          <a:ln/>
        </p:spPr>
        <p:txBody>
          <a:bodyPr wrap="square" lIns="0" tIns="0" rIns="0" bIns="0" rtlCol="0" anchor="ctr"/>
          <a:lstStyle/>
          <a:p>
            <a:pPr indent="0" marL="0">
              <a:buNone/>
            </a:pPr>
            <a:r>
              <a:rPr lang="en-US" sz="1050" b="1" dirty="0">
                <a:solidFill>
                  <a:srgbClr val="1E6470"/>
                </a:solidFill>
                <a:latin typeface="Calibri" pitchFamily="34" charset="0"/>
                <a:ea typeface="Calibri" pitchFamily="34" charset="-122"/>
                <a:cs typeface="Calibri" pitchFamily="34" charset="-120"/>
              </a:rPr>
              <a:t>29%</a:t>
            </a:r>
            <a:endParaRPr lang="en-US" sz="1050" dirty="0"/>
          </a:p>
        </p:txBody>
      </p:sp>
      <p:sp>
        <p:nvSpPr>
          <p:cNvPr id="26" name="Text 24"/>
          <p:cNvSpPr txBox="1"/>
          <p:nvPr/>
        </p:nvSpPr>
        <p:spPr>
          <a:xfrm>
            <a:off x="2743200" y="3986784"/>
            <a:ext cx="3474720" cy="237744"/>
          </a:xfrm>
          <a:prstGeom prst="rect">
            <a:avLst/>
          </a:prstGeom>
          <a:noFill/>
          <a:ln/>
        </p:spPr>
        <p:txBody>
          <a:bodyPr wrap="square" lIns="0" tIns="0" rIns="0" bIns="0" rtlCol="0" anchor="t"/>
          <a:lstStyle/>
          <a:p>
            <a:pPr indent="0" marL="0">
              <a:buNone/>
            </a:pPr>
            <a:r>
              <a:rPr lang="en-US" sz="900" dirty="0">
                <a:solidFill>
                  <a:srgbClr val="5E6B75"/>
                </a:solidFill>
                <a:latin typeface="Calibri" pitchFamily="34" charset="0"/>
                <a:ea typeface="Calibri" pitchFamily="34" charset="-122"/>
                <a:cs typeface="Calibri" pitchFamily="34" charset="-120"/>
              </a:rPr>
              <a:t>5 structural groups (median TM 0.82 within, 0.28 across)</a:t>
            </a:r>
            <a:endParaRPr lang="en-US" sz="900" dirty="0"/>
          </a:p>
        </p:txBody>
      </p:sp>
      <p:sp>
        <p:nvSpPr>
          <p:cNvPr id="27" name="Text 25"/>
          <p:cNvSpPr txBox="1"/>
          <p:nvPr/>
        </p:nvSpPr>
        <p:spPr>
          <a:xfrm>
            <a:off x="457200" y="4443984"/>
            <a:ext cx="5486400" cy="384048"/>
          </a:xfrm>
          <a:prstGeom prst="rect">
            <a:avLst/>
          </a:prstGeom>
          <a:noFill/>
          <a:ln/>
        </p:spPr>
        <p:txBody>
          <a:bodyPr wrap="square" lIns="0" tIns="0" rIns="0" bIns="0" rtlCol="0" anchor="ctr"/>
          <a:lstStyle/>
          <a:p>
            <a:pPr algn="l" indent="0" marL="0">
              <a:buNone/>
            </a:pPr>
            <a:r>
              <a:rPr lang="en-US" sz="950" dirty="0">
                <a:solidFill>
                  <a:srgbClr val="5E6B75"/>
                </a:solidFill>
                <a:latin typeface="Calibri" pitchFamily="34" charset="0"/>
                <a:ea typeface="Calibri" pitchFamily="34" charset="-122"/>
                <a:cs typeface="Calibri" pitchFamily="34" charset="-120"/>
              </a:rPr>
              <a:t>independent samples as a share of the headline count, 0–100%. Both analyses overcount their own yield, and both say the same thing: width, not depth.</a:t>
            </a:r>
            <a:endParaRPr lang="en-US" sz="950" dirty="0"/>
          </a:p>
        </p:txBody>
      </p:sp>
      <p:sp>
        <p:nvSpPr>
          <p:cNvPr id="28" name="Shape 26"/>
          <p:cNvSpPr/>
          <p:nvPr/>
        </p:nvSpPr>
        <p:spPr>
          <a:xfrm>
            <a:off x="6245352" y="1298448"/>
            <a:ext cx="5486400" cy="1188720"/>
          </a:xfrm>
          <a:prstGeom prst="rect">
            <a:avLst/>
          </a:prstGeom>
          <a:solidFill>
            <a:srgbClr val="E3F0F1"/>
          </a:solidFill>
          <a:ln w="12700">
            <a:solidFill>
              <a:srgbClr val="E3F0F1"/>
            </a:solidFill>
            <a:prstDash val="solid"/>
          </a:ln>
        </p:spPr>
      </p:sp>
      <p:sp>
        <p:nvSpPr>
          <p:cNvPr id="29" name="Text 27"/>
          <p:cNvSpPr txBox="1"/>
          <p:nvPr/>
        </p:nvSpPr>
        <p:spPr>
          <a:xfrm>
            <a:off x="6373368" y="1380744"/>
            <a:ext cx="523036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this project does about it</a:t>
            </a:r>
            <a:endParaRPr lang="en-US" sz="1300" dirty="0"/>
          </a:p>
        </p:txBody>
      </p:sp>
      <p:sp>
        <p:nvSpPr>
          <p:cNvPr id="30" name="Text 28"/>
          <p:cNvSpPr txBox="1"/>
          <p:nvPr/>
        </p:nvSpPr>
        <p:spPr>
          <a:xfrm>
            <a:off x="6373368" y="1691640"/>
            <a:ext cx="5230368" cy="7132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replicas: N means N INDEPENDENT lineages, one DesignNode each — the composer fans out and the executor's _absorb never funnels them back into one candidate.</a:t>
            </a:r>
            <a:endParaRPr lang="en-US" sz="1000" dirty="0"/>
          </a:p>
        </p:txBody>
      </p:sp>
      <p:sp>
        <p:nvSpPr>
          <p:cNvPr id="31" name="Shape 29"/>
          <p:cNvSpPr/>
          <p:nvPr/>
        </p:nvSpPr>
        <p:spPr>
          <a:xfrm>
            <a:off x="6245352" y="2615184"/>
            <a:ext cx="5486400" cy="566928"/>
          </a:xfrm>
          <a:prstGeom prst="roundRect">
            <a:avLst>
              <a:gd name="adj" fmla="val 9677"/>
            </a:avLst>
          </a:prstGeom>
          <a:solidFill>
            <a:srgbClr val="EEF2F5"/>
          </a:solidFill>
          <a:ln w="15875">
            <a:solidFill>
              <a:srgbClr val="1E6470"/>
            </a:solidFill>
            <a:prstDash val="sysDot"/>
          </a:ln>
        </p:spPr>
      </p:sp>
      <p:sp>
        <p:nvSpPr>
          <p:cNvPr id="32" name="Text 30"/>
          <p:cNvSpPr txBox="1"/>
          <p:nvPr/>
        </p:nvSpPr>
        <p:spPr>
          <a:xfrm>
            <a:off x="6355080" y="2660904"/>
            <a:ext cx="5266944" cy="29260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N nodes</a:t>
            </a:r>
            <a:endParaRPr lang="en-US" sz="1000" dirty="0"/>
          </a:p>
        </p:txBody>
      </p:sp>
      <p:sp>
        <p:nvSpPr>
          <p:cNvPr id="33" name="Text 31"/>
          <p:cNvSpPr txBox="1"/>
          <p:nvPr/>
        </p:nvSpPr>
        <p:spPr>
          <a:xfrm>
            <a:off x="6355080" y="2944368"/>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compose/composer.py · executor._absorb</a:t>
            </a:r>
            <a:endParaRPr lang="en-US" sz="850" dirty="0"/>
          </a:p>
        </p:txBody>
      </p:sp>
      <p:sp>
        <p:nvSpPr>
          <p:cNvPr id="34" name="Shape 32"/>
          <p:cNvSpPr/>
          <p:nvPr/>
        </p:nvSpPr>
        <p:spPr>
          <a:xfrm>
            <a:off x="6245352" y="3273552"/>
            <a:ext cx="5486400" cy="786384"/>
          </a:xfrm>
          <a:prstGeom prst="roundRect">
            <a:avLst>
              <a:gd name="adj" fmla="val 6977"/>
            </a:avLst>
          </a:prstGeom>
          <a:solidFill>
            <a:srgbClr val="FFFFFF"/>
          </a:solidFill>
          <a:ln w="15875">
            <a:solidFill>
              <a:srgbClr val="1E6470"/>
            </a:solidFill>
            <a:prstDash val="sysDot"/>
          </a:ln>
        </p:spPr>
      </p:sp>
      <p:sp>
        <p:nvSpPr>
          <p:cNvPr id="35" name="Text 33"/>
          <p:cNvSpPr txBox="1"/>
          <p:nvPr/>
        </p:nvSpPr>
        <p:spPr>
          <a:xfrm>
            <a:off x="6355080" y="3319272"/>
            <a:ext cx="5266944" cy="512064"/>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front that is not monotonic: a measurement supersedes but never deletes a prediction, so a node promoted on an optimistic guess can be demoted by its own assay</a:t>
            </a:r>
            <a:endParaRPr lang="en-US" sz="1000" dirty="0"/>
          </a:p>
        </p:txBody>
      </p:sp>
      <p:sp>
        <p:nvSpPr>
          <p:cNvPr id="36" name="Text 34"/>
          <p:cNvSpPr txBox="1"/>
          <p:nvPr/>
        </p:nvSpPr>
        <p:spPr>
          <a:xfrm>
            <a:off x="6355080" y="3822192"/>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core/tree.ingest_measurement · core/pareto.py</a:t>
            </a:r>
            <a:endParaRPr lang="en-US" sz="850" dirty="0"/>
          </a:p>
        </p:txBody>
      </p:sp>
      <p:sp>
        <p:nvSpPr>
          <p:cNvPr id="37" name="Shape 35"/>
          <p:cNvSpPr/>
          <p:nvPr/>
        </p:nvSpPr>
        <p:spPr>
          <a:xfrm>
            <a:off x="6245352" y="4151376"/>
            <a:ext cx="5486400" cy="566928"/>
          </a:xfrm>
          <a:prstGeom prst="roundRect">
            <a:avLst>
              <a:gd name="adj" fmla="val 9677"/>
            </a:avLst>
          </a:prstGeom>
          <a:solidFill>
            <a:srgbClr val="EEF2F5"/>
          </a:solidFill>
          <a:ln w="15875">
            <a:solidFill>
              <a:srgbClr val="1E6470"/>
            </a:solidFill>
            <a:prstDash val="solid"/>
          </a:ln>
        </p:spPr>
      </p:sp>
      <p:sp>
        <p:nvSpPr>
          <p:cNvPr id="38" name="Text 36"/>
          <p:cNvSpPr txBox="1"/>
          <p:nvPr/>
        </p:nvSpPr>
        <p:spPr>
          <a:xfrm>
            <a:off x="6355080" y="4197096"/>
            <a:ext cx="5266944" cy="29260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Trust scored on graph SHAPE, so breadth has an identity of its own and cannot inherit credit earned at width 1</a:t>
            </a:r>
            <a:endParaRPr lang="en-US" sz="1000" dirty="0"/>
          </a:p>
        </p:txBody>
      </p:sp>
      <p:sp>
        <p:nvSpPr>
          <p:cNvPr id="39" name="Text 37"/>
          <p:cNvSpPr txBox="1"/>
          <p:nvPr/>
        </p:nvSpPr>
        <p:spPr>
          <a:xfrm>
            <a:off x="6355080" y="4480560"/>
            <a:ext cx="5266944" cy="201168"/>
          </a:xfrm>
          <a:prstGeom prst="rect">
            <a:avLst/>
          </a:prstGeom>
          <a:noFill/>
          <a:ln/>
        </p:spPr>
        <p:txBody>
          <a:bodyPr wrap="square" lIns="0" tIns="0" rIns="0" bIns="0" rtlCol="0" anchor="t"/>
          <a:lstStyle/>
          <a:p>
            <a:pPr indent="0" marL="0">
              <a:buNone/>
            </a:pPr>
            <a:r>
              <a:rPr lang="en-US" sz="850" dirty="0">
                <a:solidFill>
                  <a:srgbClr val="5E6B75"/>
                </a:solidFill>
                <a:latin typeface="Consolas" pitchFamily="34" charset="0"/>
                <a:ea typeface="Consolas" pitchFamily="34" charset="-122"/>
                <a:cs typeface="Consolas" pitchFamily="34" charset="-120"/>
              </a:rPr>
              <a:t>compose/graph.py:51</a:t>
            </a:r>
            <a:endParaRPr lang="en-US" sz="850" dirty="0"/>
          </a:p>
        </p:txBody>
      </p:sp>
      <p:sp>
        <p:nvSpPr>
          <p:cNvPr id="40" name="Shape 38"/>
          <p:cNvSpPr/>
          <p:nvPr/>
        </p:nvSpPr>
        <p:spPr>
          <a:xfrm>
            <a:off x="6309360" y="5138928"/>
            <a:ext cx="384048" cy="0"/>
          </a:xfrm>
          <a:prstGeom prst="line">
            <a:avLst/>
          </a:prstGeom>
          <a:noFill/>
          <a:ln w="22225">
            <a:solidFill>
              <a:srgbClr val="22303C"/>
            </a:solidFill>
            <a:prstDash val="solid"/>
          </a:ln>
        </p:spPr>
      </p:sp>
      <p:sp>
        <p:nvSpPr>
          <p:cNvPr id="41" name="Text 39"/>
          <p:cNvSpPr txBox="1"/>
          <p:nvPr/>
        </p:nvSpPr>
        <p:spPr>
          <a:xfrm>
            <a:off x="6784848" y="5029200"/>
            <a:ext cx="3108960" cy="228600"/>
          </a:xfrm>
          <a:prstGeom prst="rect">
            <a:avLst/>
          </a:prstGeom>
          <a:noFill/>
          <a:ln/>
        </p:spPr>
        <p:txBody>
          <a:bodyPr wrap="square" lIns="0" tIns="0" rIns="0" bIns="0" rtlCol="0" anchor="ctr"/>
          <a:lstStyle/>
          <a:p>
            <a:pPr indent="0" marL="0">
              <a:buNone/>
            </a:pPr>
            <a:r>
              <a:rPr lang="en-US" sz="950" dirty="0">
                <a:solidFill>
                  <a:srgbClr val="5E6B75"/>
                </a:solidFill>
                <a:latin typeface="Calibri" pitchFamily="34" charset="0"/>
                <a:ea typeface="Calibri" pitchFamily="34" charset="-122"/>
                <a:cs typeface="Calibri" pitchFamily="34" charset="-120"/>
              </a:rPr>
              <a:t>built, runs for real</a:t>
            </a:r>
            <a:endParaRPr lang="en-US" sz="950" dirty="0"/>
          </a:p>
        </p:txBody>
      </p:sp>
      <p:sp>
        <p:nvSpPr>
          <p:cNvPr id="42" name="Shape 40"/>
          <p:cNvSpPr/>
          <p:nvPr/>
        </p:nvSpPr>
        <p:spPr>
          <a:xfrm>
            <a:off x="6309360" y="5367528"/>
            <a:ext cx="384048" cy="0"/>
          </a:xfrm>
          <a:prstGeom prst="line">
            <a:avLst/>
          </a:prstGeom>
          <a:noFill/>
          <a:ln w="22225">
            <a:solidFill>
              <a:srgbClr val="22303C"/>
            </a:solidFill>
            <a:prstDash val="sysDot"/>
          </a:ln>
        </p:spPr>
      </p:sp>
      <p:sp>
        <p:nvSpPr>
          <p:cNvPr id="43" name="Text 41"/>
          <p:cNvSpPr txBox="1"/>
          <p:nvPr/>
        </p:nvSpPr>
        <p:spPr>
          <a:xfrm>
            <a:off x="6784848" y="5257800"/>
            <a:ext cx="3108960" cy="228600"/>
          </a:xfrm>
          <a:prstGeom prst="rect">
            <a:avLst/>
          </a:prstGeom>
          <a:noFill/>
          <a:ln/>
        </p:spPr>
        <p:txBody>
          <a:bodyPr wrap="square" lIns="0" tIns="0" rIns="0" bIns="0" rtlCol="0" anchor="ctr"/>
          <a:lstStyle/>
          <a:p>
            <a:pPr indent="0" marL="0">
              <a:buNone/>
            </a:pPr>
            <a:r>
              <a:rPr lang="en-US" sz="950" dirty="0">
                <a:solidFill>
                  <a:srgbClr val="5E6B75"/>
                </a:solidFill>
                <a:latin typeface="Calibri" pitchFamily="34" charset="0"/>
                <a:ea typeface="Calibri" pitchFamily="34" charset="-122"/>
                <a:cs typeface="Calibri" pitchFamily="34" charset="-120"/>
              </a:rPr>
              <a:t>built and tested, never run for real</a:t>
            </a:r>
            <a:endParaRPr lang="en-US" sz="950" dirty="0"/>
          </a:p>
        </p:txBody>
      </p:sp>
      <p:sp>
        <p:nvSpPr>
          <p:cNvPr id="44" name="Text 42"/>
          <p:cNvSpPr txBox="1"/>
          <p:nvPr/>
        </p:nvSpPr>
        <p:spPr>
          <a:xfrm>
            <a:off x="6245352" y="5559552"/>
            <a:ext cx="5486400" cy="548640"/>
          </a:xfrm>
          <a:prstGeom prst="rect">
            <a:avLst/>
          </a:prstGeom>
          <a:noFill/>
          <a:ln/>
        </p:spPr>
        <p:txBody>
          <a:bodyPr wrap="square" lIns="0" tIns="0" rIns="0" bIns="0" rtlCol="0" anchor="t"/>
          <a:lstStyle/>
          <a:p>
            <a:pPr indent="0" marL="0">
              <a:buNone/>
            </a:pPr>
            <a:r>
              <a:rPr lang="en-US" sz="950" dirty="0">
                <a:solidFill>
                  <a:srgbClr val="5E6B75"/>
                </a:solidFill>
                <a:latin typeface="Calibri" pitchFamily="34" charset="0"/>
                <a:ea typeface="Calibri" pitchFamily="34" charset="-122"/>
                <a:cs typeface="Calibri" pitchFamily="34" charset="-120"/>
              </a:rPr>
              <a:t>Our own 17 designs: 0 byte-identical backbones, median Cα RMSD 2.39 Å. The seed plumbing does something — but at one lineage per run, the seeds come from the run label, so breadth and reproducibility are the same unexercised question.</a:t>
            </a:r>
            <a:endParaRPr lang="en-US" sz="950" dirty="0"/>
          </a:p>
        </p:txBody>
      </p:sp>
      <p:sp>
        <p:nvSpPr>
          <p:cNvPr id="45" name="Shape 43"/>
          <p:cNvSpPr/>
          <p:nvPr/>
        </p:nvSpPr>
        <p:spPr>
          <a:xfrm>
            <a:off x="457200" y="4791456"/>
            <a:ext cx="5486400" cy="1536192"/>
          </a:xfrm>
          <a:prstGeom prst="rect">
            <a:avLst/>
          </a:prstGeom>
          <a:solidFill>
            <a:srgbClr val="16222B"/>
          </a:solidFill>
          <a:ln w="12700">
            <a:solidFill>
              <a:srgbClr val="16222B"/>
            </a:solidFill>
            <a:prstDash val="solid"/>
          </a:ln>
        </p:spPr>
      </p:sp>
      <p:sp>
        <p:nvSpPr>
          <p:cNvPr id="46" name="Text 44"/>
          <p:cNvSpPr txBox="1"/>
          <p:nvPr/>
        </p:nvSpPr>
        <p:spPr>
          <a:xfrm>
            <a:off x="621792" y="4855464"/>
            <a:ext cx="5175504" cy="1408176"/>
          </a:xfrm>
          <a:prstGeom prst="rect">
            <a:avLst/>
          </a:prstGeom>
          <a:noFill/>
          <a:ln/>
        </p:spPr>
        <p:txBody>
          <a:bodyPr wrap="square" lIns="0" tIns="0" rIns="0" bIns="0" rtlCol="0" anchor="t"/>
          <a:lstStyle/>
          <a:p>
            <a:pPr indent="0" marL="0">
              <a:buNone/>
            </a:pPr>
            <a:r>
              <a:rPr lang="en-US" sz="860" b="1" dirty="0">
                <a:solidFill>
                  <a:srgbClr val="F09A8C"/>
                </a:solidFill>
                <a:latin typeface="Calibri" pitchFamily="34" charset="0"/>
                <a:ea typeface="Calibri" pitchFamily="34" charset="-122"/>
                <a:cs typeface="Calibri" pitchFamily="34" charset="-120"/>
              </a:rPr>
              <a:t>The honest state of this slide:  </a:t>
            </a:r>
            <a:pPr indent="0" marL="0">
              <a:buNone/>
            </a:pPr>
            <a:r>
              <a:rPr lang="en-US" sz="860" dirty="0">
                <a:solidFill>
                  <a:srgbClr val="DCE5EC"/>
                </a:solidFill>
                <a:latin typeface="Calibri" pitchFamily="34" charset="0"/>
                <a:ea typeface="Calibri" pitchFamily="34" charset="-122"/>
                <a:cs typeface="Calibri" pitchFamily="34" charset="-120"/>
              </a:rPr>
              <a:t>the machinery for width is written, typed and unit-tested, and replicas &gt; 1 has run against mocks only, never on the real chain. Worse, the cheap route is closed: the pattern signature includes replica multiplicity, so trust earned at one lineage does not transfer to four — a four-lineage graph starts untrusted, under a cap it already exceeds. Backlog A10, ask 5.
</a:t>
            </a:r>
            <a:endParaRPr lang="en-US" sz="860" dirty="0"/>
          </a:p>
          <a:p>
            <a:pPr indent="0" marL="0">
              <a:buNone/>
            </a:pPr>
            <a:r>
              <a:rPr lang="en-US" sz="860" dirty="0">
                <a:solidFill>
                  <a:srgbClr val="F09A8C"/>
                </a:solidFill>
                <a:latin typeface="Calibri" pitchFamily="34" charset="0"/>
                <a:ea typeface="Calibri" pitchFamily="34" charset="-122"/>
                <a:cs typeface="Calibri" pitchFamily="34" charset="-120"/>
              </a:rPr>
              <a:t>And the lever this deck does NOT pull is now measured: one policy held fixed, k=1→8 per GPU, is worth ×5.52 on backbones per node-hour and ×5.11 on high-quality folds per GPU-hour; the best decision layer anybody has run is worth about ×3 at matched packing. Nobody has had both. We run one lineage on one of four GPUs.</a:t>
            </a:r>
            <a:endParaRPr lang="en-US" sz="860" dirty="0"/>
          </a:p>
        </p:txBody>
      </p:sp>
      <p:sp>
        <p:nvSpPr>
          <p:cNvPr id="47" name="Text 45"/>
          <p:cNvSpPr txBox="1"/>
          <p:nvPr/>
        </p:nvSpPr>
        <p:spPr>
          <a:xfrm>
            <a:off x="457200" y="6382512"/>
            <a:ext cx="11277295" cy="384048"/>
          </a:xfrm>
          <a:prstGeom prst="rect">
            <a:avLst/>
          </a:prstGeom>
          <a:noFill/>
          <a:ln/>
        </p:spPr>
        <p:txBody>
          <a:bodyPr wrap="square" lIns="0" tIns="0" rIns="0" bIns="0" rtlCol="0" anchor="t"/>
          <a:lstStyle/>
          <a:p>
            <a:pPr indent="0" marL="0">
              <a:buNone/>
            </a:pPr>
            <a:r>
              <a:rPr lang="en-US" sz="850" i="1" dirty="0">
                <a:solidFill>
                  <a:srgbClr val="5E6B75"/>
                </a:solidFill>
                <a:latin typeface="Calibri" pitchFamily="34" charset="0"/>
                <a:ea typeface="Calibri" pitchFamily="34" charset="-122"/>
                <a:cs typeface="Calibri" pitchFamily="34" charset="-120"/>
              </a:rPr>
              <a:t>source: IMPRESS small-molecule performance report (impress-smallmol-performance/report.md), over impress_runs_export_nvme_2026-10-08.tar.gz  ·  source: performance_analysis report 2026-10-09 over impress_a_runs_2026-10-08.tar.gz (22702568, 22726105, 22728140 trust; 22684607, 22692304 smoke), code at d3c20ca  ·  packing ladder TRANSCRIBED, impress-agentic-performance report.md §12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797296"/>
            <a:ext cx="11274552" cy="694944"/>
          </a:xfrm>
          <a:prstGeom prst="rect">
            <a:avLst/>
          </a:prstGeom>
          <a:solidFill>
            <a:srgbClr val="16222B"/>
          </a:solidFill>
          <a:ln w="12700">
            <a:solidFill>
              <a:srgbClr val="16222B"/>
            </a:solidFill>
            <a:prstDash val="solid"/>
          </a:ln>
        </p:spPr>
      </p:sp>
      <p:sp>
        <p:nvSpPr>
          <p:cNvPr id="25" name="Text 23"/>
          <p:cNvSpPr txBox="1"/>
          <p:nvPr/>
        </p:nvSpPr>
        <p:spPr>
          <a:xfrm>
            <a:off x="640080" y="5870448"/>
            <a:ext cx="10927080" cy="566928"/>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E4F1EA"/>
          </a:solidFill>
          <a:ln w="12700">
            <a:solidFill>
              <a:srgbClr val="E4F1EA"/>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…and then it remembered</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trust_root is absolute now, so evidence accumulates ACROSS jobs: 22702568's last event was clean, so 22726105 promoted a run early.</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22728140 then ran 3 consecutive trusted cycles — 0 demotions, 0 integrity failures.</a:t>
            </a:r>
            <a:endParaRPr lang="en-US" sz="9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2E7D5B"/>
                </a:solidFill>
                <a:latin typeface="Calibri" pitchFamily="34" charset="0"/>
                <a:ea typeface="Calibri" pitchFamily="34" charset="-122"/>
                <a:cs typeface="Calibri" pitchFamily="34" charset="-120"/>
              </a:rPr>
              <a:t>the trusted path did not execute until job 22726105</a:t>
            </a:r>
            <a:pPr indent="0" marL="0">
              <a:buNone/>
            </a:pPr>
            <a:r>
              <a:rPr lang="en-US" sz="1150" dirty="0">
                <a:solidFill>
                  <a:srgbClr val="22303C"/>
                </a:solidFill>
                <a:latin typeface="Calibri" pitchFamily="34" charset="0"/>
                <a:ea typeface="Calibri" pitchFamily="34" charset="-122"/>
                <a:cs typeface="Calibri" pitchFamily="34" charset="-120"/>
              </a:rPr>
              <a:t>: every graph composed on real hardware before it ran under the forced dry-run and the 10% cap — and that cap is what truncated boltz_predict off the chain twice.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backup B1 shows the same shape, the shrink from 3 lineages to 2 producing a new pattern.</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Is it an application, a platform, or a component in something larger?</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yes, and without an allocation</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A campaign is one YAML and one command. The whole local tier - 168 tests over 3,855 lines - runs on a laptop with no scheduler, no GPU and no cluster.</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yes, with a seam that is not the CLI</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Toolkits are discovered at runtime, not packaged: 11 tools declared in spec.yaml with a SKILL.md beside them. The control plane ships in two transports, and a reasoner in another process has driven a campaign over HTTP + SSE.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no evidence, and that is the honest answer</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Nothing else has ever driven it. There is no resume, no serve, no reason command, and sites/*.yaml is read by no code at all.</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 component claim is empty - and because serve and reason do not exist, --model C fails open and reports a model-D campaign as model C.</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AN APPLICATION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an application: one YAML, one command</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168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 That is the honest price of a tier that needs no scheduler.</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USABILITY · AS A PLATFORM</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 platform: the seam is the control plane, not the CLI</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 — by dimension</a:t>
            </a:r>
            <a:endParaRPr lang="en-US" sz="2800" dirty="0"/>
          </a:p>
        </p:txBody>
      </p:sp>
      <p:sp>
        <p:nvSpPr>
          <p:cNvPr id="4" name="Shape 2"/>
          <p:cNvSpPr/>
          <p:nvPr/>
        </p:nvSpPr>
        <p:spPr>
          <a:xfrm>
            <a:off x="457200" y="1298448"/>
            <a:ext cx="3657600" cy="329184"/>
          </a:xfrm>
          <a:prstGeom prst="rect">
            <a:avLst/>
          </a:prstGeom>
          <a:solidFill>
            <a:srgbClr val="2E7D5B"/>
          </a:solidFill>
          <a:ln w="12700">
            <a:solidFill>
              <a:srgbClr val="2E7D5B"/>
            </a:solidFill>
            <a:prstDash val="solid"/>
          </a:ln>
        </p:spPr>
      </p:sp>
      <p:sp>
        <p:nvSpPr>
          <p:cNvPr id="5" name="Text 3"/>
          <p:cNvSpPr txBox="1"/>
          <p:nvPr/>
        </p:nvSpPr>
        <p:spPr>
          <a:xfrm>
            <a:off x="566928"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FUNCTIONALITY</a:t>
            </a:r>
            <a:endParaRPr lang="en-US" sz="1150" dirty="0"/>
          </a:p>
        </p:txBody>
      </p:sp>
      <p:sp>
        <p:nvSpPr>
          <p:cNvPr id="6" name="Shape 4"/>
          <p:cNvSpPr/>
          <p:nvPr/>
        </p:nvSpPr>
        <p:spPr>
          <a:xfrm>
            <a:off x="457200" y="1700784"/>
            <a:ext cx="3657600" cy="274320"/>
          </a:xfrm>
          <a:prstGeom prst="rect">
            <a:avLst/>
          </a:prstGeom>
          <a:solidFill>
            <a:srgbClr val="2E7D4F"/>
          </a:solidFill>
          <a:ln w="12700">
            <a:solidFill>
              <a:srgbClr val="2E7D4F"/>
            </a:solidFill>
            <a:prstDash val="solid"/>
          </a:ln>
        </p:spPr>
      </p:sp>
      <p:sp>
        <p:nvSpPr>
          <p:cNvPr id="7" name="Text 5"/>
          <p:cNvSpPr txBox="1"/>
          <p:nvPr/>
        </p:nvSpPr>
        <p:spPr>
          <a:xfrm>
            <a:off x="566928"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8" name="Shape 6"/>
          <p:cNvSpPr/>
          <p:nvPr/>
        </p:nvSpPr>
        <p:spPr>
          <a:xfrm>
            <a:off x="457200" y="2011680"/>
            <a:ext cx="3657600" cy="621792"/>
          </a:xfrm>
          <a:prstGeom prst="rect">
            <a:avLst/>
          </a:prstGeom>
          <a:solidFill>
            <a:srgbClr val="F0F6F2"/>
          </a:solidFill>
          <a:ln w="12700">
            <a:solidFill>
              <a:srgbClr val="C9D1D8"/>
            </a:solidFill>
            <a:prstDash val="solid"/>
          </a:ln>
        </p:spPr>
      </p:sp>
      <p:sp>
        <p:nvSpPr>
          <p:cNvPr id="9" name="Text 7"/>
          <p:cNvSpPr txBox="1"/>
          <p:nvPr/>
        </p:nvSpPr>
        <p:spPr>
          <a:xfrm>
            <a:off x="548640"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A six-stage real-toolkit campaign, end to end on Delta: 6/6 tasks, four objectives, a front.</a:t>
            </a:r>
            <a:endParaRPr lang="en-US" sz="850" dirty="0"/>
          </a:p>
        </p:txBody>
      </p:sp>
      <p:sp>
        <p:nvSpPr>
          <p:cNvPr id="10" name="Shape 8"/>
          <p:cNvSpPr/>
          <p:nvPr/>
        </p:nvSpPr>
        <p:spPr>
          <a:xfrm>
            <a:off x="457200" y="2670048"/>
            <a:ext cx="3657600" cy="621792"/>
          </a:xfrm>
          <a:prstGeom prst="rect">
            <a:avLst/>
          </a:prstGeom>
          <a:solidFill>
            <a:srgbClr val="FFFFFF"/>
          </a:solidFill>
          <a:ln w="12700">
            <a:solidFill>
              <a:srgbClr val="C9D1D8"/>
            </a:solidFill>
            <a:prstDash val="solid"/>
          </a:ln>
        </p:spPr>
      </p:sp>
      <p:sp>
        <p:nvSpPr>
          <p:cNvPr id="11" name="Text 9"/>
          <p:cNvSpPr txBox="1"/>
          <p:nvPr/>
        </p:nvSpPr>
        <p:spPr>
          <a:xfrm>
            <a:off x="548640"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The engine: compose, five gates, interlock, dry-run, Pareto tree, provenance, durable ledger.</a:t>
            </a:r>
            <a:endParaRPr lang="en-US" sz="850" dirty="0"/>
          </a:p>
        </p:txBody>
      </p:sp>
      <p:sp>
        <p:nvSpPr>
          <p:cNvPr id="12" name="Shape 10"/>
          <p:cNvSpPr/>
          <p:nvPr/>
        </p:nvSpPr>
        <p:spPr>
          <a:xfrm>
            <a:off x="457200" y="3328416"/>
            <a:ext cx="3657600" cy="621792"/>
          </a:xfrm>
          <a:prstGeom prst="rect">
            <a:avLst/>
          </a:prstGeom>
          <a:solidFill>
            <a:srgbClr val="F0F6F2"/>
          </a:solidFill>
          <a:ln w="12700">
            <a:solidFill>
              <a:srgbClr val="C9D1D8"/>
            </a:solidFill>
            <a:prstDash val="solid"/>
          </a:ln>
        </p:spPr>
      </p:sp>
      <p:sp>
        <p:nvSpPr>
          <p:cNvPr id="13" name="Text 11"/>
          <p:cNvSpPr txBox="1"/>
          <p:nvPr/>
        </p:nvSpPr>
        <p:spPr>
          <a:xfrm>
            <a:off x="548640"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Four control models plus conduct() reasoners over one executor — 11 tools, and adding one has never touched the composer.</a:t>
            </a:r>
            <a:endParaRPr lang="en-US" sz="850" dirty="0"/>
          </a:p>
        </p:txBody>
      </p:sp>
      <p:sp>
        <p:nvSpPr>
          <p:cNvPr id="14" name="Shape 12"/>
          <p:cNvSpPr/>
          <p:nvPr/>
        </p:nvSpPr>
        <p:spPr>
          <a:xfrm>
            <a:off x="457200" y="4041648"/>
            <a:ext cx="3657600" cy="274320"/>
          </a:xfrm>
          <a:prstGeom prst="rect">
            <a:avLst/>
          </a:prstGeom>
          <a:solidFill>
            <a:srgbClr val="C0392B"/>
          </a:solidFill>
          <a:ln w="12700">
            <a:solidFill>
              <a:srgbClr val="C0392B"/>
            </a:solidFill>
            <a:prstDash val="solid"/>
          </a:ln>
        </p:spPr>
      </p:sp>
      <p:sp>
        <p:nvSpPr>
          <p:cNvPr id="15" name="Text 13"/>
          <p:cNvSpPr txBox="1"/>
          <p:nvPr/>
        </p:nvSpPr>
        <p:spPr>
          <a:xfrm>
            <a:off x="566928"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16" name="Shape 14"/>
          <p:cNvSpPr/>
          <p:nvPr/>
        </p:nvSpPr>
        <p:spPr>
          <a:xfrm>
            <a:off x="457200" y="4352544"/>
            <a:ext cx="3657600" cy="621792"/>
          </a:xfrm>
          <a:prstGeom prst="rect">
            <a:avLst/>
          </a:prstGeom>
          <a:solidFill>
            <a:srgbClr val="F9E0DD"/>
          </a:solidFill>
          <a:ln w="12700">
            <a:solidFill>
              <a:srgbClr val="C9D1D8"/>
            </a:solidFill>
            <a:prstDash val="solid"/>
          </a:ln>
        </p:spPr>
      </p:sp>
      <p:sp>
        <p:nvSpPr>
          <p:cNvPr id="17" name="Text 15"/>
          <p:cNvSpPr txBox="1"/>
          <p:nvPr/>
        </p:nvSpPr>
        <p:spPr>
          <a:xfrm>
            <a:off x="548640"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replicas &gt; 1 has NEVER executed on real tools, only against mocks. N independent lineages is the invariant most likely to be silently wrong.</a:t>
            </a:r>
            <a:endParaRPr lang="en-US" sz="850" dirty="0"/>
          </a:p>
        </p:txBody>
      </p:sp>
      <p:sp>
        <p:nvSpPr>
          <p:cNvPr id="18" name="Shape 16"/>
          <p:cNvSpPr/>
          <p:nvPr/>
        </p:nvSpPr>
        <p:spPr>
          <a:xfrm>
            <a:off x="457200" y="5010912"/>
            <a:ext cx="3657600" cy="621792"/>
          </a:xfrm>
          <a:prstGeom prst="rect">
            <a:avLst/>
          </a:prstGeom>
          <a:solidFill>
            <a:srgbClr val="FFFFFF"/>
          </a:solidFill>
          <a:ln w="12700">
            <a:solidFill>
              <a:srgbClr val="C9D1D8"/>
            </a:solidFill>
            <a:prstDash val="solid"/>
          </a:ln>
        </p:spPr>
      </p:sp>
      <p:sp>
        <p:nvSpPr>
          <p:cNvPr id="19" name="Text 17"/>
          <p:cNvSpPr txBox="1"/>
          <p:nvPr/>
        </p:nvSpPr>
        <p:spPr>
          <a:xfrm>
            <a:off x="548640"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measurement has superseded a prediction, so calibration is untested — and that is the capability a composed graph has and a fixed one does not.</a:t>
            </a:r>
            <a:endParaRPr lang="en-US" sz="850" dirty="0"/>
          </a:p>
        </p:txBody>
      </p:sp>
      <p:sp>
        <p:nvSpPr>
          <p:cNvPr id="20" name="Shape 18"/>
          <p:cNvSpPr/>
          <p:nvPr/>
        </p:nvSpPr>
        <p:spPr>
          <a:xfrm>
            <a:off x="457200" y="5669280"/>
            <a:ext cx="3657600" cy="621792"/>
          </a:xfrm>
          <a:prstGeom prst="rect">
            <a:avLst/>
          </a:prstGeom>
          <a:solidFill>
            <a:srgbClr val="F9E0DD"/>
          </a:solidFill>
          <a:ln w="12700">
            <a:solidFill>
              <a:srgbClr val="C9D1D8"/>
            </a:solidFill>
            <a:prstDash val="solid"/>
          </a:ln>
        </p:spPr>
      </p:sp>
      <p:sp>
        <p:nvSpPr>
          <p:cNvPr id="21" name="Text 19"/>
          <p:cNvSpPr txBox="1"/>
          <p:nvPr/>
        </p:nvSpPr>
        <p:spPr>
          <a:xfrm>
            <a:off x="548640"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6 of the 8 compute patterns have no member, P7 (an IMPRESS pipeline as one tool) among them.</a:t>
            </a:r>
            <a:endParaRPr lang="en-US" sz="850" dirty="0"/>
          </a:p>
        </p:txBody>
      </p:sp>
      <p:sp>
        <p:nvSpPr>
          <p:cNvPr id="22" name="Shape 20"/>
          <p:cNvSpPr/>
          <p:nvPr/>
        </p:nvSpPr>
        <p:spPr>
          <a:xfrm>
            <a:off x="4370832" y="1298448"/>
            <a:ext cx="3657600" cy="329184"/>
          </a:xfrm>
          <a:prstGeom prst="rect">
            <a:avLst/>
          </a:prstGeom>
          <a:solidFill>
            <a:srgbClr val="1E6470"/>
          </a:solidFill>
          <a:ln w="12700">
            <a:solidFill>
              <a:srgbClr val="1E6470"/>
            </a:solidFill>
            <a:prstDash val="solid"/>
          </a:ln>
        </p:spPr>
      </p:sp>
      <p:sp>
        <p:nvSpPr>
          <p:cNvPr id="23" name="Text 21"/>
          <p:cNvSpPr txBox="1"/>
          <p:nvPr/>
        </p:nvSpPr>
        <p:spPr>
          <a:xfrm>
            <a:off x="4480560"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PERFORMANCE</a:t>
            </a:r>
            <a:endParaRPr lang="en-US" sz="1150" dirty="0"/>
          </a:p>
        </p:txBody>
      </p:sp>
      <p:sp>
        <p:nvSpPr>
          <p:cNvPr id="24" name="Shape 22"/>
          <p:cNvSpPr/>
          <p:nvPr/>
        </p:nvSpPr>
        <p:spPr>
          <a:xfrm>
            <a:off x="4370832" y="1700784"/>
            <a:ext cx="3657600" cy="274320"/>
          </a:xfrm>
          <a:prstGeom prst="rect">
            <a:avLst/>
          </a:prstGeom>
          <a:solidFill>
            <a:srgbClr val="2E7D4F"/>
          </a:solidFill>
          <a:ln w="12700">
            <a:solidFill>
              <a:srgbClr val="2E7D4F"/>
            </a:solidFill>
            <a:prstDash val="solid"/>
          </a:ln>
        </p:spPr>
      </p:sp>
      <p:sp>
        <p:nvSpPr>
          <p:cNvPr id="25" name="Text 23"/>
          <p:cNvSpPr txBox="1"/>
          <p:nvPr/>
        </p:nvSpPr>
        <p:spPr>
          <a:xfrm>
            <a:off x="4480560"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26" name="Shape 24"/>
          <p:cNvSpPr/>
          <p:nvPr/>
        </p:nvSpPr>
        <p:spPr>
          <a:xfrm>
            <a:off x="4370832" y="2011680"/>
            <a:ext cx="3657600" cy="621792"/>
          </a:xfrm>
          <a:prstGeom prst="rect">
            <a:avLst/>
          </a:prstGeom>
          <a:solidFill>
            <a:srgbClr val="F0F6F2"/>
          </a:solidFill>
          <a:ln w="12700">
            <a:solidFill>
              <a:srgbClr val="C9D1D8"/>
            </a:solidFill>
            <a:prstDash val="solid"/>
          </a:ln>
        </p:spPr>
      </p:sp>
      <p:sp>
        <p:nvSpPr>
          <p:cNvPr id="27" name="Text 25"/>
          <p:cNvSpPr txBox="1"/>
          <p:nvPr/>
        </p:nvSpPr>
        <p:spPr>
          <a:xfrm>
            <a:off x="4462272"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The TRUSTED path: promoted after r0002, then 3 consecutive trusted cycles — no forced dry-run, no cost cap, no demotion.</a:t>
            </a:r>
            <a:endParaRPr lang="en-US" sz="850" dirty="0"/>
          </a:p>
        </p:txBody>
      </p:sp>
      <p:sp>
        <p:nvSpPr>
          <p:cNvPr id="28" name="Shape 26"/>
          <p:cNvSpPr/>
          <p:nvPr/>
        </p:nvSpPr>
        <p:spPr>
          <a:xfrm>
            <a:off x="4370832" y="2670048"/>
            <a:ext cx="3657600" cy="621792"/>
          </a:xfrm>
          <a:prstGeom prst="rect">
            <a:avLst/>
          </a:prstGeom>
          <a:solidFill>
            <a:srgbClr val="FFFFFF"/>
          </a:solidFill>
          <a:ln w="12700">
            <a:solidFill>
              <a:srgbClr val="C9D1D8"/>
            </a:solidFill>
            <a:prstDash val="solid"/>
          </a:ln>
        </p:spPr>
      </p:sp>
      <p:sp>
        <p:nvSpPr>
          <p:cNvPr id="29" name="Text 27"/>
          <p:cNvSpPr txBox="1"/>
          <p:nvPr/>
        </p:nvSpPr>
        <p:spPr>
          <a:xfrm>
            <a:off x="4462272"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Scrutiny measured and free: 2.8s of overhead per run, untrusted costs 0.0s [-0.9, 1.2].</a:t>
            </a:r>
            <a:endParaRPr lang="en-US" sz="850" dirty="0"/>
          </a:p>
        </p:txBody>
      </p:sp>
      <p:sp>
        <p:nvSpPr>
          <p:cNvPr id="30" name="Shape 28"/>
          <p:cNvSpPr/>
          <p:nvPr/>
        </p:nvSpPr>
        <p:spPr>
          <a:xfrm>
            <a:off x="4370832" y="3328416"/>
            <a:ext cx="3657600" cy="621792"/>
          </a:xfrm>
          <a:prstGeom prst="rect">
            <a:avLst/>
          </a:prstGeom>
          <a:solidFill>
            <a:srgbClr val="F0F6F2"/>
          </a:solidFill>
          <a:ln w="12700">
            <a:solidFill>
              <a:srgbClr val="C9D1D8"/>
            </a:solidFill>
            <a:prstDash val="solid"/>
          </a:ln>
        </p:spPr>
      </p:sp>
      <p:sp>
        <p:nvSpPr>
          <p:cNvPr id="31" name="Text 29"/>
          <p:cNvSpPr txBox="1"/>
          <p:nvPr/>
        </p:nvSpPr>
        <p:spPr>
          <a:xfrm>
            <a:off x="4462272"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Dragon startup AND teardown bounded; per-tool cost measured for all six real tools and the specs corrected from it.</a:t>
            </a:r>
            <a:endParaRPr lang="en-US" sz="850" dirty="0"/>
          </a:p>
        </p:txBody>
      </p:sp>
      <p:sp>
        <p:nvSpPr>
          <p:cNvPr id="32" name="Shape 30"/>
          <p:cNvSpPr/>
          <p:nvPr/>
        </p:nvSpPr>
        <p:spPr>
          <a:xfrm>
            <a:off x="4370832" y="4041648"/>
            <a:ext cx="3657600" cy="274320"/>
          </a:xfrm>
          <a:prstGeom prst="rect">
            <a:avLst/>
          </a:prstGeom>
          <a:solidFill>
            <a:srgbClr val="C0392B"/>
          </a:solidFill>
          <a:ln w="12700">
            <a:solidFill>
              <a:srgbClr val="C0392B"/>
            </a:solidFill>
            <a:prstDash val="solid"/>
          </a:ln>
        </p:spPr>
      </p:sp>
      <p:sp>
        <p:nvSpPr>
          <p:cNvPr id="33" name="Text 31"/>
          <p:cNvSpPr txBox="1"/>
          <p:nvPr/>
        </p:nvSpPr>
        <p:spPr>
          <a:xfrm>
            <a:off x="4480560"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34" name="Shape 32"/>
          <p:cNvSpPr/>
          <p:nvPr/>
        </p:nvSpPr>
        <p:spPr>
          <a:xfrm>
            <a:off x="4370832" y="4352544"/>
            <a:ext cx="3657600" cy="621792"/>
          </a:xfrm>
          <a:prstGeom prst="rect">
            <a:avLst/>
          </a:prstGeom>
          <a:solidFill>
            <a:srgbClr val="F9E0DD"/>
          </a:solidFill>
          <a:ln w="12700">
            <a:solidFill>
              <a:srgbClr val="C9D1D8"/>
            </a:solidFill>
            <a:prstDash val="solid"/>
          </a:ln>
        </p:spPr>
      </p:sp>
      <p:sp>
        <p:nvSpPr>
          <p:cNvPr id="35" name="Text 33"/>
          <p:cNvSpPr txBox="1"/>
          <p:nvPr/>
        </p:nvSpPr>
        <p:spPr>
          <a:xfrm>
            <a:off x="4462272"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serial baseline and no head-to-head, so nothing in act 2 is a speedup.</a:t>
            </a:r>
            <a:endParaRPr lang="en-US" sz="850" dirty="0"/>
          </a:p>
        </p:txBody>
      </p:sp>
      <p:sp>
        <p:nvSpPr>
          <p:cNvPr id="36" name="Shape 34"/>
          <p:cNvSpPr/>
          <p:nvPr/>
        </p:nvSpPr>
        <p:spPr>
          <a:xfrm>
            <a:off x="4370832" y="5010912"/>
            <a:ext cx="3657600" cy="621792"/>
          </a:xfrm>
          <a:prstGeom prst="rect">
            <a:avLst/>
          </a:prstGeom>
          <a:solidFill>
            <a:srgbClr val="FFFFFF"/>
          </a:solidFill>
          <a:ln w="12700">
            <a:solidFill>
              <a:srgbClr val="C9D1D8"/>
            </a:solidFill>
            <a:prstDash val="solid"/>
          </a:ln>
        </p:spPr>
      </p:sp>
      <p:sp>
        <p:nvSpPr>
          <p:cNvPr id="37" name="Text 35"/>
          <p:cNvSpPr txBox="1"/>
          <p:nvPr/>
        </p:nvSpPr>
        <p:spPr>
          <a:xfrm>
            <a:off x="4462272"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One GPU of four ever works: GPU-busy ≤17% as an upper bound, and packing has never been attempted.</a:t>
            </a:r>
            <a:endParaRPr lang="en-US" sz="850" dirty="0"/>
          </a:p>
        </p:txBody>
      </p:sp>
      <p:sp>
        <p:nvSpPr>
          <p:cNvPr id="38" name="Shape 36"/>
          <p:cNvSpPr/>
          <p:nvPr/>
        </p:nvSpPr>
        <p:spPr>
          <a:xfrm>
            <a:off x="4370832" y="5669280"/>
            <a:ext cx="3657600" cy="621792"/>
          </a:xfrm>
          <a:prstGeom prst="rect">
            <a:avLst/>
          </a:prstGeom>
          <a:solidFill>
            <a:srgbClr val="F9E0DD"/>
          </a:solidFill>
          <a:ln w="12700">
            <a:solidFill>
              <a:srgbClr val="C9D1D8"/>
            </a:solidFill>
            <a:prstDash val="solid"/>
          </a:ln>
        </p:spPr>
      </p:sp>
      <p:sp>
        <p:nvSpPr>
          <p:cNvPr id="39" name="Text 37"/>
          <p:cNvSpPr txBox="1"/>
          <p:nvPr/>
        </p:nvSpPr>
        <p:spPr>
          <a:xfrm>
            <a:off x="4462272"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node has reached plain pass — all 5 trusted nodes missed an acceptance threshold, 31% over 16 runs. More draws, not code.</a:t>
            </a:r>
            <a:endParaRPr lang="en-US" sz="850" dirty="0"/>
          </a:p>
        </p:txBody>
      </p:sp>
      <p:sp>
        <p:nvSpPr>
          <p:cNvPr id="40" name="Shape 38"/>
          <p:cNvSpPr/>
          <p:nvPr/>
        </p:nvSpPr>
        <p:spPr>
          <a:xfrm>
            <a:off x="8284464" y="1298448"/>
            <a:ext cx="3657600" cy="329184"/>
          </a:xfrm>
          <a:prstGeom prst="rect">
            <a:avLst/>
          </a:prstGeom>
          <a:solidFill>
            <a:srgbClr val="7A4A8C"/>
          </a:solidFill>
          <a:ln w="12700">
            <a:solidFill>
              <a:srgbClr val="7A4A8C"/>
            </a:solidFill>
            <a:prstDash val="solid"/>
          </a:ln>
        </p:spPr>
      </p:sp>
      <p:sp>
        <p:nvSpPr>
          <p:cNvPr id="41" name="Text 39"/>
          <p:cNvSpPr txBox="1"/>
          <p:nvPr/>
        </p:nvSpPr>
        <p:spPr>
          <a:xfrm>
            <a:off x="8394192" y="1298448"/>
            <a:ext cx="3438144" cy="32918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USABILITY</a:t>
            </a:r>
            <a:endParaRPr lang="en-US" sz="1150" dirty="0"/>
          </a:p>
        </p:txBody>
      </p:sp>
      <p:sp>
        <p:nvSpPr>
          <p:cNvPr id="42" name="Shape 40"/>
          <p:cNvSpPr/>
          <p:nvPr/>
        </p:nvSpPr>
        <p:spPr>
          <a:xfrm>
            <a:off x="8284464" y="1700784"/>
            <a:ext cx="3657600" cy="274320"/>
          </a:xfrm>
          <a:prstGeom prst="rect">
            <a:avLst/>
          </a:prstGeom>
          <a:solidFill>
            <a:srgbClr val="2E7D4F"/>
          </a:solidFill>
          <a:ln w="12700">
            <a:solidFill>
              <a:srgbClr val="2E7D4F"/>
            </a:solidFill>
            <a:prstDash val="solid"/>
          </a:ln>
        </p:spPr>
      </p:sp>
      <p:sp>
        <p:nvSpPr>
          <p:cNvPr id="43" name="Text 41"/>
          <p:cNvSpPr txBox="1"/>
          <p:nvPr/>
        </p:nvSpPr>
        <p:spPr>
          <a:xfrm>
            <a:off x="8394192" y="1700784"/>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Runs, for real</a:t>
            </a:r>
            <a:endParaRPr lang="en-US" sz="1000" dirty="0"/>
          </a:p>
        </p:txBody>
      </p:sp>
      <p:sp>
        <p:nvSpPr>
          <p:cNvPr id="44" name="Shape 42"/>
          <p:cNvSpPr/>
          <p:nvPr/>
        </p:nvSpPr>
        <p:spPr>
          <a:xfrm>
            <a:off x="8284464" y="2011680"/>
            <a:ext cx="3657600" cy="621792"/>
          </a:xfrm>
          <a:prstGeom prst="rect">
            <a:avLst/>
          </a:prstGeom>
          <a:solidFill>
            <a:srgbClr val="F0F6F2"/>
          </a:solidFill>
          <a:ln w="12700">
            <a:solidFill>
              <a:srgbClr val="C9D1D8"/>
            </a:solidFill>
            <a:prstDash val="solid"/>
          </a:ln>
        </p:spPr>
      </p:sp>
      <p:sp>
        <p:nvSpPr>
          <p:cNvPr id="45" name="Text 43"/>
          <p:cNvSpPr txBox="1"/>
          <p:nvPr/>
        </p:nvSpPr>
        <p:spPr>
          <a:xfrm>
            <a:off x="8375904" y="20391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A campaign is one YAML and one command; the whole local tier runs with no allocation.</a:t>
            </a:r>
            <a:endParaRPr lang="en-US" sz="850" dirty="0"/>
          </a:p>
        </p:txBody>
      </p:sp>
      <p:sp>
        <p:nvSpPr>
          <p:cNvPr id="46" name="Shape 44"/>
          <p:cNvSpPr/>
          <p:nvPr/>
        </p:nvSpPr>
        <p:spPr>
          <a:xfrm>
            <a:off x="8284464" y="2670048"/>
            <a:ext cx="3657600" cy="621792"/>
          </a:xfrm>
          <a:prstGeom prst="rect">
            <a:avLst/>
          </a:prstGeom>
          <a:solidFill>
            <a:srgbClr val="FFFFFF"/>
          </a:solidFill>
          <a:ln w="12700">
            <a:solidFill>
              <a:srgbClr val="C9D1D8"/>
            </a:solidFill>
            <a:prstDash val="solid"/>
          </a:ln>
        </p:spPr>
      </p:sp>
      <p:sp>
        <p:nvSpPr>
          <p:cNvPr id="47" name="Text 45"/>
          <p:cNvSpPr txBox="1"/>
          <p:nvPr/>
        </p:nvSpPr>
        <p:spPr>
          <a:xfrm>
            <a:off x="8375904" y="2697480"/>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Toolkits discovered at runtime: 5 of them, declarative specs plus a SKILL.md, validated at load.</a:t>
            </a:r>
            <a:endParaRPr lang="en-US" sz="850" dirty="0"/>
          </a:p>
        </p:txBody>
      </p:sp>
      <p:sp>
        <p:nvSpPr>
          <p:cNvPr id="48" name="Shape 46"/>
          <p:cNvSpPr/>
          <p:nvPr/>
        </p:nvSpPr>
        <p:spPr>
          <a:xfrm>
            <a:off x="8284464" y="3328416"/>
            <a:ext cx="3657600" cy="621792"/>
          </a:xfrm>
          <a:prstGeom prst="rect">
            <a:avLst/>
          </a:prstGeom>
          <a:solidFill>
            <a:srgbClr val="F0F6F2"/>
          </a:solidFill>
          <a:ln w="12700">
            <a:solidFill>
              <a:srgbClr val="C9D1D8"/>
            </a:solidFill>
            <a:prstDash val="solid"/>
          </a:ln>
        </p:spPr>
      </p:sp>
      <p:sp>
        <p:nvSpPr>
          <p:cNvPr id="49" name="Text 47"/>
          <p:cNvSpPr txBox="1"/>
          <p:nvPr/>
        </p:nvSpPr>
        <p:spPr>
          <a:xfrm>
            <a:off x="8375904" y="3355848"/>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Control plane in two transports, including a reasoner in another process driving a campaign over HTTP + SSE.</a:t>
            </a:r>
            <a:endParaRPr lang="en-US" sz="850" dirty="0"/>
          </a:p>
        </p:txBody>
      </p:sp>
      <p:sp>
        <p:nvSpPr>
          <p:cNvPr id="50" name="Shape 48"/>
          <p:cNvSpPr/>
          <p:nvPr/>
        </p:nvSpPr>
        <p:spPr>
          <a:xfrm>
            <a:off x="8284464" y="4041648"/>
            <a:ext cx="3657600" cy="274320"/>
          </a:xfrm>
          <a:prstGeom prst="rect">
            <a:avLst/>
          </a:prstGeom>
          <a:solidFill>
            <a:srgbClr val="C0392B"/>
          </a:solidFill>
          <a:ln w="12700">
            <a:solidFill>
              <a:srgbClr val="C0392B"/>
            </a:solidFill>
            <a:prstDash val="solid"/>
          </a:ln>
        </p:spPr>
      </p:sp>
      <p:sp>
        <p:nvSpPr>
          <p:cNvPr id="51" name="Text 49"/>
          <p:cNvSpPr txBox="1"/>
          <p:nvPr/>
        </p:nvSpPr>
        <p:spPr>
          <a:xfrm>
            <a:off x="8394192" y="4041648"/>
            <a:ext cx="3438144" cy="27432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Has never run</a:t>
            </a:r>
            <a:endParaRPr lang="en-US" sz="1000" dirty="0"/>
          </a:p>
        </p:txBody>
      </p:sp>
      <p:sp>
        <p:nvSpPr>
          <p:cNvPr id="52" name="Shape 50"/>
          <p:cNvSpPr/>
          <p:nvPr/>
        </p:nvSpPr>
        <p:spPr>
          <a:xfrm>
            <a:off x="8284464" y="4352544"/>
            <a:ext cx="3657600" cy="621792"/>
          </a:xfrm>
          <a:prstGeom prst="rect">
            <a:avLst/>
          </a:prstGeom>
          <a:solidFill>
            <a:srgbClr val="F9E0DD"/>
          </a:solidFill>
          <a:ln w="12700">
            <a:solidFill>
              <a:srgbClr val="C9D1D8"/>
            </a:solidFill>
            <a:prstDash val="solid"/>
          </a:ln>
        </p:spPr>
      </p:sp>
      <p:sp>
        <p:nvSpPr>
          <p:cNvPr id="53" name="Text 51"/>
          <p:cNvSpPr txBox="1"/>
          <p:nvPr/>
        </p:nvSpPr>
        <p:spPr>
          <a:xfrm>
            <a:off x="8375904" y="4379976"/>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850" dirty="0"/>
          </a:p>
        </p:txBody>
      </p:sp>
      <p:sp>
        <p:nvSpPr>
          <p:cNvPr id="54" name="Shape 52"/>
          <p:cNvSpPr/>
          <p:nvPr/>
        </p:nvSpPr>
        <p:spPr>
          <a:xfrm>
            <a:off x="8284464" y="5010912"/>
            <a:ext cx="3657600" cy="621792"/>
          </a:xfrm>
          <a:prstGeom prst="rect">
            <a:avLst/>
          </a:prstGeom>
          <a:solidFill>
            <a:srgbClr val="FFFFFF"/>
          </a:solidFill>
          <a:ln w="12700">
            <a:solidFill>
              <a:srgbClr val="C9D1D8"/>
            </a:solidFill>
            <a:prstDash val="solid"/>
          </a:ln>
        </p:spPr>
      </p:sp>
      <p:sp>
        <p:nvSpPr>
          <p:cNvPr id="55" name="Text 53"/>
          <p:cNvSpPr txBox="1"/>
          <p:nvPr/>
        </p:nvSpPr>
        <p:spPr>
          <a:xfrm>
            <a:off x="8375904" y="5038344"/>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850" dirty="0"/>
          </a:p>
        </p:txBody>
      </p:sp>
      <p:sp>
        <p:nvSpPr>
          <p:cNvPr id="56" name="Shape 54"/>
          <p:cNvSpPr/>
          <p:nvPr/>
        </p:nvSpPr>
        <p:spPr>
          <a:xfrm>
            <a:off x="8284464" y="5669280"/>
            <a:ext cx="3657600" cy="621792"/>
          </a:xfrm>
          <a:prstGeom prst="rect">
            <a:avLst/>
          </a:prstGeom>
          <a:solidFill>
            <a:srgbClr val="F9E0DD"/>
          </a:solidFill>
          <a:ln w="12700">
            <a:solidFill>
              <a:srgbClr val="C9D1D8"/>
            </a:solidFill>
            <a:prstDash val="solid"/>
          </a:ln>
        </p:spPr>
      </p:sp>
      <p:sp>
        <p:nvSpPr>
          <p:cNvPr id="57" name="Text 55"/>
          <p:cNvSpPr txBox="1"/>
          <p:nvPr/>
        </p:nvSpPr>
        <p:spPr>
          <a:xfrm>
            <a:off x="8375904" y="5696712"/>
            <a:ext cx="3474720" cy="566928"/>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sites/*.yaml is read by no code. MCP is designed, not built. Nothing external has ever driven a campaign outside tests/.</a:t>
            </a:r>
            <a:endParaRPr lang="en-US" sz="850" dirty="0"/>
          </a:p>
        </p:txBody>
      </p:sp>
      <p:sp>
        <p:nvSpPr>
          <p:cNvPr id="58" name="Text 56"/>
          <p:cNvSpPr txBox="1"/>
          <p:nvPr/>
        </p:nvSpPr>
        <p:spPr>
          <a:xfrm>
            <a:off x="457200" y="6382512"/>
            <a:ext cx="11274552" cy="310896"/>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Count the red column: it is the same length as the green one in all three. </a:t>
            </a:r>
            <a:pPr indent="0" marL="0">
              <a:buNone/>
            </a:pPr>
            <a:r>
              <a:rPr lang="en-US" sz="1150" dirty="0">
                <a:solidFill>
                  <a:srgbClr val="22303C"/>
                </a:solidFill>
                <a:latin typeface="Calibri" pitchFamily="34" charset="0"/>
                <a:ea typeface="Calibri" pitchFamily="34" charset="-122"/>
                <a:cs typeface="Calibri" pitchFamily="34" charset="-120"/>
              </a:rPr>
              <a:t>16 complete six-stage runs and the trusted path held — every one of them a single lineage, on a system built for width.</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5486400" cy="292608"/>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13232"/>
            <a:ext cx="11274552" cy="566928"/>
          </a:xfrm>
          <a:prstGeom prst="rect">
            <a:avLst/>
          </a:prstGeom>
          <a:noFill/>
          <a:ln/>
        </p:spPr>
        <p:txBody>
          <a:bodyPr wrap="square" lIns="0" tIns="0" rIns="0" bIns="0" rtlCol="0" anchor="t"/>
          <a:lstStyle/>
          <a:p>
            <a:pPr indent="0" marL="0">
              <a:buNone/>
            </a:pPr>
            <a:r>
              <a:rPr lang="en-US" sz="2700" b="1" dirty="0">
                <a:solidFill>
                  <a:srgbClr val="FFFFFF"/>
                </a:solidFill>
                <a:latin typeface="Cambria" pitchFamily="34" charset="0"/>
                <a:ea typeface="Cambria" pitchFamily="34" charset="-122"/>
                <a:cs typeface="Cambria" pitchFamily="34" charset="-120"/>
              </a:rPr>
              <a:t>Seven things I would like this room's opinion on</a:t>
            </a:r>
            <a:endParaRPr lang="en-US" sz="2700" dirty="0"/>
          </a:p>
        </p:txBody>
      </p:sp>
      <p:sp>
        <p:nvSpPr>
          <p:cNvPr id="4" name="Text 2"/>
          <p:cNvSpPr txBox="1"/>
          <p:nvPr/>
        </p:nvSpPr>
        <p:spPr>
          <a:xfrm>
            <a:off x="457200" y="1298448"/>
            <a:ext cx="11274552" cy="256032"/>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Grouped by what each one costs, not by who owns it — the numbering is the one the companion files use.</a:t>
            </a:r>
            <a:endParaRPr lang="en-US" sz="1100" dirty="0"/>
          </a:p>
        </p:txBody>
      </p:sp>
      <p:sp>
        <p:nvSpPr>
          <p:cNvPr id="5" name="Shape 3"/>
          <p:cNvSpPr/>
          <p:nvPr/>
        </p:nvSpPr>
        <p:spPr>
          <a:xfrm>
            <a:off x="457200" y="1627632"/>
            <a:ext cx="5486400" cy="274320"/>
          </a:xfrm>
          <a:prstGeom prst="rect">
            <a:avLst/>
          </a:prstGeom>
          <a:solidFill>
            <a:srgbClr val="243240"/>
          </a:solidFill>
          <a:ln w="12700">
            <a:solidFill>
              <a:srgbClr val="3B5062"/>
            </a:solidFill>
            <a:prstDash val="solid"/>
          </a:ln>
        </p:spPr>
      </p:sp>
      <p:sp>
        <p:nvSpPr>
          <p:cNvPr id="6" name="Text 4"/>
          <p:cNvSpPr txBox="1"/>
          <p:nvPr/>
        </p:nvSpPr>
        <p:spPr>
          <a:xfrm>
            <a:off x="585216" y="1627632"/>
            <a:ext cx="5230368" cy="274320"/>
          </a:xfrm>
          <a:prstGeom prst="rect">
            <a:avLst/>
          </a:prstGeom>
          <a:noFill/>
          <a:ln/>
        </p:spPr>
        <p:txBody>
          <a:bodyPr wrap="square" lIns="0" tIns="0" rIns="0" bIns="0" rtlCol="0" anchor="ctr"/>
          <a:lstStyle/>
          <a:p>
            <a:pPr indent="0" marL="0">
              <a:buNone/>
            </a:pPr>
            <a:r>
              <a:rPr lang="en-US" sz="950" b="1" spc="100" kern="0" dirty="0">
                <a:solidFill>
                  <a:srgbClr val="B8C6D1"/>
                </a:solidFill>
                <a:latin typeface="Calibri" pitchFamily="34" charset="0"/>
                <a:ea typeface="Calibri" pitchFamily="34" charset="-122"/>
                <a:cs typeface="Calibri" pitchFamily="34" charset="-120"/>
              </a:rPr>
              <a:t>COSTS A WRONG ANSWER, OR REAL ALLOCATION TIME</a:t>
            </a:r>
            <a:endParaRPr lang="en-US" sz="950" dirty="0"/>
          </a:p>
        </p:txBody>
      </p:sp>
      <p:sp>
        <p:nvSpPr>
          <p:cNvPr id="7" name="Shape 5"/>
          <p:cNvSpPr/>
          <p:nvPr/>
        </p:nvSpPr>
        <p:spPr>
          <a:xfrm>
            <a:off x="457200" y="2011680"/>
            <a:ext cx="5486400" cy="996696"/>
          </a:xfrm>
          <a:prstGeom prst="rect">
            <a:avLst/>
          </a:prstGeom>
          <a:solidFill>
            <a:srgbClr val="1E2C36"/>
          </a:solidFill>
          <a:ln w="12700">
            <a:solidFill>
              <a:srgbClr val="2E414F"/>
            </a:solidFill>
            <a:prstDash val="solid"/>
          </a:ln>
        </p:spPr>
      </p:sp>
      <p:sp>
        <p:nvSpPr>
          <p:cNvPr id="8" name="Shape 6"/>
          <p:cNvSpPr/>
          <p:nvPr/>
        </p:nvSpPr>
        <p:spPr>
          <a:xfrm>
            <a:off x="457200" y="2011680"/>
            <a:ext cx="54864" cy="996696"/>
          </a:xfrm>
          <a:prstGeom prst="rect">
            <a:avLst/>
          </a:prstGeom>
          <a:solidFill>
            <a:srgbClr val="D9731A"/>
          </a:solidFill>
          <a:ln w="12700">
            <a:solidFill>
              <a:srgbClr val="D9731A"/>
            </a:solidFill>
            <a:prstDash val="solid"/>
          </a:ln>
        </p:spPr>
      </p:sp>
      <p:sp>
        <p:nvSpPr>
          <p:cNvPr id="9" name="Text 7"/>
          <p:cNvSpPr txBox="1"/>
          <p:nvPr/>
        </p:nvSpPr>
        <p:spPr>
          <a:xfrm>
            <a:off x="603504" y="2057400"/>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914400" y="2066544"/>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rhapsody's monitor loop drops a whole sweep</a:t>
            </a:r>
            <a:endParaRPr lang="en-US" sz="1150" dirty="0"/>
          </a:p>
        </p:txBody>
      </p:sp>
      <p:sp>
        <p:nvSpPr>
          <p:cNvPr id="11" name="Text 9"/>
          <p:cNvSpPr txBox="1"/>
          <p:nvPr/>
        </p:nvSpPr>
        <p:spPr>
          <a:xfrm>
            <a:off x="4983480" y="2075688"/>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12" name="Text 10"/>
          <p:cNvSpPr txBox="1"/>
          <p:nvPr/>
        </p:nvSpPr>
        <p:spPr>
          <a:xfrm>
            <a:off x="914400" y="2340864"/>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A worker exception that cannot be unpickled takes out every completion in that sweep, so a failing run reaches no terminal state. batch_task.get() is guarded; the follow-up get_stdout(block=False) re-reads the same entry and catches only OSError. Should it catch Exception and fail the ONE task?</a:t>
            </a:r>
            <a:endParaRPr lang="en-US" sz="850" dirty="0"/>
          </a:p>
        </p:txBody>
      </p:sp>
      <p:sp>
        <p:nvSpPr>
          <p:cNvPr id="13" name="Shape 11"/>
          <p:cNvSpPr/>
          <p:nvPr/>
        </p:nvSpPr>
        <p:spPr>
          <a:xfrm>
            <a:off x="457200" y="3099816"/>
            <a:ext cx="5486400" cy="996696"/>
          </a:xfrm>
          <a:prstGeom prst="rect">
            <a:avLst/>
          </a:prstGeom>
          <a:solidFill>
            <a:srgbClr val="1E2C36"/>
          </a:solidFill>
          <a:ln w="12700">
            <a:solidFill>
              <a:srgbClr val="2E414F"/>
            </a:solidFill>
            <a:prstDash val="solid"/>
          </a:ln>
        </p:spPr>
      </p:sp>
      <p:sp>
        <p:nvSpPr>
          <p:cNvPr id="14" name="Shape 12"/>
          <p:cNvSpPr/>
          <p:nvPr/>
        </p:nvSpPr>
        <p:spPr>
          <a:xfrm>
            <a:off x="457200" y="3099816"/>
            <a:ext cx="54864" cy="996696"/>
          </a:xfrm>
          <a:prstGeom prst="rect">
            <a:avLst/>
          </a:prstGeom>
          <a:solidFill>
            <a:srgbClr val="D9731A"/>
          </a:solidFill>
          <a:ln w="12700">
            <a:solidFill>
              <a:srgbClr val="D9731A"/>
            </a:solidFill>
            <a:prstDash val="solid"/>
          </a:ln>
        </p:spPr>
      </p:sp>
      <p:sp>
        <p:nvSpPr>
          <p:cNvPr id="15" name="Text 13"/>
          <p:cNvSpPr txBox="1"/>
          <p:nvPr/>
        </p:nvSpPr>
        <p:spPr>
          <a:xfrm>
            <a:off x="603504" y="3145536"/>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2</a:t>
            </a:r>
            <a:endParaRPr lang="en-US" sz="1400" dirty="0"/>
          </a:p>
        </p:txBody>
      </p:sp>
      <p:sp>
        <p:nvSpPr>
          <p:cNvPr id="16" name="Text 14"/>
          <p:cNvSpPr txBox="1"/>
          <p:nvPr/>
        </p:nvSpPr>
        <p:spPr>
          <a:xfrm>
            <a:off x="914400" y="3154680"/>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Why does Dragon's Batch() stall?</a:t>
            </a:r>
            <a:endParaRPr lang="en-US" sz="1150" dirty="0"/>
          </a:p>
        </p:txBody>
      </p:sp>
      <p:sp>
        <p:nvSpPr>
          <p:cNvPr id="17" name="Text 15"/>
          <p:cNvSpPr txBox="1"/>
          <p:nvPr/>
        </p:nvSpPr>
        <p:spPr>
          <a:xfrm>
            <a:off x="4983480" y="3163824"/>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18" name="Text 16"/>
          <p:cNvSpPr txBox="1"/>
          <p:nvPr/>
        </p:nvSpPr>
        <p:spPr>
          <a:xfrm>
            <a:off x="914400" y="3429000"/>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Bounded now, not diagnosed. Job 22318678 produced only infra-connect lines for two hours. Best guess: GPU-affinity worker rendezvous, or OFI negotiation under single-node mode. We fail fast enough to iterate — what should we instrument?</a:t>
            </a:r>
            <a:endParaRPr lang="en-US" sz="850" dirty="0"/>
          </a:p>
        </p:txBody>
      </p:sp>
      <p:sp>
        <p:nvSpPr>
          <p:cNvPr id="19" name="Shape 17"/>
          <p:cNvSpPr/>
          <p:nvPr/>
        </p:nvSpPr>
        <p:spPr>
          <a:xfrm>
            <a:off x="457200" y="4187952"/>
            <a:ext cx="5486400" cy="996696"/>
          </a:xfrm>
          <a:prstGeom prst="rect">
            <a:avLst/>
          </a:prstGeom>
          <a:solidFill>
            <a:srgbClr val="1E2C36"/>
          </a:solidFill>
          <a:ln w="12700">
            <a:solidFill>
              <a:srgbClr val="2E414F"/>
            </a:solidFill>
            <a:prstDash val="solid"/>
          </a:ln>
        </p:spPr>
      </p:sp>
      <p:sp>
        <p:nvSpPr>
          <p:cNvPr id="20" name="Shape 18"/>
          <p:cNvSpPr/>
          <p:nvPr/>
        </p:nvSpPr>
        <p:spPr>
          <a:xfrm>
            <a:off x="457200" y="4187952"/>
            <a:ext cx="54864" cy="996696"/>
          </a:xfrm>
          <a:prstGeom prst="rect">
            <a:avLst/>
          </a:prstGeom>
          <a:solidFill>
            <a:srgbClr val="D9731A"/>
          </a:solidFill>
          <a:ln w="12700">
            <a:solidFill>
              <a:srgbClr val="D9731A"/>
            </a:solidFill>
            <a:prstDash val="solid"/>
          </a:ln>
        </p:spPr>
      </p:sp>
      <p:sp>
        <p:nvSpPr>
          <p:cNvPr id="21" name="Text 19"/>
          <p:cNvSpPr txBox="1"/>
          <p:nvPr/>
        </p:nvSpPr>
        <p:spPr>
          <a:xfrm>
            <a:off x="603504" y="4233672"/>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3</a:t>
            </a:r>
            <a:endParaRPr lang="en-US" sz="1400" dirty="0"/>
          </a:p>
        </p:txBody>
      </p:sp>
      <p:sp>
        <p:nvSpPr>
          <p:cNvPr id="22" name="Text 20"/>
          <p:cNvSpPr txBox="1"/>
          <p:nvPr/>
        </p:nvSpPr>
        <p:spPr>
          <a:xfrm>
            <a:off x="914400" y="4242816"/>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Can a running task's GPU ever be reclaimed?</a:t>
            </a:r>
            <a:endParaRPr lang="en-US" sz="1150" dirty="0"/>
          </a:p>
        </p:txBody>
      </p:sp>
      <p:sp>
        <p:nvSpPr>
          <p:cNvPr id="23" name="Text 21"/>
          <p:cNvSpPr txBox="1"/>
          <p:nvPr/>
        </p:nvSpPr>
        <p:spPr>
          <a:xfrm>
            <a:off x="4983480" y="4251960"/>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24" name="Text 22"/>
          <p:cNvSpPr txBox="1"/>
          <p:nvPr/>
        </p:nvSpPr>
        <p:spPr>
          <a:xfrm>
            <a:off x="914400" y="4517136"/>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850" dirty="0"/>
          </a:p>
        </p:txBody>
      </p:sp>
      <p:sp>
        <p:nvSpPr>
          <p:cNvPr id="25" name="Shape 23"/>
          <p:cNvSpPr/>
          <p:nvPr/>
        </p:nvSpPr>
        <p:spPr>
          <a:xfrm>
            <a:off x="457200" y="5276088"/>
            <a:ext cx="5486400" cy="996696"/>
          </a:xfrm>
          <a:prstGeom prst="rect">
            <a:avLst/>
          </a:prstGeom>
          <a:solidFill>
            <a:srgbClr val="1E2C36"/>
          </a:solidFill>
          <a:ln w="12700">
            <a:solidFill>
              <a:srgbClr val="2E414F"/>
            </a:solidFill>
            <a:prstDash val="solid"/>
          </a:ln>
        </p:spPr>
      </p:sp>
      <p:sp>
        <p:nvSpPr>
          <p:cNvPr id="26" name="Shape 24"/>
          <p:cNvSpPr/>
          <p:nvPr/>
        </p:nvSpPr>
        <p:spPr>
          <a:xfrm>
            <a:off x="457200" y="5276088"/>
            <a:ext cx="54864" cy="996696"/>
          </a:xfrm>
          <a:prstGeom prst="rect">
            <a:avLst/>
          </a:prstGeom>
          <a:solidFill>
            <a:srgbClr val="D9731A"/>
          </a:solidFill>
          <a:ln w="12700">
            <a:solidFill>
              <a:srgbClr val="D9731A"/>
            </a:solidFill>
            <a:prstDash val="solid"/>
          </a:ln>
        </p:spPr>
      </p:sp>
      <p:sp>
        <p:nvSpPr>
          <p:cNvPr id="27" name="Text 25"/>
          <p:cNvSpPr txBox="1"/>
          <p:nvPr/>
        </p:nvSpPr>
        <p:spPr>
          <a:xfrm>
            <a:off x="603504" y="5321808"/>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7</a:t>
            </a:r>
            <a:endParaRPr lang="en-US" sz="1400" dirty="0"/>
          </a:p>
        </p:txBody>
      </p:sp>
      <p:sp>
        <p:nvSpPr>
          <p:cNvPr id="28" name="Text 26"/>
          <p:cNvSpPr txBox="1"/>
          <p:nvPr/>
        </p:nvSpPr>
        <p:spPr>
          <a:xfrm>
            <a:off x="914400" y="5330952"/>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Is per-GPU packing reachable for us?</a:t>
            </a:r>
            <a:endParaRPr lang="en-US" sz="1150" dirty="0"/>
          </a:p>
        </p:txBody>
      </p:sp>
      <p:sp>
        <p:nvSpPr>
          <p:cNvPr id="29" name="Text 27"/>
          <p:cNvSpPr txBox="1"/>
          <p:nvPr/>
        </p:nvSpPr>
        <p:spPr>
          <a:xfrm>
            <a:off x="4983480" y="5340096"/>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performance</a:t>
            </a:r>
            <a:endParaRPr lang="en-US" sz="800" dirty="0"/>
          </a:p>
        </p:txBody>
      </p:sp>
      <p:sp>
        <p:nvSpPr>
          <p:cNvPr id="30" name="Text 28"/>
          <p:cNvSpPr txBox="1"/>
          <p:nvPr/>
        </p:nvSpPr>
        <p:spPr>
          <a:xfrm>
            <a:off x="914400" y="5605272"/>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Your own runs take GPU utilisation from 12% to 71% by putting 8 pipelines on a GPU. We are at ≤17% with three idle. Is that expressible in a rhapsody resource shape, or does it need Dragon placement we do not control?</a:t>
            </a:r>
            <a:endParaRPr lang="en-US" sz="850" dirty="0"/>
          </a:p>
        </p:txBody>
      </p:sp>
      <p:sp>
        <p:nvSpPr>
          <p:cNvPr id="31" name="Shape 29"/>
          <p:cNvSpPr/>
          <p:nvPr/>
        </p:nvSpPr>
        <p:spPr>
          <a:xfrm>
            <a:off x="6245352" y="1627632"/>
            <a:ext cx="5486400" cy="274320"/>
          </a:xfrm>
          <a:prstGeom prst="rect">
            <a:avLst/>
          </a:prstGeom>
          <a:solidFill>
            <a:srgbClr val="243240"/>
          </a:solidFill>
          <a:ln w="12700">
            <a:solidFill>
              <a:srgbClr val="3B5062"/>
            </a:solidFill>
            <a:prstDash val="solid"/>
          </a:ln>
        </p:spPr>
      </p:sp>
      <p:sp>
        <p:nvSpPr>
          <p:cNvPr id="32" name="Text 30"/>
          <p:cNvSpPr txBox="1"/>
          <p:nvPr/>
        </p:nvSpPr>
        <p:spPr>
          <a:xfrm>
            <a:off x="6373368" y="1627632"/>
            <a:ext cx="5230368" cy="274320"/>
          </a:xfrm>
          <a:prstGeom prst="rect">
            <a:avLst/>
          </a:prstGeom>
          <a:noFill/>
          <a:ln/>
        </p:spPr>
        <p:txBody>
          <a:bodyPr wrap="square" lIns="0" tIns="0" rIns="0" bIns="0" rtlCol="0" anchor="ctr"/>
          <a:lstStyle/>
          <a:p>
            <a:pPr indent="0" marL="0">
              <a:buNone/>
            </a:pPr>
            <a:r>
              <a:rPr lang="en-US" sz="950" b="1" spc="100" kern="0" dirty="0">
                <a:solidFill>
                  <a:srgbClr val="B8C6D1"/>
                </a:solidFill>
                <a:latin typeface="Calibri" pitchFamily="34" charset="0"/>
                <a:ea typeface="Calibri" pitchFamily="34" charset="-122"/>
                <a:cs typeface="Calibri" pitchFamily="34" charset="-120"/>
              </a:rPr>
              <a:t>COSTS WHOEVER PICKS THIS STACK UP NEXT</a:t>
            </a:r>
            <a:endParaRPr lang="en-US" sz="950" dirty="0"/>
          </a:p>
        </p:txBody>
      </p:sp>
      <p:sp>
        <p:nvSpPr>
          <p:cNvPr id="33" name="Shape 31"/>
          <p:cNvSpPr/>
          <p:nvPr/>
        </p:nvSpPr>
        <p:spPr>
          <a:xfrm>
            <a:off x="6245352" y="2011680"/>
            <a:ext cx="5486400" cy="996696"/>
          </a:xfrm>
          <a:prstGeom prst="rect">
            <a:avLst/>
          </a:prstGeom>
          <a:solidFill>
            <a:srgbClr val="1E2C36"/>
          </a:solidFill>
          <a:ln w="12700">
            <a:solidFill>
              <a:srgbClr val="2E414F"/>
            </a:solidFill>
            <a:prstDash val="solid"/>
          </a:ln>
        </p:spPr>
      </p:sp>
      <p:sp>
        <p:nvSpPr>
          <p:cNvPr id="34" name="Shape 32"/>
          <p:cNvSpPr/>
          <p:nvPr/>
        </p:nvSpPr>
        <p:spPr>
          <a:xfrm>
            <a:off x="6245352" y="2011680"/>
            <a:ext cx="54864" cy="996696"/>
          </a:xfrm>
          <a:prstGeom prst="rect">
            <a:avLst/>
          </a:prstGeom>
          <a:solidFill>
            <a:srgbClr val="D9731A"/>
          </a:solidFill>
          <a:ln w="12700">
            <a:solidFill>
              <a:srgbClr val="D9731A"/>
            </a:solidFill>
            <a:prstDash val="solid"/>
          </a:ln>
        </p:spPr>
      </p:sp>
      <p:sp>
        <p:nvSpPr>
          <p:cNvPr id="35" name="Text 33"/>
          <p:cNvSpPr txBox="1"/>
          <p:nvPr/>
        </p:nvSpPr>
        <p:spPr>
          <a:xfrm>
            <a:off x="6391656" y="2057400"/>
            <a:ext cx="274320" cy="274320"/>
          </a:xfrm>
          <a:prstGeom prst="rect">
            <a:avLst/>
          </a:prstGeom>
          <a:noFill/>
          <a:ln/>
        </p:spPr>
        <p:txBody>
          <a:bodyPr wrap="square" lIns="0" tIns="0" rIns="0" bIns="0" rtlCol="0" anchor="t"/>
          <a:lstStyle/>
          <a:p>
            <a:pPr indent="0" marL="0">
              <a:buNone/>
            </a:pPr>
            <a:r>
              <a:rPr lang="en-US" sz="1400" b="1" dirty="0">
                <a:solidFill>
                  <a:srgbClr val="D9731A"/>
                </a:solidFill>
                <a:latin typeface="Cambria" pitchFamily="34" charset="0"/>
                <a:ea typeface="Cambria" pitchFamily="34" charset="-122"/>
                <a:cs typeface="Cambria" pitchFamily="34" charset="-120"/>
              </a:rPr>
              <a:t>4</a:t>
            </a:r>
            <a:endParaRPr lang="en-US" sz="1400" dirty="0"/>
          </a:p>
        </p:txBody>
      </p:sp>
      <p:sp>
        <p:nvSpPr>
          <p:cNvPr id="36" name="Text 34"/>
          <p:cNvSpPr txBox="1"/>
          <p:nvPr/>
        </p:nvSpPr>
        <p:spPr>
          <a:xfrm>
            <a:off x="6702552" y="2066544"/>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Nothing looks tasks up by workflow_id</a:t>
            </a:r>
            <a:endParaRPr lang="en-US" sz="1150" dirty="0"/>
          </a:p>
        </p:txBody>
      </p:sp>
      <p:sp>
        <p:nvSpPr>
          <p:cNvPr id="37" name="Text 35"/>
          <p:cNvSpPr txBox="1"/>
          <p:nvPr/>
        </p:nvSpPr>
        <p:spPr>
          <a:xfrm>
            <a:off x="10771632" y="2075688"/>
            <a:ext cx="868680" cy="219456"/>
          </a:xfrm>
          <a:prstGeom prst="rect">
            <a:avLst/>
          </a:prstGeom>
          <a:noFill/>
          <a:ln/>
        </p:spPr>
        <p:txBody>
          <a:bodyPr wrap="square" lIns="0" tIns="0" rIns="0" bIns="0" rtlCol="0" anchor="t"/>
          <a:lstStyle/>
          <a:p>
            <a:pPr algn="r" indent="0" marL="0">
              <a:buNone/>
            </a:pPr>
            <a:r>
              <a:rPr lang="en-US" sz="800" i="1" dirty="0">
                <a:solidFill>
                  <a:srgbClr val="D9731A"/>
                </a:solidFill>
                <a:latin typeface="Calibri" pitchFamily="34" charset="0"/>
                <a:ea typeface="Calibri" pitchFamily="34" charset="-122"/>
                <a:cs typeface="Calibri" pitchFamily="34" charset="-120"/>
              </a:rPr>
              <a:t>usability</a:t>
            </a:r>
            <a:endParaRPr lang="en-US" sz="800" dirty="0"/>
          </a:p>
        </p:txBody>
      </p:sp>
      <p:sp>
        <p:nvSpPr>
          <p:cNvPr id="38" name="Text 36"/>
          <p:cNvSpPr txBox="1"/>
          <p:nvPr/>
        </p:nvSpPr>
        <p:spPr>
          <a:xfrm>
            <a:off x="6702552" y="2340864"/>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850" dirty="0"/>
          </a:p>
        </p:txBody>
      </p:sp>
      <p:sp>
        <p:nvSpPr>
          <p:cNvPr id="39" name="Shape 37"/>
          <p:cNvSpPr/>
          <p:nvPr/>
        </p:nvSpPr>
        <p:spPr>
          <a:xfrm>
            <a:off x="6245352" y="3099816"/>
            <a:ext cx="5486400" cy="996696"/>
          </a:xfrm>
          <a:prstGeom prst="rect">
            <a:avLst/>
          </a:prstGeom>
          <a:solidFill>
            <a:srgbClr val="1E2C36"/>
          </a:solidFill>
          <a:ln w="12700">
            <a:solidFill>
              <a:srgbClr val="2E414F"/>
            </a:solidFill>
            <a:prstDash val="solid"/>
          </a:ln>
        </p:spPr>
      </p:sp>
      <p:sp>
        <p:nvSpPr>
          <p:cNvPr id="40" name="Shape 38"/>
          <p:cNvSpPr/>
          <p:nvPr/>
        </p:nvSpPr>
        <p:spPr>
          <a:xfrm>
            <a:off x="6245352" y="3099816"/>
            <a:ext cx="54864" cy="996696"/>
          </a:xfrm>
          <a:prstGeom prst="rect">
            <a:avLst/>
          </a:prstGeom>
          <a:solidFill>
            <a:srgbClr val="2E7D5B"/>
          </a:solidFill>
          <a:ln w="12700">
            <a:solidFill>
              <a:srgbClr val="2E7D5B"/>
            </a:solidFill>
            <a:prstDash val="solid"/>
          </a:ln>
        </p:spPr>
      </p:sp>
      <p:sp>
        <p:nvSpPr>
          <p:cNvPr id="41" name="Text 39"/>
          <p:cNvSpPr txBox="1"/>
          <p:nvPr/>
        </p:nvSpPr>
        <p:spPr>
          <a:xfrm>
            <a:off x="6391656" y="3145536"/>
            <a:ext cx="274320" cy="274320"/>
          </a:xfrm>
          <a:prstGeom prst="rect">
            <a:avLst/>
          </a:prstGeom>
          <a:noFill/>
          <a:ln/>
        </p:spPr>
        <p:txBody>
          <a:bodyPr wrap="square" lIns="0" tIns="0" rIns="0" bIns="0" rtlCol="0" anchor="t"/>
          <a:lstStyle/>
          <a:p>
            <a:pPr indent="0" marL="0">
              <a:buNone/>
            </a:pPr>
            <a:r>
              <a:rPr lang="en-US" sz="1400" b="1" dirty="0">
                <a:solidFill>
                  <a:srgbClr val="2E7D5B"/>
                </a:solidFill>
                <a:latin typeface="Cambria" pitchFamily="34" charset="0"/>
                <a:ea typeface="Cambria" pitchFamily="34" charset="-122"/>
                <a:cs typeface="Cambria" pitchFamily="34" charset="-120"/>
              </a:rPr>
              <a:t>5</a:t>
            </a:r>
            <a:endParaRPr lang="en-US" sz="1400" dirty="0"/>
          </a:p>
        </p:txBody>
      </p:sp>
      <p:sp>
        <p:nvSpPr>
          <p:cNvPr id="42" name="Text 40"/>
          <p:cNvSpPr txBox="1"/>
          <p:nvPr/>
        </p:nvSpPr>
        <p:spPr>
          <a:xfrm>
            <a:off x="6702552" y="3154680"/>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Does breadth belong in a pattern's identity?</a:t>
            </a:r>
            <a:endParaRPr lang="en-US" sz="1150" dirty="0"/>
          </a:p>
        </p:txBody>
      </p:sp>
      <p:sp>
        <p:nvSpPr>
          <p:cNvPr id="43" name="Text 41"/>
          <p:cNvSpPr txBox="1"/>
          <p:nvPr/>
        </p:nvSpPr>
        <p:spPr>
          <a:xfrm>
            <a:off x="10771632" y="3163824"/>
            <a:ext cx="868680" cy="219456"/>
          </a:xfrm>
          <a:prstGeom prst="rect">
            <a:avLst/>
          </a:prstGeom>
          <a:noFill/>
          <a:ln/>
        </p:spPr>
        <p:txBody>
          <a:bodyPr wrap="square" lIns="0" tIns="0" rIns="0" bIns="0" rtlCol="0" anchor="t"/>
          <a:lstStyle/>
          <a:p>
            <a:pPr algn="r" indent="0" marL="0">
              <a:buNone/>
            </a:pPr>
            <a:r>
              <a:rPr lang="en-US" sz="800" i="1" dirty="0">
                <a:solidFill>
                  <a:srgbClr val="2E7D5B"/>
                </a:solidFill>
                <a:latin typeface="Calibri" pitchFamily="34" charset="0"/>
                <a:ea typeface="Calibri" pitchFamily="34" charset="-122"/>
                <a:cs typeface="Calibri" pitchFamily="34" charset="-120"/>
              </a:rPr>
              <a:t>functionality</a:t>
            </a:r>
            <a:endParaRPr lang="en-US" sz="800" dirty="0"/>
          </a:p>
        </p:txBody>
      </p:sp>
      <p:sp>
        <p:nvSpPr>
          <p:cNvPr id="44" name="Text 42"/>
          <p:cNvSpPr txBox="1"/>
          <p:nvPr/>
        </p:nvSpPr>
        <p:spPr>
          <a:xfrm>
            <a:off x="6702552" y="3429000"/>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Slide 18. Parameters are deliberately excluded from the signature; replica count is not. Is trust earned at one lineage evidence about four, when the cap it would lift exists to bound blast radius?</a:t>
            </a:r>
            <a:endParaRPr lang="en-US" sz="850" dirty="0"/>
          </a:p>
        </p:txBody>
      </p:sp>
      <p:sp>
        <p:nvSpPr>
          <p:cNvPr id="45" name="Shape 43"/>
          <p:cNvSpPr/>
          <p:nvPr/>
        </p:nvSpPr>
        <p:spPr>
          <a:xfrm>
            <a:off x="6245352" y="4187952"/>
            <a:ext cx="5486400" cy="996696"/>
          </a:xfrm>
          <a:prstGeom prst="rect">
            <a:avLst/>
          </a:prstGeom>
          <a:solidFill>
            <a:srgbClr val="1E2C36"/>
          </a:solidFill>
          <a:ln w="12700">
            <a:solidFill>
              <a:srgbClr val="2E414F"/>
            </a:solidFill>
            <a:prstDash val="solid"/>
          </a:ln>
        </p:spPr>
      </p:sp>
      <p:sp>
        <p:nvSpPr>
          <p:cNvPr id="46" name="Shape 44"/>
          <p:cNvSpPr/>
          <p:nvPr/>
        </p:nvSpPr>
        <p:spPr>
          <a:xfrm>
            <a:off x="6245352" y="4187952"/>
            <a:ext cx="54864" cy="996696"/>
          </a:xfrm>
          <a:prstGeom prst="rect">
            <a:avLst/>
          </a:prstGeom>
          <a:solidFill>
            <a:srgbClr val="7A4A8C"/>
          </a:solidFill>
          <a:ln w="12700">
            <a:solidFill>
              <a:srgbClr val="7A4A8C"/>
            </a:solidFill>
            <a:prstDash val="solid"/>
          </a:ln>
        </p:spPr>
      </p:sp>
      <p:sp>
        <p:nvSpPr>
          <p:cNvPr id="47" name="Text 45"/>
          <p:cNvSpPr txBox="1"/>
          <p:nvPr/>
        </p:nvSpPr>
        <p:spPr>
          <a:xfrm>
            <a:off x="6391656" y="4233672"/>
            <a:ext cx="274320" cy="274320"/>
          </a:xfrm>
          <a:prstGeom prst="rect">
            <a:avLst/>
          </a:prstGeom>
          <a:noFill/>
          <a:ln/>
        </p:spPr>
        <p:txBody>
          <a:bodyPr wrap="square" lIns="0" tIns="0" rIns="0" bIns="0" rtlCol="0" anchor="t"/>
          <a:lstStyle/>
          <a:p>
            <a:pPr indent="0" marL="0">
              <a:buNone/>
            </a:pPr>
            <a:r>
              <a:rPr lang="en-US" sz="1400" b="1" dirty="0">
                <a:solidFill>
                  <a:srgbClr val="7A4A8C"/>
                </a:solidFill>
                <a:latin typeface="Cambria" pitchFamily="34" charset="0"/>
                <a:ea typeface="Cambria" pitchFamily="34" charset="-122"/>
                <a:cs typeface="Cambria" pitchFamily="34" charset="-120"/>
              </a:rPr>
              <a:t>6</a:t>
            </a:r>
            <a:endParaRPr lang="en-US" sz="1400" dirty="0"/>
          </a:p>
        </p:txBody>
      </p:sp>
      <p:sp>
        <p:nvSpPr>
          <p:cNvPr id="48" name="Text 46"/>
          <p:cNvSpPr txBox="1"/>
          <p:nvPr/>
        </p:nvSpPr>
        <p:spPr>
          <a:xfrm>
            <a:off x="6702552" y="4242816"/>
            <a:ext cx="4023360" cy="25603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What is the cheapest real structural gate?</a:t>
            </a:r>
            <a:endParaRPr lang="en-US" sz="1150" dirty="0"/>
          </a:p>
        </p:txBody>
      </p:sp>
      <p:sp>
        <p:nvSpPr>
          <p:cNvPr id="49" name="Text 47"/>
          <p:cNvSpPr txBox="1"/>
          <p:nvPr/>
        </p:nvSpPr>
        <p:spPr>
          <a:xfrm>
            <a:off x="10771632" y="4251960"/>
            <a:ext cx="868680" cy="219456"/>
          </a:xfrm>
          <a:prstGeom prst="rect">
            <a:avLst/>
          </a:prstGeom>
          <a:noFill/>
          <a:ln/>
        </p:spPr>
        <p:txBody>
          <a:bodyPr wrap="square" lIns="0" tIns="0" rIns="0" bIns="0" rtlCol="0" anchor="t"/>
          <a:lstStyle/>
          <a:p>
            <a:pPr algn="r" indent="0" marL="0">
              <a:buNone/>
            </a:pPr>
            <a:r>
              <a:rPr lang="en-US" sz="800" i="1" dirty="0">
                <a:solidFill>
                  <a:srgbClr val="7A4A8C"/>
                </a:solidFill>
                <a:latin typeface="Calibri" pitchFamily="34" charset="0"/>
                <a:ea typeface="Calibri" pitchFamily="34" charset="-122"/>
                <a:cs typeface="Calibri" pitchFamily="34" charset="-120"/>
              </a:rPr>
              <a:t>functionality</a:t>
            </a:r>
            <a:endParaRPr lang="en-US" sz="800" dirty="0"/>
          </a:p>
        </p:txBody>
      </p:sp>
      <p:sp>
        <p:nvSpPr>
          <p:cNvPr id="50" name="Text 48"/>
          <p:cNvSpPr txBox="1"/>
          <p:nvPr/>
        </p:nvSpPr>
        <p:spPr>
          <a:xfrm>
            <a:off x="6702552" y="4517136"/>
            <a:ext cx="4919472" cy="621792"/>
          </a:xfrm>
          <a:prstGeom prst="rect">
            <a:avLst/>
          </a:prstGeom>
          <a:noFill/>
          <a:ln/>
        </p:spPr>
        <p:txBody>
          <a:bodyPr wrap="square" lIns="0" tIns="0" rIns="0" bIns="0" rtlCol="0" anchor="t"/>
          <a:lstStyle/>
          <a:p>
            <a:pPr indent="0" marL="0">
              <a:buNone/>
            </a:pPr>
            <a:r>
              <a:rPr lang="en-US" sz="850" dirty="0">
                <a:solidFill>
                  <a:srgbClr val="B8C6D1"/>
                </a:solidFill>
                <a:latin typeface="Calibri" pitchFamily="34" charset="0"/>
                <a:ea typeface="Calibri" pitchFamily="34" charset="-122"/>
                <a:cs typeface="Calibri" pitchFamily="34" charset="-120"/>
              </a:rPr>
              <a:t>Every real gate we have is a threshold on a number the tool reports about itself. RFD3 gives us ligand_clashes in a sidecar we already open; you gate on it and we do not. For Rosetta you gate interaction_energy, which we never compute. Where would you start?</a:t>
            </a:r>
            <a:endParaRPr lang="en-US" sz="850" dirty="0"/>
          </a:p>
        </p:txBody>
      </p:sp>
      <p:sp>
        <p:nvSpPr>
          <p:cNvPr id="51" name="Text 49"/>
          <p:cNvSpPr txBox="1"/>
          <p:nvPr/>
        </p:nvSpPr>
        <p:spPr>
          <a:xfrm>
            <a:off x="457200" y="6309360"/>
            <a:ext cx="11274552" cy="36576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Every claim behind these is reproducible from this checkout, and every file:line on these slides is greppable from your laptop while I talk — including the five that point into your code rather than mine.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DATA FLOW</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2</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4  front: 3</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4 design nodes over 2 cycles, every one marked suspect — the pattern stayed provisional: the front target was met after two clean runs, before the third that would promote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3;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TOOLS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 — an IMPRESS 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spec.py:107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P7 is the one reserved for a reference IMPRESS pipeline run as a single tool of ours. It has no member either — so "IMPRESS becomes one of our tools" is a contract, not a result.</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CONTROL MODELS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composing the pipeline instead of writing it down</dc:title>
  <dc:subject>PptxGenJS Presentation</dc:subject>
  <dc:creator>IMPRESS-A</dc:creator>
  <cp:lastModifiedBy>IMPRESS-A</cp:lastModifiedBy>
  <cp:revision>1</cp:revision>
  <dcterms:created xsi:type="dcterms:W3CDTF">2026-10-27T07:36:15Z</dcterms:created>
  <dcterms:modified xsi:type="dcterms:W3CDTF">2026-10-27T07:36:15Z</dcterms:modified>
</cp:coreProperties>
</file>