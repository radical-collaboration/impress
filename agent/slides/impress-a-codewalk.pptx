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There is no fixed pipeline anywhere in this repository. Every experiment is a new graph no human has reviewed, and most of the code I will show you exists because of that one fact.
When some of you last saw this, nothing real had ever run. Since then a six-stage campaign completed on Delta. I will walk the seam, show what four jobs cost us, and be precise about how little one completed campaign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The shape of a campaign, and then what one actually produced.
Across the top: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diffusion, sequence design, two Rosetta stages, a shape filter, a Boltz prediction. All four objectives came back with real values, admitted on the first attempt, cost measured per stage.
Right card, because you would ask and I would rather say it first. One lineage, one cycle, one draw. Replicas greater than one has never run. The node is marked suspect rather than pass, because the pattern is still provisional — the interlock working, not a failure. And no measurement has ever superseded a prediction.
Treat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A policy emits abstract intent, not a DAG, so control models stay swappable. Everything is validated before it executes: five gates, then a dry-run where every agent parameterizes without running. Trust is scored on shape and has to be earned. Exit code is never evidence, so a QC-failed node can never reach the front whatever it scored. And exactly one component writes state and decides when to stop.
The honest flip side is at the bottom. If a person reviewed every graph before it ran, you would write the DAG down once and schedule it, and most of this would stop paying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coroutines meeting at a session, and the asymmetry between them is the point.
Left, a reasoner: observe, decide, submit, wait. Two ways to be one — implement decide and let a driver play the loop, which is what models A through D do; or implement conduct and drive yourself, submitting as many experiments as you like and collecting them in the order they finish. The second is what makes a federation of agents generating an ensemble in parallel expressible at all.
Right, the executor: admit, dispatch, reap, absorb. It is the only writer of campaign state. Note what it is not — it is not the loop body with a policy called inside it. The reasoner is a peer.
The red arrow is the one people miss. A rejected submission does not burn the experiment: the policy gets a structured reason and another attempt, bounded by max_attempts and independently capped in the executor, because a conduct reasoner is under no obligation to honour anything the driver promises.
Two rules hold it together. One writer, and every mutating block is await-free, so an observation is never taken halfway through absorbing a run.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Eight layers, and the thing worth looking at is in red.
Control plane at the top, one protocol with two transports shipped. Then the policy layer, the swappable one. A thin manager facade, the runtime that owns state, composition and validation, tools, exec, and at the bottom core, which imports nothing internal.
The red marks are four arrows that do not exist. A policy may not import tools, exec or runtime; compose may not import exec. I draw them because an edge that is merely absent reads as an oversight, and this room will ask whether the rule is enforced or merely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 Both are in the 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The first row was refused by the interlock — a provisional pattern is capped at ten percent of available budget and three lineages did not fit. The policy shrank to two and resubmitted. That is the retry doing its job: a refusal costs an attempt, not the experiment.
Every design node is marked suspect, because the shape is provisional while it runs. Promotion takes three clean runs, and the card on the right says whether this one got there before the front target stopped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in order, first refusal wins. Gate two rejects a tool composed without its QC gates, so you cannot compose your way out of quality control. Gate four rejects a P6 tool somebody tried to schedule — those are meant to be inlined, and a scheduled one is a composer bug.
Then three things that are not gates. The interlock. A dry-run, where every agent parameterizes without executing — that catches a graph that type-checks but cannot be turned into a command line. And a reservation.
Reserve is last for a reason: the dry-run awaits, and by the time it returns another submission may have claimed the budget gate five saw. Reserve re-checks against available budget and is the authoritative decision.
On the right, the trust half. A pattern is the graph's shape — tool ids and typed edges, hashed, parameter values deliberately excluded so tuning a parameter does not reset trust. A provisional shape is capped, forced through a dry-run, marked suspect whatever it scores, and may have only one instance in flight, because promotion counts consecutive clean runs and N concurrent copies are one draw sampled N times. Clean means no integrity gate failed: the tool ran and reported real numbers. A design that merely scores below a quality threshold still fails its node, but it is not evidence against the shape. Counting it was why our five-cycle trust run on Delta promoted nothing.
The limit, from our own limitations doc: this buys examination and delay, not soundness. A consistent novel silent failure promotes.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slide I would defend hardest, and it is four lines of real code.
A task graph is plain data. To run it, one generic factory builds a closure per node, sets its dunder-name to the node id, and hands it to asyncflow's function_task decorator. That is the whole adapter — no codegen, no AST rewriting, no templating. And setting dunder-name first is not a trick: the decorators take no name keyword, so this is precisely what lets one factory serve every node of every graph.
The closure binds workdir to a local rather than reaching through self, because it gets pickled to a process pool and self would drag the dispatcher, and the engine's futures, along with it.
Second block, submission. Walk the graph in topological order, pass each dependency's unawaited future as an argument — that is how you express an edge. Build a gather with return_exceptions, and return without awaiting. That one change is what let the reasoner stop being the loop body.
Two idioms, not interchangeable: unawaited futures as arguments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second half of the seam is construction, and this is where the expensive lessons are.
Three things in make_engine_bounded are load-bearing. Only the synchronous construction goes to a helper thread —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registers the task states. Construct one synchronously and it appears to work, then fails much later with "backend not registered, available backends: empty list".
The right column is what each cost. Two full allocations went to an engine built on a throwaway loop — asyncflow's engine captures the running loop in its constructor and puts its dispatch task on it, so an engine built on a closed loop looks fine and dispatches nothing. Every submitted task just hangs.
One two-hour allocation went entirely to Dragon's Batch constructor, which blocks the event loop, so our own heartbeat never fired once in two hours.
And the most expensive item is teardown, not startup: on the reference pipeline, shutdown never returned after the science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Adding a tool is a YAML file plus a subclass, never a change to the composer, validator or manager. If you have to touch those, the layering is wrong.
The spec declares typed ports, which is what gate one checks edges against; a compute pattern; resources; the metrics it reports; mandatory QC gates resolved by id from a shared library; and a cost model that feeds gate five.
Loading is validating. A default outside its own range, an unknown gate id, a skill document missing a section — all load-time errors. And a toolkit that fails anywhere registers nothing, never a partial set, because a half-registered toolkit is how you get a campaign that silently composes around the missing piece.
Four phases, and post_process is where QC is enforced — not skippable, not overridable by an adapter.
On the right, the tool that lies: it succeeds, reports designability of 0.91, and emits a structure with two percent secondary structure. One test asserts all three at once — the tool succeeded, the numbers look great, QC caught it anyway.
And the honest gap. The real toolkits have no equivalent. Their gates are thresholds on each tool's own opinion of itself, which is precisely what a confidently-wrong tool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One field in that spec decides how the work reaches the middleware, and it is the compute pattern.
Eight of them, and what matters is what they are organised by: not what the tool computes, but what the orchestrator has to do differently. A tool is P4 because of where it must be submitted, not because it runs MD. P6 is the sharpest — an in-process call of thirty milliseconds. Schedule that and you pay serialization and filesystem cost orders of magnitude above the work. So the composer drops P6 stages before they ever become nodes, and gate four refuses one that got through anyway. A scheduled P6 is a composer bug, and it is caught as one.
Two honest things. The last column is the census: all eleven tools are P1 or P2. P3 through P8 have no member, so the inline path, the P4 ledger and the P5 service path are contracts the suite asserts and nothing has ever taken.
And the enum's own docstring says dispatch depends on these. It does not, yet — every consequence is enforced at load time or at a gate, which is composition time, not dispatch. That is the cheaper place for it, but the docstring is ahead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Four jobs to a completed campaign, and the figure is really about one variable.
Top row, the HDD baseline. Diffusion 137 seconds, sequence design 293, and then packmin could not finish importing PyRosetta inside its three-hundred-second budget, so nothing downstream ran at all.
Middle row, the same campaign with one thing changed: the virtual environment moved from HDD-backed Lustre to NVMe. Sequence design went from 293 seconds to 18, packmin from not finishing to sixteen.
The reason is on the right. Importing PyRosetta off that filesystem costs 471 seconds — a 598-megabyte shared object, demand-paged. Torch is another 280. On NVMe both are seconds. That was the single largest cost this project was paying, and it was invisible because it looked like a tool timing out.
It nearly caused a second bug, which is the more useful half. The queued fix was to raise three walltimes six-fold, which would have hidden the real cost behind timeouts far too large.
Bottom right, the caveat for anyone reading our cost models. Diffusion took 146 seconds in one job and 45 in the next — same campaign, same parameters. These numbers feed gates that refuse graphs, so they sit deliberately above measurement and must not be tightened toward 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Four defects reached real hardware, each invisible to a dry run. The pattern across them is more useful than any one.
What a tool writes. Our glob for the diffusion output picked a trajectory rather than the design — same extension, and "denoised" sorts before the design's own name. A five-megabyte multi-frame stack went downstream as the backbone instead of a nineteen-kilobyte design.
Whether a tool can import. LigandMPNN died in its module-level imports, before parsing a single argument we passed it. No flag or path we sent could ever have been read.
Where the bytes live — the storage story from the last slide.
And the subtle one: an estimate that refuses work. Our cost models were literature guesses six to sixty-nine times over reality, and gate five and the interlock cap refuse graphs against those numbers. The inflated GPU side summed past the cap, the chain was refused, and the policy truncated the last stage off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 and only recovering the real stderr separated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Two findings about the trust ledger, and the second is new as of building this deck.
The first. The executor loaded the ledger from a path relative to the campaign root, and the Delta launcher changes directory into a per-job working directory before starting. So the ledger resolved inside each job and started empty every time. Two real runs left two files — one with zero clean runs, one with one — and promotion counts three consecutive clean runs within one file.
What is worth your time is how it hid. Nothing ever logged where the ledger was, so a file that silently reset looks exactly like one that has not earned promotion yet — and I reported it that way. It had been true since the first Delta job, which means the trusted code path has never executed, and the ten percent cap has applied to every graph ever composed on real hardware. That cap is exactly what truncated the last stage off the chain twice.
The second I hit while generating the numbers for this deck, and I have not changed the code. The signature emits one string per node and hashes the sorted join, so N lineages give N duplicate parts and the hash changes with the replica count — even though it deliberately does not change when you tune a parameter. The table shows the same chain hashing three ways at one, two and four replicas.
The cost is concrete. The cheapest route to exercising four independent lineages was to promote the pattern with a one-replica campaign, then run four. It does not work: four replicas is a different, untrusted pattern, still capped, still refused, and the policy would quietly shrink it to three and run a weaker check than the one we asked for.
So, genuinely open: is trust earned at one lineage evidence about four, when the cap it would lift exists to bound blast radius?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command worth pointing at is preflight: it checks the container path, the checkpoints, the Boltz cache, whether PyRosetta imports, and whether the virtual environment is still on slow storage — all on a login node, before you spend a queue slot.
The split that matters is that the entire local tier runs on a laptop in about fifteen seconds with no allocation: a complete campaign with a real manager, real policies, a real composer and validator, stubbed science. That is deliberate, because HPC iteration is slow and expensive. The corollary is the uncomfortable half, which is the next slide.
One convention I would steal for other projects: a magic number in a test is often a bug report. A stagnation limit of ten thousand appeared in three separate tests before anyone noticed the defect was in the engine, not the test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 will not compress this slide, because an audience that catches you overclaiming stops believing everything else you said.
Left, what genuinely runs. A real six-stage campaign on Delta. The engine — composition, gates, interlock, Pareto tree, provenance, a durable ledger. Four control models over one shared executor. The control plane in two transports, including a reasoner driving a campaign from another process. Both ends of the Dragon lifecycle bounded, each against a real lost allocation.
Right, what has never run. Replicas greater than one — the invariant most likely to be silently wrong, because N replicas are supposed to be N independent lineages with different seeds, and the only evidence the seed plumbing does anything is that the nodes carry different metrics. Nothing has ever been promoted by the trust ledger. No measurement has superseded a prediction. No structural QC gate exists for any real tool. There is no resume. The headless control model fails open and reports itself as the wrong model.
One campaign has completed. One lineage, one cycle, one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I would rather end on questions than a summary, and these are the six I actually want answers to.
The first four are for the middleware authors. One: a worker exception that cannot be unpickled takes out a whole monitor sweep rather than one task, so a failing run reaches no terminal state and sits in flight until the wall clock. Our half is fixed, but the handler around get_stdout catches only OSError, and I think it wants to catch Exception and fail the single task.
Two: Batch stalled for two full hours and we still do not know why. It is bounded now, so we fail in minutes rather than losing an allocation — which means we can finally iterate. What should we instrument?
Three: can a running task's GPU ever be reclaimed? Four: workflow_id tags every task but nothing looks tasks up by it, so our own handle stays the only answer to what belongs to a run.
Five is for everyone — the one from slide fourteen. Does breadth belong in a pattern's identity?
Six is for the domain people. Every real gate we have is a threshold on a number the tool reports about itself. RFD3 hands us clash counts in a file we already open; for Rosetta, upstream gates on an interaction energy we do not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One protocol, nineteen operations, and adapters that translate transport only.
The design decision worth stating is that observe returns the same observation object a policy's decide receives. Informed monitoring means parity of evidence, not a progress bar — whatever a control model is allowed to reason about, a human watching is allowed to see.
Admission is synchronous even over HTTP: you get a 202 with a run id, or a 409 with the gate and the reason. That is not a style choice. Accepting and rejecting later would sever a rejection from the request that caused it, and it cannot work anyway, because the dry-run instantiates task agents and therefore has to run where the toolkit is installed.
The gap is honest and annoying: all of this is reachable from the test suite and not from a shell. There is no serve command and no reason command. One consequence is that model C — the headless, externally-steered mode — fails open: it builds a policy whose inbox nothing can fill, times out every five seconds, and silently runs the model-D rule cascade while reporting itself as model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An agent that composes its own workflows</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and what its first completed campaign on Delta did, and did not, prove</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 one-node Pareto front carrying all four objectives</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7acce29 · 6.5k lines of source, 162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one completed campaign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One lineage, one cycle, one draw. replicas &gt; 1 has never executed, so the independence invariant is unexercised.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node is suspect, not pass — the composition pattern is provisional. Nothing has ever been promoted on Delta, so the trusted path has never run.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integrity-clean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4360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You would write the DAG down once and schedule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_submit_with_retry:84</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2</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4  front: 3</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4 design nodes over 2 cycles, every one marked suspect — the pattern stayed provisional: the front target was met after two clean runs, before the third that would promote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3;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integrity-clean runs promote; any integrity failure demotes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 work_dir):</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work_dir=work_dir),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1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loading it is validating it</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429000"/>
            <a:ext cx="1325880" cy="548640"/>
          </a:xfrm>
          <a:prstGeom prst="roundRect">
            <a:avLst>
              <a:gd name="adj" fmla="val 13333"/>
            </a:avLst>
          </a:prstGeom>
          <a:solidFill>
            <a:srgbClr val="F3EAF6"/>
          </a:solidFill>
          <a:ln w="19050">
            <a:solidFill>
              <a:srgbClr val="7A4A8C"/>
            </a:solidFill>
            <a:prstDash val="solid"/>
          </a:ln>
        </p:spPr>
      </p:sp>
      <p:sp>
        <p:nvSpPr>
          <p:cNvPr id="8" name="Text 6"/>
          <p:cNvSpPr txBox="1"/>
          <p:nvPr/>
        </p:nvSpPr>
        <p:spPr>
          <a:xfrm>
            <a:off x="53035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703320"/>
            <a:ext cx="118872" cy="91"/>
          </a:xfrm>
          <a:prstGeom prst="line">
            <a:avLst/>
          </a:prstGeom>
          <a:noFill/>
          <a:ln w="15875">
            <a:solidFill>
              <a:srgbClr val="5E6B75"/>
            </a:solidFill>
            <a:prstDash val="solid"/>
            <a:tailEnd type="triangle"/>
          </a:ln>
        </p:spPr>
      </p:sp>
      <p:sp>
        <p:nvSpPr>
          <p:cNvPr id="10" name="Shape 8"/>
          <p:cNvSpPr/>
          <p:nvPr/>
        </p:nvSpPr>
        <p:spPr>
          <a:xfrm>
            <a:off x="1920240" y="3429000"/>
            <a:ext cx="1325880" cy="548640"/>
          </a:xfrm>
          <a:prstGeom prst="roundRect">
            <a:avLst>
              <a:gd name="adj" fmla="val 13333"/>
            </a:avLst>
          </a:prstGeom>
          <a:solidFill>
            <a:srgbClr val="F3EAF6"/>
          </a:solidFill>
          <a:ln w="19050">
            <a:solidFill>
              <a:srgbClr val="7A4A8C"/>
            </a:solidFill>
            <a:prstDash val="solid"/>
          </a:ln>
        </p:spPr>
      </p:sp>
      <p:sp>
        <p:nvSpPr>
          <p:cNvPr id="11" name="Text 9"/>
          <p:cNvSpPr txBox="1"/>
          <p:nvPr/>
        </p:nvSpPr>
        <p:spPr>
          <a:xfrm>
            <a:off x="199339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703320"/>
            <a:ext cx="118872" cy="91"/>
          </a:xfrm>
          <a:prstGeom prst="line">
            <a:avLst/>
          </a:prstGeom>
          <a:noFill/>
          <a:ln w="15875">
            <a:solidFill>
              <a:srgbClr val="5E6B75"/>
            </a:solidFill>
            <a:prstDash val="solid"/>
            <a:tailEnd type="triangle"/>
          </a:ln>
        </p:spPr>
      </p:sp>
      <p:sp>
        <p:nvSpPr>
          <p:cNvPr id="13" name="Shape 11"/>
          <p:cNvSpPr/>
          <p:nvPr/>
        </p:nvSpPr>
        <p:spPr>
          <a:xfrm>
            <a:off x="3383280" y="3429000"/>
            <a:ext cx="1325880" cy="548640"/>
          </a:xfrm>
          <a:prstGeom prst="roundRect">
            <a:avLst>
              <a:gd name="adj" fmla="val 13333"/>
            </a:avLst>
          </a:prstGeom>
          <a:solidFill>
            <a:srgbClr val="F3EAF6"/>
          </a:solidFill>
          <a:ln w="19050">
            <a:solidFill>
              <a:srgbClr val="7A4A8C"/>
            </a:solidFill>
            <a:prstDash val="solid"/>
          </a:ln>
        </p:spPr>
      </p:sp>
      <p:sp>
        <p:nvSpPr>
          <p:cNvPr id="14" name="Text 12"/>
          <p:cNvSpPr txBox="1"/>
          <p:nvPr/>
        </p:nvSpPr>
        <p:spPr>
          <a:xfrm>
            <a:off x="345643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703320"/>
            <a:ext cx="118872" cy="91"/>
          </a:xfrm>
          <a:prstGeom prst="line">
            <a:avLst/>
          </a:prstGeom>
          <a:noFill/>
          <a:ln w="15875">
            <a:solidFill>
              <a:srgbClr val="5E6B75"/>
            </a:solidFill>
            <a:prstDash val="solid"/>
            <a:tailEnd type="triangle"/>
          </a:ln>
        </p:spPr>
      </p:sp>
      <p:sp>
        <p:nvSpPr>
          <p:cNvPr id="16" name="Shape 14"/>
          <p:cNvSpPr/>
          <p:nvPr/>
        </p:nvSpPr>
        <p:spPr>
          <a:xfrm>
            <a:off x="4846320" y="3429000"/>
            <a:ext cx="1325880" cy="548640"/>
          </a:xfrm>
          <a:prstGeom prst="roundRect">
            <a:avLst>
              <a:gd name="adj" fmla="val 13333"/>
            </a:avLst>
          </a:prstGeom>
          <a:solidFill>
            <a:srgbClr val="F3EAF6"/>
          </a:solidFill>
          <a:ln w="19050">
            <a:solidFill>
              <a:srgbClr val="7A4A8C"/>
            </a:solidFill>
            <a:prstDash val="solid"/>
          </a:ln>
        </p:spPr>
      </p:sp>
      <p:sp>
        <p:nvSpPr>
          <p:cNvPr id="17" name="Text 15"/>
          <p:cNvSpPr txBox="1"/>
          <p:nvPr/>
        </p:nvSpPr>
        <p:spPr>
          <a:xfrm>
            <a:off x="491947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4069080"/>
            <a:ext cx="5760720" cy="41148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pattern dispatch belongs to the exec layer.</a:t>
            </a:r>
            <a:endParaRPr lang="en-US" sz="1050" dirty="0"/>
          </a:p>
        </p:txBody>
      </p:sp>
      <p:sp>
        <p:nvSpPr>
          <p:cNvPr id="19" name="Shape 17"/>
          <p:cNvSpPr/>
          <p:nvPr/>
        </p:nvSpPr>
        <p:spPr>
          <a:xfrm>
            <a:off x="457200" y="4572000"/>
            <a:ext cx="5760720" cy="1325880"/>
          </a:xfrm>
          <a:prstGeom prst="rect">
            <a:avLst/>
          </a:prstGeom>
          <a:solidFill>
            <a:srgbClr val="E4F1EA"/>
          </a:solidFill>
          <a:ln w="12700">
            <a:solidFill>
              <a:srgbClr val="E4F1EA"/>
            </a:solidFill>
            <a:prstDash val="solid"/>
          </a:ln>
        </p:spPr>
      </p:sp>
      <p:sp>
        <p:nvSpPr>
          <p:cNvPr id="20" name="Text 18"/>
          <p:cNvSpPr txBox="1"/>
          <p:nvPr/>
        </p:nvSpPr>
        <p:spPr>
          <a:xfrm>
            <a:off x="585216" y="465429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Loading is validating</a:t>
            </a:r>
            <a:endParaRPr lang="en-US" sz="1300" dirty="0"/>
          </a:p>
        </p:txBody>
      </p:sp>
      <p:sp>
        <p:nvSpPr>
          <p:cNvPr id="21" name="Text 19"/>
          <p:cNvSpPr txBox="1"/>
          <p:nvPr/>
        </p:nvSpPr>
        <p:spPr>
          <a:xfrm>
            <a:off x="585216" y="4965192"/>
            <a:ext cx="5504688" cy="8503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range, an unknown QC gate id, a P1 tool declaring no GPU, a SKILL.md missing a required section — all are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never a partial set.</a:t>
            </a:r>
            <a:endParaRPr lang="en-US" sz="1050" dirty="0"/>
          </a:p>
        </p:txBody>
      </p:sp>
      <p:sp>
        <p:nvSpPr>
          <p:cNvPr id="22" name="Shape 20"/>
          <p:cNvSpPr/>
          <p:nvPr/>
        </p:nvSpPr>
        <p:spPr>
          <a:xfrm>
            <a:off x="6492240" y="1371600"/>
            <a:ext cx="5242255" cy="365760"/>
          </a:xfrm>
          <a:prstGeom prst="rect">
            <a:avLst/>
          </a:prstGeom>
          <a:solidFill>
            <a:srgbClr val="16222B"/>
          </a:solidFill>
          <a:ln w="12700">
            <a:solidFill>
              <a:srgbClr val="16222B"/>
            </a:solidFill>
            <a:prstDash val="solid"/>
          </a:ln>
        </p:spPr>
      </p:sp>
      <p:sp>
        <p:nvSpPr>
          <p:cNvPr id="23" name="Text 21"/>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4" name="Shape 22"/>
          <p:cNvSpPr/>
          <p:nvPr/>
        </p:nvSpPr>
        <p:spPr>
          <a:xfrm>
            <a:off x="6492240" y="1828800"/>
            <a:ext cx="5242255" cy="1417320"/>
          </a:xfrm>
          <a:prstGeom prst="rect">
            <a:avLst/>
          </a:prstGeom>
          <a:solidFill>
            <a:srgbClr val="16222B"/>
          </a:solidFill>
          <a:ln w="12700">
            <a:solidFill>
              <a:srgbClr val="16222B"/>
            </a:solidFill>
            <a:prstDash val="solid"/>
          </a:ln>
        </p:spPr>
      </p:sp>
      <p:sp>
        <p:nvSpPr>
          <p:cNvPr id="25" name="Text 23"/>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6" name="Text 24"/>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tools/mock_agents.py:73–84  ·  EDITED</a:t>
            </a:r>
            <a:endParaRPr lang="en-US" sz="850" dirty="0"/>
          </a:p>
        </p:txBody>
      </p:sp>
      <p:sp>
        <p:nvSpPr>
          <p:cNvPr id="27" name="Shape 25"/>
          <p:cNvSpPr/>
          <p:nvPr/>
        </p:nvSpPr>
        <p:spPr>
          <a:xfrm>
            <a:off x="6492240" y="3566160"/>
            <a:ext cx="5242255" cy="777240"/>
          </a:xfrm>
          <a:prstGeom prst="rect">
            <a:avLst/>
          </a:prstGeom>
          <a:solidFill>
            <a:srgbClr val="243240"/>
          </a:solidFill>
          <a:ln w="12700">
            <a:solidFill>
              <a:srgbClr val="243240"/>
            </a:solidFill>
            <a:prstDash val="solid"/>
          </a:ln>
        </p:spPr>
      </p:sp>
      <p:sp>
        <p:nvSpPr>
          <p:cNvPr id="28" name="Text 26"/>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9" name="Text 27"/>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test_campaign.py:81–83  ·  EDITED (one string wrapped)</a:t>
            </a:r>
            <a:endParaRPr lang="en-US" sz="850" dirty="0"/>
          </a:p>
        </p:txBody>
      </p:sp>
      <p:sp>
        <p:nvSpPr>
          <p:cNvPr id="30" name="Shape 28"/>
          <p:cNvSpPr/>
          <p:nvPr/>
        </p:nvSpPr>
        <p:spPr>
          <a:xfrm>
            <a:off x="6492240" y="4617720"/>
            <a:ext cx="5242255" cy="1828800"/>
          </a:xfrm>
          <a:prstGeom prst="rect">
            <a:avLst/>
          </a:prstGeom>
          <a:solidFill>
            <a:srgbClr val="F9E0DD"/>
          </a:solidFill>
          <a:ln w="12700">
            <a:solidFill>
              <a:srgbClr val="F9E0DD"/>
            </a:solidFill>
            <a:prstDash val="solid"/>
          </a:ln>
        </p:spPr>
      </p:sp>
      <p:sp>
        <p:nvSpPr>
          <p:cNvPr id="31" name="Text 29"/>
          <p:cNvSpPr txBox="1"/>
          <p:nvPr/>
        </p:nvSpPr>
        <p:spPr>
          <a:xfrm>
            <a:off x="6620256" y="4700016"/>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2" name="Text 30"/>
          <p:cNvSpPr txBox="1"/>
          <p:nvPr/>
        </p:nvSpPr>
        <p:spPr>
          <a:xfrm>
            <a:off x="6620256" y="5010912"/>
            <a:ext cx="4986223" cy="13533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 already reports ligand_clashes in a sidecar JSON we now open and do not read. That is the cheapest real structural gate available, and it is backlog B1/G2.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2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Eight compute patterns, and what each one forbids</a:t>
            </a:r>
            <a:endParaRPr lang="en-US" sz="2800" dirty="0"/>
          </a:p>
        </p:txBody>
      </p:sp>
      <p:sp>
        <p:nvSpPr>
          <p:cNvPr id="4" name="Text 2"/>
          <p:cNvSpPr txBox="1"/>
          <p:nvPr/>
        </p:nvSpPr>
        <p:spPr>
          <a:xfrm>
            <a:off x="457200" y="1335024"/>
            <a:ext cx="7616952"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core/types.py:12 — organised by scheduling implication, never by science</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7616952" cy="914400"/>
        </p:xfrm>
        <a:graphic>
          <a:graphicData uri="http://schemas.openxmlformats.org/drawingml/2006/table">
            <a:tbl>
              <a:tblPr/>
              <a:tblGrid>
                <a:gridCol w="685800"/>
                <a:gridCol w="2194560"/>
                <a:gridCol w="3200400"/>
                <a:gridCol w="1536192"/>
              </a:tblGrid>
              <a:tr h="283464">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forces on the orchestrator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Tools here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GPU-node-local,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must declare a GPU — a load-time error if not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CPU-parallel fan-out,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cores, not ranks; no topology to reserve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MPI multi-node,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reserved rank layout; no resize mid-run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HPC 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durable job state — it outlives the agent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network service over HTTPS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no local cost; quota, latency and outage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in-process library call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never a scheduled node — inlined, or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composite pipeline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parameterize and observe; stages not steered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experiment (lab)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completes out of band, days later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4370832"/>
            <a:ext cx="7616952" cy="1874520"/>
          </a:xfrm>
          <a:prstGeom prst="rect">
            <a:avLst/>
          </a:prstGeom>
          <a:solidFill>
            <a:srgbClr val="16222B"/>
          </a:solidFill>
          <a:ln w="12700">
            <a:solidFill>
              <a:srgbClr val="16222B"/>
            </a:solidFill>
            <a:prstDash val="solid"/>
          </a:ln>
        </p:spPr>
      </p:sp>
      <p:sp>
        <p:nvSpPr>
          <p:cNvPr id="7" name="Text 4"/>
          <p:cNvSpPr txBox="1"/>
          <p:nvPr/>
        </p:nvSpPr>
        <p:spPr>
          <a:xfrm>
            <a:off x="557784" y="4462272"/>
            <a:ext cx="7415784" cy="169164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class Pattern(str, Enum):      # 8 members, and only 2 rules derived from them</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is_inline(self):   return self is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is_external(self): return self in (Pattern.P4, Pattern.P8)</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 [t for t in intent.stages            # composer.py - P6 never a node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self.reg.get(t).pattern is not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spec.pattern is Pattern.P6:                # validate.py - gate 4 refuses 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ValidationFailure(gate="resource", node=tid, reason=...)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self.pattern is Pattern.P1 and self.resources.gpus == 0:  # spec.py - at LOAD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1000" dirty="0"/>
          </a:p>
        </p:txBody>
      </p:sp>
      <p:sp>
        <p:nvSpPr>
          <p:cNvPr id="8" name="Text 5"/>
          <p:cNvSpPr txBox="1"/>
          <p:nvPr/>
        </p:nvSpPr>
        <p:spPr>
          <a:xfrm>
            <a:off x="457200" y="6263640"/>
            <a:ext cx="76169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composer.py:45 · validate.py:106 · spec.py:107  ·  EDITED — @property elided</a:t>
            </a:r>
            <a:endParaRPr lang="en-US" sz="850" dirty="0"/>
          </a:p>
        </p:txBody>
      </p:sp>
      <p:sp>
        <p:nvSpPr>
          <p:cNvPr id="9" name="Shape 6"/>
          <p:cNvSpPr/>
          <p:nvPr/>
        </p:nvSpPr>
        <p:spPr>
          <a:xfrm>
            <a:off x="8348472" y="1335024"/>
            <a:ext cx="3386023" cy="1572768"/>
          </a:xfrm>
          <a:prstGeom prst="rect">
            <a:avLst/>
          </a:prstGeom>
          <a:solidFill>
            <a:srgbClr val="EEF2F5"/>
          </a:solidFill>
          <a:ln w="12700">
            <a:solidFill>
              <a:srgbClr val="EEF2F5"/>
            </a:solidFill>
            <a:prstDash val="solid"/>
          </a:ln>
        </p:spPr>
      </p:sp>
      <p:sp>
        <p:nvSpPr>
          <p:cNvPr id="10" name="Text 7"/>
          <p:cNvSpPr txBox="1"/>
          <p:nvPr/>
        </p:nvSpPr>
        <p:spPr>
          <a:xfrm>
            <a:off x="8476488" y="1417320"/>
            <a:ext cx="3129991"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Organised by what it forces</a:t>
            </a:r>
            <a:endParaRPr lang="en-US" sz="1200" dirty="0"/>
          </a:p>
        </p:txBody>
      </p:sp>
      <p:sp>
        <p:nvSpPr>
          <p:cNvPr id="11" name="Text 8"/>
          <p:cNvSpPr txBox="1"/>
          <p:nvPr/>
        </p:nvSpPr>
        <p:spPr>
          <a:xfrm>
            <a:off x="8476488" y="1728216"/>
            <a:ext cx="3129991" cy="109728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Not by what the tool computes. A tool is P4 for where it must be submitted, not because it runs MD.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Which is why one generic factory serves every node: the differences that would have needed branching were settled before dispatch.</a:t>
            </a:r>
            <a:endParaRPr lang="en-US" sz="950" dirty="0"/>
          </a:p>
        </p:txBody>
      </p:sp>
      <p:sp>
        <p:nvSpPr>
          <p:cNvPr id="12" name="Shape 9"/>
          <p:cNvSpPr/>
          <p:nvPr/>
        </p:nvSpPr>
        <p:spPr>
          <a:xfrm>
            <a:off x="8348472" y="2999232"/>
            <a:ext cx="3386023" cy="1645920"/>
          </a:xfrm>
          <a:prstGeom prst="rect">
            <a:avLst/>
          </a:prstGeom>
          <a:solidFill>
            <a:srgbClr val="F9E0DD"/>
          </a:solidFill>
          <a:ln w="12700">
            <a:solidFill>
              <a:srgbClr val="F9E0DD"/>
            </a:solidFill>
            <a:prstDash val="solid"/>
          </a:ln>
        </p:spPr>
      </p:sp>
      <p:sp>
        <p:nvSpPr>
          <p:cNvPr id="13" name="Text 10"/>
          <p:cNvSpPr txBox="1"/>
          <p:nvPr/>
        </p:nvSpPr>
        <p:spPr>
          <a:xfrm>
            <a:off x="8476488" y="3081528"/>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Two of the eight are in use</a:t>
            </a:r>
            <a:endParaRPr lang="en-US" sz="1200" dirty="0"/>
          </a:p>
        </p:txBody>
      </p:sp>
      <p:sp>
        <p:nvSpPr>
          <p:cNvPr id="14" name="Text 11"/>
          <p:cNvSpPr txBox="1"/>
          <p:nvPr/>
        </p:nvSpPr>
        <p:spPr>
          <a:xfrm>
            <a:off x="8476488" y="3392424"/>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All 11 registered tools are P1 (7) or P2 (4). P3–P8 have no member.</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the P6-inline path, the P4 ledger and the P5 service path are contracts the suite asserts and no tool has taken.</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exec/ledger.py has existed since the first prototype; nothing has written a P4 record.</a:t>
            </a:r>
            <a:endParaRPr lang="en-US" sz="950" dirty="0"/>
          </a:p>
        </p:txBody>
      </p:sp>
      <p:sp>
        <p:nvSpPr>
          <p:cNvPr id="15" name="Shape 12"/>
          <p:cNvSpPr/>
          <p:nvPr/>
        </p:nvSpPr>
        <p:spPr>
          <a:xfrm>
            <a:off x="8348472" y="4754880"/>
            <a:ext cx="3386023" cy="1645920"/>
          </a:xfrm>
          <a:prstGeom prst="rect">
            <a:avLst/>
          </a:prstGeom>
          <a:solidFill>
            <a:srgbClr val="F9E0DD"/>
          </a:solidFill>
          <a:ln w="12700">
            <a:solidFill>
              <a:srgbClr val="F9E0DD"/>
            </a:solidFill>
            <a:prstDash val="solid"/>
          </a:ln>
        </p:spPr>
      </p:sp>
      <p:sp>
        <p:nvSpPr>
          <p:cNvPr id="16" name="Text 13"/>
          <p:cNvSpPr txBox="1"/>
          <p:nvPr/>
        </p:nvSpPr>
        <p:spPr>
          <a:xfrm>
            <a:off x="8476488" y="4837176"/>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Dispatch does not branch on it</a:t>
            </a:r>
            <a:endParaRPr lang="en-US" sz="1200" dirty="0"/>
          </a:p>
        </p:txBody>
      </p:sp>
      <p:sp>
        <p:nvSpPr>
          <p:cNvPr id="17" name="Text 14"/>
          <p:cNvSpPr txBox="1"/>
          <p:nvPr/>
        </p:nvSpPr>
        <p:spPr>
          <a:xfrm>
            <a:off x="8476488" y="5148072"/>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docstring says "dispatch depends on these." It does not, yet: exec/dispatch.py builds one closure per node, and exec/resources.py translates ResourceShape.</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every consequence is enforced at load time or by a gate — 5 sites in 3 files, none under exec/ or runtime/.</a:t>
            </a:r>
            <a:endParaRPr lang="en-US" sz="950" dirty="0"/>
          </a:p>
        </p:txBody>
      </p:sp>
      <p:sp>
        <p:nvSpPr>
          <p:cNvPr id="18" name="Text 1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Two senses of one word: a compute pattern is per tool, and is this slide; a composition pattern is a graph's shape (compose/graph.py:51) — that is what the trust ledger scores.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jobs to one completed campaign</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import pyrosetta off HDD-backed Lustre: 471 s, a 598 MB rosetta.so demand-paged. import torch: ~280 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On NVMe both are seconds. That single variable is the whole difference between rows one and two.</a:t>
            </a:r>
            <a:endParaRPr lang="en-US" sz="100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Text 6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 the raw logs live under $WORK_DIR/impress_a_runs on Delta. Bars are tool time; campaign wall clock is slightly longer.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833872"/>
            <a:ext cx="11274552" cy="566928"/>
          </a:xfrm>
          <a:prstGeom prst="rect">
            <a:avLst/>
          </a:prstGeom>
          <a:solidFill>
            <a:srgbClr val="16222B"/>
          </a:solidFill>
          <a:ln w="12700">
            <a:solidFill>
              <a:srgbClr val="16222B"/>
            </a:solidFill>
            <a:prstDash val="solid"/>
          </a:ln>
        </p:spPr>
      </p:sp>
      <p:sp>
        <p:nvSpPr>
          <p:cNvPr id="25" name="Text 23"/>
          <p:cNvSpPr txBox="1"/>
          <p:nvPr/>
        </p:nvSpPr>
        <p:spPr>
          <a:xfrm>
            <a:off x="640080" y="5897880"/>
            <a:ext cx="10927080" cy="45720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F9E0DD"/>
          </a:solidFill>
          <a:ln w="12700">
            <a:solidFill>
              <a:srgbClr val="F9E0DD"/>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promote_after = 3 counts within ONE file</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Two more jobs would have produced three files holding one run each, a pattern still untrusted, and two allocations spent for nothing.</a:t>
            </a:r>
            <a:endParaRPr lang="en-US" sz="10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C0392B"/>
                </a:solidFill>
                <a:latin typeface="Calibri" pitchFamily="34" charset="0"/>
                <a:ea typeface="Calibri" pitchFamily="34" charset="-122"/>
                <a:cs typeface="Calibri" pitchFamily="34" charset="-120"/>
              </a:rPr>
              <a:t>the trusted code path has never executed</a:t>
            </a:r>
            <a:pPr indent="0" marL="0">
              <a:buNone/>
            </a:pPr>
            <a:r>
              <a:rPr lang="en-US" sz="1150" dirty="0">
                <a:solidFill>
                  <a:srgbClr val="22303C"/>
                </a:solidFill>
                <a:latin typeface="Calibri" pitchFamily="34" charset="0"/>
                <a:ea typeface="Calibri" pitchFamily="34" charset="-122"/>
                <a:cs typeface="Calibri" pitchFamily="34" charset="-120"/>
              </a:rPr>
              <a:t>: no pattern has ever skipped the forced dry-run, and the 10% cap has applied to every graph ever composed on real hardware.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slide 6 shows the same shape, the shrink from 3 lineages to 2 producing a new pattern.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the test tiers actually cover</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162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25880"/>
            <a:ext cx="5577840" cy="384048"/>
          </a:xfrm>
          <a:prstGeom prst="rect">
            <a:avLst/>
          </a:prstGeom>
          <a:solidFill>
            <a:srgbClr val="2E7D4F"/>
          </a:solidFill>
          <a:ln w="12700">
            <a:solidFill>
              <a:srgbClr val="2E7D4F"/>
            </a:solidFill>
            <a:prstDash val="solid"/>
          </a:ln>
        </p:spPr>
      </p:sp>
      <p:sp>
        <p:nvSpPr>
          <p:cNvPr id="5" name="Text 3"/>
          <p:cNvSpPr txBox="1"/>
          <p:nvPr/>
        </p:nvSpPr>
        <p:spPr>
          <a:xfrm>
            <a:off x="585216" y="1325880"/>
            <a:ext cx="530352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Runs, for real</a:t>
            </a:r>
            <a:endParaRPr lang="en-US" sz="1350" dirty="0"/>
          </a:p>
        </p:txBody>
      </p:sp>
      <p:sp>
        <p:nvSpPr>
          <p:cNvPr id="6" name="Shape 4"/>
          <p:cNvSpPr/>
          <p:nvPr/>
        </p:nvSpPr>
        <p:spPr>
          <a:xfrm>
            <a:off x="6245352" y="1325880"/>
            <a:ext cx="5486400" cy="384048"/>
          </a:xfrm>
          <a:prstGeom prst="rect">
            <a:avLst/>
          </a:prstGeom>
          <a:solidFill>
            <a:srgbClr val="C0392B"/>
          </a:solidFill>
          <a:ln w="12700">
            <a:solidFill>
              <a:srgbClr val="C0392B"/>
            </a:solidFill>
            <a:prstDash val="solid"/>
          </a:ln>
        </p:spPr>
      </p:sp>
      <p:sp>
        <p:nvSpPr>
          <p:cNvPr id="7" name="Text 5"/>
          <p:cNvSpPr txBox="1"/>
          <p:nvPr/>
        </p:nvSpPr>
        <p:spPr>
          <a:xfrm>
            <a:off x="6373368" y="1325880"/>
            <a:ext cx="521208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Has never run</a:t>
            </a:r>
            <a:endParaRPr lang="en-US" sz="1350" dirty="0"/>
          </a:p>
        </p:txBody>
      </p:sp>
      <p:sp>
        <p:nvSpPr>
          <p:cNvPr id="8" name="Shape 6"/>
          <p:cNvSpPr/>
          <p:nvPr/>
        </p:nvSpPr>
        <p:spPr>
          <a:xfrm>
            <a:off x="457200" y="1828800"/>
            <a:ext cx="5577840" cy="566928"/>
          </a:xfrm>
          <a:prstGeom prst="rect">
            <a:avLst/>
          </a:prstGeom>
          <a:solidFill>
            <a:srgbClr val="F0F6F2"/>
          </a:solidFill>
          <a:ln w="12700">
            <a:solidFill>
              <a:srgbClr val="C9D1D8"/>
            </a:solidFill>
            <a:prstDash val="solid"/>
          </a:ln>
        </p:spPr>
      </p:sp>
      <p:sp>
        <p:nvSpPr>
          <p:cNvPr id="9" name="Text 7"/>
          <p:cNvSpPr txBox="1"/>
          <p:nvPr/>
        </p:nvSpPr>
        <p:spPr>
          <a:xfrm>
            <a:off x="566928" y="187452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six-stage real-toolkit campaign ran end to end on Delta: 6/6 tasks, four objectives, a front.</a:t>
            </a:r>
            <a:endParaRPr lang="en-US" sz="1000" dirty="0"/>
          </a:p>
        </p:txBody>
      </p:sp>
      <p:sp>
        <p:nvSpPr>
          <p:cNvPr id="10" name="Shape 8"/>
          <p:cNvSpPr/>
          <p:nvPr/>
        </p:nvSpPr>
        <p:spPr>
          <a:xfrm>
            <a:off x="457200" y="2432304"/>
            <a:ext cx="5577840" cy="566928"/>
          </a:xfrm>
          <a:prstGeom prst="rect">
            <a:avLst/>
          </a:prstGeom>
          <a:solidFill>
            <a:srgbClr val="FFFFFF"/>
          </a:solidFill>
          <a:ln w="12700">
            <a:solidFill>
              <a:srgbClr val="C9D1D8"/>
            </a:solidFill>
            <a:prstDash val="solid"/>
          </a:ln>
        </p:spPr>
      </p:sp>
      <p:sp>
        <p:nvSpPr>
          <p:cNvPr id="11" name="Text 9"/>
          <p:cNvSpPr txBox="1"/>
          <p:nvPr/>
        </p:nvSpPr>
        <p:spPr>
          <a:xfrm>
            <a:off x="566928" y="247802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engine — compose, five gates, interlock, Pareto tree, provenance, durable run ledger.</a:t>
            </a:r>
            <a:endParaRPr lang="en-US" sz="1000" dirty="0"/>
          </a:p>
        </p:txBody>
      </p:sp>
      <p:sp>
        <p:nvSpPr>
          <p:cNvPr id="12" name="Shape 10"/>
          <p:cNvSpPr/>
          <p:nvPr/>
        </p:nvSpPr>
        <p:spPr>
          <a:xfrm>
            <a:off x="457200" y="3035808"/>
            <a:ext cx="5577840" cy="566928"/>
          </a:xfrm>
          <a:prstGeom prst="rect">
            <a:avLst/>
          </a:prstGeom>
          <a:solidFill>
            <a:srgbClr val="F0F6F2"/>
          </a:solidFill>
          <a:ln w="12700">
            <a:solidFill>
              <a:srgbClr val="C9D1D8"/>
            </a:solidFill>
            <a:prstDash val="solid"/>
          </a:ln>
        </p:spPr>
      </p:sp>
      <p:sp>
        <p:nvSpPr>
          <p:cNvPr id="13" name="Text 11"/>
          <p:cNvSpPr txBox="1"/>
          <p:nvPr/>
        </p:nvSpPr>
        <p:spPr>
          <a:xfrm>
            <a:off x="566928" y="3081528"/>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Four control models, plus conduct() reasoners, over one shared executor.</a:t>
            </a:r>
            <a:endParaRPr lang="en-US" sz="1000" dirty="0"/>
          </a:p>
        </p:txBody>
      </p:sp>
      <p:sp>
        <p:nvSpPr>
          <p:cNvPr id="14" name="Shape 12"/>
          <p:cNvSpPr/>
          <p:nvPr/>
        </p:nvSpPr>
        <p:spPr>
          <a:xfrm>
            <a:off x="457200" y="3639312"/>
            <a:ext cx="5577840" cy="566928"/>
          </a:xfrm>
          <a:prstGeom prst="rect">
            <a:avLst/>
          </a:prstGeom>
          <a:solidFill>
            <a:srgbClr val="FFFFFF"/>
          </a:solidFill>
          <a:ln w="12700">
            <a:solidFill>
              <a:srgbClr val="C9D1D8"/>
            </a:solidFill>
            <a:prstDash val="solid"/>
          </a:ln>
        </p:spPr>
      </p:sp>
      <p:sp>
        <p:nvSpPr>
          <p:cNvPr id="15" name="Text 13"/>
          <p:cNvSpPr txBox="1"/>
          <p:nvPr/>
        </p:nvSpPr>
        <p:spPr>
          <a:xfrm>
            <a:off x="566928" y="3685032"/>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Control plane: in-process and HTTP+SSE, with synchronous admission, covered end to end.</a:t>
            </a:r>
            <a:endParaRPr lang="en-US" sz="1000" dirty="0"/>
          </a:p>
        </p:txBody>
      </p:sp>
      <p:sp>
        <p:nvSpPr>
          <p:cNvPr id="16" name="Shape 14"/>
          <p:cNvSpPr/>
          <p:nvPr/>
        </p:nvSpPr>
        <p:spPr>
          <a:xfrm>
            <a:off x="457200" y="4242816"/>
            <a:ext cx="5577840" cy="566928"/>
          </a:xfrm>
          <a:prstGeom prst="rect">
            <a:avLst/>
          </a:prstGeom>
          <a:solidFill>
            <a:srgbClr val="F0F6F2"/>
          </a:solidFill>
          <a:ln w="12700">
            <a:solidFill>
              <a:srgbClr val="C9D1D8"/>
            </a:solidFill>
            <a:prstDash val="solid"/>
          </a:ln>
        </p:spPr>
      </p:sp>
      <p:sp>
        <p:nvSpPr>
          <p:cNvPr id="17" name="Text 15"/>
          <p:cNvSpPr txBox="1"/>
          <p:nvPr/>
        </p:nvSpPr>
        <p:spPr>
          <a:xfrm>
            <a:off x="566928" y="4288536"/>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reasoner in another process, driving a campaign over the HTTP plane.</a:t>
            </a:r>
            <a:endParaRPr lang="en-US" sz="1000" dirty="0"/>
          </a:p>
        </p:txBody>
      </p:sp>
      <p:sp>
        <p:nvSpPr>
          <p:cNvPr id="18" name="Shape 16"/>
          <p:cNvSpPr/>
          <p:nvPr/>
        </p:nvSpPr>
        <p:spPr>
          <a:xfrm>
            <a:off x="457200" y="4846320"/>
            <a:ext cx="5577840" cy="566928"/>
          </a:xfrm>
          <a:prstGeom prst="rect">
            <a:avLst/>
          </a:prstGeom>
          <a:solidFill>
            <a:srgbClr val="FFFFFF"/>
          </a:solidFill>
          <a:ln w="12700">
            <a:solidFill>
              <a:srgbClr val="C9D1D8"/>
            </a:solidFill>
            <a:prstDash val="solid"/>
          </a:ln>
        </p:spPr>
      </p:sp>
      <p:sp>
        <p:nvSpPr>
          <p:cNvPr id="19" name="Text 17"/>
          <p:cNvSpPr txBox="1"/>
          <p:nvPr/>
        </p:nvSpPr>
        <p:spPr>
          <a:xfrm>
            <a:off x="566928" y="489204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Dragon startup AND teardown bounded; both measured against real lost allocations.</a:t>
            </a:r>
            <a:endParaRPr lang="en-US" sz="1000" dirty="0"/>
          </a:p>
        </p:txBody>
      </p:sp>
      <p:sp>
        <p:nvSpPr>
          <p:cNvPr id="20" name="Shape 18"/>
          <p:cNvSpPr/>
          <p:nvPr/>
        </p:nvSpPr>
        <p:spPr>
          <a:xfrm>
            <a:off x="457200" y="5449824"/>
            <a:ext cx="5577840" cy="566928"/>
          </a:xfrm>
          <a:prstGeom prst="rect">
            <a:avLst/>
          </a:prstGeom>
          <a:solidFill>
            <a:srgbClr val="F0F6F2"/>
          </a:solidFill>
          <a:ln w="12700">
            <a:solidFill>
              <a:srgbClr val="C9D1D8"/>
            </a:solidFill>
            <a:prstDash val="solid"/>
          </a:ln>
        </p:spPr>
      </p:sp>
      <p:sp>
        <p:nvSpPr>
          <p:cNvPr id="21" name="Text 19"/>
          <p:cNvSpPr txBox="1"/>
          <p:nvPr/>
        </p:nvSpPr>
        <p:spPr>
          <a:xfrm>
            <a:off x="566928" y="549554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Per-tool cost measured for all six real tools, and the specs corrected from measurement.</a:t>
            </a:r>
            <a:endParaRPr lang="en-US" sz="1000" dirty="0"/>
          </a:p>
        </p:txBody>
      </p:sp>
      <p:sp>
        <p:nvSpPr>
          <p:cNvPr id="22" name="Shape 20"/>
          <p:cNvSpPr/>
          <p:nvPr/>
        </p:nvSpPr>
        <p:spPr>
          <a:xfrm>
            <a:off x="6245352" y="1828800"/>
            <a:ext cx="5486400" cy="566928"/>
          </a:xfrm>
          <a:prstGeom prst="rect">
            <a:avLst/>
          </a:prstGeom>
          <a:solidFill>
            <a:srgbClr val="F9E0DD"/>
          </a:solidFill>
          <a:ln w="12700">
            <a:solidFill>
              <a:srgbClr val="C9D1D8"/>
            </a:solidFill>
            <a:prstDash val="solid"/>
          </a:ln>
        </p:spPr>
      </p:sp>
      <p:sp>
        <p:nvSpPr>
          <p:cNvPr id="23" name="Text 21"/>
          <p:cNvSpPr txBox="1"/>
          <p:nvPr/>
        </p:nvSpPr>
        <p:spPr>
          <a:xfrm>
            <a:off x="6355080" y="187452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replicas &gt; 1 has NEVER executed. The independence invariant is the one most likely to be silently wrong, and it is unexercised.</a:t>
            </a:r>
            <a:endParaRPr lang="en-US" sz="1000" dirty="0"/>
          </a:p>
        </p:txBody>
      </p:sp>
      <p:sp>
        <p:nvSpPr>
          <p:cNvPr id="24" name="Shape 22"/>
          <p:cNvSpPr/>
          <p:nvPr/>
        </p:nvSpPr>
        <p:spPr>
          <a:xfrm>
            <a:off x="6245352" y="2432304"/>
            <a:ext cx="5486400" cy="566928"/>
          </a:xfrm>
          <a:prstGeom prst="rect">
            <a:avLst/>
          </a:prstGeom>
          <a:solidFill>
            <a:srgbClr val="FFFFFF"/>
          </a:solidFill>
          <a:ln w="12700">
            <a:solidFill>
              <a:srgbClr val="C9D1D8"/>
            </a:solidFill>
            <a:prstDash val="solid"/>
          </a:ln>
        </p:spPr>
      </p:sp>
      <p:sp>
        <p:nvSpPr>
          <p:cNvPr id="25" name="Text 23"/>
          <p:cNvSpPr txBox="1"/>
          <p:nvPr/>
        </p:nvSpPr>
        <p:spPr>
          <a:xfrm>
            <a:off x="6355080" y="247802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Nothing has ever been promoted by the trust ledger, so the trusted path has never run.</a:t>
            </a:r>
            <a:endParaRPr lang="en-US" sz="1000" dirty="0"/>
          </a:p>
        </p:txBody>
      </p:sp>
      <p:sp>
        <p:nvSpPr>
          <p:cNvPr id="26" name="Shape 24"/>
          <p:cNvSpPr/>
          <p:nvPr/>
        </p:nvSpPr>
        <p:spPr>
          <a:xfrm>
            <a:off x="6245352" y="3035808"/>
            <a:ext cx="5486400" cy="566928"/>
          </a:xfrm>
          <a:prstGeom prst="rect">
            <a:avLst/>
          </a:prstGeom>
          <a:solidFill>
            <a:srgbClr val="F9E0DD"/>
          </a:solidFill>
          <a:ln w="12700">
            <a:solidFill>
              <a:srgbClr val="C9D1D8"/>
            </a:solidFill>
            <a:prstDash val="solid"/>
          </a:ln>
        </p:spPr>
      </p:sp>
      <p:sp>
        <p:nvSpPr>
          <p:cNvPr id="27" name="Text 25"/>
          <p:cNvSpPr txBox="1"/>
          <p:nvPr/>
        </p:nvSpPr>
        <p:spPr>
          <a:xfrm>
            <a:off x="6355080" y="3081528"/>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measurement has superseded a prediction — the calibration machinery is untested.</a:t>
            </a:r>
            <a:endParaRPr lang="en-US" sz="1000" dirty="0"/>
          </a:p>
        </p:txBody>
      </p:sp>
      <p:sp>
        <p:nvSpPr>
          <p:cNvPr id="28" name="Shape 26"/>
          <p:cNvSpPr/>
          <p:nvPr/>
        </p:nvSpPr>
        <p:spPr>
          <a:xfrm>
            <a:off x="6245352" y="3639312"/>
            <a:ext cx="5486400" cy="566928"/>
          </a:xfrm>
          <a:prstGeom prst="rect">
            <a:avLst/>
          </a:prstGeom>
          <a:solidFill>
            <a:srgbClr val="FFFFFF"/>
          </a:solidFill>
          <a:ln w="12700">
            <a:solidFill>
              <a:srgbClr val="C9D1D8"/>
            </a:solidFill>
            <a:prstDash val="solid"/>
          </a:ln>
        </p:spPr>
      </p:sp>
      <p:sp>
        <p:nvSpPr>
          <p:cNvPr id="29" name="Text 27"/>
          <p:cNvSpPr txBox="1"/>
          <p:nvPr/>
        </p:nvSpPr>
        <p:spPr>
          <a:xfrm>
            <a:off x="6355080" y="3685032"/>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structural QC gate exists for any real tool; every real gate is a threshold on a self-reported number.</a:t>
            </a:r>
            <a:endParaRPr lang="en-US" sz="1000" dirty="0"/>
          </a:p>
        </p:txBody>
      </p:sp>
      <p:sp>
        <p:nvSpPr>
          <p:cNvPr id="30" name="Shape 28"/>
          <p:cNvSpPr/>
          <p:nvPr/>
        </p:nvSpPr>
        <p:spPr>
          <a:xfrm>
            <a:off x="6245352" y="4242816"/>
            <a:ext cx="5486400" cy="566928"/>
          </a:xfrm>
          <a:prstGeom prst="rect">
            <a:avLst/>
          </a:prstGeom>
          <a:solidFill>
            <a:srgbClr val="F9E0DD"/>
          </a:solidFill>
          <a:ln w="12700">
            <a:solidFill>
              <a:srgbClr val="C9D1D8"/>
            </a:solidFill>
            <a:prstDash val="solid"/>
          </a:ln>
        </p:spPr>
      </p:sp>
      <p:sp>
        <p:nvSpPr>
          <p:cNvPr id="31" name="Text 29"/>
          <p:cNvSpPr txBox="1"/>
          <p:nvPr/>
        </p:nvSpPr>
        <p:spPr>
          <a:xfrm>
            <a:off x="6355080" y="4288536"/>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1000" dirty="0"/>
          </a:p>
        </p:txBody>
      </p:sp>
      <p:sp>
        <p:nvSpPr>
          <p:cNvPr id="32" name="Shape 30"/>
          <p:cNvSpPr/>
          <p:nvPr/>
        </p:nvSpPr>
        <p:spPr>
          <a:xfrm>
            <a:off x="6245352" y="4846320"/>
            <a:ext cx="5486400" cy="566928"/>
          </a:xfrm>
          <a:prstGeom prst="rect">
            <a:avLst/>
          </a:prstGeom>
          <a:solidFill>
            <a:srgbClr val="FFFFFF"/>
          </a:solidFill>
          <a:ln w="12700">
            <a:solidFill>
              <a:srgbClr val="C9D1D8"/>
            </a:solidFill>
            <a:prstDash val="solid"/>
          </a:ln>
        </p:spPr>
      </p:sp>
      <p:sp>
        <p:nvSpPr>
          <p:cNvPr id="33" name="Text 31"/>
          <p:cNvSpPr txBox="1"/>
          <p:nvPr/>
        </p:nvSpPr>
        <p:spPr>
          <a:xfrm>
            <a:off x="6355080" y="489204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1000" dirty="0"/>
          </a:p>
        </p:txBody>
      </p:sp>
      <p:sp>
        <p:nvSpPr>
          <p:cNvPr id="34" name="Shape 32"/>
          <p:cNvSpPr/>
          <p:nvPr/>
        </p:nvSpPr>
        <p:spPr>
          <a:xfrm>
            <a:off x="6245352" y="5449824"/>
            <a:ext cx="5486400" cy="566928"/>
          </a:xfrm>
          <a:prstGeom prst="rect">
            <a:avLst/>
          </a:prstGeom>
          <a:solidFill>
            <a:srgbClr val="F9E0DD"/>
          </a:solidFill>
          <a:ln w="12700">
            <a:solidFill>
              <a:srgbClr val="C9D1D8"/>
            </a:solidFill>
            <a:prstDash val="solid"/>
          </a:ln>
        </p:spPr>
      </p:sp>
      <p:sp>
        <p:nvSpPr>
          <p:cNvPr id="35" name="Text 33"/>
          <p:cNvSpPr txBox="1"/>
          <p:nvPr/>
        </p:nvSpPr>
        <p:spPr>
          <a:xfrm>
            <a:off x="6355080" y="549554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sites/*.yaml is read by no code. MCP is designed, not built.</a:t>
            </a:r>
            <a:endParaRPr lang="en-US" sz="1000" dirty="0"/>
          </a:p>
        </p:txBody>
      </p:sp>
      <p:sp>
        <p:nvSpPr>
          <p:cNvPr id="36" name="Text 34"/>
          <p:cNvSpPr txBox="1"/>
          <p:nvPr/>
        </p:nvSpPr>
        <p:spPr>
          <a:xfrm>
            <a:off x="457200" y="6053328"/>
            <a:ext cx="11274552"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One campaign has completed. </a:t>
            </a:r>
            <a:pPr indent="0" marL="0">
              <a:buNone/>
            </a:pPr>
            <a:r>
              <a:rPr lang="en-US" sz="1250" dirty="0">
                <a:solidFill>
                  <a:srgbClr val="22303C"/>
                </a:solidFill>
                <a:latin typeface="Calibri" pitchFamily="34" charset="0"/>
                <a:ea typeface="Calibri" pitchFamily="34" charset="-122"/>
                <a:cs typeface="Calibri" pitchFamily="34" charset="-120"/>
              </a:rPr>
              <a:t>One lineage, one cycle, one draw — and the node it produced is marked suspect, which is the interlock working rather than a defect.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5486400" cy="32004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77240"/>
            <a:ext cx="11274552" cy="6400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things I would like this room's opinion on</a:t>
            </a:r>
            <a:endParaRPr lang="en-US" sz="2800" dirty="0"/>
          </a:p>
        </p:txBody>
      </p:sp>
      <p:sp>
        <p:nvSpPr>
          <p:cNvPr id="4" name="Shape 2"/>
          <p:cNvSpPr/>
          <p:nvPr/>
        </p:nvSpPr>
        <p:spPr>
          <a:xfrm>
            <a:off x="457200" y="1600200"/>
            <a:ext cx="5513832" cy="1444752"/>
          </a:xfrm>
          <a:prstGeom prst="rect">
            <a:avLst/>
          </a:prstGeom>
          <a:solidFill>
            <a:srgbClr val="1E2C36"/>
          </a:solidFill>
          <a:ln w="12700">
            <a:solidFill>
              <a:srgbClr val="2E414F"/>
            </a:solidFill>
            <a:prstDash val="solid"/>
          </a:ln>
        </p:spPr>
      </p:sp>
      <p:sp>
        <p:nvSpPr>
          <p:cNvPr id="5" name="Shape 3"/>
          <p:cNvSpPr/>
          <p:nvPr/>
        </p:nvSpPr>
        <p:spPr>
          <a:xfrm>
            <a:off x="457200" y="1600200"/>
            <a:ext cx="54864" cy="1444752"/>
          </a:xfrm>
          <a:prstGeom prst="rect">
            <a:avLst/>
          </a:prstGeom>
          <a:solidFill>
            <a:srgbClr val="D9731A"/>
          </a:solidFill>
          <a:ln w="12700">
            <a:solidFill>
              <a:srgbClr val="D9731A"/>
            </a:solidFill>
            <a:prstDash val="solid"/>
          </a:ln>
        </p:spPr>
      </p:sp>
      <p:sp>
        <p:nvSpPr>
          <p:cNvPr id="6" name="Text 4"/>
          <p:cNvSpPr txBox="1"/>
          <p:nvPr/>
        </p:nvSpPr>
        <p:spPr>
          <a:xfrm>
            <a:off x="62179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96012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rhapsody's monitor loop drops a whole sweep</a:t>
            </a:r>
            <a:endParaRPr lang="en-US" sz="1250" dirty="0"/>
          </a:p>
        </p:txBody>
      </p:sp>
      <p:sp>
        <p:nvSpPr>
          <p:cNvPr id="8" name="Text 6"/>
          <p:cNvSpPr txBox="1"/>
          <p:nvPr/>
        </p:nvSpPr>
        <p:spPr>
          <a:xfrm>
            <a:off x="96012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A worker exception that cannot be unpickled takes out every completion in that sweep. batch_task.get() is guarded; the follow-up get_stdout(block=False) re-reads the same entry and catches only OSError. Our half is fixed (SubprocessError.__reduce__). Should that handler catch Exception and fail the ONE task?</a:t>
            </a:r>
            <a:endParaRPr lang="en-US" sz="950" dirty="0"/>
          </a:p>
        </p:txBody>
      </p:sp>
      <p:sp>
        <p:nvSpPr>
          <p:cNvPr id="9" name="Shape 7"/>
          <p:cNvSpPr/>
          <p:nvPr/>
        </p:nvSpPr>
        <p:spPr>
          <a:xfrm>
            <a:off x="457200" y="3172968"/>
            <a:ext cx="5513832" cy="1444752"/>
          </a:xfrm>
          <a:prstGeom prst="rect">
            <a:avLst/>
          </a:prstGeom>
          <a:solidFill>
            <a:srgbClr val="1E2C36"/>
          </a:solidFill>
          <a:ln w="12700">
            <a:solidFill>
              <a:srgbClr val="2E414F"/>
            </a:solidFill>
            <a:prstDash val="solid"/>
          </a:ln>
        </p:spPr>
      </p:sp>
      <p:sp>
        <p:nvSpPr>
          <p:cNvPr id="10" name="Shape 8"/>
          <p:cNvSpPr/>
          <p:nvPr/>
        </p:nvSpPr>
        <p:spPr>
          <a:xfrm>
            <a:off x="457200" y="3172968"/>
            <a:ext cx="54864" cy="1444752"/>
          </a:xfrm>
          <a:prstGeom prst="rect">
            <a:avLst/>
          </a:prstGeom>
          <a:solidFill>
            <a:srgbClr val="D9731A"/>
          </a:solidFill>
          <a:ln w="12700">
            <a:solidFill>
              <a:srgbClr val="D9731A"/>
            </a:solidFill>
            <a:prstDash val="solid"/>
          </a:ln>
        </p:spPr>
      </p:sp>
      <p:sp>
        <p:nvSpPr>
          <p:cNvPr id="11" name="Text 9"/>
          <p:cNvSpPr txBox="1"/>
          <p:nvPr/>
        </p:nvSpPr>
        <p:spPr>
          <a:xfrm>
            <a:off x="621792" y="3246120"/>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96012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Why does Dragon's Batch() stall?</a:t>
            </a:r>
            <a:endParaRPr lang="en-US" sz="1250" dirty="0"/>
          </a:p>
        </p:txBody>
      </p:sp>
      <p:sp>
        <p:nvSpPr>
          <p:cNvPr id="13" name="Text 11"/>
          <p:cNvSpPr txBox="1"/>
          <p:nvPr/>
        </p:nvSpPr>
        <p:spPr>
          <a:xfrm>
            <a:off x="96012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Bounded now, but not diagnosed. Job 22318678 produced only infra-connect lines for two hours. Best guess: GPU-affinity worker rendezvous, or OFI/libfabric negotiation under single-node mode. We now fail fast enough to iterate — what should we instrument?</a:t>
            </a:r>
            <a:endParaRPr lang="en-US" sz="950" dirty="0"/>
          </a:p>
        </p:txBody>
      </p:sp>
      <p:sp>
        <p:nvSpPr>
          <p:cNvPr id="14" name="Shape 12"/>
          <p:cNvSpPr/>
          <p:nvPr/>
        </p:nvSpPr>
        <p:spPr>
          <a:xfrm>
            <a:off x="457200" y="4745736"/>
            <a:ext cx="5513832" cy="1444752"/>
          </a:xfrm>
          <a:prstGeom prst="rect">
            <a:avLst/>
          </a:prstGeom>
          <a:solidFill>
            <a:srgbClr val="1E2C36"/>
          </a:solidFill>
          <a:ln w="12700">
            <a:solidFill>
              <a:srgbClr val="2E414F"/>
            </a:solidFill>
            <a:prstDash val="solid"/>
          </a:ln>
        </p:spPr>
      </p:sp>
      <p:sp>
        <p:nvSpPr>
          <p:cNvPr id="15" name="Shape 13"/>
          <p:cNvSpPr/>
          <p:nvPr/>
        </p:nvSpPr>
        <p:spPr>
          <a:xfrm>
            <a:off x="457200" y="4745736"/>
            <a:ext cx="54864" cy="1444752"/>
          </a:xfrm>
          <a:prstGeom prst="rect">
            <a:avLst/>
          </a:prstGeom>
          <a:solidFill>
            <a:srgbClr val="D9731A"/>
          </a:solidFill>
          <a:ln w="12700">
            <a:solidFill>
              <a:srgbClr val="D9731A"/>
            </a:solidFill>
            <a:prstDash val="solid"/>
          </a:ln>
        </p:spPr>
      </p:sp>
      <p:sp>
        <p:nvSpPr>
          <p:cNvPr id="16" name="Text 14"/>
          <p:cNvSpPr txBox="1"/>
          <p:nvPr/>
        </p:nvSpPr>
        <p:spPr>
          <a:xfrm>
            <a:off x="621792" y="4818888"/>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96012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Can a running task's GPU ever be reclaimed?</a:t>
            </a:r>
            <a:endParaRPr lang="en-US" sz="1250" dirty="0"/>
          </a:p>
        </p:txBody>
      </p:sp>
      <p:sp>
        <p:nvSpPr>
          <p:cNvPr id="18" name="Text 16"/>
          <p:cNvSpPr txBox="1"/>
          <p:nvPr/>
        </p:nvSpPr>
        <p:spPr>
          <a:xfrm>
            <a:off x="96012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950" dirty="0"/>
          </a:p>
        </p:txBody>
      </p:sp>
      <p:sp>
        <p:nvSpPr>
          <p:cNvPr id="19" name="Shape 17"/>
          <p:cNvSpPr/>
          <p:nvPr/>
        </p:nvSpPr>
        <p:spPr>
          <a:xfrm>
            <a:off x="6217920" y="1600200"/>
            <a:ext cx="5513832" cy="1444752"/>
          </a:xfrm>
          <a:prstGeom prst="rect">
            <a:avLst/>
          </a:prstGeom>
          <a:solidFill>
            <a:srgbClr val="1E2C36"/>
          </a:solidFill>
          <a:ln w="12700">
            <a:solidFill>
              <a:srgbClr val="2E414F"/>
            </a:solidFill>
            <a:prstDash val="solid"/>
          </a:ln>
        </p:spPr>
      </p:sp>
      <p:sp>
        <p:nvSpPr>
          <p:cNvPr id="20" name="Shape 18"/>
          <p:cNvSpPr/>
          <p:nvPr/>
        </p:nvSpPr>
        <p:spPr>
          <a:xfrm>
            <a:off x="6217920" y="1600200"/>
            <a:ext cx="54864" cy="1444752"/>
          </a:xfrm>
          <a:prstGeom prst="rect">
            <a:avLst/>
          </a:prstGeom>
          <a:solidFill>
            <a:srgbClr val="D9731A"/>
          </a:solidFill>
          <a:ln w="12700">
            <a:solidFill>
              <a:srgbClr val="D9731A"/>
            </a:solidFill>
            <a:prstDash val="solid"/>
          </a:ln>
        </p:spPr>
      </p:sp>
      <p:sp>
        <p:nvSpPr>
          <p:cNvPr id="21" name="Text 19"/>
          <p:cNvSpPr txBox="1"/>
          <p:nvPr/>
        </p:nvSpPr>
        <p:spPr>
          <a:xfrm>
            <a:off x="638251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672084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workflow_id tags tasks but nothing looks them up</a:t>
            </a:r>
            <a:endParaRPr lang="en-US" sz="1250" dirty="0"/>
          </a:p>
        </p:txBody>
      </p:sp>
      <p:sp>
        <p:nvSpPr>
          <p:cNvPr id="23" name="Text 21"/>
          <p:cNvSpPr txBox="1"/>
          <p:nvPr/>
        </p:nvSpPr>
        <p:spPr>
          <a:xfrm>
            <a:off x="672084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950" dirty="0"/>
          </a:p>
        </p:txBody>
      </p:sp>
      <p:sp>
        <p:nvSpPr>
          <p:cNvPr id="24" name="Shape 22"/>
          <p:cNvSpPr/>
          <p:nvPr/>
        </p:nvSpPr>
        <p:spPr>
          <a:xfrm>
            <a:off x="6217920" y="3172968"/>
            <a:ext cx="5513832" cy="1444752"/>
          </a:xfrm>
          <a:prstGeom prst="rect">
            <a:avLst/>
          </a:prstGeom>
          <a:solidFill>
            <a:srgbClr val="1E2C36"/>
          </a:solidFill>
          <a:ln w="12700">
            <a:solidFill>
              <a:srgbClr val="2E414F"/>
            </a:solidFill>
            <a:prstDash val="solid"/>
          </a:ln>
        </p:spPr>
      </p:sp>
      <p:sp>
        <p:nvSpPr>
          <p:cNvPr id="25" name="Shape 23"/>
          <p:cNvSpPr/>
          <p:nvPr/>
        </p:nvSpPr>
        <p:spPr>
          <a:xfrm>
            <a:off x="6217920" y="3172968"/>
            <a:ext cx="54864" cy="1444752"/>
          </a:xfrm>
          <a:prstGeom prst="rect">
            <a:avLst/>
          </a:prstGeom>
          <a:solidFill>
            <a:srgbClr val="2E7D5B"/>
          </a:solidFill>
          <a:ln w="12700">
            <a:solidFill>
              <a:srgbClr val="2E7D5B"/>
            </a:solidFill>
            <a:prstDash val="solid"/>
          </a:ln>
        </p:spPr>
      </p:sp>
      <p:sp>
        <p:nvSpPr>
          <p:cNvPr id="26" name="Text 24"/>
          <p:cNvSpPr txBox="1"/>
          <p:nvPr/>
        </p:nvSpPr>
        <p:spPr>
          <a:xfrm>
            <a:off x="6382512" y="3246120"/>
            <a:ext cx="274320" cy="320040"/>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672084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Does breadth belong in a pattern's identity?</a:t>
            </a:r>
            <a:endParaRPr lang="en-US" sz="1250" dirty="0"/>
          </a:p>
        </p:txBody>
      </p:sp>
      <p:sp>
        <p:nvSpPr>
          <p:cNvPr id="28" name="Text 26"/>
          <p:cNvSpPr txBox="1"/>
          <p:nvPr/>
        </p:nvSpPr>
        <p:spPr>
          <a:xfrm>
            <a:off x="672084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Slide 14. Parameters are deliberately excluded from the signature; replica count is not. Is trust earned at one lineage evidence about four, when the cap it would lift exists to bound blast radius?</a:t>
            </a:r>
            <a:endParaRPr lang="en-US" sz="950" dirty="0"/>
          </a:p>
        </p:txBody>
      </p:sp>
      <p:sp>
        <p:nvSpPr>
          <p:cNvPr id="29" name="Shape 27"/>
          <p:cNvSpPr/>
          <p:nvPr/>
        </p:nvSpPr>
        <p:spPr>
          <a:xfrm>
            <a:off x="6217920" y="4745736"/>
            <a:ext cx="5513832" cy="1444752"/>
          </a:xfrm>
          <a:prstGeom prst="rect">
            <a:avLst/>
          </a:prstGeom>
          <a:solidFill>
            <a:srgbClr val="1E2C36"/>
          </a:solidFill>
          <a:ln w="12700">
            <a:solidFill>
              <a:srgbClr val="2E414F"/>
            </a:solidFill>
            <a:prstDash val="solid"/>
          </a:ln>
        </p:spPr>
      </p:sp>
      <p:sp>
        <p:nvSpPr>
          <p:cNvPr id="30" name="Shape 28"/>
          <p:cNvSpPr/>
          <p:nvPr/>
        </p:nvSpPr>
        <p:spPr>
          <a:xfrm>
            <a:off x="6217920" y="4745736"/>
            <a:ext cx="54864" cy="1444752"/>
          </a:xfrm>
          <a:prstGeom prst="rect">
            <a:avLst/>
          </a:prstGeom>
          <a:solidFill>
            <a:srgbClr val="7A4A8C"/>
          </a:solidFill>
          <a:ln w="12700">
            <a:solidFill>
              <a:srgbClr val="7A4A8C"/>
            </a:solidFill>
            <a:prstDash val="solid"/>
          </a:ln>
        </p:spPr>
      </p:sp>
      <p:sp>
        <p:nvSpPr>
          <p:cNvPr id="31" name="Text 29"/>
          <p:cNvSpPr txBox="1"/>
          <p:nvPr/>
        </p:nvSpPr>
        <p:spPr>
          <a:xfrm>
            <a:off x="6382512" y="4818888"/>
            <a:ext cx="274320" cy="320040"/>
          </a:xfrm>
          <a:prstGeom prst="rect">
            <a:avLst/>
          </a:prstGeom>
          <a:noFill/>
          <a:ln/>
        </p:spPr>
        <p:txBody>
          <a:bodyPr wrap="square" lIns="0" tIns="0" rIns="0" bIns="0" rtlCol="0" anchor="t"/>
          <a:lstStyle/>
          <a:p>
            <a:pPr indent="0" marL="0">
              <a:buNone/>
            </a:pPr>
            <a:r>
              <a:rPr lang="en-US" sz="1500" b="1" dirty="0">
                <a:solidFill>
                  <a:srgbClr val="7A4A8C"/>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672084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What is the cheapest real structural gate?</a:t>
            </a:r>
            <a:endParaRPr lang="en-US" sz="1250" dirty="0"/>
          </a:p>
        </p:txBody>
      </p:sp>
      <p:sp>
        <p:nvSpPr>
          <p:cNvPr id="33" name="Text 31"/>
          <p:cNvSpPr txBox="1"/>
          <p:nvPr/>
        </p:nvSpPr>
        <p:spPr>
          <a:xfrm>
            <a:off x="672084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Every real gate today is a threshold on a number the tool reports about itself. RFD3 gives us ligand_clashes and per-residue clash counts in a sidecar JSON we already open. For the Rosetta stages, upstream gates on interaction_energy, which we do not compute. Where would you start?</a:t>
            </a:r>
            <a:endParaRPr lang="en-US" sz="950" dirty="0"/>
          </a:p>
        </p:txBody>
      </p:sp>
      <p:sp>
        <p:nvSpPr>
          <p:cNvPr id="34" name="Text 32"/>
          <p:cNvSpPr txBox="1"/>
          <p:nvPr/>
        </p:nvSpPr>
        <p:spPr>
          <a:xfrm>
            <a:off x="457200" y="6355080"/>
            <a:ext cx="11274552" cy="320040"/>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Everything above is reproducible from this checkout, and every file:line on these slides is greppable from your laptop while I talk.</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the control plane and the remote reasoner</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an agent that composes its own workflows</dc:title>
  <dc:subject>PptxGenJS Presentation</dc:subject>
  <dc:creator>IMPRESS-A</dc:creator>
  <cp:lastModifiedBy>IMPRESS-A</cp:lastModifiedBy>
  <cp:revision>1</cp:revision>
  <dcterms:created xsi:type="dcterms:W3CDTF">2026-10-07T13:46:58Z</dcterms:created>
  <dcterms:modified xsi:type="dcterms:W3CDTF">2026-10-07T13:46:58Z</dcterms:modified>
</cp:coreProperties>
</file>