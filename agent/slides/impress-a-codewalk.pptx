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A code walk, not a results talk. IMPRESS-A runs protein design campaigns on HPC: you give it a goal and a budget, and it decides what experiment to run next, composes a workflow out of a tool registry, runs it through asyncflow and rhapsody, and updates a population of candidates.
The word doing the work is composes — there is no fixed pipeline anywhere in this repository, and most of the code I will show you exists because of that one fact. But "no fixed pipeline" is only interesting against something, and the something is in this room: the reference IMPRESS pipeline, which is adaptive, which works, and which has run at a scale we have not. The comparison all the way through is against a pipeline that is written down, not against no framework.
Three acts: what you can ask for, what it costs, and what it is usable as. I will name the weakest of the three in the next three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The shape of a campaign, and then what one actually produced.
A goal, a reasoner that decides, a composer that turns that into a typed DAG, admission, execution, absorption. Two edges make it a loop rather than a pipeline — a rejected graph comes back with a structured reason and another attempt, and every decision after the first sees every result so far.
Left card, all measured: six stages end to end in under three minutes, all four objectives with real values, admitted on the first attempt, cost measured per stage.
Right card, because you would ask and I would rather say it first. Every run we have ever done is a single lineage on one of four GPUs — their comparable runs carry sixteen to two hundred and fifty-six pipelines, so nothing in this deck is a throughput comparison. This node is suspect rather than pass because its pattern was provisional — the interlock working, not a failure. And no measurement has ever superseded a prediction, which is the one capability a composed graph has that a written-down one does not.
Read it as a floor. What it proves is that the plumbing survives contact with real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 What this is compared against. Not a blank page.
The reference IMPRESS pipeline does adaptive protein design at a scale we have not touched — twenty-four thousand task directories, nine hundred passing folds, no task failures on the clean runs. It also solved the thing we have not: eight pipelines per GPU takes utilisation from twelve percent to seventy and cuts cost per fold threefold. And its orchestration is not the overhead, at under two percent of the manager's wall clock.
So the question is not whether an adaptive pipeline works. It does. The question is what it costs to change one — the middle band, mined from their own code rather than quoted. The shape of the graph is nineteen assignments to next_step inside one decision function; the thresholds are a dataclass in the runner; the QC verdict is computed inside the coroutine that parses the output; the hook is a plain closure with full object access and no schema. One use case is fourteen hundred lines plus a runner — and the non-adaptive version of the same science is a hundred-line routing table, which is what a declarative rewrite actually looks like.
The bottom cards are why I think composition is worth the trouble, and they are their numbers. Their guided feedback, against its own parent fold, is flat — plus nought point nought one one pLDDT, p of nought point eight five. A cheap re-sampler, not a ratchet — and still worth having at four times cheaper per fold. And eight hundred passing folds are five hundred and ninety-six clusters: width buys independent searches, depth refines one.
The last line is owed rather than implied — that pipeline paid for lessons we inherited for free, including the storage fix in act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Three dimensions, because this audience arrives with three questions and each takes a different kind of evidence. The deck is three acts in that order: what you can ask for, what it costs in hardware and in yield, and what it is usable as.
I would rather name the weak one now than have it extracted at minute twenty-five. It is the middle column, and specifically performance at scale. Every performance number here comes from one lineage on one GPU — sixteen complete runs, all serial. Replicas greater than one has never executed, so the invariant that N lineages give N independent results is the piece most likely to be silently wrong.
And there is no head-to-head. I have their numbers and ours, on different hardware at different scales, and I will not divide one by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 If you keep one slide, keep this one. Everything after it is a consequence rather than a preference.
Two facts. A machine composes workflows no human has reviewed. And the tools those workflows call fail silently far more often than they crash — a generator hands back a structure with no secondary structure, a confident designability number, and exit code zero.
Five things fall out, each with the file that implements it. A policy emits abstract intent, not a DAG. Everything is validated before it executes. Trust is scored on shape and has to be earned. Exit code is never evidence. And exactly one component writes state and decides when to stop.
The flip side at the bottom is the hinge of the talk. If a person reviewed every graph before it ran, you would write the DAG down once and schedule it, and most of this would stop paying for itself. That is not a strawman — it is the right answer under review, and next door it is fourteen hundred lines of pipeline class per use case that works. Act one is what you get for not writing it down; act two is what that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Act one: functionality. Not features — tasks. What can you ask this thing that you cannot ask an adaptive pipeline?
A goal rather than a pipeline. A tool that is a spec file, with its gates part of the spec. A control model you can swap without the layer below knowing.
The weakest claim in red, before the act rather than after it: every graph we have composed is the six-stage chain the reference pipeline already 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Two coroutines meeting at a session, and the asymmetry between them is the point.
Left, a reasoner: observe, decide, submit, wait. Two ways to be one — implement decide and let a driver play the loop, which is what models A through D do, or implement conduct and drive yourself, collecting experiments in the order they finish. The second is what makes a federation of agents generating an ensemble in parallel expressible at all.
Right, the executor: admit, dispatch, reap, absorb, and the only writer of campaign state. Note what it is not: not the loop body with a policy called inside it. The reasoner is a peer.
The red arrow is the one people miss. A rejected submission does not burn the experiment — the policy gets a structured reason and another attempt, bounded twice, because a conduct reasoner is under no obligation to honour anything the driver promises.
Two rules hold it together: one writer, with every mutating block await-free so an observation is never taken mid-absorb; and the executor decides termination, because budget and stagnation are facts a reasoner cannot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Eight layers, and the thing worth looking at is in red: four arrows that do not exist. A policy may not import tools, exec or runtime; compose may not import exec. I draw them because an edge that is merely absent reads as an oversight, and this room will ask whether the rule is enforced or intended.
It is enforced. A test walks the package with ast and checks every internal import against one table — ast.walk rather than module-level imports, because the real adapters defer their science imports into run bodies on purpose, and a deferred cross-layer import is exactly as fatal as one at the top. Writing that test found two edges nobody had documented.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This is the answer to "you let a machine invent workflows?"
Five gates, first refusal wins. Gate two rejects a tool composed without its QC gates, so you cannot compose your way out of quality control. Gate four rejects a P6 tool somebody tried to schedule.
Then three things that are not gates: the interlock; a dry-run where every agent parameterizes without executing, which catches a graph that type-checks but cannot be turned into a command line; and a reservation. Reserve is last because the dry-run awaits, and by then another submission may have claimed the budget gate five saw.
The trust half on the right is the part a written-down pipeline has no need for. A pattern is the graph's shape, hashed, with parameter values deliberately excluded so tuning a parameter does not reset trust. A provisional shape is capped, forced through a dry-run, marked suspect whatever it scores, and may have only one instance in flight — promotion counts consecutive clean runs, and N concurrent copies are one draw sampled N times. Clean means no integrity gate failed; a design that merely scores badly fails its node but is not evidence against the shape. Counting it was why our five-cycle trust run promoted nothing.
And the limit, from our own limitations doc: this buys examination and delay, not soundness.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 Adding a tool is a YAML file plus a subclass, never a change to the composer, validator or manager. If you have to touch those, the layering is wrong.
The spec declares typed ports, a compute pattern, resources, the metrics it reports, mandatory gates resolved by id from a shared library, and a cost model that feeds gate five. Loading is validating: an unknown gate id or a missing skill section is a load-time error, and a toolkit that fails anywhere registers nothing rather than a partial set.
The table at the bottom left is the comparison I think is defensible, and it is not about strictness. Here the verdict is declared in the tool's spec, resolved out of a shared gate library, mandatory for every scheduled tool, and a failed node can never reach the front whatever it scored. There it is computed inside the same coroutine that parses the output and read back out of pipeline state as a boolean called pass. Neither is unsafe — one can be left out by whoever writes the next stage, the other cannot.
Then the third row, which I want to say before anyone looks it up. On the two Rosetta stages we share, their thresholds are stricter than ours: total score under minus two-fifty, repulsion under a hundred, and an interaction energy we do not compute at all. So the claim is about where the verdict lives and whether it is optional — not about us being more careful. We are not, yet.
On the right, the tool that lies: it succeeds, reports designability of nought point nine one, and emits a structure with two percent secondary structure. One test asserts all three at once. The real toolkits have no equivalent, and that is ask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Act two: performance — both kinds, because hardware cost and scientific yield are not linear in each other.
The loop is not the cost. The failures that eat allocations are bounded in code, both ends of the backend lifecycle. And the headroom is not orchestration: tasks fill ninety-five percent of elapsed, so what is idle is three of four GPUs.
In red: no serial baseline and no head-to-head. Nothing in this act divides into a speedup.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The slide I would defend hardest, and it is four lines of real code.
A task graph is plain data. To run it, one generic factory builds a closure per node, sets its dunder-name to the node id, and hands it to asyncflow's function_task decorator. That is the whole adapter — no codegen, no templating. And setting dunder-name first is not a trick: the decorators take no name keyword, so this is exactly what lets one factory serve every node of every graph. The closure binds workdir to a local rather than reaching through self, because it gets pickled to a process pool and self would drag the dispatcher along with it.
Second block, submission. Walk the graph topologically, pass each dependency's unawaited future as an argument — that is how you express an edge — build a gather with return_exceptions, and return without awaiting. That one change is what let the reasoner stop being the loop body. Two idioms, not interchangeable: unawaited futures are edges, gather is independent work.
Right-hand side, measured rather than assumed. Cancellation is advisory: cancel returns False once a callable has started, asyncflow throws that answer away, so queued work is reclaimed, running work is not, and nobody tells you which happened. A run's terminal state always comes from collecting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The second half of the seam is construction, and this is where the expensive lessons are.
Three things in make_engine_bounded are load-bearing. Only the synchronous construction goes to a dedicated daemon thread, not the default executor, because a stuck call on a pooled thread would hang interpreter shutdown too. The backend's async init and the engine are built back on the caller's own loop. And that await is not politeness: rhapsody's backends are awaitable, and awaiting is what registers the task states. Construct one synchronously and it appears to work, then fails much later with "backend not registered, available backends: empty list".
The right column is what each lesson cost. Two full allocations went to an engine built on a throwaway loop — asyncflow captures the running loop in its constructor and puts its dispatch task on it, so an engine built on a closed loop looks fine and dispatches nothing. One two-hour allocation went entirely to Dragon's Batch constructor, which blocks the loop, so our own heartbeat never fired once.
And the most expensive item is teardown, not startup: on the reference pipeline, shutdown never returned after the science had finished, and the job sat an hour before someone cancelled it — sixty-four GPU-hours, thirty-seven percent of that job's bill. Both ends are bounded now, and a stuck teardown is abandoned with a warning rather than raised: results are already durable, and raising would report a campaign that succeeded as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The measured half of the act, and the figure is deliberately about one variable.
Two bars: the median untrusted run and the median trusted run, split into time inside a task and time anywhere else. Everything else means dispatch, absorb, QC, the Pareto update, provenance and the durable ledger — all of it a median of two point eight seconds out of a hundred and sixty. And the comparison is the point: running untrusted, which means a forced dry-run, a cost cap and a suspect verdict whatever it scores, costs zero point zero seconds, interval minus nought point nine to plus one point two. The scrutiny is free, and that is measured rather than argued.
Underneath, the cost models: nought point one seven GPU-hours declared per chain against nought point oh two nine measured. Every declared figure is at least two and a quarter times the worst task observed, because gate five and the untrusted cap refuse graphs against those numbers. Headroom is not inefficiency.
The red card is written as refusals, not apologies. No serial baseline, so nothing here is a speedup. GPU utilisation is recorded nowhere, so seventeen percent is an upper bound with model load inside it.
And the band is the conclusion: the loop costs about two percent and the hardware is eighty-three percent idle. The next real gain is not in this orchestrator — it is giving the other three GPUs work, which is ask seven.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 Seven jobs, and the figure at the top is really about one variable.
Top row, the HDD baseline: diffusion 137 seconds, sequence design 293, and then packmin could not finish importing PyRosetta inside its three-hundred-second budget, so nothing downstream ran. Middle row, the same campaign with one thing changed — the virtual environment moved to NVMe. Sequence design went from 293 seconds to 18, packmin from not finishing to sixteen.
The reason is on the right. Importing PyRosetta off that filesystem costs 471 seconds, a 598-megabyte shared object demand-paged; torch is another 280. On NVMe both are seconds. That was the single largest cost this project was paying, it was invisible because it looked like a tool timing out — and we did not find it. The fix is ported from their PR sixty-seven.
Bottom right, the caveat for anyone reading our cost models: diffusion took 146 seconds in one job and 45 in the next, same campaign, same parameters. Those numbers feed gates that refuse graphs, so they sit deliberately above measurement.
The table underneath is three later jobs that changed nothing about the science and asked one question — does the shape earn trust. The first ran thirty tasks out of thirty cleanly and promoted nothing, because we were counting design quality as evidence about the workflow. With only integrity gates counting, the same chain promoted after its second run in both later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The slide worth the most in this act, and almost none of it is our data.
Top left: their search improves and then stops. Median pLDDT by episode tercile goes ninety point seven, ninety-five point two, ninety-five point oh — plus four and a half, then minus nought point two. Depth buys you something and then it buys you nothing, and they have the sample size to say so where we do not.
Bottom left is the pair worth staring at. Their eight hundred and four passing folds are five hundred and ninety-six clusters — seventy-four percent independent. Our seventeen designs cluster into five structural groups: twenty-nine percent. We are the worse number. Both analyses overcount their own yield, and both point at the same lever: width, not depth.
Right side is what this project does about it, and the dotted borders are doing the work. Replicas-N means N independent lineages, one node each, and the executor never funnels them back into one candidate. The front is deliberately not monotonic, so a node promoted on an optimistic prediction gets demoted by its own assay. Trust is scored on shape, so breadth has an identity of its own.
All of it dotted — written, typed, unit-tested, and never executed on real tools; the only lineages that have run are mock ones. And the cheap route is closed: the signature includes replica multiplicity, so trust earned at one lineage does not transfer to four. A four-lineage graph arrives untrusted, under a cap it already exceeds. That is ask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Four defects reached real hardware, each invisible to a dry run. The pattern across them is more useful than any one.
The first two as a pair: one picked the wrong file of the right extension, the other died in its module-level imports before parsing a single argument we passed it. No contract check we had could see either. Then the storage story from the last slide — where the queued fix was to raise three walltimes six-fold, which would have hidden a 471-second import behind a timeout.
And the subtle one: an estimate that refuses work. Our cost models were literature guesses six to sixty-nine times over reality, and gate five and the interlock cap refuse graphs against those numbers. The inflated GPU side summed past the cap, so the policy truncated the last stage off the chain — which happened to be the only producer of two of the four campaign objectives. The run was unwinnable from the moment it was admitted, and nothing said so.
Two things to carry away. Checked against the binary is not executed. And a plausible explanation is not a diagnosis — the trajectory bug was a convincing cause for a failure it had nothing to do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 Two findings about the trust ledger, and the second is open.
The first: the ledger path was relative to the campaign root, and the Delta launcher changes into a per-job directory, so it resolved inside each job and started empty every time — while promotion counts three consecutive clean runs within one file.
What is worth your time is how it hid. Nothing logged where the ledger was, so a file that silently reset looked exactly like one that had not earned promotion yet, and I reported it that way. It had been true since the first Delta job, which is why the trusted path did not execute until 22726105. The fix did more than stop the reset: the ledger is site-wide now, so evidence accumulates across jobs — which is why promotion came a run early and the job after it ran three trusted cycles clean.
The second I hit while generating these numbers, and I have not changed the code. The signature emits one string per node, so N lineages give N duplicate parts and the hash moves with the replica count — though it deliberately does not move when you tune a parameter. The cost is concrete: the cheap route to four lineages was to promote at one and then widen. It does not work. Four is a different, untrusted pattern, still capped, still refused, and the policy would quietly shrink it to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Act three: usability — the short act, which is information rather than a problem.
As an application, yes. As a platform, yes, and the seam is not the command line. As a component in someone else's workflow: no evidence, because nothing else has ever driven it.
And in red — because serve and reason do not exist, asking for the headless control model silently gives you the explicit one and reports it as headless.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Act three, and the easy claim first: as an application this is one YAML and one command.
The command worth pointing at is preflight — it checks the container path, the checkpoints, the Boltz cache, whether PyRosetta imports, and whether the virtual environment is still on slow storage, all on a login node before you spend a queue slot.
The split that matters is that the entire local tier runs on a laptop in about fifteen seconds with no allocation: a complete campaign with a real manager, real policies, a real composer and validator, stubbed science. The corollary is the uncomfortable half — everything only verifiable on HPC is unverified.
One convention worth stealing: a magic number in a test is often a bug report. A stagnation limit of ten thousand appeared in three tests before anyone noticed the defect was in the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And as a platform — the more interesting claim, because the seam someone else plugs into is not the command line.
One protocol, nineteen operations, adapters that translate transport only. The decision worth stating is that observe returns the same observation object a policy's decide receives: informed monitoring means parity of evidence, not a progress bar.
Admission is synchronous even over HTTP — a 202 with a run id, or a 409 with the gate and the reason. That is not a style choice. Accepting and rejecting later would sever a rejection from the request that caused it, and it cannot work anyway, because the dry-run instantiates task agents and has to run where the toolkit is installed.
The gap is honest and annoying: all of this is reachable from the test suite and not from a shell. There is no serve command and no reason command, so model C fails open — it builds a policy whose inbox nothing can fill, times out every five seconds, and runs the model-D cascade while reporting itself as model C.
Which is also the answer to the third use case. As a component in someone else's workflow there is no evidence at all: nothing external has ever driven a campaign outside tests, there is no resume, and the site files are read by no code. One of your pipelines running as a tool of ours would be the obvious proof, and that is the P7 row with no 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I will not compress this slide, because an audience that catches you overclaiming stops believing everything else. Three columns, three green rows and three red rows each, and the equal lengths are the argument.
Functionality: a real six-stage campaign end to end, the whole engine, four control models over one executor, and adding a tool has never touched the composer. Against that — replicas greater than one has never run on real tools; no measurement has superseded a prediction, which is exactly the capability a composed graph has and a written-down one does not; and six of the eight compute patterns have no member, including the one reserved for running their pipeline as one of ours.
Performance: the trusted path promoted after the second run and held three cycles with no safety net; the scrutiny is measured and free; both ends of the Dragon lifecycle bounded against real lost allocations. Against that — no serial baseline; one GPU of four ever works; and no node has reached a plain pass, which wants more draws rather than more code.
Usability: one YAML and one command, the local tier with no allocation, runtime-discovered toolkits, a reasoner in another process. Against that — no resume, no serve or reason command so the headless model lies about which model it is, and the site files are read by nothing.
Sixteen complete runs, the trusted path held, and every one of them one lineage on a system built for width.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 I would rather end on questions than a summary, and they are grouped by what each one costs rather than by who owns it.
Left column, things that produce a wrong answer or burn an allocation. One: a worker exception that cannot be unpickled takes out a whole monitor sweep rather than one task, so a failing run reaches no terminal state and sits in flight until the wall clock. Our half is fixed; the handler around get_stdout catches only OSError, and I think it wants to catch Exception and fail the single task.
Two and three are shorter. Batch stalled for two hours and we still do not know why; it is bounded now, so we fail in minutes instead of losing an allocation — what should we instrument? And can a running task's GPU ever be reclaimed at all?
Seven is the new one, and it comes out of your numbers. You take GPU utilisation from twelve percent to seventy by packing eight pipelines onto a GPU; we are at seventeen with three idle. Is that expressible in a rhapsody resource shape, or does it need Dragon placement we do not control? It is the largest performance number on our table and I do not know whether it is reachable from where we sit.
Right column, things paid by whoever picks this stack up next. Workflow_id tags every task but nothing looks tasks up by it. Does breadth belong in a pattern's identity? And for the domain people: every real gate we have is a threshold on a number the tool reports about itself, while you gate on clash counts and an interaction energy we never compute. If you were adding one structural gate, where would you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One experiment, left to right, naming the type at each hop — the types are the contract between layers.
The executor builds an observation. The policy returns a decision carrying an experiment intent: tool ids, parameters, a replica count. It is abstract, there is no DAG in it. The composer turns it into a typed graph, which is plain data. Dispatch registers that graph and hands back a handle without awaiting. What comes back is a run outcome, serializable and core-typed, so a reasoner in another process can hold it.
Underneath is an actual run on this laptop. The first row was refused by the interlock — a provisional pattern is capped at ten percent of available budget and three lineages did not fit. The policy shrank to two and resubmitted. That is the retry doing its job: a refusal costs an attempt, not the experiment.
Every design node is marked suspect, because the shape is provisional while it runs. Promotion takes three clean runs, and the card on the right says whether this one got there before the front target stopped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One field in that spec decides how the work reaches the middleware, and it is the compute pattern.
Eight of them, and what matters is what they are organised by: not what the tool computes, but what the orchestrator has to do differently. A tool is P4 because of where it must be submitted, not because it runs MD. P6 is the sharpest — an in-process call of thirty milliseconds. Schedule that and you pay serialization and filesystem cost orders of magnitude above the work. So the composer drops P6 stages before they ever become nodes, and gate four refuses one that got through anyway. A scheduled P6 is a composer bug, and it is caught as one.
Two honest things. The last column is the census: all eleven tools are P1 or P2. P3 through P8 have no member, so the inline path, the P4 ledger and the P5 service path are contracts the suite asserts and nothing has ever taken.
P7 deserves singling out in this room, because it is the pattern reserved for running one of their pipelines as a single tool of ours — parameterize it, observe it, never steer inside it. It has no member. So if you have heard me say IMPRESS becomes one of our tools, that is a contract and a taxonomy entry, not something that has happened.
And the enum's own docstring says dispatch depends on these. It does not, yet — every consequence is enforced at load time or at a gate, which is composition time, not dispatch. That is the cheaper place for it, but the docstring is ahead of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Four control models, exactly one active per campaign, fixed at launch.
A is a four-node LangGraph loop, auditable node by node. B is a single heavyweight structured call over rich campaign state. C is headless — it blocks on the control plane for a directive from outside. D is explicit: rules, a bandit, Bayesian optimization, or replay, and fully reproducible.
They compose rather than inherit. You can wrap any of them in a rule-corrections policy for an unconditional external guard, or a logging policy for provenance, and those are decorators rather than subclasses. Writing a fifth is one method.
The claim everything rests on is that below the policy layer, all four are byte-identical. A campaign run by a hand-written rule cascade exercises exactly the same machinery as one steered by a frontier model, which is what makes comparing them meaningful at all.
And one editorial point, since Flowgentic's authors are in the room: the outer loop is still ours on purpose. It is just two coroutines now rather than one. We looked at ceding it to a framework and it pushes the gates, the dry-run and the interlock into awkward places — and Flowgentic's own README reaches the same conclusion, recommending the augmented rung over the fully agentic one. Worth saying out loud, with credit.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22B"/>
        </a:solidFill>
      </p:bgPr>
    </p:bg>
    <p:spTree>
      <p:nvGrpSpPr>
        <p:cNvPr id="1" name=""/>
        <p:cNvGrpSpPr/>
        <p:nvPr/>
      </p:nvGrpSpPr>
      <p:grpSpPr>
        <a:xfrm>
          <a:off x="0" y="0"/>
          <a:ext cx="0" cy="0"/>
          <a:chOff x="0" y="0"/>
          <a:chExt cx="0" cy="0"/>
        </a:xfrm>
      </p:grpSpPr>
      <p:sp>
        <p:nvSpPr>
          <p:cNvPr id="2" name="Shape 0"/>
          <p:cNvSpPr/>
          <p:nvPr/>
        </p:nvSpPr>
        <p:spPr>
          <a:xfrm>
            <a:off x="7452360" y="2057400"/>
            <a:ext cx="1051560" cy="1051560"/>
          </a:xfrm>
          <a:prstGeom prst="ellipse">
            <a:avLst/>
          </a:prstGeom>
          <a:solidFill>
            <a:srgbClr val="3B4E8C"/>
          </a:solidFill>
          <a:ln w="19050">
            <a:solidFill>
              <a:srgbClr val="A8B6DC"/>
            </a:solidFill>
            <a:prstDash val="solid"/>
          </a:ln>
        </p:spPr>
      </p:sp>
      <p:sp>
        <p:nvSpPr>
          <p:cNvPr id="3" name="Text 1"/>
          <p:cNvSpPr txBox="1"/>
          <p:nvPr/>
        </p:nvSpPr>
        <p:spPr>
          <a:xfrm>
            <a:off x="7452360" y="2057400"/>
            <a:ext cx="1051560" cy="10515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decide</a:t>
            </a:r>
            <a:endParaRPr lang="en-US" sz="1200" dirty="0"/>
          </a:p>
        </p:txBody>
      </p:sp>
      <p:sp>
        <p:nvSpPr>
          <p:cNvPr id="4" name="Shape 2"/>
          <p:cNvSpPr/>
          <p:nvPr/>
        </p:nvSpPr>
        <p:spPr>
          <a:xfrm>
            <a:off x="8915400" y="1874520"/>
            <a:ext cx="91440" cy="1417320"/>
          </a:xfrm>
          <a:prstGeom prst="rect">
            <a:avLst/>
          </a:prstGeom>
          <a:solidFill>
            <a:srgbClr val="2E7D5B"/>
          </a:solidFill>
          <a:ln w="12700">
            <a:solidFill>
              <a:srgbClr val="2E7D5B"/>
            </a:solidFill>
            <a:prstDash val="solid"/>
          </a:ln>
        </p:spPr>
      </p:sp>
      <p:sp>
        <p:nvSpPr>
          <p:cNvPr id="5" name="Shape 3"/>
          <p:cNvSpPr/>
          <p:nvPr/>
        </p:nvSpPr>
        <p:spPr>
          <a:xfrm>
            <a:off x="9070848" y="1874520"/>
            <a:ext cx="91440" cy="1417320"/>
          </a:xfrm>
          <a:prstGeom prst="rect">
            <a:avLst/>
          </a:prstGeom>
          <a:solidFill>
            <a:srgbClr val="2E7D5B"/>
          </a:solidFill>
          <a:ln w="12700">
            <a:solidFill>
              <a:srgbClr val="2E7D5B"/>
            </a:solidFill>
            <a:prstDash val="solid"/>
          </a:ln>
        </p:spPr>
      </p:sp>
      <p:sp>
        <p:nvSpPr>
          <p:cNvPr id="6" name="Shape 4"/>
          <p:cNvSpPr/>
          <p:nvPr/>
        </p:nvSpPr>
        <p:spPr>
          <a:xfrm>
            <a:off x="9226296" y="1874520"/>
            <a:ext cx="91440" cy="1417320"/>
          </a:xfrm>
          <a:prstGeom prst="rect">
            <a:avLst/>
          </a:prstGeom>
          <a:solidFill>
            <a:srgbClr val="2E7D5B"/>
          </a:solidFill>
          <a:ln w="12700">
            <a:solidFill>
              <a:srgbClr val="2E7D5B"/>
            </a:solidFill>
            <a:prstDash val="solid"/>
          </a:ln>
        </p:spPr>
      </p:sp>
      <p:sp>
        <p:nvSpPr>
          <p:cNvPr id="7" name="Shape 5"/>
          <p:cNvSpPr/>
          <p:nvPr/>
        </p:nvSpPr>
        <p:spPr>
          <a:xfrm>
            <a:off x="9381744" y="1874520"/>
            <a:ext cx="91440" cy="1417320"/>
          </a:xfrm>
          <a:prstGeom prst="rect">
            <a:avLst/>
          </a:prstGeom>
          <a:solidFill>
            <a:srgbClr val="2E7D5B"/>
          </a:solidFill>
          <a:ln w="12700">
            <a:solidFill>
              <a:srgbClr val="2E7D5B"/>
            </a:solidFill>
            <a:prstDash val="solid"/>
          </a:ln>
        </p:spPr>
      </p:sp>
      <p:sp>
        <p:nvSpPr>
          <p:cNvPr id="8" name="Shape 6"/>
          <p:cNvSpPr/>
          <p:nvPr/>
        </p:nvSpPr>
        <p:spPr>
          <a:xfrm>
            <a:off x="9537192" y="1874520"/>
            <a:ext cx="91440" cy="1417320"/>
          </a:xfrm>
          <a:prstGeom prst="rect">
            <a:avLst/>
          </a:prstGeom>
          <a:solidFill>
            <a:srgbClr val="2E7D5B"/>
          </a:solidFill>
          <a:ln w="12700">
            <a:solidFill>
              <a:srgbClr val="2E7D5B"/>
            </a:solidFill>
            <a:prstDash val="solid"/>
          </a:ln>
        </p:spPr>
      </p:sp>
      <p:sp>
        <p:nvSpPr>
          <p:cNvPr id="9" name="Text 7"/>
          <p:cNvSpPr txBox="1"/>
          <p:nvPr/>
        </p:nvSpPr>
        <p:spPr>
          <a:xfrm>
            <a:off x="8595360" y="3337560"/>
            <a:ext cx="1463040" cy="228600"/>
          </a:xfrm>
          <a:prstGeom prst="rect">
            <a:avLst/>
          </a:prstGeom>
          <a:noFill/>
          <a:ln/>
        </p:spPr>
        <p:txBody>
          <a:bodyPr wrap="square" lIns="0" tIns="0" rIns="0" bIns="0" rtlCol="0" anchor="t"/>
          <a:lstStyle/>
          <a:p>
            <a:pPr algn="ctr" indent="0" marL="0">
              <a:buNone/>
            </a:pPr>
            <a:r>
              <a:rPr lang="en-US" sz="950" dirty="0">
                <a:solidFill>
                  <a:srgbClr val="8FD0B0"/>
                </a:solidFill>
                <a:latin typeface="Calibri" pitchFamily="34" charset="0"/>
                <a:ea typeface="Calibri" pitchFamily="34" charset="-122"/>
                <a:cs typeface="Calibri" pitchFamily="34" charset="-120"/>
              </a:rPr>
              <a:t>5 gates</a:t>
            </a:r>
            <a:endParaRPr lang="en-US" sz="950" dirty="0"/>
          </a:p>
        </p:txBody>
      </p:sp>
      <p:sp>
        <p:nvSpPr>
          <p:cNvPr id="10" name="Shape 8"/>
          <p:cNvSpPr/>
          <p:nvPr/>
        </p:nvSpPr>
        <p:spPr>
          <a:xfrm>
            <a:off x="8522208" y="2578608"/>
            <a:ext cx="356616" cy="91"/>
          </a:xfrm>
          <a:prstGeom prst="line">
            <a:avLst/>
          </a:prstGeom>
          <a:noFill/>
          <a:ln w="19050">
            <a:solidFill>
              <a:srgbClr val="A8B6DC"/>
            </a:solidFill>
            <a:prstDash val="solid"/>
            <a:tailEnd type="triangle"/>
          </a:ln>
        </p:spPr>
      </p:sp>
      <p:sp>
        <p:nvSpPr>
          <p:cNvPr id="11" name="Shape 9"/>
          <p:cNvSpPr/>
          <p:nvPr/>
        </p:nvSpPr>
        <p:spPr>
          <a:xfrm>
            <a:off x="10012680" y="1783080"/>
            <a:ext cx="420624" cy="384048"/>
          </a:xfrm>
          <a:prstGeom prst="roundRect">
            <a:avLst>
              <a:gd name="adj" fmla="val 14286"/>
            </a:avLst>
          </a:prstGeom>
          <a:solidFill>
            <a:srgbClr val="7A4A8C"/>
          </a:solidFill>
          <a:ln w="12700">
            <a:solidFill>
              <a:srgbClr val="D8BFE2"/>
            </a:solidFill>
            <a:prstDash val="solid"/>
          </a:ln>
        </p:spPr>
      </p:sp>
      <p:sp>
        <p:nvSpPr>
          <p:cNvPr id="12" name="Shape 10"/>
          <p:cNvSpPr/>
          <p:nvPr/>
        </p:nvSpPr>
        <p:spPr>
          <a:xfrm>
            <a:off x="10442448" y="1975104"/>
            <a:ext cx="155448" cy="91"/>
          </a:xfrm>
          <a:prstGeom prst="line">
            <a:avLst/>
          </a:prstGeom>
          <a:noFill/>
          <a:ln w="12700">
            <a:solidFill>
              <a:srgbClr val="D8BFE2"/>
            </a:solidFill>
            <a:prstDash val="solid"/>
          </a:ln>
        </p:spPr>
      </p:sp>
      <p:sp>
        <p:nvSpPr>
          <p:cNvPr id="13" name="Shape 11"/>
          <p:cNvSpPr/>
          <p:nvPr/>
        </p:nvSpPr>
        <p:spPr>
          <a:xfrm>
            <a:off x="10616184" y="1783080"/>
            <a:ext cx="420624" cy="384048"/>
          </a:xfrm>
          <a:prstGeom prst="roundRect">
            <a:avLst>
              <a:gd name="adj" fmla="val 14286"/>
            </a:avLst>
          </a:prstGeom>
          <a:solidFill>
            <a:srgbClr val="7A4A8C"/>
          </a:solidFill>
          <a:ln w="12700">
            <a:solidFill>
              <a:srgbClr val="D8BFE2"/>
            </a:solidFill>
            <a:prstDash val="solid"/>
          </a:ln>
        </p:spPr>
      </p:sp>
      <p:sp>
        <p:nvSpPr>
          <p:cNvPr id="14" name="Shape 12"/>
          <p:cNvSpPr/>
          <p:nvPr/>
        </p:nvSpPr>
        <p:spPr>
          <a:xfrm>
            <a:off x="11045952" y="1975104"/>
            <a:ext cx="155448" cy="91"/>
          </a:xfrm>
          <a:prstGeom prst="line">
            <a:avLst/>
          </a:prstGeom>
          <a:noFill/>
          <a:ln w="12700">
            <a:solidFill>
              <a:srgbClr val="D8BFE2"/>
            </a:solidFill>
            <a:prstDash val="solid"/>
          </a:ln>
        </p:spPr>
      </p:sp>
      <p:sp>
        <p:nvSpPr>
          <p:cNvPr id="15" name="Shape 13"/>
          <p:cNvSpPr/>
          <p:nvPr/>
        </p:nvSpPr>
        <p:spPr>
          <a:xfrm>
            <a:off x="11219688" y="1783080"/>
            <a:ext cx="420624" cy="384048"/>
          </a:xfrm>
          <a:prstGeom prst="roundRect">
            <a:avLst>
              <a:gd name="adj" fmla="val 14286"/>
            </a:avLst>
          </a:prstGeom>
          <a:solidFill>
            <a:srgbClr val="7A4A8C"/>
          </a:solidFill>
          <a:ln w="12700">
            <a:solidFill>
              <a:srgbClr val="D8BFE2"/>
            </a:solidFill>
            <a:prstDash val="solid"/>
          </a:ln>
        </p:spPr>
      </p:sp>
      <p:sp>
        <p:nvSpPr>
          <p:cNvPr id="16" name="Shape 14"/>
          <p:cNvSpPr/>
          <p:nvPr/>
        </p:nvSpPr>
        <p:spPr>
          <a:xfrm>
            <a:off x="10012680" y="2532888"/>
            <a:ext cx="420624" cy="384048"/>
          </a:xfrm>
          <a:prstGeom prst="roundRect">
            <a:avLst>
              <a:gd name="adj" fmla="val 14286"/>
            </a:avLst>
          </a:prstGeom>
          <a:solidFill>
            <a:srgbClr val="7A4A8C"/>
          </a:solidFill>
          <a:ln w="12700">
            <a:solidFill>
              <a:srgbClr val="D8BFE2"/>
            </a:solidFill>
            <a:prstDash val="solid"/>
          </a:ln>
        </p:spPr>
      </p:sp>
      <p:sp>
        <p:nvSpPr>
          <p:cNvPr id="17" name="Shape 15"/>
          <p:cNvSpPr/>
          <p:nvPr/>
        </p:nvSpPr>
        <p:spPr>
          <a:xfrm>
            <a:off x="10442448" y="2724912"/>
            <a:ext cx="155448" cy="91"/>
          </a:xfrm>
          <a:prstGeom prst="line">
            <a:avLst/>
          </a:prstGeom>
          <a:noFill/>
          <a:ln w="12700">
            <a:solidFill>
              <a:srgbClr val="D8BFE2"/>
            </a:solidFill>
            <a:prstDash val="solid"/>
          </a:ln>
        </p:spPr>
      </p:sp>
      <p:sp>
        <p:nvSpPr>
          <p:cNvPr id="18" name="Shape 16"/>
          <p:cNvSpPr/>
          <p:nvPr/>
        </p:nvSpPr>
        <p:spPr>
          <a:xfrm>
            <a:off x="10616184" y="2532888"/>
            <a:ext cx="420624" cy="384048"/>
          </a:xfrm>
          <a:prstGeom prst="roundRect">
            <a:avLst>
              <a:gd name="adj" fmla="val 14286"/>
            </a:avLst>
          </a:prstGeom>
          <a:solidFill>
            <a:srgbClr val="7A4A8C"/>
          </a:solidFill>
          <a:ln w="12700">
            <a:solidFill>
              <a:srgbClr val="D8BFE2"/>
            </a:solidFill>
            <a:prstDash val="solid"/>
          </a:ln>
        </p:spPr>
      </p:sp>
      <p:sp>
        <p:nvSpPr>
          <p:cNvPr id="19" name="Shape 17"/>
          <p:cNvSpPr/>
          <p:nvPr/>
        </p:nvSpPr>
        <p:spPr>
          <a:xfrm>
            <a:off x="11045952" y="2724912"/>
            <a:ext cx="155448" cy="91"/>
          </a:xfrm>
          <a:prstGeom prst="line">
            <a:avLst/>
          </a:prstGeom>
          <a:noFill/>
          <a:ln w="12700">
            <a:solidFill>
              <a:srgbClr val="D8BFE2"/>
            </a:solidFill>
            <a:prstDash val="solid"/>
          </a:ln>
        </p:spPr>
      </p:sp>
      <p:sp>
        <p:nvSpPr>
          <p:cNvPr id="20" name="Shape 18"/>
          <p:cNvSpPr/>
          <p:nvPr/>
        </p:nvSpPr>
        <p:spPr>
          <a:xfrm>
            <a:off x="11219688" y="2532888"/>
            <a:ext cx="420624" cy="384048"/>
          </a:xfrm>
          <a:prstGeom prst="roundRect">
            <a:avLst>
              <a:gd name="adj" fmla="val 14286"/>
            </a:avLst>
          </a:prstGeom>
          <a:solidFill>
            <a:srgbClr val="7A4A8C"/>
          </a:solidFill>
          <a:ln w="12700">
            <a:solidFill>
              <a:srgbClr val="D8BFE2"/>
            </a:solidFill>
            <a:prstDash val="solid"/>
          </a:ln>
        </p:spPr>
      </p:sp>
      <p:sp>
        <p:nvSpPr>
          <p:cNvPr id="21" name="Text 19"/>
          <p:cNvSpPr txBox="1"/>
          <p:nvPr/>
        </p:nvSpPr>
        <p:spPr>
          <a:xfrm>
            <a:off x="9921240" y="3355848"/>
            <a:ext cx="1920240" cy="457200"/>
          </a:xfrm>
          <a:prstGeom prst="rect">
            <a:avLst/>
          </a:prstGeom>
          <a:noFill/>
          <a:ln/>
        </p:spPr>
        <p:txBody>
          <a:bodyPr wrap="square" lIns="0" tIns="0" rIns="0" bIns="0" rtlCol="0" anchor="t"/>
          <a:lstStyle/>
          <a:p>
            <a:pPr algn="ctr" indent="0" marL="0">
              <a:buNone/>
            </a:pPr>
            <a:r>
              <a:rPr lang="en-US" sz="950" dirty="0">
                <a:solidFill>
                  <a:srgbClr val="C9A8D6"/>
                </a:solidFill>
                <a:latin typeface="Calibri" pitchFamily="34" charset="0"/>
                <a:ea typeface="Calibri" pitchFamily="34" charset="-122"/>
                <a:cs typeface="Calibri" pitchFamily="34" charset="-120"/>
              </a:rPr>
              <a:t>a composed graph,</a:t>
            </a:r>
            <a:endParaRPr lang="en-US" sz="950" dirty="0"/>
          </a:p>
          <a:p>
            <a:pPr algn="ctr" indent="0" marL="0">
              <a:buNone/>
            </a:pPr>
            <a:r>
              <a:rPr lang="en-US" sz="950" dirty="0">
                <a:solidFill>
                  <a:srgbClr val="C9A8D6"/>
                </a:solidFill>
                <a:latin typeface="Calibri" pitchFamily="34" charset="0"/>
                <a:ea typeface="Calibri" pitchFamily="34" charset="-122"/>
                <a:cs typeface="Calibri" pitchFamily="34" charset="-120"/>
              </a:rPr>
              <a:t>2 lineages</a:t>
            </a:r>
            <a:endParaRPr lang="en-US" sz="950" dirty="0"/>
          </a:p>
        </p:txBody>
      </p:sp>
      <p:sp>
        <p:nvSpPr>
          <p:cNvPr id="22" name="Shape 20"/>
          <p:cNvSpPr/>
          <p:nvPr/>
        </p:nvSpPr>
        <p:spPr>
          <a:xfrm>
            <a:off x="9509760" y="4160520"/>
            <a:ext cx="457200" cy="347472"/>
          </a:xfrm>
          <a:prstGeom prst="rect">
            <a:avLst/>
          </a:prstGeom>
          <a:solidFill>
            <a:srgbClr val="D9731A"/>
          </a:solidFill>
          <a:ln w="12700">
            <a:solidFill>
              <a:srgbClr val="D9731A"/>
            </a:solidFill>
            <a:prstDash val="solid"/>
          </a:ln>
        </p:spPr>
      </p:sp>
      <p:sp>
        <p:nvSpPr>
          <p:cNvPr id="23" name="Shape 21"/>
          <p:cNvSpPr/>
          <p:nvPr/>
        </p:nvSpPr>
        <p:spPr>
          <a:xfrm>
            <a:off x="10076688" y="4160520"/>
            <a:ext cx="457200" cy="347472"/>
          </a:xfrm>
          <a:prstGeom prst="rect">
            <a:avLst/>
          </a:prstGeom>
          <a:solidFill>
            <a:srgbClr val="D9731A"/>
          </a:solidFill>
          <a:ln w="12700">
            <a:solidFill>
              <a:srgbClr val="D9731A"/>
            </a:solidFill>
            <a:prstDash val="solid"/>
          </a:ln>
        </p:spPr>
      </p:sp>
      <p:sp>
        <p:nvSpPr>
          <p:cNvPr id="24" name="Shape 22"/>
          <p:cNvSpPr/>
          <p:nvPr/>
        </p:nvSpPr>
        <p:spPr>
          <a:xfrm>
            <a:off x="10643616" y="4160520"/>
            <a:ext cx="457200" cy="347472"/>
          </a:xfrm>
          <a:prstGeom prst="rect">
            <a:avLst/>
          </a:prstGeom>
          <a:solidFill>
            <a:srgbClr val="D9731A"/>
          </a:solidFill>
          <a:ln w="12700">
            <a:solidFill>
              <a:srgbClr val="D9731A"/>
            </a:solidFill>
            <a:prstDash val="solid"/>
          </a:ln>
        </p:spPr>
      </p:sp>
      <p:sp>
        <p:nvSpPr>
          <p:cNvPr id="25" name="Shape 23"/>
          <p:cNvSpPr/>
          <p:nvPr/>
        </p:nvSpPr>
        <p:spPr>
          <a:xfrm>
            <a:off x="11210544" y="4160520"/>
            <a:ext cx="457200" cy="347472"/>
          </a:xfrm>
          <a:prstGeom prst="rect">
            <a:avLst/>
          </a:prstGeom>
          <a:solidFill>
            <a:srgbClr val="D9731A"/>
          </a:solidFill>
          <a:ln w="12700">
            <a:solidFill>
              <a:srgbClr val="D9731A"/>
            </a:solidFill>
            <a:prstDash val="solid"/>
          </a:ln>
        </p:spPr>
      </p:sp>
      <p:sp>
        <p:nvSpPr>
          <p:cNvPr id="26" name="Shape 24"/>
          <p:cNvSpPr/>
          <p:nvPr/>
        </p:nvSpPr>
        <p:spPr>
          <a:xfrm flipH="1">
            <a:off x="10607040" y="2953512"/>
            <a:ext cx="91440" cy="1161288"/>
          </a:xfrm>
          <a:prstGeom prst="line">
            <a:avLst/>
          </a:prstGeom>
          <a:noFill/>
          <a:ln w="19050">
            <a:solidFill>
              <a:srgbClr val="E8B98A"/>
            </a:solidFill>
            <a:prstDash val="solid"/>
            <a:tailEnd type="triangle"/>
          </a:ln>
        </p:spPr>
      </p:sp>
      <p:sp>
        <p:nvSpPr>
          <p:cNvPr id="27" name="Text 25"/>
          <p:cNvSpPr txBox="1"/>
          <p:nvPr/>
        </p:nvSpPr>
        <p:spPr>
          <a:xfrm>
            <a:off x="8595360" y="4572000"/>
            <a:ext cx="3291840" cy="237744"/>
          </a:xfrm>
          <a:prstGeom prst="rect">
            <a:avLst/>
          </a:prstGeom>
          <a:noFill/>
          <a:ln/>
        </p:spPr>
        <p:txBody>
          <a:bodyPr wrap="square" lIns="0" tIns="0" rIns="0" bIns="0" rtlCol="0" anchor="t"/>
          <a:lstStyle/>
          <a:p>
            <a:pPr algn="ctr" indent="0" marL="0">
              <a:buNone/>
            </a:pPr>
            <a:r>
              <a:rPr lang="en-US" sz="950" dirty="0">
                <a:solidFill>
                  <a:srgbClr val="E8B98A"/>
                </a:solidFill>
                <a:latin typeface="Calibri" pitchFamily="34" charset="0"/>
                <a:ea typeface="Calibri" pitchFamily="34" charset="-122"/>
                <a:cs typeface="Calibri" pitchFamily="34" charset="-120"/>
              </a:rPr>
              <a:t>radical.asyncflow  →  rhapsody  →  Dragon</a:t>
            </a:r>
            <a:endParaRPr lang="en-US" sz="950" dirty="0"/>
          </a:p>
        </p:txBody>
      </p:sp>
      <p:sp>
        <p:nvSpPr>
          <p:cNvPr id="28" name="Text 26"/>
          <p:cNvSpPr txBox="1"/>
          <p:nvPr/>
        </p:nvSpPr>
        <p:spPr>
          <a:xfrm>
            <a:off x="731520" y="1371600"/>
            <a:ext cx="6400800" cy="365760"/>
          </a:xfrm>
          <a:prstGeom prst="rect">
            <a:avLst/>
          </a:prstGeom>
          <a:noFill/>
          <a:ln/>
        </p:spPr>
        <p:txBody>
          <a:bodyPr wrap="square" lIns="0" tIns="0" rIns="0" bIns="0" rtlCol="0" anchor="t"/>
          <a:lstStyle/>
          <a:p>
            <a:pPr indent="0" marL="0">
              <a:buNone/>
            </a:pPr>
            <a:r>
              <a:rPr lang="en-US" sz="1400" b="1" spc="300" kern="0" dirty="0">
                <a:solidFill>
                  <a:srgbClr val="8FB8C9"/>
                </a:solidFill>
                <a:latin typeface="Calibri" pitchFamily="34" charset="0"/>
                <a:ea typeface="Calibri" pitchFamily="34" charset="-122"/>
                <a:cs typeface="Calibri" pitchFamily="34" charset="-120"/>
              </a:rPr>
              <a:t>IMPRESS-A</a:t>
            </a:r>
            <a:endParaRPr lang="en-US" sz="1400" dirty="0"/>
          </a:p>
        </p:txBody>
      </p:sp>
      <p:sp>
        <p:nvSpPr>
          <p:cNvPr id="29" name="Text 27"/>
          <p:cNvSpPr txBox="1"/>
          <p:nvPr/>
        </p:nvSpPr>
        <p:spPr>
          <a:xfrm>
            <a:off x="731520" y="1783080"/>
            <a:ext cx="6492240" cy="123444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Composing the pipeline instead of writing it down</a:t>
            </a:r>
            <a:endParaRPr lang="en-US" sz="3400" dirty="0"/>
          </a:p>
        </p:txBody>
      </p:sp>
      <p:sp>
        <p:nvSpPr>
          <p:cNvPr id="30" name="Text 28"/>
          <p:cNvSpPr txBox="1"/>
          <p:nvPr/>
        </p:nvSpPr>
        <p:spPr>
          <a:xfrm>
            <a:off x="731520" y="3200400"/>
            <a:ext cx="6492240" cy="822960"/>
          </a:xfrm>
          <a:prstGeom prst="rect">
            <a:avLst/>
          </a:prstGeom>
          <a:noFill/>
          <a:ln/>
        </p:spPr>
        <p:txBody>
          <a:bodyPr wrap="square" lIns="0" tIns="0" rIns="0" bIns="0" rtlCol="0" anchor="t"/>
          <a:lstStyle/>
          <a:p>
            <a:pPr indent="0" marL="0">
              <a:buNone/>
            </a:pPr>
            <a:r>
              <a:rPr lang="en-US" sz="1700" dirty="0">
                <a:solidFill>
                  <a:srgbClr val="D5DEE5"/>
                </a:solidFill>
                <a:latin typeface="Calibri" pitchFamily="34" charset="0"/>
                <a:ea typeface="Calibri" pitchFamily="34" charset="-122"/>
                <a:cs typeface="Calibri" pitchFamily="34" charset="-120"/>
              </a:rPr>
              <a:t>— what that buys over an adaptive pipeline that already works, what it costs, and which of the three I cannot yet show you</a:t>
            </a:r>
            <a:endParaRPr lang="en-US" sz="1700" dirty="0"/>
          </a:p>
        </p:txBody>
      </p:sp>
      <p:sp>
        <p:nvSpPr>
          <p:cNvPr id="31" name="Text 29"/>
          <p:cNvSpPr txBox="1"/>
          <p:nvPr/>
        </p:nvSpPr>
        <p:spPr>
          <a:xfrm>
            <a:off x="731520" y="4206240"/>
            <a:ext cx="6492240" cy="640080"/>
          </a:xfrm>
          <a:prstGeom prst="rect">
            <a:avLst/>
          </a:prstGeom>
          <a:noFill/>
          <a:ln/>
        </p:spPr>
        <p:txBody>
          <a:bodyPr wrap="square" lIns="0" tIns="0" rIns="0" bIns="0" rtlCol="0" anchor="t"/>
          <a:lstStyle/>
          <a:p>
            <a:pPr indent="0" marL="0">
              <a:buNone/>
            </a:pPr>
            <a:r>
              <a:rPr lang="en-US" sz="1300" dirty="0">
                <a:solidFill>
                  <a:srgbClr val="9FB0BD"/>
                </a:solidFill>
                <a:latin typeface="Calibri" pitchFamily="34" charset="0"/>
                <a:ea typeface="Calibri" pitchFamily="34" charset="-122"/>
                <a:cs typeface="Calibri" pitchFamily="34" charset="-120"/>
              </a:rPr>
              <a:t>Job 22692304: six stages, 6/6 tasks ok in 2m53s, admitted on the first attempt, all four objectives valued. Job 22728140: the same shape promoted, then 3 consecutive trusted cycles with no demotion</a:t>
            </a:r>
            <a:endParaRPr lang="en-US" sz="1300" dirty="0"/>
          </a:p>
        </p:txBody>
      </p:sp>
      <p:sp>
        <p:nvSpPr>
          <p:cNvPr id="32" name="Text 30"/>
          <p:cNvSpPr txBox="1"/>
          <p:nvPr/>
        </p:nvSpPr>
        <p:spPr>
          <a:xfrm>
            <a:off x="731520" y="5897880"/>
            <a:ext cx="7772400" cy="274320"/>
          </a:xfrm>
          <a:prstGeom prst="rect">
            <a:avLst/>
          </a:prstGeom>
          <a:noFill/>
          <a:ln/>
        </p:spPr>
        <p:txBody>
          <a:bodyPr wrap="square" lIns="0" tIns="0" rIns="0" bIns="0" rtlCol="0" anchor="t"/>
          <a:lstStyle/>
          <a:p>
            <a:pPr indent="0" marL="0">
              <a:buNone/>
            </a:pPr>
            <a:r>
              <a:rPr lang="en-US" sz="1200" dirty="0">
                <a:solidFill>
                  <a:srgbClr val="7E8F9C"/>
                </a:solidFill>
                <a:latin typeface="Calibri" pitchFamily="34" charset="0"/>
                <a:ea typeface="Calibri" pitchFamily="34" charset="-122"/>
                <a:cs typeface="Calibri" pitchFamily="34" charset="-120"/>
              </a:rPr>
              <a:t>Lab code walk, in three acts · agent/ · merge-impress-a @ c163fe2 · 6.6k lines of source, 168 tests, 11 tools in 5 toolkits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WHAT IT DOES</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One goal, a campaign of composed experiments</a:t>
            </a:r>
            <a:endParaRPr lang="en-US" sz="2800" dirty="0"/>
          </a:p>
        </p:txBody>
      </p:sp>
      <p:sp>
        <p:nvSpPr>
          <p:cNvPr id="4" name="Shape 2"/>
          <p:cNvSpPr/>
          <p:nvPr/>
        </p:nvSpPr>
        <p:spPr>
          <a:xfrm>
            <a:off x="457200" y="1417320"/>
            <a:ext cx="1764792" cy="1051560"/>
          </a:xfrm>
          <a:prstGeom prst="roundRect">
            <a:avLst>
              <a:gd name="adj" fmla="val 6957"/>
            </a:avLst>
          </a:prstGeom>
          <a:solidFill>
            <a:srgbClr val="FFFFFF"/>
          </a:solidFill>
          <a:ln w="25400">
            <a:solidFill>
              <a:srgbClr val="5E6B75"/>
            </a:solidFill>
            <a:prstDash val="solid"/>
          </a:ln>
        </p:spPr>
      </p:sp>
      <p:sp>
        <p:nvSpPr>
          <p:cNvPr id="5" name="Text 3"/>
          <p:cNvSpPr txBox="1"/>
          <p:nvPr/>
        </p:nvSpPr>
        <p:spPr>
          <a:xfrm>
            <a:off x="457200" y="1490472"/>
            <a:ext cx="1764792" cy="274320"/>
          </a:xfrm>
          <a:prstGeom prst="rect">
            <a:avLst/>
          </a:prstGeom>
          <a:noFill/>
          <a:ln/>
        </p:spPr>
        <p:txBody>
          <a:bodyPr wrap="square" lIns="0" tIns="0" rIns="0" bIns="0" rtlCol="0" anchor="t"/>
          <a:lstStyle/>
          <a:p>
            <a:pPr algn="ctr" indent="0" marL="0">
              <a:buNone/>
            </a:pPr>
            <a:r>
              <a:rPr lang="en-US" sz="1200" b="1" dirty="0">
                <a:solidFill>
                  <a:srgbClr val="5E6B75"/>
                </a:solidFill>
                <a:latin typeface="Calibri" pitchFamily="34" charset="0"/>
                <a:ea typeface="Calibri" pitchFamily="34" charset="-122"/>
                <a:cs typeface="Calibri" pitchFamily="34" charset="-120"/>
              </a:rPr>
              <a:t>goal</a:t>
            </a:r>
            <a:endParaRPr lang="en-US" sz="1200" dirty="0"/>
          </a:p>
        </p:txBody>
      </p:sp>
      <p:sp>
        <p:nvSpPr>
          <p:cNvPr id="6" name="Text 4"/>
          <p:cNvSpPr txBox="1"/>
          <p:nvPr/>
        </p:nvSpPr>
        <p:spPr>
          <a:xfrm>
            <a:off x="512064" y="1773936"/>
            <a:ext cx="1655064" cy="640080"/>
          </a:xfrm>
          <a:prstGeom prst="rect">
            <a:avLst/>
          </a:prstGeom>
          <a:noFill/>
          <a:ln/>
        </p:spPr>
        <p:txBody>
          <a:bodyPr wrap="square" lIns="0" tIns="0" rIns="0" bIns="0" rtlCol="0" anchor="t"/>
          <a:lstStyle/>
          <a:p>
            <a:pPr algn="ctr" indent="0" marL="0">
              <a:buNone/>
            </a:pPr>
            <a:r>
              <a:rPr lang="en-US" sz="1000" dirty="0">
                <a:solidFill>
                  <a:srgbClr val="22303C"/>
                </a:solidFill>
                <a:latin typeface="Calibri" pitchFamily="34" charset="0"/>
                <a:ea typeface="Calibri" pitchFamily="34" charset="-122"/>
                <a:cs typeface="Calibri" pitchFamily="34" charset="-120"/>
              </a:rPr>
              <a:t>campaign YAML:</a:t>
            </a:r>
            <a:endParaRPr lang="en-US" sz="1000" dirty="0"/>
          </a:p>
          <a:p>
            <a:pPr algn="ctr" indent="0" marL="0">
              <a:buNone/>
            </a:pPr>
            <a:r>
              <a:rPr lang="en-US" sz="1000" dirty="0">
                <a:solidFill>
                  <a:srgbClr val="22303C"/>
                </a:solidFill>
                <a:latin typeface="Calibri" pitchFamily="34" charset="0"/>
                <a:ea typeface="Calibri" pitchFamily="34" charset="-122"/>
                <a:cs typeface="Calibri" pitchFamily="34" charset="-120"/>
              </a:rPr>
              <a:t>objectives · budget</a:t>
            </a:r>
            <a:endParaRPr lang="en-US" sz="1000" dirty="0"/>
          </a:p>
        </p:txBody>
      </p:sp>
      <p:sp>
        <p:nvSpPr>
          <p:cNvPr id="7" name="Shape 5"/>
          <p:cNvSpPr/>
          <p:nvPr/>
        </p:nvSpPr>
        <p:spPr>
          <a:xfrm>
            <a:off x="2231136" y="1938528"/>
            <a:ext cx="82296" cy="91"/>
          </a:xfrm>
          <a:prstGeom prst="line">
            <a:avLst/>
          </a:prstGeom>
          <a:noFill/>
          <a:ln w="15875">
            <a:solidFill>
              <a:srgbClr val="5E6B75"/>
            </a:solidFill>
            <a:prstDash val="solid"/>
            <a:tailEnd type="triangle"/>
          </a:ln>
        </p:spPr>
      </p:sp>
      <p:sp>
        <p:nvSpPr>
          <p:cNvPr id="8" name="Shape 6"/>
          <p:cNvSpPr/>
          <p:nvPr/>
        </p:nvSpPr>
        <p:spPr>
          <a:xfrm>
            <a:off x="2322576" y="1417320"/>
            <a:ext cx="1764792" cy="1051560"/>
          </a:xfrm>
          <a:prstGeom prst="roundRect">
            <a:avLst>
              <a:gd name="adj" fmla="val 6957"/>
            </a:avLst>
          </a:prstGeom>
          <a:solidFill>
            <a:srgbClr val="FFFFFF"/>
          </a:solidFill>
          <a:ln w="25400">
            <a:solidFill>
              <a:srgbClr val="3B4E8C"/>
            </a:solidFill>
            <a:prstDash val="solid"/>
          </a:ln>
        </p:spPr>
      </p:sp>
      <p:sp>
        <p:nvSpPr>
          <p:cNvPr id="9" name="Text 7"/>
          <p:cNvSpPr txBox="1"/>
          <p:nvPr/>
        </p:nvSpPr>
        <p:spPr>
          <a:xfrm>
            <a:off x="2322576" y="1490472"/>
            <a:ext cx="1764792" cy="274320"/>
          </a:xfrm>
          <a:prstGeom prst="rect">
            <a:avLst/>
          </a:prstGeom>
          <a:noFill/>
          <a:ln/>
        </p:spPr>
        <p:txBody>
          <a:bodyPr wrap="square" lIns="0" tIns="0" rIns="0" bIns="0" rtlCol="0" anchor="t"/>
          <a:lstStyle/>
          <a:p>
            <a:pPr algn="ctr" indent="0" marL="0">
              <a:buNone/>
            </a:pPr>
            <a:r>
              <a:rPr lang="en-US" sz="1200" b="1" dirty="0">
                <a:solidFill>
                  <a:srgbClr val="3B4E8C"/>
                </a:solidFill>
                <a:latin typeface="Calibri" pitchFamily="34" charset="0"/>
                <a:ea typeface="Calibri" pitchFamily="34" charset="-122"/>
                <a:cs typeface="Calibri" pitchFamily="34" charset="-120"/>
              </a:rPr>
              <a:t>decide</a:t>
            </a:r>
            <a:endParaRPr lang="en-US" sz="1200" dirty="0"/>
          </a:p>
        </p:txBody>
      </p:sp>
      <p:sp>
        <p:nvSpPr>
          <p:cNvPr id="10" name="Text 8"/>
          <p:cNvSpPr txBox="1"/>
          <p:nvPr/>
        </p:nvSpPr>
        <p:spPr>
          <a:xfrm>
            <a:off x="2377440" y="1773936"/>
            <a:ext cx="1655064" cy="640080"/>
          </a:xfrm>
          <a:prstGeom prst="rect">
            <a:avLst/>
          </a:prstGeom>
          <a:noFill/>
          <a:ln/>
        </p:spPr>
        <p:txBody>
          <a:bodyPr wrap="square" lIns="0" tIns="0" rIns="0" bIns="0" rtlCol="0" anchor="t"/>
          <a:lstStyle/>
          <a:p>
            <a:pPr algn="ctr" indent="0" marL="0">
              <a:buNone/>
            </a:pPr>
            <a:r>
              <a:rPr lang="en-US" sz="1000" dirty="0">
                <a:solidFill>
                  <a:srgbClr val="22303C"/>
                </a:solidFill>
                <a:latin typeface="Calibri" pitchFamily="34" charset="0"/>
                <a:ea typeface="Calibri" pitchFamily="34" charset="-122"/>
                <a:cs typeface="Calibri" pitchFamily="34" charset="-120"/>
              </a:rPr>
              <a:t>a reasoner picks the</a:t>
            </a:r>
            <a:endParaRPr lang="en-US" sz="1000" dirty="0"/>
          </a:p>
          <a:p>
            <a:pPr algn="ctr" indent="0" marL="0">
              <a:buNone/>
            </a:pPr>
            <a:r>
              <a:rPr lang="en-US" sz="1000" dirty="0">
                <a:solidFill>
                  <a:srgbClr val="22303C"/>
                </a:solidFill>
                <a:latin typeface="Calibri" pitchFamily="34" charset="0"/>
                <a:ea typeface="Calibri" pitchFamily="34" charset="-122"/>
                <a:cs typeface="Calibri" pitchFamily="34" charset="-120"/>
              </a:rPr>
              <a:t>next experiment</a:t>
            </a:r>
            <a:endParaRPr lang="en-US" sz="1000" dirty="0"/>
          </a:p>
        </p:txBody>
      </p:sp>
      <p:sp>
        <p:nvSpPr>
          <p:cNvPr id="11" name="Shape 9"/>
          <p:cNvSpPr/>
          <p:nvPr/>
        </p:nvSpPr>
        <p:spPr>
          <a:xfrm>
            <a:off x="4096512" y="1938528"/>
            <a:ext cx="82296" cy="91"/>
          </a:xfrm>
          <a:prstGeom prst="line">
            <a:avLst/>
          </a:prstGeom>
          <a:noFill/>
          <a:ln w="15875">
            <a:solidFill>
              <a:srgbClr val="5E6B75"/>
            </a:solidFill>
            <a:prstDash val="solid"/>
            <a:tailEnd type="triangle"/>
          </a:ln>
        </p:spPr>
      </p:sp>
      <p:sp>
        <p:nvSpPr>
          <p:cNvPr id="12" name="Shape 10"/>
          <p:cNvSpPr/>
          <p:nvPr/>
        </p:nvSpPr>
        <p:spPr>
          <a:xfrm>
            <a:off x="4187952" y="1417320"/>
            <a:ext cx="1764792" cy="1051560"/>
          </a:xfrm>
          <a:prstGeom prst="roundRect">
            <a:avLst>
              <a:gd name="adj" fmla="val 6957"/>
            </a:avLst>
          </a:prstGeom>
          <a:solidFill>
            <a:srgbClr val="FFFFFF"/>
          </a:solidFill>
          <a:ln w="25400">
            <a:solidFill>
              <a:srgbClr val="2E7D5B"/>
            </a:solidFill>
            <a:prstDash val="solid"/>
          </a:ln>
        </p:spPr>
      </p:sp>
      <p:sp>
        <p:nvSpPr>
          <p:cNvPr id="13" name="Text 11"/>
          <p:cNvSpPr txBox="1"/>
          <p:nvPr/>
        </p:nvSpPr>
        <p:spPr>
          <a:xfrm>
            <a:off x="4187952" y="1490472"/>
            <a:ext cx="1764792" cy="274320"/>
          </a:xfrm>
          <a:prstGeom prst="rect">
            <a:avLst/>
          </a:prstGeom>
          <a:noFill/>
          <a:ln/>
        </p:spPr>
        <p:txBody>
          <a:bodyPr wrap="square" lIns="0" tIns="0" rIns="0" bIns="0" rtlCol="0" anchor="t"/>
          <a:lstStyle/>
          <a:p>
            <a:pPr algn="ctr" indent="0" marL="0">
              <a:buNone/>
            </a:pPr>
            <a:r>
              <a:rPr lang="en-US" sz="1200" b="1" dirty="0">
                <a:solidFill>
                  <a:srgbClr val="2E7D5B"/>
                </a:solidFill>
                <a:latin typeface="Calibri" pitchFamily="34" charset="0"/>
                <a:ea typeface="Calibri" pitchFamily="34" charset="-122"/>
                <a:cs typeface="Calibri" pitchFamily="34" charset="-120"/>
              </a:rPr>
              <a:t>compose</a:t>
            </a:r>
            <a:endParaRPr lang="en-US" sz="1200" dirty="0"/>
          </a:p>
        </p:txBody>
      </p:sp>
      <p:sp>
        <p:nvSpPr>
          <p:cNvPr id="14" name="Text 12"/>
          <p:cNvSpPr txBox="1"/>
          <p:nvPr/>
        </p:nvSpPr>
        <p:spPr>
          <a:xfrm>
            <a:off x="4242816" y="1773936"/>
            <a:ext cx="1655064" cy="640080"/>
          </a:xfrm>
          <a:prstGeom prst="rect">
            <a:avLst/>
          </a:prstGeom>
          <a:noFill/>
          <a:ln/>
        </p:spPr>
        <p:txBody>
          <a:bodyPr wrap="square" lIns="0" tIns="0" rIns="0" bIns="0" rtlCol="0" anchor="t"/>
          <a:lstStyle/>
          <a:p>
            <a:pPr algn="ctr" indent="0" marL="0">
              <a:buNone/>
            </a:pPr>
            <a:r>
              <a:rPr lang="en-US" sz="1000" dirty="0">
                <a:solidFill>
                  <a:srgbClr val="22303C"/>
                </a:solidFill>
                <a:latin typeface="Calibri" pitchFamily="34" charset="0"/>
                <a:ea typeface="Calibri" pitchFamily="34" charset="-122"/>
                <a:cs typeface="Calibri" pitchFamily="34" charset="-120"/>
              </a:rPr>
              <a:t>abstract intent →</a:t>
            </a:r>
            <a:endParaRPr lang="en-US" sz="1000" dirty="0"/>
          </a:p>
          <a:p>
            <a:pPr algn="ctr" indent="0" marL="0">
              <a:buNone/>
            </a:pPr>
            <a:r>
              <a:rPr lang="en-US" sz="1000" dirty="0">
                <a:solidFill>
                  <a:srgbClr val="22303C"/>
                </a:solidFill>
                <a:latin typeface="Calibri" pitchFamily="34" charset="0"/>
                <a:ea typeface="Calibri" pitchFamily="34" charset="-122"/>
                <a:cs typeface="Calibri" pitchFamily="34" charset="-120"/>
              </a:rPr>
              <a:t>a typed DAG</a:t>
            </a:r>
            <a:endParaRPr lang="en-US" sz="1000" dirty="0"/>
          </a:p>
        </p:txBody>
      </p:sp>
      <p:sp>
        <p:nvSpPr>
          <p:cNvPr id="15" name="Shape 13"/>
          <p:cNvSpPr/>
          <p:nvPr/>
        </p:nvSpPr>
        <p:spPr>
          <a:xfrm>
            <a:off x="5961888" y="1938528"/>
            <a:ext cx="82296" cy="91"/>
          </a:xfrm>
          <a:prstGeom prst="line">
            <a:avLst/>
          </a:prstGeom>
          <a:noFill/>
          <a:ln w="15875">
            <a:solidFill>
              <a:srgbClr val="5E6B75"/>
            </a:solidFill>
            <a:prstDash val="solid"/>
            <a:tailEnd type="triangle"/>
          </a:ln>
        </p:spPr>
      </p:sp>
      <p:sp>
        <p:nvSpPr>
          <p:cNvPr id="16" name="Shape 14"/>
          <p:cNvSpPr/>
          <p:nvPr/>
        </p:nvSpPr>
        <p:spPr>
          <a:xfrm>
            <a:off x="6053328" y="1417320"/>
            <a:ext cx="1764792" cy="1051560"/>
          </a:xfrm>
          <a:prstGeom prst="roundRect">
            <a:avLst>
              <a:gd name="adj" fmla="val 6957"/>
            </a:avLst>
          </a:prstGeom>
          <a:solidFill>
            <a:srgbClr val="FFFFFF"/>
          </a:solidFill>
          <a:ln w="25400">
            <a:solidFill>
              <a:srgbClr val="2E7D5B"/>
            </a:solidFill>
            <a:prstDash val="solid"/>
          </a:ln>
        </p:spPr>
      </p:sp>
      <p:sp>
        <p:nvSpPr>
          <p:cNvPr id="17" name="Text 15"/>
          <p:cNvSpPr txBox="1"/>
          <p:nvPr/>
        </p:nvSpPr>
        <p:spPr>
          <a:xfrm>
            <a:off x="6053328" y="1490472"/>
            <a:ext cx="1764792" cy="274320"/>
          </a:xfrm>
          <a:prstGeom prst="rect">
            <a:avLst/>
          </a:prstGeom>
          <a:noFill/>
          <a:ln/>
        </p:spPr>
        <p:txBody>
          <a:bodyPr wrap="square" lIns="0" tIns="0" rIns="0" bIns="0" rtlCol="0" anchor="t"/>
          <a:lstStyle/>
          <a:p>
            <a:pPr algn="ctr" indent="0" marL="0">
              <a:buNone/>
            </a:pPr>
            <a:r>
              <a:rPr lang="en-US" sz="1200" b="1" dirty="0">
                <a:solidFill>
                  <a:srgbClr val="2E7D5B"/>
                </a:solidFill>
                <a:latin typeface="Calibri" pitchFamily="34" charset="0"/>
                <a:ea typeface="Calibri" pitchFamily="34" charset="-122"/>
                <a:cs typeface="Calibri" pitchFamily="34" charset="-120"/>
              </a:rPr>
              <a:t>admit</a:t>
            </a:r>
            <a:endParaRPr lang="en-US" sz="1200" dirty="0"/>
          </a:p>
        </p:txBody>
      </p:sp>
      <p:sp>
        <p:nvSpPr>
          <p:cNvPr id="18" name="Text 16"/>
          <p:cNvSpPr txBox="1"/>
          <p:nvPr/>
        </p:nvSpPr>
        <p:spPr>
          <a:xfrm>
            <a:off x="6108192" y="1773936"/>
            <a:ext cx="1655064" cy="640080"/>
          </a:xfrm>
          <a:prstGeom prst="rect">
            <a:avLst/>
          </a:prstGeom>
          <a:noFill/>
          <a:ln/>
        </p:spPr>
        <p:txBody>
          <a:bodyPr wrap="square" lIns="0" tIns="0" rIns="0" bIns="0" rtlCol="0" anchor="t"/>
          <a:lstStyle/>
          <a:p>
            <a:pPr algn="ctr" indent="0" marL="0">
              <a:buNone/>
            </a:pPr>
            <a:r>
              <a:rPr lang="en-US" sz="1000" dirty="0">
                <a:solidFill>
                  <a:srgbClr val="22303C"/>
                </a:solidFill>
                <a:latin typeface="Calibri" pitchFamily="34" charset="0"/>
                <a:ea typeface="Calibri" pitchFamily="34" charset="-122"/>
                <a:cs typeface="Calibri" pitchFamily="34" charset="-120"/>
              </a:rPr>
              <a:t>5 gates · interlock</a:t>
            </a:r>
            <a:endParaRPr lang="en-US" sz="1000" dirty="0"/>
          </a:p>
          <a:p>
            <a:pPr algn="ctr" indent="0" marL="0">
              <a:buNone/>
            </a:pPr>
            <a:r>
              <a:rPr lang="en-US" sz="1000" dirty="0">
                <a:solidFill>
                  <a:srgbClr val="22303C"/>
                </a:solidFill>
                <a:latin typeface="Calibri" pitchFamily="34" charset="0"/>
                <a:ea typeface="Calibri" pitchFamily="34" charset="-122"/>
                <a:cs typeface="Calibri" pitchFamily="34" charset="-120"/>
              </a:rPr>
              <a:t>dry-run · reserve</a:t>
            </a:r>
            <a:endParaRPr lang="en-US" sz="1000" dirty="0"/>
          </a:p>
        </p:txBody>
      </p:sp>
      <p:sp>
        <p:nvSpPr>
          <p:cNvPr id="19" name="Shape 17"/>
          <p:cNvSpPr/>
          <p:nvPr/>
        </p:nvSpPr>
        <p:spPr>
          <a:xfrm>
            <a:off x="7827264" y="1938528"/>
            <a:ext cx="82296" cy="91"/>
          </a:xfrm>
          <a:prstGeom prst="line">
            <a:avLst/>
          </a:prstGeom>
          <a:noFill/>
          <a:ln w="15875">
            <a:solidFill>
              <a:srgbClr val="5E6B75"/>
            </a:solidFill>
            <a:prstDash val="solid"/>
            <a:tailEnd type="triangle"/>
          </a:ln>
        </p:spPr>
      </p:sp>
      <p:sp>
        <p:nvSpPr>
          <p:cNvPr id="20" name="Shape 18"/>
          <p:cNvSpPr/>
          <p:nvPr/>
        </p:nvSpPr>
        <p:spPr>
          <a:xfrm>
            <a:off x="7918704" y="1417320"/>
            <a:ext cx="1764792" cy="1051560"/>
          </a:xfrm>
          <a:prstGeom prst="roundRect">
            <a:avLst>
              <a:gd name="adj" fmla="val 6957"/>
            </a:avLst>
          </a:prstGeom>
          <a:solidFill>
            <a:srgbClr val="FFFFFF"/>
          </a:solidFill>
          <a:ln w="25400">
            <a:solidFill>
              <a:srgbClr val="D9731A"/>
            </a:solidFill>
            <a:prstDash val="solid"/>
          </a:ln>
        </p:spPr>
      </p:sp>
      <p:sp>
        <p:nvSpPr>
          <p:cNvPr id="21" name="Text 19"/>
          <p:cNvSpPr txBox="1"/>
          <p:nvPr/>
        </p:nvSpPr>
        <p:spPr>
          <a:xfrm>
            <a:off x="7918704" y="1490472"/>
            <a:ext cx="1764792" cy="274320"/>
          </a:xfrm>
          <a:prstGeom prst="rect">
            <a:avLst/>
          </a:prstGeom>
          <a:noFill/>
          <a:ln/>
        </p:spPr>
        <p:txBody>
          <a:bodyPr wrap="square" lIns="0" tIns="0" rIns="0" bIns="0" rtlCol="0" anchor="t"/>
          <a:lstStyle/>
          <a:p>
            <a:pPr algn="ctr" indent="0" marL="0">
              <a:buNone/>
            </a:pPr>
            <a:r>
              <a:rPr lang="en-US" sz="1200" b="1" dirty="0">
                <a:solidFill>
                  <a:srgbClr val="D9731A"/>
                </a:solidFill>
                <a:latin typeface="Calibri" pitchFamily="34" charset="0"/>
                <a:ea typeface="Calibri" pitchFamily="34" charset="-122"/>
                <a:cs typeface="Calibri" pitchFamily="34" charset="-120"/>
              </a:rPr>
              <a:t>execute</a:t>
            </a:r>
            <a:endParaRPr lang="en-US" sz="1200" dirty="0"/>
          </a:p>
        </p:txBody>
      </p:sp>
      <p:sp>
        <p:nvSpPr>
          <p:cNvPr id="22" name="Text 20"/>
          <p:cNvSpPr txBox="1"/>
          <p:nvPr/>
        </p:nvSpPr>
        <p:spPr>
          <a:xfrm>
            <a:off x="7973568" y="1773936"/>
            <a:ext cx="1655064" cy="640080"/>
          </a:xfrm>
          <a:prstGeom prst="rect">
            <a:avLst/>
          </a:prstGeom>
          <a:noFill/>
          <a:ln/>
        </p:spPr>
        <p:txBody>
          <a:bodyPr wrap="square" lIns="0" tIns="0" rIns="0" bIns="0" rtlCol="0" anchor="t"/>
          <a:lstStyle/>
          <a:p>
            <a:pPr algn="ctr" indent="0" marL="0">
              <a:buNone/>
            </a:pPr>
            <a:r>
              <a:rPr lang="en-US" sz="1000" dirty="0">
                <a:solidFill>
                  <a:srgbClr val="22303C"/>
                </a:solidFill>
                <a:latin typeface="Calibri" pitchFamily="34" charset="0"/>
                <a:ea typeface="Calibri" pitchFamily="34" charset="-122"/>
                <a:cs typeface="Calibri" pitchFamily="34" charset="-120"/>
              </a:rPr>
              <a:t>asyncflow → rhapsody</a:t>
            </a:r>
            <a:endParaRPr lang="en-US" sz="1000" dirty="0"/>
          </a:p>
          <a:p>
            <a:pPr algn="ctr" indent="0" marL="0">
              <a:buNone/>
            </a:pPr>
            <a:r>
              <a:rPr lang="en-US" sz="1000" dirty="0">
                <a:solidFill>
                  <a:srgbClr val="22303C"/>
                </a:solidFill>
                <a:latin typeface="Calibri" pitchFamily="34" charset="0"/>
                <a:ea typeface="Calibri" pitchFamily="34" charset="-122"/>
                <a:cs typeface="Calibri" pitchFamily="34" charset="-120"/>
              </a:rPr>
              <a:t>concurrent or Dragon</a:t>
            </a:r>
            <a:endParaRPr lang="en-US" sz="1000" dirty="0"/>
          </a:p>
        </p:txBody>
      </p:sp>
      <p:sp>
        <p:nvSpPr>
          <p:cNvPr id="23" name="Shape 21"/>
          <p:cNvSpPr/>
          <p:nvPr/>
        </p:nvSpPr>
        <p:spPr>
          <a:xfrm>
            <a:off x="9692640" y="1938528"/>
            <a:ext cx="82296" cy="91"/>
          </a:xfrm>
          <a:prstGeom prst="line">
            <a:avLst/>
          </a:prstGeom>
          <a:noFill/>
          <a:ln w="15875">
            <a:solidFill>
              <a:srgbClr val="5E6B75"/>
            </a:solidFill>
            <a:prstDash val="solid"/>
            <a:tailEnd type="triangle"/>
          </a:ln>
        </p:spPr>
      </p:sp>
      <p:sp>
        <p:nvSpPr>
          <p:cNvPr id="24" name="Shape 22"/>
          <p:cNvSpPr/>
          <p:nvPr/>
        </p:nvSpPr>
        <p:spPr>
          <a:xfrm>
            <a:off x="9784080" y="1417320"/>
            <a:ext cx="1764792" cy="1051560"/>
          </a:xfrm>
          <a:prstGeom prst="roundRect">
            <a:avLst>
              <a:gd name="adj" fmla="val 6957"/>
            </a:avLst>
          </a:prstGeom>
          <a:solidFill>
            <a:srgbClr val="FFFFFF"/>
          </a:solidFill>
          <a:ln w="25400">
            <a:solidFill>
              <a:srgbClr val="1E6470"/>
            </a:solidFill>
            <a:prstDash val="solid"/>
          </a:ln>
        </p:spPr>
      </p:sp>
      <p:sp>
        <p:nvSpPr>
          <p:cNvPr id="25" name="Text 23"/>
          <p:cNvSpPr txBox="1"/>
          <p:nvPr/>
        </p:nvSpPr>
        <p:spPr>
          <a:xfrm>
            <a:off x="9784080" y="1490472"/>
            <a:ext cx="1764792" cy="274320"/>
          </a:xfrm>
          <a:prstGeom prst="rect">
            <a:avLst/>
          </a:prstGeom>
          <a:noFill/>
          <a:ln/>
        </p:spPr>
        <p:txBody>
          <a:bodyPr wrap="square" lIns="0" tIns="0" rIns="0" bIns="0" rtlCol="0" anchor="t"/>
          <a:lstStyle/>
          <a:p>
            <a:pPr algn="ctr" indent="0" marL="0">
              <a:buNone/>
            </a:pPr>
            <a:r>
              <a:rPr lang="en-US" sz="1200" b="1" dirty="0">
                <a:solidFill>
                  <a:srgbClr val="1E6470"/>
                </a:solidFill>
                <a:latin typeface="Calibri" pitchFamily="34" charset="0"/>
                <a:ea typeface="Calibri" pitchFamily="34" charset="-122"/>
                <a:cs typeface="Calibri" pitchFamily="34" charset="-120"/>
              </a:rPr>
              <a:t>absorb</a:t>
            </a:r>
            <a:endParaRPr lang="en-US" sz="1200" dirty="0"/>
          </a:p>
        </p:txBody>
      </p:sp>
      <p:sp>
        <p:nvSpPr>
          <p:cNvPr id="26" name="Text 24"/>
          <p:cNvSpPr txBox="1"/>
          <p:nvPr/>
        </p:nvSpPr>
        <p:spPr>
          <a:xfrm>
            <a:off x="9838944" y="1773936"/>
            <a:ext cx="1655064" cy="640080"/>
          </a:xfrm>
          <a:prstGeom prst="rect">
            <a:avLst/>
          </a:prstGeom>
          <a:noFill/>
          <a:ln/>
        </p:spPr>
        <p:txBody>
          <a:bodyPr wrap="square" lIns="0" tIns="0" rIns="0" bIns="0" rtlCol="0" anchor="t"/>
          <a:lstStyle/>
          <a:p>
            <a:pPr algn="ctr" indent="0" marL="0">
              <a:buNone/>
            </a:pPr>
            <a:r>
              <a:rPr lang="en-US" sz="1000" dirty="0">
                <a:solidFill>
                  <a:srgbClr val="22303C"/>
                </a:solidFill>
                <a:latin typeface="Calibri" pitchFamily="34" charset="0"/>
                <a:ea typeface="Calibri" pitchFamily="34" charset="-122"/>
                <a:cs typeface="Calibri" pitchFamily="34" charset="-120"/>
              </a:rPr>
              <a:t>QC · Pareto tree</a:t>
            </a:r>
            <a:endParaRPr lang="en-US" sz="1000" dirty="0"/>
          </a:p>
          <a:p>
            <a:pPr algn="ctr" indent="0" marL="0">
              <a:buNone/>
            </a:pPr>
            <a:r>
              <a:rPr lang="en-US" sz="1000" dirty="0">
                <a:solidFill>
                  <a:srgbClr val="22303C"/>
                </a:solidFill>
                <a:latin typeface="Calibri" pitchFamily="34" charset="0"/>
                <a:ea typeface="Calibri" pitchFamily="34" charset="-122"/>
                <a:cs typeface="Calibri" pitchFamily="34" charset="-120"/>
              </a:rPr>
              <a:t>provenance · trust</a:t>
            </a:r>
            <a:endParaRPr lang="en-US" sz="1000" dirty="0"/>
          </a:p>
        </p:txBody>
      </p:sp>
      <p:sp>
        <p:nvSpPr>
          <p:cNvPr id="27" name="Shape 25"/>
          <p:cNvSpPr/>
          <p:nvPr/>
        </p:nvSpPr>
        <p:spPr>
          <a:xfrm flipH="1">
            <a:off x="3348533" y="2523744"/>
            <a:ext cx="3637483" cy="91"/>
          </a:xfrm>
          <a:prstGeom prst="line">
            <a:avLst/>
          </a:prstGeom>
          <a:noFill/>
          <a:ln w="19050">
            <a:solidFill>
              <a:srgbClr val="2E7D5B"/>
            </a:solidFill>
            <a:prstDash val="solid"/>
            <a:tailEnd type="triangle"/>
          </a:ln>
        </p:spPr>
      </p:sp>
      <p:sp>
        <p:nvSpPr>
          <p:cNvPr id="28" name="Text 26"/>
          <p:cNvSpPr txBox="1"/>
          <p:nvPr/>
        </p:nvSpPr>
        <p:spPr>
          <a:xfrm>
            <a:off x="3068726" y="2542032"/>
            <a:ext cx="3931920" cy="237744"/>
          </a:xfrm>
          <a:prstGeom prst="rect">
            <a:avLst/>
          </a:prstGeom>
          <a:noFill/>
          <a:ln/>
        </p:spPr>
        <p:txBody>
          <a:bodyPr wrap="square" lIns="0" tIns="0" rIns="0" bIns="0" rtlCol="0" anchor="ctr"/>
          <a:lstStyle/>
          <a:p>
            <a:pPr algn="ctr" indent="0" marL="0">
              <a:buNone/>
            </a:pPr>
            <a:r>
              <a:rPr lang="en-US" sz="1050" dirty="0">
                <a:solidFill>
                  <a:srgbClr val="2E7D5B"/>
                </a:solidFill>
                <a:latin typeface="Calibri" pitchFamily="34" charset="0"/>
                <a:ea typeface="Calibri" pitchFamily="34" charset="-122"/>
                <a:cs typeface="Calibri" pitchFamily="34" charset="-120"/>
              </a:rPr>
              <a:t>rejected → a structured reason, and another attempt</a:t>
            </a:r>
            <a:endParaRPr lang="en-US" sz="1050" dirty="0"/>
          </a:p>
        </p:txBody>
      </p:sp>
      <p:sp>
        <p:nvSpPr>
          <p:cNvPr id="29" name="Shape 27"/>
          <p:cNvSpPr/>
          <p:nvPr/>
        </p:nvSpPr>
        <p:spPr>
          <a:xfrm flipH="1">
            <a:off x="3255264" y="2761488"/>
            <a:ext cx="7461504" cy="91"/>
          </a:xfrm>
          <a:prstGeom prst="line">
            <a:avLst/>
          </a:prstGeom>
          <a:noFill/>
          <a:ln w="19050">
            <a:solidFill>
              <a:srgbClr val="1E6470"/>
            </a:solidFill>
            <a:prstDash val="solid"/>
            <a:tailEnd type="triangle"/>
          </a:ln>
        </p:spPr>
      </p:sp>
      <p:sp>
        <p:nvSpPr>
          <p:cNvPr id="30" name="Text 28"/>
          <p:cNvSpPr txBox="1"/>
          <p:nvPr/>
        </p:nvSpPr>
        <p:spPr>
          <a:xfrm>
            <a:off x="4747565" y="2779776"/>
            <a:ext cx="3931920" cy="237744"/>
          </a:xfrm>
          <a:prstGeom prst="rect">
            <a:avLst/>
          </a:prstGeom>
          <a:noFill/>
          <a:ln/>
        </p:spPr>
        <p:txBody>
          <a:bodyPr wrap="square" lIns="0" tIns="0" rIns="0" bIns="0" rtlCol="0" anchor="ctr"/>
          <a:lstStyle/>
          <a:p>
            <a:pPr algn="ctr" indent="0" marL="0">
              <a:buNone/>
            </a:pPr>
            <a:r>
              <a:rPr lang="en-US" sz="1050" dirty="0">
                <a:solidFill>
                  <a:srgbClr val="1E6470"/>
                </a:solidFill>
                <a:latin typeface="Calibri" pitchFamily="34" charset="0"/>
                <a:ea typeface="Calibri" pitchFamily="34" charset="-122"/>
                <a:cs typeface="Calibri" pitchFamily="34" charset="-120"/>
              </a:rPr>
              <a:t>the next decision sees every result so far</a:t>
            </a:r>
            <a:endParaRPr lang="en-US" sz="1050" dirty="0"/>
          </a:p>
        </p:txBody>
      </p:sp>
      <p:sp>
        <p:nvSpPr>
          <p:cNvPr id="31" name="Shape 29"/>
          <p:cNvSpPr/>
          <p:nvPr/>
        </p:nvSpPr>
        <p:spPr>
          <a:xfrm>
            <a:off x="457200" y="3200400"/>
            <a:ext cx="5715000" cy="2057400"/>
          </a:xfrm>
          <a:prstGeom prst="rect">
            <a:avLst/>
          </a:prstGeom>
          <a:solidFill>
            <a:srgbClr val="EEF2F5"/>
          </a:solidFill>
          <a:ln w="12700">
            <a:solidFill>
              <a:srgbClr val="EEF2F5"/>
            </a:solidFill>
            <a:prstDash val="solid"/>
          </a:ln>
        </p:spPr>
      </p:sp>
      <p:sp>
        <p:nvSpPr>
          <p:cNvPr id="32" name="Text 30"/>
          <p:cNvSpPr txBox="1"/>
          <p:nvPr/>
        </p:nvSpPr>
        <p:spPr>
          <a:xfrm>
            <a:off x="585216" y="3282696"/>
            <a:ext cx="5458968"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What came back, for real — job 22692304</a:t>
            </a:r>
            <a:endParaRPr lang="en-US" sz="1300" dirty="0"/>
          </a:p>
        </p:txBody>
      </p:sp>
      <p:sp>
        <p:nvSpPr>
          <p:cNvPr id="33" name="Text 31"/>
          <p:cNvSpPr txBox="1"/>
          <p:nvPr/>
        </p:nvSpPr>
        <p:spPr>
          <a:xfrm>
            <a:off x="585216" y="3593592"/>
            <a:ext cx="5458968" cy="1581912"/>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2303C"/>
                </a:solidFill>
                <a:latin typeface="Calibri" pitchFamily="34" charset="0"/>
                <a:ea typeface="Calibri" pitchFamily="34" charset="-122"/>
                <a:cs typeface="Calibri" pitchFamily="34" charset="-120"/>
              </a:rPr>
              <a:t>rfd3_design → ligandmpnn_design → packmin → fastrelax → filter_shape → boltz_predict, 6/6 tasks ok in 2m53s</a:t>
            </a:r>
            <a:endParaRPr lang="en-US" sz="1100" dirty="0"/>
          </a:p>
          <a:p>
            <a:pPr marL="342900" indent="-342900">
              <a:spcAft>
                <a:spcPts val="400"/>
              </a:spcAft>
              <a:buSzPct val="100000"/>
              <a:buChar char="•"/>
            </a:pPr>
            <a:r>
              <a:rPr lang="en-US" sz="1100" dirty="0">
                <a:solidFill>
                  <a:srgbClr val="22303C"/>
                </a:solidFill>
                <a:latin typeface="Calibri" pitchFamily="34" charset="0"/>
                <a:ea typeface="Calibri" pitchFamily="34" charset="-122"/>
                <a:cs typeface="Calibri" pitchFamily="34" charset="-120"/>
              </a:rPr>
              <a:t>all four campaign objectives valued: total_score -272, shape_complementarity 0.591, complex_plddt 0.507, ligand_iptm 0.752</a:t>
            </a:r>
            <a:endParaRPr lang="en-US" sz="1100" dirty="0"/>
          </a:p>
          <a:p>
            <a:pPr marL="342900" indent="-342900">
              <a:spcAft>
                <a:spcPts val="400"/>
              </a:spcAft>
              <a:buSzPct val="100000"/>
              <a:buChar char="•"/>
            </a:pPr>
            <a:r>
              <a:rPr lang="en-US" sz="1100" dirty="0">
                <a:solidFill>
                  <a:srgbClr val="22303C"/>
                </a:solidFill>
                <a:latin typeface="Calibri" pitchFamily="34" charset="0"/>
                <a:ea typeface="Calibri" pitchFamily="34" charset="-122"/>
                <a:cs typeface="Calibri" pitchFamily="34" charset="-120"/>
              </a:rPr>
              <a:t>admitted on the first attempt, 0.27 GPU-h and 0.06 CPU-h charged against the ledger</a:t>
            </a:r>
            <a:endParaRPr lang="en-US" sz="1100" dirty="0"/>
          </a:p>
          <a:p>
            <a:pPr marL="342900" indent="-342900">
              <a:spcAft>
                <a:spcPts val="400"/>
              </a:spcAft>
              <a:buSzPct val="100000"/>
              <a:buChar char="•"/>
            </a:pPr>
            <a:r>
              <a:rPr lang="en-US" sz="1100" dirty="0">
                <a:solidFill>
                  <a:srgbClr val="22303C"/>
                </a:solidFill>
                <a:latin typeface="Calibri" pitchFamily="34" charset="0"/>
                <a:ea typeface="Calibri" pitchFamily="34" charset="-122"/>
                <a:cs typeface="Calibri" pitchFamily="34" charset="-120"/>
              </a:rPr>
              <a:t>per-tool cost measured for all six, and the specs corrected from it</a:t>
            </a:r>
            <a:endParaRPr lang="en-US" sz="1100" dirty="0"/>
          </a:p>
        </p:txBody>
      </p:sp>
      <p:sp>
        <p:nvSpPr>
          <p:cNvPr id="34" name="Shape 32"/>
          <p:cNvSpPr/>
          <p:nvPr/>
        </p:nvSpPr>
        <p:spPr>
          <a:xfrm>
            <a:off x="6473952" y="3200400"/>
            <a:ext cx="5715000" cy="2057400"/>
          </a:xfrm>
          <a:prstGeom prst="rect">
            <a:avLst/>
          </a:prstGeom>
          <a:solidFill>
            <a:srgbClr val="F9E0DD"/>
          </a:solidFill>
          <a:ln w="12700">
            <a:solidFill>
              <a:srgbClr val="F9E0DD"/>
            </a:solidFill>
            <a:prstDash val="solid"/>
          </a:ln>
        </p:spPr>
      </p:sp>
      <p:sp>
        <p:nvSpPr>
          <p:cNvPr id="35" name="Text 33"/>
          <p:cNvSpPr txBox="1"/>
          <p:nvPr/>
        </p:nvSpPr>
        <p:spPr>
          <a:xfrm>
            <a:off x="6601968" y="3282696"/>
            <a:ext cx="5458968" cy="274320"/>
          </a:xfrm>
          <a:prstGeom prst="rect">
            <a:avLst/>
          </a:prstGeom>
          <a:noFill/>
          <a:ln/>
        </p:spPr>
        <p:txBody>
          <a:bodyPr wrap="square" lIns="0" tIns="0" rIns="0" bIns="0" rtlCol="0" anchor="t"/>
          <a:lstStyle/>
          <a:p>
            <a:pPr indent="0" marL="0">
              <a:buNone/>
            </a:pPr>
            <a:r>
              <a:rPr lang="en-US" sz="1300" b="1" dirty="0">
                <a:solidFill>
                  <a:srgbClr val="C0392B"/>
                </a:solidFill>
                <a:latin typeface="Calibri" pitchFamily="34" charset="0"/>
                <a:ea typeface="Calibri" pitchFamily="34" charset="-122"/>
                <a:cs typeface="Calibri" pitchFamily="34" charset="-120"/>
              </a:rPr>
              <a:t>And what one completed campaign is not</a:t>
            </a:r>
            <a:endParaRPr lang="en-US" sz="1300" dirty="0"/>
          </a:p>
        </p:txBody>
      </p:sp>
      <p:sp>
        <p:nvSpPr>
          <p:cNvPr id="36" name="Text 34"/>
          <p:cNvSpPr txBox="1"/>
          <p:nvPr/>
        </p:nvSpPr>
        <p:spPr>
          <a:xfrm>
            <a:off x="6601968" y="3593592"/>
            <a:ext cx="5458968" cy="1581912"/>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2303C"/>
                </a:solidFill>
                <a:latin typeface="Calibri" pitchFamily="34" charset="0"/>
                <a:ea typeface="Calibri" pitchFamily="34" charset="-122"/>
                <a:cs typeface="Calibri" pitchFamily="34" charset="-120"/>
              </a:rPr>
              <a:t>Every run so far is ONE lineage, on ONE of four GPUs. The reference pipeline's comparable runs carry 16 to 256 concurrent pipelines, so this is not a scale result and nothing here is a throughput comparison.</a:t>
            </a:r>
            <a:endParaRPr lang="en-US" sz="1100" dirty="0"/>
          </a:p>
          <a:p>
            <a:pPr marL="342900" indent="-342900">
              <a:spcAft>
                <a:spcPts val="400"/>
              </a:spcAft>
              <a:buSzPct val="100000"/>
              <a:buChar char="•"/>
            </a:pPr>
            <a:r>
              <a:rPr lang="en-US" sz="1100" dirty="0">
                <a:solidFill>
                  <a:srgbClr val="22303C"/>
                </a:solidFill>
                <a:latin typeface="Calibri" pitchFamily="34" charset="0"/>
                <a:ea typeface="Calibri" pitchFamily="34" charset="-122"/>
                <a:cs typeface="Calibri" pitchFamily="34" charset="-120"/>
              </a:rPr>
              <a:t>No node has reached plain pass. This one is suspect because its pattern was still provisional; all 5 trusted nodes since missed an acceptance threshold instead.</a:t>
            </a:r>
            <a:endParaRPr lang="en-US" sz="1100" dirty="0"/>
          </a:p>
          <a:p>
            <a:pPr marL="342900" indent="-342900">
              <a:spcAft>
                <a:spcPts val="400"/>
              </a:spcAft>
              <a:buSzPct val="100000"/>
              <a:buChar char="•"/>
            </a:pPr>
            <a:r>
              <a:rPr lang="en-US" sz="1100" dirty="0">
                <a:solidFill>
                  <a:srgbClr val="22303C"/>
                </a:solidFill>
                <a:latin typeface="Calibri" pitchFamily="34" charset="0"/>
                <a:ea typeface="Calibri" pitchFamily="34" charset="-122"/>
                <a:cs typeface="Calibri" pitchFamily="34" charset="-120"/>
              </a:rPr>
              <a:t>No measurement has ever superseded a prediction, so the calibration machinery — the one thing a composed graph gets that a written-down one does not — is untested against reality.</a:t>
            </a:r>
            <a:endParaRPr lang="en-US" sz="1100" dirty="0"/>
          </a:p>
        </p:txBody>
      </p:sp>
      <p:sp>
        <p:nvSpPr>
          <p:cNvPr id="37" name="Text 35"/>
          <p:cNvSpPr txBox="1"/>
          <p:nvPr/>
        </p:nvSpPr>
        <p:spPr>
          <a:xfrm>
            <a:off x="457200" y="5440680"/>
            <a:ext cx="11274552" cy="54864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Read it as a floor, not a result. </a:t>
            </a:r>
            <a:pPr indent="0" marL="0">
              <a:buNone/>
            </a:pPr>
            <a:r>
              <a:rPr lang="en-US" sz="1300" dirty="0">
                <a:solidFill>
                  <a:srgbClr val="22303C"/>
                </a:solidFill>
                <a:latin typeface="Calibri" pitchFamily="34" charset="0"/>
                <a:ea typeface="Calibri" pitchFamily="34" charset="-122"/>
                <a:cs typeface="Calibri" pitchFamily="34" charset="-120"/>
              </a:rPr>
              <a:t>The engineering claim is that a machine-composed workflow survived contact with real tools on real hardware and was caught, costed and recorded on the way through. The science is one design.</a:t>
            </a:r>
            <a:endParaRPr lang="en-US" sz="1300" dirty="0"/>
          </a:p>
        </p:txBody>
      </p:sp>
      <p:sp>
        <p:nvSpPr>
          <p:cNvPr id="38" name="Text 36"/>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Numbers from slides/run.json. Delta figures transcribed from plans/first-real-run.md; the raw logs live under $WORK_DIR on Delta.</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8A6A3B"/>
                </a:solidFill>
                <a:latin typeface="Calibri" pitchFamily="34" charset="0"/>
                <a:ea typeface="Calibri" pitchFamily="34" charset="-122"/>
                <a:cs typeface="Calibri" pitchFamily="34" charset="-120"/>
              </a:rPr>
              <a:t>WHAT WE ARE COMPARED AGAINST</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The baseline is not a blank page</a:t>
            </a:r>
            <a:endParaRPr lang="en-US" sz="2800" dirty="0"/>
          </a:p>
        </p:txBody>
      </p:sp>
      <p:sp>
        <p:nvSpPr>
          <p:cNvPr id="4" name="Shape 2"/>
          <p:cNvSpPr/>
          <p:nvPr/>
        </p:nvSpPr>
        <p:spPr>
          <a:xfrm>
            <a:off x="457200" y="1261872"/>
            <a:ext cx="11274552" cy="1609344"/>
          </a:xfrm>
          <a:prstGeom prst="rect">
            <a:avLst/>
          </a:prstGeom>
          <a:solidFill>
            <a:srgbClr val="F5EEE2"/>
          </a:solidFill>
          <a:ln w="19050">
            <a:solidFill>
              <a:srgbClr val="8A6A3B"/>
            </a:solidFill>
            <a:prstDash val="solid"/>
          </a:ln>
        </p:spPr>
      </p:sp>
      <p:sp>
        <p:nvSpPr>
          <p:cNvPr id="5" name="Text 3"/>
          <p:cNvSpPr txBox="1"/>
          <p:nvPr/>
        </p:nvSpPr>
        <p:spPr>
          <a:xfrm>
            <a:off x="603504" y="1325880"/>
            <a:ext cx="6949440" cy="274320"/>
          </a:xfrm>
          <a:prstGeom prst="rect">
            <a:avLst/>
          </a:prstGeom>
          <a:noFill/>
          <a:ln/>
        </p:spPr>
        <p:txBody>
          <a:bodyPr wrap="square" lIns="0" tIns="0" rIns="0" bIns="0" rtlCol="0" anchor="t"/>
          <a:lstStyle/>
          <a:p>
            <a:pPr indent="0" marL="0">
              <a:buNone/>
            </a:pPr>
            <a:r>
              <a:rPr lang="en-US" sz="1300" b="1" dirty="0">
                <a:solidFill>
                  <a:srgbClr val="8A6A3B"/>
                </a:solidFill>
                <a:latin typeface="Calibri" pitchFamily="34" charset="0"/>
                <a:ea typeface="Calibri" pitchFamily="34" charset="-122"/>
                <a:cs typeface="Calibri" pitchFamily="34" charset="-120"/>
              </a:rPr>
              <a:t>IMPRESS, the reference adaptive pipeline — what it already does</a:t>
            </a:r>
            <a:endParaRPr lang="en-US" sz="1300" dirty="0"/>
          </a:p>
        </p:txBody>
      </p:sp>
      <p:sp>
        <p:nvSpPr>
          <p:cNvPr id="6" name="Text 4"/>
          <p:cNvSpPr txBox="1"/>
          <p:nvPr/>
        </p:nvSpPr>
        <p:spPr>
          <a:xfrm>
            <a:off x="7680960" y="1325880"/>
            <a:ext cx="3931920" cy="274320"/>
          </a:xfrm>
          <a:prstGeom prst="rect">
            <a:avLst/>
          </a:prstGeom>
          <a:noFill/>
          <a:ln/>
        </p:spPr>
        <p:txBody>
          <a:bodyPr wrap="square" lIns="0" tIns="0" rIns="0" bIns="0" rtlCol="0" anchor="t"/>
          <a:lstStyle/>
          <a:p>
            <a:pPr algn="r" indent="0" marL="0">
              <a:buNone/>
            </a:pPr>
            <a:r>
              <a:rPr lang="en-US" sz="1000" i="1" dirty="0">
                <a:solidFill>
                  <a:srgbClr val="5E6B75"/>
                </a:solidFill>
                <a:latin typeface="Calibri" pitchFamily="34" charset="0"/>
                <a:ea typeface="Calibri" pitchFamily="34" charset="-122"/>
                <a:cs typeface="Calibri" pitchFamily="34" charset="-120"/>
              </a:rPr>
              <a:t>A40, 1-8 nodes, 8-256 pipelines</a:t>
            </a:r>
            <a:endParaRPr lang="en-US" sz="1000" dirty="0"/>
          </a:p>
        </p:txBody>
      </p:sp>
      <p:sp>
        <p:nvSpPr>
          <p:cNvPr id="7" name="Text 5"/>
          <p:cNvSpPr txBox="1"/>
          <p:nvPr/>
        </p:nvSpPr>
        <p:spPr>
          <a:xfrm>
            <a:off x="603504" y="1645920"/>
            <a:ext cx="2048256" cy="384048"/>
          </a:xfrm>
          <a:prstGeom prst="rect">
            <a:avLst/>
          </a:prstGeom>
          <a:noFill/>
          <a:ln/>
        </p:spPr>
        <p:txBody>
          <a:bodyPr wrap="square" lIns="0" tIns="0" rIns="0" bIns="0" rtlCol="0" anchor="t"/>
          <a:lstStyle/>
          <a:p>
            <a:pPr indent="0" marL="0">
              <a:buNone/>
            </a:pPr>
            <a:r>
              <a:rPr lang="en-US" sz="2200" b="1" dirty="0">
                <a:solidFill>
                  <a:srgbClr val="8A6A3B"/>
                </a:solidFill>
                <a:latin typeface="Cambria" pitchFamily="34" charset="0"/>
                <a:ea typeface="Cambria" pitchFamily="34" charset="-122"/>
                <a:cs typeface="Cambria" pitchFamily="34" charset="-120"/>
              </a:rPr>
              <a:t>24,026</a:t>
            </a:r>
            <a:endParaRPr lang="en-US" sz="2200" dirty="0"/>
          </a:p>
        </p:txBody>
      </p:sp>
      <p:sp>
        <p:nvSpPr>
          <p:cNvPr id="8" name="Text 6"/>
          <p:cNvSpPr txBox="1"/>
          <p:nvPr/>
        </p:nvSpPr>
        <p:spPr>
          <a:xfrm>
            <a:off x="603504" y="2029968"/>
            <a:ext cx="2048256" cy="457200"/>
          </a:xfrm>
          <a:prstGeom prst="rect">
            <a:avLst/>
          </a:prstGeom>
          <a:noFill/>
          <a:ln/>
        </p:spPr>
        <p:txBody>
          <a:bodyPr wrap="square" lIns="0" tIns="0" rIns="0" bIns="0" rtlCol="0" anchor="t"/>
          <a:lstStyle/>
          <a:p>
            <a:pPr indent="0" marL="0">
              <a:buNone/>
            </a:pPr>
            <a:r>
              <a:rPr lang="en-US" sz="950" dirty="0">
                <a:solidFill>
                  <a:srgbClr val="22303C"/>
                </a:solidFill>
                <a:latin typeface="Calibri" pitchFamily="34" charset="0"/>
                <a:ea typeface="Calibri" pitchFamily="34" charset="-122"/>
                <a:cs typeface="Calibri" pitchFamily="34" charset="-120"/>
              </a:rPr>
              <a:t>task directories, 4 campaigns</a:t>
            </a:r>
            <a:endParaRPr lang="en-US" sz="950" dirty="0"/>
          </a:p>
        </p:txBody>
      </p:sp>
      <p:sp>
        <p:nvSpPr>
          <p:cNvPr id="9" name="Text 7"/>
          <p:cNvSpPr txBox="1"/>
          <p:nvPr/>
        </p:nvSpPr>
        <p:spPr>
          <a:xfrm>
            <a:off x="2779776" y="1645920"/>
            <a:ext cx="2048256" cy="384048"/>
          </a:xfrm>
          <a:prstGeom prst="rect">
            <a:avLst/>
          </a:prstGeom>
          <a:noFill/>
          <a:ln/>
        </p:spPr>
        <p:txBody>
          <a:bodyPr wrap="square" lIns="0" tIns="0" rIns="0" bIns="0" rtlCol="0" anchor="t"/>
          <a:lstStyle/>
          <a:p>
            <a:pPr indent="0" marL="0">
              <a:buNone/>
            </a:pPr>
            <a:r>
              <a:rPr lang="en-US" sz="2200" b="1" dirty="0">
                <a:solidFill>
                  <a:srgbClr val="8A6A3B"/>
                </a:solidFill>
                <a:latin typeface="Cambria" pitchFamily="34" charset="0"/>
                <a:ea typeface="Cambria" pitchFamily="34" charset="-122"/>
                <a:cs typeface="Cambria" pitchFamily="34" charset="-120"/>
              </a:rPr>
              <a:t>913</a:t>
            </a:r>
            <a:endParaRPr lang="en-US" sz="2200" dirty="0"/>
          </a:p>
        </p:txBody>
      </p:sp>
      <p:sp>
        <p:nvSpPr>
          <p:cNvPr id="10" name="Text 8"/>
          <p:cNvSpPr txBox="1"/>
          <p:nvPr/>
        </p:nvSpPr>
        <p:spPr>
          <a:xfrm>
            <a:off x="2779776" y="2029968"/>
            <a:ext cx="2048256" cy="457200"/>
          </a:xfrm>
          <a:prstGeom prst="rect">
            <a:avLst/>
          </a:prstGeom>
          <a:noFill/>
          <a:ln/>
        </p:spPr>
        <p:txBody>
          <a:bodyPr wrap="square" lIns="0" tIns="0" rIns="0" bIns="0" rtlCol="0" anchor="t"/>
          <a:lstStyle/>
          <a:p>
            <a:pPr indent="0" marL="0">
              <a:buNone/>
            </a:pPr>
            <a:r>
              <a:rPr lang="en-US" sz="950" dirty="0">
                <a:solidFill>
                  <a:srgbClr val="22303C"/>
                </a:solidFill>
                <a:latin typeface="Calibri" pitchFamily="34" charset="0"/>
                <a:ea typeface="Calibri" pitchFamily="34" charset="-122"/>
                <a:cs typeface="Calibri" pitchFamily="34" charset="-120"/>
              </a:rPr>
              <a:t>passing folds, 0 task failures</a:t>
            </a:r>
            <a:endParaRPr lang="en-US" sz="950" dirty="0"/>
          </a:p>
        </p:txBody>
      </p:sp>
      <p:sp>
        <p:nvSpPr>
          <p:cNvPr id="11" name="Text 9"/>
          <p:cNvSpPr txBox="1"/>
          <p:nvPr/>
        </p:nvSpPr>
        <p:spPr>
          <a:xfrm>
            <a:off x="4956048" y="1645920"/>
            <a:ext cx="2048256" cy="384048"/>
          </a:xfrm>
          <a:prstGeom prst="rect">
            <a:avLst/>
          </a:prstGeom>
          <a:noFill/>
          <a:ln/>
        </p:spPr>
        <p:txBody>
          <a:bodyPr wrap="square" lIns="0" tIns="0" rIns="0" bIns="0" rtlCol="0" anchor="t"/>
          <a:lstStyle/>
          <a:p>
            <a:pPr indent="0" marL="0">
              <a:buNone/>
            </a:pPr>
            <a:r>
              <a:rPr lang="en-US" sz="2200" b="1" dirty="0">
                <a:solidFill>
                  <a:srgbClr val="8A6A3B"/>
                </a:solidFill>
                <a:latin typeface="Cambria" pitchFamily="34" charset="0"/>
                <a:ea typeface="Cambria" pitchFamily="34" charset="-122"/>
                <a:cs typeface="Cambria" pitchFamily="34" charset="-120"/>
              </a:rPr>
              <a:t>267.9</a:t>
            </a:r>
            <a:endParaRPr lang="en-US" sz="2200" dirty="0"/>
          </a:p>
        </p:txBody>
      </p:sp>
      <p:sp>
        <p:nvSpPr>
          <p:cNvPr id="12" name="Text 10"/>
          <p:cNvSpPr txBox="1"/>
          <p:nvPr/>
        </p:nvSpPr>
        <p:spPr>
          <a:xfrm>
            <a:off x="4956048" y="2029968"/>
            <a:ext cx="2048256" cy="457200"/>
          </a:xfrm>
          <a:prstGeom prst="rect">
            <a:avLst/>
          </a:prstGeom>
          <a:noFill/>
          <a:ln/>
        </p:spPr>
        <p:txBody>
          <a:bodyPr wrap="square" lIns="0" tIns="0" rIns="0" bIns="0" rtlCol="0" anchor="t"/>
          <a:lstStyle/>
          <a:p>
            <a:pPr indent="0" marL="0">
              <a:buNone/>
            </a:pPr>
            <a:r>
              <a:rPr lang="en-US" sz="950" dirty="0">
                <a:solidFill>
                  <a:srgbClr val="22303C"/>
                </a:solidFill>
                <a:latin typeface="Calibri" pitchFamily="34" charset="0"/>
                <a:ea typeface="Calibri" pitchFamily="34" charset="-122"/>
                <a:cs typeface="Calibri" pitchFamily="34" charset="-120"/>
              </a:rPr>
              <a:t>GPU-hours billed</a:t>
            </a:r>
            <a:endParaRPr lang="en-US" sz="950" dirty="0"/>
          </a:p>
        </p:txBody>
      </p:sp>
      <p:sp>
        <p:nvSpPr>
          <p:cNvPr id="13" name="Text 11"/>
          <p:cNvSpPr txBox="1"/>
          <p:nvPr/>
        </p:nvSpPr>
        <p:spPr>
          <a:xfrm>
            <a:off x="7132320" y="1645920"/>
            <a:ext cx="2048256" cy="384048"/>
          </a:xfrm>
          <a:prstGeom prst="rect">
            <a:avLst/>
          </a:prstGeom>
          <a:noFill/>
          <a:ln/>
        </p:spPr>
        <p:txBody>
          <a:bodyPr wrap="square" lIns="0" tIns="0" rIns="0" bIns="0" rtlCol="0" anchor="t"/>
          <a:lstStyle/>
          <a:p>
            <a:pPr indent="0" marL="0">
              <a:buNone/>
            </a:pPr>
            <a:r>
              <a:rPr lang="en-US" sz="2200" b="1" dirty="0">
                <a:solidFill>
                  <a:srgbClr val="8A6A3B"/>
                </a:solidFill>
                <a:latin typeface="Cambria" pitchFamily="34" charset="0"/>
                <a:ea typeface="Cambria" pitchFamily="34" charset="-122"/>
                <a:cs typeface="Cambria" pitchFamily="34" charset="-120"/>
              </a:rPr>
              <a:t>71%</a:t>
            </a:r>
            <a:endParaRPr lang="en-US" sz="2200" dirty="0"/>
          </a:p>
        </p:txBody>
      </p:sp>
      <p:sp>
        <p:nvSpPr>
          <p:cNvPr id="14" name="Text 12"/>
          <p:cNvSpPr txBox="1"/>
          <p:nvPr/>
        </p:nvSpPr>
        <p:spPr>
          <a:xfrm>
            <a:off x="7132320" y="2029968"/>
            <a:ext cx="2048256" cy="457200"/>
          </a:xfrm>
          <a:prstGeom prst="rect">
            <a:avLst/>
          </a:prstGeom>
          <a:noFill/>
          <a:ln/>
        </p:spPr>
        <p:txBody>
          <a:bodyPr wrap="square" lIns="0" tIns="0" rIns="0" bIns="0" rtlCol="0" anchor="t"/>
          <a:lstStyle/>
          <a:p>
            <a:pPr indent="0" marL="0">
              <a:buNone/>
            </a:pPr>
            <a:r>
              <a:rPr lang="en-US" sz="950" dirty="0">
                <a:solidFill>
                  <a:srgbClr val="22303C"/>
                </a:solidFill>
                <a:latin typeface="Calibri" pitchFamily="34" charset="0"/>
                <a:ea typeface="Calibri" pitchFamily="34" charset="-122"/>
                <a:cs typeface="Calibri" pitchFamily="34" charset="-120"/>
              </a:rPr>
              <a:t>GPU busy at 8 pipelines per GPU (12% at one)</a:t>
            </a:r>
            <a:endParaRPr lang="en-US" sz="950" dirty="0"/>
          </a:p>
        </p:txBody>
      </p:sp>
      <p:sp>
        <p:nvSpPr>
          <p:cNvPr id="15" name="Text 13"/>
          <p:cNvSpPr txBox="1"/>
          <p:nvPr/>
        </p:nvSpPr>
        <p:spPr>
          <a:xfrm>
            <a:off x="9308592" y="1645920"/>
            <a:ext cx="2048256" cy="384048"/>
          </a:xfrm>
          <a:prstGeom prst="rect">
            <a:avLst/>
          </a:prstGeom>
          <a:noFill/>
          <a:ln/>
        </p:spPr>
        <p:txBody>
          <a:bodyPr wrap="square" lIns="0" tIns="0" rIns="0" bIns="0" rtlCol="0" anchor="t"/>
          <a:lstStyle/>
          <a:p>
            <a:pPr indent="0" marL="0">
              <a:buNone/>
            </a:pPr>
            <a:r>
              <a:rPr lang="en-US" sz="2200" b="1" dirty="0">
                <a:solidFill>
                  <a:srgbClr val="8A6A3B"/>
                </a:solidFill>
                <a:latin typeface="Cambria" pitchFamily="34" charset="0"/>
                <a:ea typeface="Cambria" pitchFamily="34" charset="-122"/>
                <a:cs typeface="Cambria" pitchFamily="34" charset="-120"/>
              </a:rPr>
              <a:t>0.053</a:t>
            </a:r>
            <a:endParaRPr lang="en-US" sz="2200" dirty="0"/>
          </a:p>
        </p:txBody>
      </p:sp>
      <p:sp>
        <p:nvSpPr>
          <p:cNvPr id="16" name="Text 14"/>
          <p:cNvSpPr txBox="1"/>
          <p:nvPr/>
        </p:nvSpPr>
        <p:spPr>
          <a:xfrm>
            <a:off x="9308592" y="2029968"/>
            <a:ext cx="2048256" cy="457200"/>
          </a:xfrm>
          <a:prstGeom prst="rect">
            <a:avLst/>
          </a:prstGeom>
          <a:noFill/>
          <a:ln/>
        </p:spPr>
        <p:txBody>
          <a:bodyPr wrap="square" lIns="0" tIns="0" rIns="0" bIns="0" rtlCol="0" anchor="t"/>
          <a:lstStyle/>
          <a:p>
            <a:pPr indent="0" marL="0">
              <a:buNone/>
            </a:pPr>
            <a:r>
              <a:rPr lang="en-US" sz="950" dirty="0">
                <a:solidFill>
                  <a:srgbClr val="22303C"/>
                </a:solidFill>
                <a:latin typeface="Calibri" pitchFamily="34" charset="0"/>
                <a:ea typeface="Calibri" pitchFamily="34" charset="-122"/>
                <a:cs typeface="Calibri" pitchFamily="34" charset="-120"/>
              </a:rPr>
              <a:t>GPU-h per passing fold (from 0.159)</a:t>
            </a:r>
            <a:endParaRPr lang="en-US" sz="950" dirty="0"/>
          </a:p>
        </p:txBody>
      </p:sp>
      <p:sp>
        <p:nvSpPr>
          <p:cNvPr id="17" name="Text 15"/>
          <p:cNvSpPr txBox="1"/>
          <p:nvPr/>
        </p:nvSpPr>
        <p:spPr>
          <a:xfrm>
            <a:off x="603504" y="2359152"/>
            <a:ext cx="10972800" cy="420624"/>
          </a:xfrm>
          <a:prstGeom prst="rect">
            <a:avLst/>
          </a:prstGeom>
          <a:noFill/>
          <a:ln/>
        </p:spPr>
        <p:txBody>
          <a:bodyPr wrap="square" lIns="0" tIns="0" rIns="0" bIns="0" rtlCol="0" anchor="t"/>
          <a:lstStyle/>
          <a:p>
            <a:pPr indent="0" marL="0">
              <a:buNone/>
            </a:pPr>
            <a:r>
              <a:rPr lang="en-US" sz="1000" b="1" dirty="0">
                <a:solidFill>
                  <a:srgbClr val="22303C"/>
                </a:solidFill>
                <a:latin typeface="Calibri" pitchFamily="34" charset="0"/>
                <a:ea typeface="Calibri" pitchFamily="34" charset="-122"/>
                <a:cs typeface="Calibri" pitchFamily="34" charset="-120"/>
              </a:rPr>
              <a:t>Its orchestration is not the overhead either: </a:t>
            </a:r>
            <a:pPr indent="0" marL="0">
              <a:buNone/>
            </a:pPr>
            <a:r>
              <a:rPr lang="en-US" sz="1000" dirty="0">
                <a:solidFill>
                  <a:srgbClr val="22303C"/>
                </a:solidFill>
                <a:latin typeface="Calibri" pitchFamily="34" charset="0"/>
                <a:ea typeface="Calibri" pitchFamily="34" charset="-122"/>
                <a:cs typeface="Calibri" pitchFamily="34" charset="-120"/>
              </a:rPr>
              <a:t>the adaptive callback is 0%–2% of the manager's wall clock and backend dispatch has a median of 0.001s, and its pipelines are busy 96%–98% of the time.</a:t>
            </a:r>
            <a:endParaRPr lang="en-US" sz="1000" dirty="0"/>
          </a:p>
        </p:txBody>
      </p:sp>
      <p:sp>
        <p:nvSpPr>
          <p:cNvPr id="18" name="Text 16"/>
          <p:cNvSpPr txBox="1"/>
          <p:nvPr/>
        </p:nvSpPr>
        <p:spPr>
          <a:xfrm>
            <a:off x="457200" y="2944368"/>
            <a:ext cx="11274552" cy="237744"/>
          </a:xfrm>
          <a:prstGeom prst="rect">
            <a:avLst/>
          </a:prstGeom>
          <a:noFill/>
          <a:ln/>
        </p:spPr>
        <p:txBody>
          <a:bodyPr wrap="square" lIns="0" tIns="0" rIns="0" bIns="0" rtlCol="0" anchor="t"/>
          <a:lstStyle/>
          <a:p>
            <a:pPr indent="0" marL="0">
              <a:buNone/>
            </a:pPr>
            <a:r>
              <a:rPr lang="en-US" sz="1200" b="1" dirty="0">
                <a:solidFill>
                  <a:srgbClr val="16222B"/>
                </a:solidFill>
                <a:latin typeface="Calibri" pitchFamily="34" charset="0"/>
                <a:ea typeface="Calibri" pitchFamily="34" charset="-122"/>
                <a:cs typeface="Calibri" pitchFamily="34" charset="-120"/>
              </a:rPr>
              <a:t>And what it costs to change it: </a:t>
            </a:r>
            <a:pPr indent="0" marL="0">
              <a:buNone/>
            </a:pPr>
            <a:r>
              <a:rPr lang="en-US" sz="1200" dirty="0">
                <a:solidFill>
                  <a:srgbClr val="22303C"/>
                </a:solidFill>
                <a:latin typeface="Calibri" pitchFamily="34" charset="0"/>
                <a:ea typeface="Calibri" pitchFamily="34" charset="-122"/>
                <a:cs typeface="Calibri" pitchFamily="34" charset="-120"/>
              </a:rPr>
              <a:t>one use case is a 1,450-line pipeline class plus a 574-line runner; its non-adaptive variant is 102 lines.</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3255264"/>
          <a:ext cx="11274552" cy="914400"/>
        </p:xfrm>
        <a:graphic>
          <a:graphicData uri="http://schemas.openxmlformats.org/drawingml/2006/table">
            <a:tbl>
              <a:tblPr/>
              <a:tblGrid>
                <a:gridCol w="2286000"/>
                <a:gridCol w="6720840"/>
                <a:gridCol w="2267712"/>
              </a:tblGrid>
              <a:tr h="23774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where the pipeline's shape lives</a:t>
                      </a:r>
                      <a:endParaRPr lang="en-US" sz="110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8A6A3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is actually written down</a:t>
                      </a:r>
                      <a:endParaRPr lang="en-US" sz="110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8A6A3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file</a:t>
                      </a:r>
                      <a:endParaRPr lang="en-US" sz="110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8A6A3B"/>
                    </a:solidFill>
                  </a:tcPr>
                </a:tc>
              </a:tr>
              <a:tr h="256032">
                <a:tc>
                  <a:txBody>
                    <a:bodyPr/>
                    <a:lstStyle/>
                    <a:p>
                      <a:pPr algn="l" indent="0" marL="0">
                        <a:buNone/>
                      </a:pPr>
                      <a:r>
                        <a:rPr lang="en-US" sz="1000" b="1" dirty="0">
                          <a:solidFill>
                            <a:srgbClr val="22303C"/>
                          </a:solidFill>
                          <a:latin typeface="Calibri" pitchFamily="34" charset="0"/>
                          <a:ea typeface="Calibri" pitchFamily="34" charset="-122"/>
                          <a:cs typeface="Calibri" pitchFamily="34" charset="-120"/>
                        </a:rPr>
                        <a:t>the stage graph</a:t>
                      </a:r>
                      <a:endParaRPr lang="en-US" sz="100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19 next_step assignments in one 220-line decision function, over 7 STEP_ constants</a:t>
                      </a:r>
                      <a:endParaRPr lang="en-US" sz="100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750" dirty="0">
                          <a:solidFill>
                            <a:srgbClr val="5E6B75"/>
                          </a:solidFill>
                          <a:latin typeface="Consolas" pitchFamily="34" charset="0"/>
                          <a:ea typeface="Consolas" pitchFamily="34" charset="-122"/>
                          <a:cs typeface="Consolas" pitchFamily="34" charset="-120"/>
                        </a:rPr>
                        <a:t>run_small_molecule_binding.py:210</a:t>
                      </a:r>
                      <a:endParaRPr lang="en-US" sz="750" dirty="0">
                        <a:latin typeface="Consolas" charset="0"/>
                        <a:ea typeface="Consolas" charset="0"/>
                        <a:cs typeface="Consolas"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256032">
                <a:tc>
                  <a:txBody>
                    <a:bodyPr/>
                    <a:lstStyle/>
                    <a:p>
                      <a:pPr algn="l" indent="0" marL="0">
                        <a:buNone/>
                      </a:pPr>
                      <a:r>
                        <a:rPr lang="en-US" sz="1000" b="1" dirty="0">
                          <a:solidFill>
                            <a:srgbClr val="22303C"/>
                          </a:solidFill>
                          <a:latin typeface="Calibri" pitchFamily="34" charset="0"/>
                          <a:ea typeface="Calibri" pitchFamily="34" charset="-122"/>
                          <a:cs typeface="Calibri" pitchFamily="34" charset="-120"/>
                        </a:rPr>
                        <a:t>the thresholds</a:t>
                      </a:r>
                      <a:endParaRPr lang="en-US" sz="100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a PROD dataclass in the runner — fa_rep &lt; 100, total_score &lt; -250, interaction_energy &lt; -8</a:t>
                      </a:r>
                      <a:endParaRPr lang="en-US" sz="100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750" dirty="0">
                          <a:solidFill>
                            <a:srgbClr val="5E6B75"/>
                          </a:solidFill>
                          <a:latin typeface="Consolas" pitchFamily="34" charset="0"/>
                          <a:ea typeface="Consolas" pitchFamily="34" charset="-122"/>
                          <a:cs typeface="Consolas" pitchFamily="34" charset="-120"/>
                        </a:rPr>
                        <a:t>…:63</a:t>
                      </a:r>
                      <a:endParaRPr lang="en-US" sz="750" dirty="0">
                        <a:latin typeface="Consolas" charset="0"/>
                        <a:ea typeface="Consolas" charset="0"/>
                        <a:cs typeface="Consolas"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256032">
                <a:tc>
                  <a:txBody>
                    <a:bodyPr/>
                    <a:lstStyle/>
                    <a:p>
                      <a:pPr algn="l" indent="0" marL="0">
                        <a:buNone/>
                      </a:pPr>
                      <a:r>
                        <a:rPr lang="en-US" sz="1000" b="1" dirty="0">
                          <a:solidFill>
                            <a:srgbClr val="22303C"/>
                          </a:solidFill>
                          <a:latin typeface="Calibri" pitchFamily="34" charset="0"/>
                          <a:ea typeface="Calibri" pitchFamily="34" charset="-122"/>
                          <a:cs typeface="Calibri" pitchFamily="34" charset="-120"/>
                        </a:rPr>
                        <a:t>the QC verdict</a:t>
                      </a:r>
                      <a:endParaRPr lang="en-US" sz="100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computed inside the coroutine that parses the output, then read back out of pipeline.state</a:t>
                      </a:r>
                      <a:endParaRPr lang="en-US" sz="100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750" dirty="0">
                          <a:solidFill>
                            <a:srgbClr val="5E6B75"/>
                          </a:solidFill>
                          <a:latin typeface="Consolas" pitchFamily="34" charset="0"/>
                          <a:ea typeface="Consolas" pitchFamily="34" charset="-122"/>
                          <a:cs typeface="Consolas" pitchFamily="34" charset="-120"/>
                        </a:rPr>
                        <a:t>small_molecule_binding.py:1154</a:t>
                      </a:r>
                      <a:endParaRPr lang="en-US" sz="750" dirty="0">
                        <a:latin typeface="Consolas" charset="0"/>
                        <a:ea typeface="Consolas" charset="0"/>
                        <a:cs typeface="Consolas"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256032">
                <a:tc>
                  <a:txBody>
                    <a:bodyPr/>
                    <a:lstStyle/>
                    <a:p>
                      <a:pPr algn="l" indent="0" marL="0">
                        <a:buNone/>
                      </a:pPr>
                      <a:r>
                        <a:rPr lang="en-US" sz="1000" b="1" dirty="0">
                          <a:solidFill>
                            <a:srgbClr val="22303C"/>
                          </a:solidFill>
                          <a:latin typeface="Calibri" pitchFamily="34" charset="0"/>
                          <a:ea typeface="Calibri" pitchFamily="34" charset="-122"/>
                          <a:cs typeface="Calibri" pitchFamily="34" charset="-120"/>
                        </a:rPr>
                        <a:t>the adaptive hook</a:t>
                      </a:r>
                      <a:endParaRPr lang="en-US" sz="100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a plain Python closure with full object access, defined in the runner script</a:t>
                      </a:r>
                      <a:endParaRPr lang="en-US" sz="100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750" dirty="0">
                          <a:solidFill>
                            <a:srgbClr val="5E6B75"/>
                          </a:solidFill>
                          <a:latin typeface="Consolas" pitchFamily="34" charset="0"/>
                          <a:ea typeface="Consolas" pitchFamily="34" charset="-122"/>
                          <a:cs typeface="Consolas" pitchFamily="34" charset="-120"/>
                        </a:rPr>
                        <a:t>briefs/impress.md:112</a:t>
                      </a:r>
                      <a:endParaRPr lang="en-US" sz="750" dirty="0">
                        <a:latin typeface="Consolas" charset="0"/>
                        <a:ea typeface="Consolas" charset="0"/>
                        <a:cs typeface="Consolas"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bl>
          </a:graphicData>
        </a:graphic>
      </p:graphicFrame>
      <p:sp>
        <p:nvSpPr>
          <p:cNvPr id="20" name="Shape 17"/>
          <p:cNvSpPr/>
          <p:nvPr/>
        </p:nvSpPr>
        <p:spPr>
          <a:xfrm>
            <a:off x="457200" y="4846320"/>
            <a:ext cx="5559552" cy="1078992"/>
          </a:xfrm>
          <a:prstGeom prst="rect">
            <a:avLst/>
          </a:prstGeom>
          <a:solidFill>
            <a:srgbClr val="F5EEE2"/>
          </a:solidFill>
          <a:ln w="12700">
            <a:solidFill>
              <a:srgbClr val="F5EEE2"/>
            </a:solidFill>
            <a:prstDash val="solid"/>
          </a:ln>
        </p:spPr>
      </p:sp>
      <p:sp>
        <p:nvSpPr>
          <p:cNvPr id="21" name="Text 18"/>
          <p:cNvSpPr txBox="1"/>
          <p:nvPr/>
        </p:nvSpPr>
        <p:spPr>
          <a:xfrm>
            <a:off x="585216" y="4928616"/>
            <a:ext cx="5303520" cy="274320"/>
          </a:xfrm>
          <a:prstGeom prst="rect">
            <a:avLst/>
          </a:prstGeom>
          <a:noFill/>
          <a:ln/>
        </p:spPr>
        <p:txBody>
          <a:bodyPr wrap="square" lIns="0" tIns="0" rIns="0" bIns="0" rtlCol="0" anchor="t"/>
          <a:lstStyle/>
          <a:p>
            <a:pPr indent="0" marL="0">
              <a:buNone/>
            </a:pPr>
            <a:r>
              <a:rPr lang="en-US" sz="1150" b="1" dirty="0">
                <a:solidFill>
                  <a:srgbClr val="8A6A3B"/>
                </a:solidFill>
                <a:latin typeface="Calibri" pitchFamily="34" charset="0"/>
                <a:ea typeface="Calibri" pitchFamily="34" charset="-122"/>
                <a:cs typeface="Calibri" pitchFamily="34" charset="-120"/>
              </a:rPr>
              <a:t>Its adaptivity is a re-sampler, not a ratchet</a:t>
            </a:r>
            <a:endParaRPr lang="en-US" sz="1150" dirty="0"/>
          </a:p>
        </p:txBody>
      </p:sp>
      <p:sp>
        <p:nvSpPr>
          <p:cNvPr id="22" name="Text 19"/>
          <p:cNvSpPr txBox="1"/>
          <p:nvPr/>
        </p:nvSpPr>
        <p:spPr>
          <a:xfrm>
            <a:off x="585216" y="5239512"/>
            <a:ext cx="5303520" cy="603504"/>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2303C"/>
                </a:solidFill>
                <a:latin typeface="Calibri" pitchFamily="34" charset="0"/>
                <a:ea typeface="Calibri" pitchFamily="34" charset="-122"/>
                <a:cs typeface="Calibri" pitchFamily="34" charset="-120"/>
              </a:rPr>
              <a:t>A guided child against its OWN parent fold: ΔpLDDT +0.011, better in 51% of 602 pairs, p = 0.85. Depth plateaus by the middle third (90.7 → 95.2 → 95). Still worth having: 8.1 tasks per fold against 34.8 from scratch.</a:t>
            </a:r>
            <a:endParaRPr lang="en-US" sz="950" dirty="0"/>
          </a:p>
        </p:txBody>
      </p:sp>
      <p:sp>
        <p:nvSpPr>
          <p:cNvPr id="23" name="Shape 20"/>
          <p:cNvSpPr/>
          <p:nvPr/>
        </p:nvSpPr>
        <p:spPr>
          <a:xfrm>
            <a:off x="6172200" y="4846320"/>
            <a:ext cx="5559552" cy="1078992"/>
          </a:xfrm>
          <a:prstGeom prst="rect">
            <a:avLst/>
          </a:prstGeom>
          <a:solidFill>
            <a:srgbClr val="F5EEE2"/>
          </a:solidFill>
          <a:ln w="12700">
            <a:solidFill>
              <a:srgbClr val="F5EEE2"/>
            </a:solidFill>
            <a:prstDash val="solid"/>
          </a:ln>
        </p:spPr>
      </p:sp>
      <p:sp>
        <p:nvSpPr>
          <p:cNvPr id="24" name="Text 21"/>
          <p:cNvSpPr txBox="1"/>
          <p:nvPr/>
        </p:nvSpPr>
        <p:spPr>
          <a:xfrm>
            <a:off x="6300216" y="4928616"/>
            <a:ext cx="5303520" cy="274320"/>
          </a:xfrm>
          <a:prstGeom prst="rect">
            <a:avLst/>
          </a:prstGeom>
          <a:noFill/>
          <a:ln/>
        </p:spPr>
        <p:txBody>
          <a:bodyPr wrap="square" lIns="0" tIns="0" rIns="0" bIns="0" rtlCol="0" anchor="t"/>
          <a:lstStyle/>
          <a:p>
            <a:pPr indent="0" marL="0">
              <a:buNone/>
            </a:pPr>
            <a:r>
              <a:rPr lang="en-US" sz="1150" b="1" dirty="0">
                <a:solidFill>
                  <a:srgbClr val="8A6A3B"/>
                </a:solidFill>
                <a:latin typeface="Calibri" pitchFamily="34" charset="0"/>
                <a:ea typeface="Calibri" pitchFamily="34" charset="-122"/>
                <a:cs typeface="Calibri" pitchFamily="34" charset="-120"/>
              </a:rPr>
              <a:t>And its yield needs a novelty haircut</a:t>
            </a:r>
            <a:endParaRPr lang="en-US" sz="1150" dirty="0"/>
          </a:p>
        </p:txBody>
      </p:sp>
      <p:sp>
        <p:nvSpPr>
          <p:cNvPr id="25" name="Text 22"/>
          <p:cNvSpPr txBox="1"/>
          <p:nvPr/>
        </p:nvSpPr>
        <p:spPr>
          <a:xfrm>
            <a:off x="6300216" y="5239512"/>
            <a:ext cx="5303520" cy="603504"/>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2303C"/>
                </a:solidFill>
                <a:latin typeface="Calibri" pitchFamily="34" charset="0"/>
                <a:ea typeface="Calibri" pitchFamily="34" charset="-122"/>
                <a:cs typeface="Calibri" pitchFamily="34" charset="-120"/>
              </a:rPr>
              <a:t>804 passing folds are 596 clusters at ≥90% identity — 1.3 folds each. Between different pipelines, median identity 0.11. Width buys independent searches; depth refines one. That is the argument for lineages and a front, and act 2 says what we have run.</a:t>
            </a:r>
            <a:endParaRPr lang="en-US" sz="950" dirty="0"/>
          </a:p>
        </p:txBody>
      </p:sp>
      <p:sp>
        <p:nvSpPr>
          <p:cNvPr id="26" name="Text 23"/>
          <p:cNvSpPr txBox="1"/>
          <p:nvPr/>
        </p:nvSpPr>
        <p:spPr>
          <a:xfrm>
            <a:off x="457200" y="6053328"/>
            <a:ext cx="11274552" cy="274320"/>
          </a:xfrm>
          <a:prstGeom prst="rect">
            <a:avLst/>
          </a:prstGeom>
          <a:noFill/>
          <a:ln/>
        </p:spPr>
        <p:txBody>
          <a:bodyPr wrap="square" lIns="0" tIns="0" rIns="0" bIns="0" rtlCol="0" anchor="t"/>
          <a:lstStyle/>
          <a:p>
            <a:pPr indent="0" marL="0">
              <a:buNone/>
            </a:pPr>
            <a:r>
              <a:rPr lang="en-US" sz="1150" b="1" dirty="0">
                <a:solidFill>
                  <a:srgbClr val="16222B"/>
                </a:solidFill>
                <a:latin typeface="Calibri" pitchFamily="34" charset="0"/>
                <a:ea typeface="Calibri" pitchFamily="34" charset="-122"/>
                <a:cs typeface="Calibri" pitchFamily="34" charset="-120"/>
              </a:rPr>
              <a:t>Said plainly, because it is owed: </a:t>
            </a:r>
            <a:pPr indent="0" marL="0">
              <a:buNone/>
            </a:pPr>
            <a:r>
              <a:rPr lang="en-US" sz="1150" dirty="0">
                <a:solidFill>
                  <a:srgbClr val="22303C"/>
                </a:solidFill>
                <a:latin typeface="Calibri" pitchFamily="34" charset="0"/>
                <a:ea typeface="Calibri" pitchFamily="34" charset="-122"/>
                <a:cs typeface="Calibri" pitchFamily="34" charset="-120"/>
              </a:rPr>
              <a:t>it paid for lessons we inherited for free, including the NVMe fix this project ported out of its PR #67. Nothing here divides its numbers by ours.</a:t>
            </a:r>
            <a:endParaRPr lang="en-US" sz="1150" dirty="0"/>
          </a:p>
        </p:txBody>
      </p:sp>
      <p:sp>
        <p:nvSpPr>
          <p:cNvPr id="27" name="Text 24"/>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source: IMPRESS small-molecule performance report (impress-smallmol-performance/report.md), over impress_runs_export_nvme_2026-10-08.tar.gz; structural counts mined from examples/small_molecule_binding in this repo at c163fe2.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HOW TO READ THIS DECK</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Three dimensions, and the one I have least evidence for</a:t>
            </a:r>
            <a:endParaRPr lang="en-US" sz="2800" dirty="0"/>
          </a:p>
        </p:txBody>
      </p:sp>
      <p:sp>
        <p:nvSpPr>
          <p:cNvPr id="4" name="Shape 2"/>
          <p:cNvSpPr/>
          <p:nvPr/>
        </p:nvSpPr>
        <p:spPr>
          <a:xfrm>
            <a:off x="457200" y="1371600"/>
            <a:ext cx="3657600" cy="384048"/>
          </a:xfrm>
          <a:prstGeom prst="rect">
            <a:avLst/>
          </a:prstGeom>
          <a:solidFill>
            <a:srgbClr val="2E7D5B"/>
          </a:solidFill>
          <a:ln w="12700">
            <a:solidFill>
              <a:srgbClr val="2E7D5B"/>
            </a:solidFill>
            <a:prstDash val="solid"/>
          </a:ln>
        </p:spPr>
      </p:sp>
      <p:sp>
        <p:nvSpPr>
          <p:cNvPr id="5" name="Text 3"/>
          <p:cNvSpPr txBox="1"/>
          <p:nvPr/>
        </p:nvSpPr>
        <p:spPr>
          <a:xfrm>
            <a:off x="585216" y="1371600"/>
            <a:ext cx="3401568" cy="384048"/>
          </a:xfrm>
          <a:prstGeom prst="rect">
            <a:avLst/>
          </a:prstGeom>
          <a:noFill/>
          <a:ln/>
        </p:spPr>
        <p:txBody>
          <a:bodyPr wrap="square" lIns="0" tIns="0" rIns="0" bIns="0" rtlCol="0" anchor="ctr"/>
          <a:lstStyle/>
          <a:p>
            <a:pPr indent="0" marL="0">
              <a:buNone/>
            </a:pPr>
            <a:r>
              <a:rPr lang="en-US" sz="1300" b="1" spc="100" kern="0" dirty="0">
                <a:solidFill>
                  <a:srgbClr val="FFFFFF"/>
                </a:solidFill>
                <a:latin typeface="Calibri" pitchFamily="34" charset="0"/>
                <a:ea typeface="Calibri" pitchFamily="34" charset="-122"/>
                <a:cs typeface="Calibri" pitchFamily="34" charset="-120"/>
              </a:rPr>
              <a:t>FUNCTIONALITY</a:t>
            </a:r>
            <a:endParaRPr lang="en-US" sz="1300" dirty="0"/>
          </a:p>
        </p:txBody>
      </p:sp>
      <p:sp>
        <p:nvSpPr>
          <p:cNvPr id="6" name="Shape 4"/>
          <p:cNvSpPr/>
          <p:nvPr/>
        </p:nvSpPr>
        <p:spPr>
          <a:xfrm>
            <a:off x="457200" y="1755648"/>
            <a:ext cx="3657600" cy="950976"/>
          </a:xfrm>
          <a:prstGeom prst="rect">
            <a:avLst/>
          </a:prstGeom>
          <a:solidFill>
            <a:srgbClr val="E4F1EA"/>
          </a:solidFill>
          <a:ln w="12700">
            <a:solidFill>
              <a:srgbClr val="E4F1EA"/>
            </a:solidFill>
            <a:prstDash val="solid"/>
          </a:ln>
        </p:spPr>
      </p:sp>
      <p:sp>
        <p:nvSpPr>
          <p:cNvPr id="7" name="Text 5"/>
          <p:cNvSpPr txBox="1"/>
          <p:nvPr/>
        </p:nvSpPr>
        <p:spPr>
          <a:xfrm>
            <a:off x="585216" y="1819656"/>
            <a:ext cx="3401568" cy="841248"/>
          </a:xfrm>
          <a:prstGeom prst="rect">
            <a:avLst/>
          </a:prstGeom>
          <a:noFill/>
          <a:ln/>
        </p:spPr>
        <p:txBody>
          <a:bodyPr wrap="square" lIns="0" tIns="0" rIns="0" bIns="0" rtlCol="0" anchor="t"/>
          <a:lstStyle/>
          <a:p>
            <a:pPr indent="0" marL="0">
              <a:buNone/>
            </a:pPr>
            <a:r>
              <a:rPr lang="en-US" sz="1050" dirty="0">
                <a:solidFill>
                  <a:srgbClr val="22303C"/>
                </a:solidFill>
                <a:latin typeface="Calibri" pitchFamily="34" charset="0"/>
                <a:ea typeface="Calibri" pitchFamily="34" charset="-122"/>
                <a:cs typeface="Calibri" pitchFamily="34" charset="-120"/>
              </a:rPr>
              <a:t>What specific tasks can you ask for that an adaptive pipeline cannot be asked? Not features — tasks, carried end to end with no human in the middle.</a:t>
            </a:r>
            <a:endParaRPr lang="en-US" sz="1050" dirty="0"/>
          </a:p>
        </p:txBody>
      </p:sp>
      <p:sp>
        <p:nvSpPr>
          <p:cNvPr id="8" name="Text 6"/>
          <p:cNvSpPr txBox="1"/>
          <p:nvPr/>
        </p:nvSpPr>
        <p:spPr>
          <a:xfrm>
            <a:off x="585216" y="2743200"/>
            <a:ext cx="3401568" cy="219456"/>
          </a:xfrm>
          <a:prstGeom prst="rect">
            <a:avLst/>
          </a:prstGeom>
          <a:noFill/>
          <a:ln/>
        </p:spPr>
        <p:txBody>
          <a:bodyPr wrap="square" lIns="0" tIns="0" rIns="0" bIns="0" rtlCol="0" anchor="t"/>
          <a:lstStyle/>
          <a:p>
            <a:pPr indent="0" marL="0">
              <a:buNone/>
            </a:pPr>
            <a:r>
              <a:rPr lang="en-US" sz="900" b="1" i="1" dirty="0">
                <a:solidFill>
                  <a:srgbClr val="2E7D5B"/>
                </a:solidFill>
                <a:latin typeface="Calibri" pitchFamily="34" charset="0"/>
                <a:ea typeface="Calibri" pitchFamily="34" charset="-122"/>
                <a:cs typeface="Calibri" pitchFamily="34" charset="-120"/>
              </a:rPr>
              <a:t>what it answers</a:t>
            </a:r>
            <a:endParaRPr lang="en-US" sz="900" dirty="0"/>
          </a:p>
        </p:txBody>
      </p:sp>
      <p:sp>
        <p:nvSpPr>
          <p:cNvPr id="9" name="Shape 7"/>
          <p:cNvSpPr/>
          <p:nvPr/>
        </p:nvSpPr>
        <p:spPr>
          <a:xfrm>
            <a:off x="457200" y="3017520"/>
            <a:ext cx="3657600" cy="658368"/>
          </a:xfrm>
          <a:prstGeom prst="rect">
            <a:avLst/>
          </a:prstGeom>
          <a:solidFill>
            <a:srgbClr val="EEF2F5"/>
          </a:solidFill>
          <a:ln w="12700">
            <a:solidFill>
              <a:srgbClr val="C9D1D8"/>
            </a:solidFill>
            <a:prstDash val="solid"/>
          </a:ln>
        </p:spPr>
      </p:sp>
      <p:sp>
        <p:nvSpPr>
          <p:cNvPr id="10" name="Text 8"/>
          <p:cNvSpPr txBox="1"/>
          <p:nvPr/>
        </p:nvSpPr>
        <p:spPr>
          <a:xfrm>
            <a:off x="566928" y="3054096"/>
            <a:ext cx="3438144" cy="274320"/>
          </a:xfrm>
          <a:prstGeom prst="rect">
            <a:avLst/>
          </a:prstGeom>
          <a:noFill/>
          <a:ln/>
        </p:spPr>
        <p:txBody>
          <a:bodyPr wrap="square" lIns="0" tIns="0" rIns="0" bIns="0" rtlCol="0" anchor="t"/>
          <a:lstStyle/>
          <a:p>
            <a:pPr indent="0" marL="0">
              <a:buNone/>
            </a:pPr>
            <a:r>
              <a:rPr lang="en-US" sz="1050" b="1" dirty="0">
                <a:solidFill>
                  <a:srgbClr val="16222B"/>
                </a:solidFill>
                <a:latin typeface="Calibri" pitchFamily="34" charset="0"/>
                <a:ea typeface="Calibri" pitchFamily="34" charset="-122"/>
                <a:cs typeface="Calibri" pitchFamily="34" charset="-120"/>
              </a:rPr>
              <a:t>Composed per cycle, not written down</a:t>
            </a:r>
            <a:endParaRPr lang="en-US" sz="1050" dirty="0"/>
          </a:p>
        </p:txBody>
      </p:sp>
      <p:sp>
        <p:nvSpPr>
          <p:cNvPr id="11" name="Text 9"/>
          <p:cNvSpPr txBox="1"/>
          <p:nvPr/>
        </p:nvSpPr>
        <p:spPr>
          <a:xfrm>
            <a:off x="566928" y="3328416"/>
            <a:ext cx="3438144" cy="310896"/>
          </a:xfrm>
          <a:prstGeom prst="rect">
            <a:avLst/>
          </a:prstGeom>
          <a:noFill/>
          <a:ln/>
        </p:spPr>
        <p:txBody>
          <a:bodyPr wrap="square" lIns="0" tIns="0" rIns="0" bIns="0" rtlCol="0" anchor="t"/>
          <a:lstStyle/>
          <a:p>
            <a:pPr indent="0" marL="0">
              <a:buNone/>
            </a:pPr>
            <a:r>
              <a:rPr lang="en-US" sz="950" dirty="0">
                <a:solidFill>
                  <a:srgbClr val="5E6B75"/>
                </a:solidFill>
                <a:latin typeface="Calibri" pitchFamily="34" charset="0"/>
                <a:ea typeface="Calibri" pitchFamily="34" charset="-122"/>
                <a:cs typeface="Calibri" pitchFamily="34" charset="-120"/>
              </a:rPr>
              <a:t>five gates and a dry-run before anything executes</a:t>
            </a:r>
            <a:endParaRPr lang="en-US" sz="950" dirty="0"/>
          </a:p>
        </p:txBody>
      </p:sp>
      <p:sp>
        <p:nvSpPr>
          <p:cNvPr id="12" name="Shape 10"/>
          <p:cNvSpPr/>
          <p:nvPr/>
        </p:nvSpPr>
        <p:spPr>
          <a:xfrm>
            <a:off x="457200" y="3730752"/>
            <a:ext cx="3657600" cy="658368"/>
          </a:xfrm>
          <a:prstGeom prst="rect">
            <a:avLst/>
          </a:prstGeom>
          <a:solidFill>
            <a:srgbClr val="FFFFFF"/>
          </a:solidFill>
          <a:ln w="12700">
            <a:solidFill>
              <a:srgbClr val="C9D1D8"/>
            </a:solidFill>
            <a:prstDash val="solid"/>
          </a:ln>
        </p:spPr>
      </p:sp>
      <p:sp>
        <p:nvSpPr>
          <p:cNvPr id="13" name="Text 11"/>
          <p:cNvSpPr txBox="1"/>
          <p:nvPr/>
        </p:nvSpPr>
        <p:spPr>
          <a:xfrm>
            <a:off x="566928" y="3767328"/>
            <a:ext cx="3438144" cy="274320"/>
          </a:xfrm>
          <a:prstGeom prst="rect">
            <a:avLst/>
          </a:prstGeom>
          <a:noFill/>
          <a:ln/>
        </p:spPr>
        <p:txBody>
          <a:bodyPr wrap="square" lIns="0" tIns="0" rIns="0" bIns="0" rtlCol="0" anchor="t"/>
          <a:lstStyle/>
          <a:p>
            <a:pPr indent="0" marL="0">
              <a:buNone/>
            </a:pPr>
            <a:r>
              <a:rPr lang="en-US" sz="1050" b="1" dirty="0">
                <a:solidFill>
                  <a:srgbClr val="16222B"/>
                </a:solidFill>
                <a:latin typeface="Calibri" pitchFamily="34" charset="0"/>
                <a:ea typeface="Calibri" pitchFamily="34" charset="-122"/>
                <a:cs typeface="Calibri" pitchFamily="34" charset="-120"/>
              </a:rPr>
              <a:t>11 tools, zero composer edits</a:t>
            </a:r>
            <a:endParaRPr lang="en-US" sz="1050" dirty="0"/>
          </a:p>
        </p:txBody>
      </p:sp>
      <p:sp>
        <p:nvSpPr>
          <p:cNvPr id="14" name="Text 12"/>
          <p:cNvSpPr txBox="1"/>
          <p:nvPr/>
        </p:nvSpPr>
        <p:spPr>
          <a:xfrm>
            <a:off x="566928" y="4041648"/>
            <a:ext cx="3438144" cy="310896"/>
          </a:xfrm>
          <a:prstGeom prst="rect">
            <a:avLst/>
          </a:prstGeom>
          <a:noFill/>
          <a:ln/>
        </p:spPr>
        <p:txBody>
          <a:bodyPr wrap="square" lIns="0" tIns="0" rIns="0" bIns="0" rtlCol="0" anchor="t"/>
          <a:lstStyle/>
          <a:p>
            <a:pPr indent="0" marL="0">
              <a:buNone/>
            </a:pPr>
            <a:r>
              <a:rPr lang="en-US" sz="950" dirty="0">
                <a:solidFill>
                  <a:srgbClr val="5E6B75"/>
                </a:solidFill>
                <a:latin typeface="Calibri" pitchFamily="34" charset="0"/>
                <a:ea typeface="Calibri" pitchFamily="34" charset="-122"/>
                <a:cs typeface="Calibri" pitchFamily="34" charset="-120"/>
              </a:rPr>
              <a:t>a tool is a spec.yaml, a task agent and mandatory gates</a:t>
            </a:r>
            <a:endParaRPr lang="en-US" sz="950" dirty="0"/>
          </a:p>
        </p:txBody>
      </p:sp>
      <p:sp>
        <p:nvSpPr>
          <p:cNvPr id="15" name="Shape 13"/>
          <p:cNvSpPr/>
          <p:nvPr/>
        </p:nvSpPr>
        <p:spPr>
          <a:xfrm>
            <a:off x="457200" y="4443984"/>
            <a:ext cx="3657600" cy="658368"/>
          </a:xfrm>
          <a:prstGeom prst="rect">
            <a:avLst/>
          </a:prstGeom>
          <a:solidFill>
            <a:srgbClr val="EEF2F5"/>
          </a:solidFill>
          <a:ln w="12700">
            <a:solidFill>
              <a:srgbClr val="C9D1D8"/>
            </a:solidFill>
            <a:prstDash val="solid"/>
          </a:ln>
        </p:spPr>
      </p:sp>
      <p:sp>
        <p:nvSpPr>
          <p:cNvPr id="16" name="Text 14"/>
          <p:cNvSpPr txBox="1"/>
          <p:nvPr/>
        </p:nvSpPr>
        <p:spPr>
          <a:xfrm>
            <a:off x="566928" y="4480560"/>
            <a:ext cx="3438144" cy="274320"/>
          </a:xfrm>
          <a:prstGeom prst="rect">
            <a:avLst/>
          </a:prstGeom>
          <a:noFill/>
          <a:ln/>
        </p:spPr>
        <p:txBody>
          <a:bodyPr wrap="square" lIns="0" tIns="0" rIns="0" bIns="0" rtlCol="0" anchor="t"/>
          <a:lstStyle/>
          <a:p>
            <a:pPr indent="0" marL="0">
              <a:buNone/>
            </a:pPr>
            <a:r>
              <a:rPr lang="en-US" sz="1050" b="1" dirty="0">
                <a:solidFill>
                  <a:srgbClr val="16222B"/>
                </a:solidFill>
                <a:latin typeface="Calibri" pitchFamily="34" charset="0"/>
                <a:ea typeface="Calibri" pitchFamily="34" charset="-122"/>
                <a:cs typeface="Calibri" pitchFamily="34" charset="-120"/>
              </a:rPr>
              <a:t>Four control models, one executor</a:t>
            </a:r>
            <a:endParaRPr lang="en-US" sz="1050" dirty="0"/>
          </a:p>
        </p:txBody>
      </p:sp>
      <p:sp>
        <p:nvSpPr>
          <p:cNvPr id="17" name="Text 15"/>
          <p:cNvSpPr txBox="1"/>
          <p:nvPr/>
        </p:nvSpPr>
        <p:spPr>
          <a:xfrm>
            <a:off x="566928" y="4754880"/>
            <a:ext cx="3438144" cy="310896"/>
          </a:xfrm>
          <a:prstGeom prst="rect">
            <a:avLst/>
          </a:prstGeom>
          <a:noFill/>
          <a:ln/>
        </p:spPr>
        <p:txBody>
          <a:bodyPr wrap="square" lIns="0" tIns="0" rIns="0" bIns="0" rtlCol="0" anchor="t"/>
          <a:lstStyle/>
          <a:p>
            <a:pPr indent="0" marL="0">
              <a:buNone/>
            </a:pPr>
            <a:r>
              <a:rPr lang="en-US" sz="950" dirty="0">
                <a:solidFill>
                  <a:srgbClr val="5E6B75"/>
                </a:solidFill>
                <a:latin typeface="Calibri" pitchFamily="34" charset="0"/>
                <a:ea typeface="Calibri" pitchFamily="34" charset="-122"/>
                <a:cs typeface="Calibri" pitchFamily="34" charset="-120"/>
              </a:rPr>
              <a:t>byte-identical below the policy layer, which is what makes them comparable</a:t>
            </a:r>
            <a:endParaRPr lang="en-US" sz="950" dirty="0"/>
          </a:p>
        </p:txBody>
      </p:sp>
      <p:sp>
        <p:nvSpPr>
          <p:cNvPr id="18" name="Shape 16"/>
          <p:cNvSpPr/>
          <p:nvPr/>
        </p:nvSpPr>
        <p:spPr>
          <a:xfrm>
            <a:off x="4370832" y="1371600"/>
            <a:ext cx="3657600" cy="384048"/>
          </a:xfrm>
          <a:prstGeom prst="rect">
            <a:avLst/>
          </a:prstGeom>
          <a:solidFill>
            <a:srgbClr val="1E6470"/>
          </a:solidFill>
          <a:ln w="12700">
            <a:solidFill>
              <a:srgbClr val="1E6470"/>
            </a:solidFill>
            <a:prstDash val="solid"/>
          </a:ln>
        </p:spPr>
      </p:sp>
      <p:sp>
        <p:nvSpPr>
          <p:cNvPr id="19" name="Text 17"/>
          <p:cNvSpPr txBox="1"/>
          <p:nvPr/>
        </p:nvSpPr>
        <p:spPr>
          <a:xfrm>
            <a:off x="4498848" y="1371600"/>
            <a:ext cx="3401568" cy="384048"/>
          </a:xfrm>
          <a:prstGeom prst="rect">
            <a:avLst/>
          </a:prstGeom>
          <a:noFill/>
          <a:ln/>
        </p:spPr>
        <p:txBody>
          <a:bodyPr wrap="square" lIns="0" tIns="0" rIns="0" bIns="0" rtlCol="0" anchor="ctr"/>
          <a:lstStyle/>
          <a:p>
            <a:pPr indent="0" marL="0">
              <a:buNone/>
            </a:pPr>
            <a:r>
              <a:rPr lang="en-US" sz="1300" b="1" spc="100" kern="0" dirty="0">
                <a:solidFill>
                  <a:srgbClr val="FFFFFF"/>
                </a:solidFill>
                <a:latin typeface="Calibri" pitchFamily="34" charset="0"/>
                <a:ea typeface="Calibri" pitchFamily="34" charset="-122"/>
                <a:cs typeface="Calibri" pitchFamily="34" charset="-120"/>
              </a:rPr>
              <a:t>PERFORMANCE</a:t>
            </a:r>
            <a:endParaRPr lang="en-US" sz="1300" dirty="0"/>
          </a:p>
        </p:txBody>
      </p:sp>
      <p:sp>
        <p:nvSpPr>
          <p:cNvPr id="20" name="Shape 18"/>
          <p:cNvSpPr/>
          <p:nvPr/>
        </p:nvSpPr>
        <p:spPr>
          <a:xfrm>
            <a:off x="4370832" y="1755648"/>
            <a:ext cx="3657600" cy="950976"/>
          </a:xfrm>
          <a:prstGeom prst="rect">
            <a:avLst/>
          </a:prstGeom>
          <a:solidFill>
            <a:srgbClr val="E3F0F1"/>
          </a:solidFill>
          <a:ln w="12700">
            <a:solidFill>
              <a:srgbClr val="E3F0F1"/>
            </a:solidFill>
            <a:prstDash val="solid"/>
          </a:ln>
        </p:spPr>
      </p:sp>
      <p:sp>
        <p:nvSpPr>
          <p:cNvPr id="21" name="Text 19"/>
          <p:cNvSpPr txBox="1"/>
          <p:nvPr/>
        </p:nvSpPr>
        <p:spPr>
          <a:xfrm>
            <a:off x="4498848" y="1819656"/>
            <a:ext cx="3401568" cy="841248"/>
          </a:xfrm>
          <a:prstGeom prst="rect">
            <a:avLst/>
          </a:prstGeom>
          <a:noFill/>
          <a:ln/>
        </p:spPr>
        <p:txBody>
          <a:bodyPr wrap="square" lIns="0" tIns="0" rIns="0" bIns="0" rtlCol="0" anchor="t"/>
          <a:lstStyle/>
          <a:p>
            <a:pPr indent="0" marL="0">
              <a:buNone/>
            </a:pPr>
            <a:r>
              <a:rPr lang="en-US" sz="1050" dirty="0">
                <a:solidFill>
                  <a:srgbClr val="22303C"/>
                </a:solidFill>
                <a:latin typeface="Calibri" pitchFamily="34" charset="0"/>
                <a:ea typeface="Calibri" pitchFamily="34" charset="-122"/>
                <a:cs typeface="Calibri" pitchFamily="34" charset="-120"/>
              </a:rPr>
              <a:t>What does composing, validating and scoring a graph cost — in wall clock, in hardware, and in scientific yield? Those three are not linear in each other.</a:t>
            </a:r>
            <a:endParaRPr lang="en-US" sz="1050" dirty="0"/>
          </a:p>
        </p:txBody>
      </p:sp>
      <p:sp>
        <p:nvSpPr>
          <p:cNvPr id="22" name="Text 20"/>
          <p:cNvSpPr txBox="1"/>
          <p:nvPr/>
        </p:nvSpPr>
        <p:spPr>
          <a:xfrm>
            <a:off x="4498848" y="2743200"/>
            <a:ext cx="3401568" cy="219456"/>
          </a:xfrm>
          <a:prstGeom prst="rect">
            <a:avLst/>
          </a:prstGeom>
          <a:noFill/>
          <a:ln/>
        </p:spPr>
        <p:txBody>
          <a:bodyPr wrap="square" lIns="0" tIns="0" rIns="0" bIns="0" rtlCol="0" anchor="t"/>
          <a:lstStyle/>
          <a:p>
            <a:pPr indent="0" marL="0">
              <a:buNone/>
            </a:pPr>
            <a:r>
              <a:rPr lang="en-US" sz="900" b="1" i="1" dirty="0">
                <a:solidFill>
                  <a:srgbClr val="1E6470"/>
                </a:solidFill>
                <a:latin typeface="Calibri" pitchFamily="34" charset="0"/>
                <a:ea typeface="Calibri" pitchFamily="34" charset="-122"/>
                <a:cs typeface="Calibri" pitchFamily="34" charset="-120"/>
              </a:rPr>
              <a:t>what it answers · and what it does not</a:t>
            </a:r>
            <a:endParaRPr lang="en-US" sz="900" dirty="0"/>
          </a:p>
        </p:txBody>
      </p:sp>
      <p:sp>
        <p:nvSpPr>
          <p:cNvPr id="23" name="Shape 21"/>
          <p:cNvSpPr/>
          <p:nvPr/>
        </p:nvSpPr>
        <p:spPr>
          <a:xfrm>
            <a:off x="4370832" y="3017520"/>
            <a:ext cx="3657600" cy="658368"/>
          </a:xfrm>
          <a:prstGeom prst="rect">
            <a:avLst/>
          </a:prstGeom>
          <a:solidFill>
            <a:srgbClr val="EEF2F5"/>
          </a:solidFill>
          <a:ln w="12700">
            <a:solidFill>
              <a:srgbClr val="C9D1D8"/>
            </a:solidFill>
            <a:prstDash val="solid"/>
          </a:ln>
        </p:spPr>
      </p:sp>
      <p:sp>
        <p:nvSpPr>
          <p:cNvPr id="24" name="Text 22"/>
          <p:cNvSpPr txBox="1"/>
          <p:nvPr/>
        </p:nvSpPr>
        <p:spPr>
          <a:xfrm>
            <a:off x="4480560" y="3054096"/>
            <a:ext cx="3438144" cy="274320"/>
          </a:xfrm>
          <a:prstGeom prst="rect">
            <a:avLst/>
          </a:prstGeom>
          <a:noFill/>
          <a:ln/>
        </p:spPr>
        <p:txBody>
          <a:bodyPr wrap="square" lIns="0" tIns="0" rIns="0" bIns="0" rtlCol="0" anchor="t"/>
          <a:lstStyle/>
          <a:p>
            <a:pPr indent="0" marL="0">
              <a:buNone/>
            </a:pPr>
            <a:r>
              <a:rPr lang="en-US" sz="1050" b="1" dirty="0">
                <a:solidFill>
                  <a:srgbClr val="16222B"/>
                </a:solidFill>
                <a:latin typeface="Calibri" pitchFamily="34" charset="0"/>
                <a:ea typeface="Calibri" pitchFamily="34" charset="-122"/>
                <a:cs typeface="Calibri" pitchFamily="34" charset="-120"/>
              </a:rPr>
              <a:t>Overhead 2.8s of a 159s run</a:t>
            </a:r>
            <a:endParaRPr lang="en-US" sz="1050" dirty="0"/>
          </a:p>
        </p:txBody>
      </p:sp>
      <p:sp>
        <p:nvSpPr>
          <p:cNvPr id="25" name="Text 23"/>
          <p:cNvSpPr txBox="1"/>
          <p:nvPr/>
        </p:nvSpPr>
        <p:spPr>
          <a:xfrm>
            <a:off x="4480560" y="3328416"/>
            <a:ext cx="3438144" cy="310896"/>
          </a:xfrm>
          <a:prstGeom prst="rect">
            <a:avLst/>
          </a:prstGeom>
          <a:noFill/>
          <a:ln/>
        </p:spPr>
        <p:txBody>
          <a:bodyPr wrap="square" lIns="0" tIns="0" rIns="0" bIns="0" rtlCol="0" anchor="t"/>
          <a:lstStyle/>
          <a:p>
            <a:pPr indent="0" marL="0">
              <a:buNone/>
            </a:pPr>
            <a:r>
              <a:rPr lang="en-US" sz="950" dirty="0">
                <a:solidFill>
                  <a:srgbClr val="5E6B75"/>
                </a:solidFill>
                <a:latin typeface="Calibri" pitchFamily="34" charset="0"/>
                <a:ea typeface="Calibri" pitchFamily="34" charset="-122"/>
                <a:cs typeface="Calibri" pitchFamily="34" charset="-120"/>
              </a:rPr>
              <a:t>and scrutiny itself costs 0.0s</a:t>
            </a:r>
            <a:endParaRPr lang="en-US" sz="950" dirty="0"/>
          </a:p>
        </p:txBody>
      </p:sp>
      <p:sp>
        <p:nvSpPr>
          <p:cNvPr id="26" name="Shape 24"/>
          <p:cNvSpPr/>
          <p:nvPr/>
        </p:nvSpPr>
        <p:spPr>
          <a:xfrm>
            <a:off x="4370832" y="3730752"/>
            <a:ext cx="3657600" cy="658368"/>
          </a:xfrm>
          <a:prstGeom prst="rect">
            <a:avLst/>
          </a:prstGeom>
          <a:solidFill>
            <a:srgbClr val="FFFFFF"/>
          </a:solidFill>
          <a:ln w="12700">
            <a:solidFill>
              <a:srgbClr val="C9D1D8"/>
            </a:solidFill>
            <a:prstDash val="solid"/>
          </a:ln>
        </p:spPr>
      </p:sp>
      <p:sp>
        <p:nvSpPr>
          <p:cNvPr id="27" name="Text 25"/>
          <p:cNvSpPr txBox="1"/>
          <p:nvPr/>
        </p:nvSpPr>
        <p:spPr>
          <a:xfrm>
            <a:off x="4480560" y="3767328"/>
            <a:ext cx="3438144" cy="274320"/>
          </a:xfrm>
          <a:prstGeom prst="rect">
            <a:avLst/>
          </a:prstGeom>
          <a:noFill/>
          <a:ln/>
        </p:spPr>
        <p:txBody>
          <a:bodyPr wrap="square" lIns="0" tIns="0" rIns="0" bIns="0" rtlCol="0" anchor="t"/>
          <a:lstStyle/>
          <a:p>
            <a:pPr indent="0" marL="0">
              <a:buNone/>
            </a:pPr>
            <a:r>
              <a:rPr lang="en-US" sz="1050" b="1" dirty="0">
                <a:solidFill>
                  <a:srgbClr val="16222B"/>
                </a:solidFill>
                <a:latin typeface="Calibri" pitchFamily="34" charset="0"/>
                <a:ea typeface="Calibri" pitchFamily="34" charset="-122"/>
                <a:cs typeface="Calibri" pitchFamily="34" charset="-120"/>
              </a:rPr>
              <a:t>GPU ≤17%, tasks 95% of elapsed</a:t>
            </a:r>
            <a:endParaRPr lang="en-US" sz="1050" dirty="0"/>
          </a:p>
        </p:txBody>
      </p:sp>
      <p:sp>
        <p:nvSpPr>
          <p:cNvPr id="28" name="Text 26"/>
          <p:cNvSpPr txBox="1"/>
          <p:nvPr/>
        </p:nvSpPr>
        <p:spPr>
          <a:xfrm>
            <a:off x="4480560" y="4041648"/>
            <a:ext cx="3438144" cy="310896"/>
          </a:xfrm>
          <a:prstGeom prst="rect">
            <a:avLst/>
          </a:prstGeom>
          <a:noFill/>
          <a:ln/>
        </p:spPr>
        <p:txBody>
          <a:bodyPr wrap="square" lIns="0" tIns="0" rIns="0" bIns="0" rtlCol="0" anchor="t"/>
          <a:lstStyle/>
          <a:p>
            <a:pPr indent="0" marL="0">
              <a:buNone/>
            </a:pPr>
            <a:r>
              <a:rPr lang="en-US" sz="950" dirty="0">
                <a:solidFill>
                  <a:srgbClr val="5E6B75"/>
                </a:solidFill>
                <a:latin typeface="Calibri" pitchFamily="34" charset="0"/>
                <a:ea typeface="Calibri" pitchFamily="34" charset="-122"/>
                <a:cs typeface="Calibri" pitchFamily="34" charset="-120"/>
              </a:rPr>
              <a:t>one GPU works, three idle — we have never packed one</a:t>
            </a:r>
            <a:endParaRPr lang="en-US" sz="950" dirty="0"/>
          </a:p>
        </p:txBody>
      </p:sp>
      <p:sp>
        <p:nvSpPr>
          <p:cNvPr id="29" name="Shape 27"/>
          <p:cNvSpPr/>
          <p:nvPr/>
        </p:nvSpPr>
        <p:spPr>
          <a:xfrm>
            <a:off x="4370832" y="4443984"/>
            <a:ext cx="3657600" cy="658368"/>
          </a:xfrm>
          <a:prstGeom prst="rect">
            <a:avLst/>
          </a:prstGeom>
          <a:solidFill>
            <a:srgbClr val="EEF2F5"/>
          </a:solidFill>
          <a:ln w="12700">
            <a:solidFill>
              <a:srgbClr val="C9D1D8"/>
            </a:solidFill>
            <a:prstDash val="solid"/>
          </a:ln>
        </p:spPr>
      </p:sp>
      <p:sp>
        <p:nvSpPr>
          <p:cNvPr id="30" name="Text 28"/>
          <p:cNvSpPr txBox="1"/>
          <p:nvPr/>
        </p:nvSpPr>
        <p:spPr>
          <a:xfrm>
            <a:off x="4480560" y="4480560"/>
            <a:ext cx="3438144" cy="274320"/>
          </a:xfrm>
          <a:prstGeom prst="rect">
            <a:avLst/>
          </a:prstGeom>
          <a:noFill/>
          <a:ln/>
        </p:spPr>
        <p:txBody>
          <a:bodyPr wrap="square" lIns="0" tIns="0" rIns="0" bIns="0" rtlCol="0" anchor="t"/>
          <a:lstStyle/>
          <a:p>
            <a:pPr indent="0" marL="0">
              <a:buNone/>
            </a:pPr>
            <a:r>
              <a:rPr lang="en-US" sz="1050" b="1" dirty="0">
                <a:solidFill>
                  <a:srgbClr val="16222B"/>
                </a:solidFill>
                <a:latin typeface="Calibri" pitchFamily="34" charset="0"/>
                <a:ea typeface="Calibri" pitchFamily="34" charset="-122"/>
                <a:cs typeface="Calibri" pitchFamily="34" charset="-120"/>
              </a:rPr>
              <a:t>17 designs in 5 seed groups</a:t>
            </a:r>
            <a:endParaRPr lang="en-US" sz="1050" dirty="0"/>
          </a:p>
        </p:txBody>
      </p:sp>
      <p:sp>
        <p:nvSpPr>
          <p:cNvPr id="31" name="Text 29"/>
          <p:cNvSpPr txBox="1"/>
          <p:nvPr/>
        </p:nvSpPr>
        <p:spPr>
          <a:xfrm>
            <a:off x="4480560" y="4754880"/>
            <a:ext cx="3438144" cy="310896"/>
          </a:xfrm>
          <a:prstGeom prst="rect">
            <a:avLst/>
          </a:prstGeom>
          <a:noFill/>
          <a:ln/>
        </p:spPr>
        <p:txBody>
          <a:bodyPr wrap="square" lIns="0" tIns="0" rIns="0" bIns="0" rtlCol="0" anchor="t"/>
          <a:lstStyle/>
          <a:p>
            <a:pPr indent="0" marL="0">
              <a:buNone/>
            </a:pPr>
            <a:r>
              <a:rPr lang="en-US" sz="950" dirty="0">
                <a:solidFill>
                  <a:srgbClr val="5E6B75"/>
                </a:solidFill>
                <a:latin typeface="Calibri" pitchFamily="34" charset="0"/>
                <a:ea typeface="Calibri" pitchFamily="34" charset="-122"/>
                <a:cs typeface="Calibri" pitchFamily="34" charset="-120"/>
              </a:rPr>
              <a:t>and no node has ever reached a plain pass</a:t>
            </a:r>
            <a:endParaRPr lang="en-US" sz="950" dirty="0"/>
          </a:p>
        </p:txBody>
      </p:sp>
      <p:sp>
        <p:nvSpPr>
          <p:cNvPr id="32" name="Shape 30"/>
          <p:cNvSpPr/>
          <p:nvPr/>
        </p:nvSpPr>
        <p:spPr>
          <a:xfrm>
            <a:off x="8284464" y="1371600"/>
            <a:ext cx="3657600" cy="384048"/>
          </a:xfrm>
          <a:prstGeom prst="rect">
            <a:avLst/>
          </a:prstGeom>
          <a:solidFill>
            <a:srgbClr val="7A4A8C"/>
          </a:solidFill>
          <a:ln w="12700">
            <a:solidFill>
              <a:srgbClr val="7A4A8C"/>
            </a:solidFill>
            <a:prstDash val="solid"/>
          </a:ln>
        </p:spPr>
      </p:sp>
      <p:sp>
        <p:nvSpPr>
          <p:cNvPr id="33" name="Text 31"/>
          <p:cNvSpPr txBox="1"/>
          <p:nvPr/>
        </p:nvSpPr>
        <p:spPr>
          <a:xfrm>
            <a:off x="8412480" y="1371600"/>
            <a:ext cx="3401568" cy="384048"/>
          </a:xfrm>
          <a:prstGeom prst="rect">
            <a:avLst/>
          </a:prstGeom>
          <a:noFill/>
          <a:ln/>
        </p:spPr>
        <p:txBody>
          <a:bodyPr wrap="square" lIns="0" tIns="0" rIns="0" bIns="0" rtlCol="0" anchor="ctr"/>
          <a:lstStyle/>
          <a:p>
            <a:pPr indent="0" marL="0">
              <a:buNone/>
            </a:pPr>
            <a:r>
              <a:rPr lang="en-US" sz="1300" b="1" spc="100" kern="0" dirty="0">
                <a:solidFill>
                  <a:srgbClr val="FFFFFF"/>
                </a:solidFill>
                <a:latin typeface="Calibri" pitchFamily="34" charset="0"/>
                <a:ea typeface="Calibri" pitchFamily="34" charset="-122"/>
                <a:cs typeface="Calibri" pitchFamily="34" charset="-120"/>
              </a:rPr>
              <a:t>USABILITY</a:t>
            </a:r>
            <a:endParaRPr lang="en-US" sz="1300" dirty="0"/>
          </a:p>
        </p:txBody>
      </p:sp>
      <p:sp>
        <p:nvSpPr>
          <p:cNvPr id="34" name="Shape 32"/>
          <p:cNvSpPr/>
          <p:nvPr/>
        </p:nvSpPr>
        <p:spPr>
          <a:xfrm>
            <a:off x="8284464" y="1755648"/>
            <a:ext cx="3657600" cy="950976"/>
          </a:xfrm>
          <a:prstGeom prst="rect">
            <a:avLst/>
          </a:prstGeom>
          <a:solidFill>
            <a:srgbClr val="F3EAF6"/>
          </a:solidFill>
          <a:ln w="12700">
            <a:solidFill>
              <a:srgbClr val="F3EAF6"/>
            </a:solidFill>
            <a:prstDash val="solid"/>
          </a:ln>
        </p:spPr>
      </p:sp>
      <p:sp>
        <p:nvSpPr>
          <p:cNvPr id="35" name="Text 33"/>
          <p:cNvSpPr txBox="1"/>
          <p:nvPr/>
        </p:nvSpPr>
        <p:spPr>
          <a:xfrm>
            <a:off x="8412480" y="1819656"/>
            <a:ext cx="3401568" cy="841248"/>
          </a:xfrm>
          <a:prstGeom prst="rect">
            <a:avLst/>
          </a:prstGeom>
          <a:noFill/>
          <a:ln/>
        </p:spPr>
        <p:txBody>
          <a:bodyPr wrap="square" lIns="0" tIns="0" rIns="0" bIns="0" rtlCol="0" anchor="t"/>
          <a:lstStyle/>
          <a:p>
            <a:pPr indent="0" marL="0">
              <a:buNone/>
            </a:pPr>
            <a:r>
              <a:rPr lang="en-US" sz="1050" dirty="0">
                <a:solidFill>
                  <a:srgbClr val="22303C"/>
                </a:solidFill>
                <a:latin typeface="Calibri" pitchFamily="34" charset="0"/>
                <a:ea typeface="Calibri" pitchFamily="34" charset="-122"/>
                <a:cs typeface="Calibri" pitchFamily="34" charset="-120"/>
              </a:rPr>
              <a:t>Not the interface — the use cases. Is this an application someone opens, a platform other people plug into, or a component something else drives?</a:t>
            </a:r>
            <a:endParaRPr lang="en-US" sz="1050" dirty="0"/>
          </a:p>
        </p:txBody>
      </p:sp>
      <p:sp>
        <p:nvSpPr>
          <p:cNvPr id="36" name="Text 34"/>
          <p:cNvSpPr txBox="1"/>
          <p:nvPr/>
        </p:nvSpPr>
        <p:spPr>
          <a:xfrm>
            <a:off x="8412480" y="2743200"/>
            <a:ext cx="3401568" cy="219456"/>
          </a:xfrm>
          <a:prstGeom prst="rect">
            <a:avLst/>
          </a:prstGeom>
          <a:noFill/>
          <a:ln/>
        </p:spPr>
        <p:txBody>
          <a:bodyPr wrap="square" lIns="0" tIns="0" rIns="0" bIns="0" rtlCol="0" anchor="t"/>
          <a:lstStyle/>
          <a:p>
            <a:pPr indent="0" marL="0">
              <a:buNone/>
            </a:pPr>
            <a:r>
              <a:rPr lang="en-US" sz="900" b="1" i="1" dirty="0">
                <a:solidFill>
                  <a:srgbClr val="7A4A8C"/>
                </a:solidFill>
                <a:latin typeface="Calibri" pitchFamily="34" charset="0"/>
                <a:ea typeface="Calibri" pitchFamily="34" charset="-122"/>
                <a:cs typeface="Calibri" pitchFamily="34" charset="-120"/>
              </a:rPr>
              <a:t>what it answers</a:t>
            </a:r>
            <a:endParaRPr lang="en-US" sz="900" dirty="0"/>
          </a:p>
        </p:txBody>
      </p:sp>
      <p:sp>
        <p:nvSpPr>
          <p:cNvPr id="37" name="Shape 35"/>
          <p:cNvSpPr/>
          <p:nvPr/>
        </p:nvSpPr>
        <p:spPr>
          <a:xfrm>
            <a:off x="8284464" y="3017520"/>
            <a:ext cx="3657600" cy="658368"/>
          </a:xfrm>
          <a:prstGeom prst="rect">
            <a:avLst/>
          </a:prstGeom>
          <a:solidFill>
            <a:srgbClr val="EEF2F5"/>
          </a:solidFill>
          <a:ln w="12700">
            <a:solidFill>
              <a:srgbClr val="C9D1D8"/>
            </a:solidFill>
            <a:prstDash val="solid"/>
          </a:ln>
        </p:spPr>
      </p:sp>
      <p:sp>
        <p:nvSpPr>
          <p:cNvPr id="38" name="Text 36"/>
          <p:cNvSpPr txBox="1"/>
          <p:nvPr/>
        </p:nvSpPr>
        <p:spPr>
          <a:xfrm>
            <a:off x="8394192" y="3054096"/>
            <a:ext cx="3438144" cy="274320"/>
          </a:xfrm>
          <a:prstGeom prst="rect">
            <a:avLst/>
          </a:prstGeom>
          <a:noFill/>
          <a:ln/>
        </p:spPr>
        <p:txBody>
          <a:bodyPr wrap="square" lIns="0" tIns="0" rIns="0" bIns="0" rtlCol="0" anchor="t"/>
          <a:lstStyle/>
          <a:p>
            <a:pPr indent="0" marL="0">
              <a:buNone/>
            </a:pPr>
            <a:r>
              <a:rPr lang="en-US" sz="1050" b="1" dirty="0">
                <a:solidFill>
                  <a:srgbClr val="16222B"/>
                </a:solidFill>
                <a:latin typeface="Calibri" pitchFamily="34" charset="0"/>
                <a:ea typeface="Calibri" pitchFamily="34" charset="-122"/>
                <a:cs typeface="Calibri" pitchFamily="34" charset="-120"/>
              </a:rPr>
              <a:t>As an application — yes</a:t>
            </a:r>
            <a:endParaRPr lang="en-US" sz="1050" dirty="0"/>
          </a:p>
        </p:txBody>
      </p:sp>
      <p:sp>
        <p:nvSpPr>
          <p:cNvPr id="39" name="Text 37"/>
          <p:cNvSpPr txBox="1"/>
          <p:nvPr/>
        </p:nvSpPr>
        <p:spPr>
          <a:xfrm>
            <a:off x="8394192" y="3328416"/>
            <a:ext cx="3438144" cy="310896"/>
          </a:xfrm>
          <a:prstGeom prst="rect">
            <a:avLst/>
          </a:prstGeom>
          <a:noFill/>
          <a:ln/>
        </p:spPr>
        <p:txBody>
          <a:bodyPr wrap="square" lIns="0" tIns="0" rIns="0" bIns="0" rtlCol="0" anchor="t"/>
          <a:lstStyle/>
          <a:p>
            <a:pPr indent="0" marL="0">
              <a:buNone/>
            </a:pPr>
            <a:r>
              <a:rPr lang="en-US" sz="950" dirty="0">
                <a:solidFill>
                  <a:srgbClr val="5E6B75"/>
                </a:solidFill>
                <a:latin typeface="Calibri" pitchFamily="34" charset="0"/>
                <a:ea typeface="Calibri" pitchFamily="34" charset="-122"/>
                <a:cs typeface="Calibri" pitchFamily="34" charset="-120"/>
              </a:rPr>
              <a:t>one YAML, one command, 168 tests with no allocation</a:t>
            </a:r>
            <a:endParaRPr lang="en-US" sz="950" dirty="0"/>
          </a:p>
        </p:txBody>
      </p:sp>
      <p:sp>
        <p:nvSpPr>
          <p:cNvPr id="40" name="Shape 38"/>
          <p:cNvSpPr/>
          <p:nvPr/>
        </p:nvSpPr>
        <p:spPr>
          <a:xfrm>
            <a:off x="8284464" y="3730752"/>
            <a:ext cx="3657600" cy="658368"/>
          </a:xfrm>
          <a:prstGeom prst="rect">
            <a:avLst/>
          </a:prstGeom>
          <a:solidFill>
            <a:srgbClr val="FFFFFF"/>
          </a:solidFill>
          <a:ln w="12700">
            <a:solidFill>
              <a:srgbClr val="C9D1D8"/>
            </a:solidFill>
            <a:prstDash val="solid"/>
          </a:ln>
        </p:spPr>
      </p:sp>
      <p:sp>
        <p:nvSpPr>
          <p:cNvPr id="41" name="Text 39"/>
          <p:cNvSpPr txBox="1"/>
          <p:nvPr/>
        </p:nvSpPr>
        <p:spPr>
          <a:xfrm>
            <a:off x="8394192" y="3767328"/>
            <a:ext cx="3438144" cy="274320"/>
          </a:xfrm>
          <a:prstGeom prst="rect">
            <a:avLst/>
          </a:prstGeom>
          <a:noFill/>
          <a:ln/>
        </p:spPr>
        <p:txBody>
          <a:bodyPr wrap="square" lIns="0" tIns="0" rIns="0" bIns="0" rtlCol="0" anchor="t"/>
          <a:lstStyle/>
          <a:p>
            <a:pPr indent="0" marL="0">
              <a:buNone/>
            </a:pPr>
            <a:r>
              <a:rPr lang="en-US" sz="1050" b="1" dirty="0">
                <a:solidFill>
                  <a:srgbClr val="16222B"/>
                </a:solidFill>
                <a:latin typeface="Calibri" pitchFamily="34" charset="0"/>
                <a:ea typeface="Calibri" pitchFamily="34" charset="-122"/>
                <a:cs typeface="Calibri" pitchFamily="34" charset="-120"/>
              </a:rPr>
              <a:t>As a platform — yes</a:t>
            </a:r>
            <a:endParaRPr lang="en-US" sz="1050" dirty="0"/>
          </a:p>
        </p:txBody>
      </p:sp>
      <p:sp>
        <p:nvSpPr>
          <p:cNvPr id="42" name="Text 40"/>
          <p:cNvSpPr txBox="1"/>
          <p:nvPr/>
        </p:nvSpPr>
        <p:spPr>
          <a:xfrm>
            <a:off x="8394192" y="4041648"/>
            <a:ext cx="3438144" cy="310896"/>
          </a:xfrm>
          <a:prstGeom prst="rect">
            <a:avLst/>
          </a:prstGeom>
          <a:noFill/>
          <a:ln/>
        </p:spPr>
        <p:txBody>
          <a:bodyPr wrap="square" lIns="0" tIns="0" rIns="0" bIns="0" rtlCol="0" anchor="t"/>
          <a:lstStyle/>
          <a:p>
            <a:pPr indent="0" marL="0">
              <a:buNone/>
            </a:pPr>
            <a:r>
              <a:rPr lang="en-US" sz="950" dirty="0">
                <a:solidFill>
                  <a:srgbClr val="5E6B75"/>
                </a:solidFill>
                <a:latin typeface="Calibri" pitchFamily="34" charset="0"/>
                <a:ea typeface="Calibri" pitchFamily="34" charset="-122"/>
                <a:cs typeface="Calibri" pitchFamily="34" charset="-120"/>
              </a:rPr>
              <a:t>runtime-discovered toolkits, and a control plane in two transports</a:t>
            </a:r>
            <a:endParaRPr lang="en-US" sz="950" dirty="0"/>
          </a:p>
        </p:txBody>
      </p:sp>
      <p:sp>
        <p:nvSpPr>
          <p:cNvPr id="43" name="Shape 41"/>
          <p:cNvSpPr/>
          <p:nvPr/>
        </p:nvSpPr>
        <p:spPr>
          <a:xfrm>
            <a:off x="8284464" y="4443984"/>
            <a:ext cx="3657600" cy="658368"/>
          </a:xfrm>
          <a:prstGeom prst="rect">
            <a:avLst/>
          </a:prstGeom>
          <a:solidFill>
            <a:srgbClr val="EEF2F5"/>
          </a:solidFill>
          <a:ln w="12700">
            <a:solidFill>
              <a:srgbClr val="C9D1D8"/>
            </a:solidFill>
            <a:prstDash val="solid"/>
          </a:ln>
        </p:spPr>
      </p:sp>
      <p:sp>
        <p:nvSpPr>
          <p:cNvPr id="44" name="Text 42"/>
          <p:cNvSpPr txBox="1"/>
          <p:nvPr/>
        </p:nvSpPr>
        <p:spPr>
          <a:xfrm>
            <a:off x="8394192" y="4480560"/>
            <a:ext cx="3438144" cy="274320"/>
          </a:xfrm>
          <a:prstGeom prst="rect">
            <a:avLst/>
          </a:prstGeom>
          <a:noFill/>
          <a:ln/>
        </p:spPr>
        <p:txBody>
          <a:bodyPr wrap="square" lIns="0" tIns="0" rIns="0" bIns="0" rtlCol="0" anchor="t"/>
          <a:lstStyle/>
          <a:p>
            <a:pPr indent="0" marL="0">
              <a:buNone/>
            </a:pPr>
            <a:r>
              <a:rPr lang="en-US" sz="1050" b="1" dirty="0">
                <a:solidFill>
                  <a:srgbClr val="16222B"/>
                </a:solidFill>
                <a:latin typeface="Calibri" pitchFamily="34" charset="0"/>
                <a:ea typeface="Calibri" pitchFamily="34" charset="-122"/>
                <a:cs typeface="Calibri" pitchFamily="34" charset="-120"/>
              </a:rPr>
              <a:t>As a component — no evidence</a:t>
            </a:r>
            <a:endParaRPr lang="en-US" sz="1050" dirty="0"/>
          </a:p>
        </p:txBody>
      </p:sp>
      <p:sp>
        <p:nvSpPr>
          <p:cNvPr id="45" name="Text 43"/>
          <p:cNvSpPr txBox="1"/>
          <p:nvPr/>
        </p:nvSpPr>
        <p:spPr>
          <a:xfrm>
            <a:off x="8394192" y="4754880"/>
            <a:ext cx="3438144" cy="310896"/>
          </a:xfrm>
          <a:prstGeom prst="rect">
            <a:avLst/>
          </a:prstGeom>
          <a:noFill/>
          <a:ln/>
        </p:spPr>
        <p:txBody>
          <a:bodyPr wrap="square" lIns="0" tIns="0" rIns="0" bIns="0" rtlCol="0" anchor="t"/>
          <a:lstStyle/>
          <a:p>
            <a:pPr indent="0" marL="0">
              <a:buNone/>
            </a:pPr>
            <a:r>
              <a:rPr lang="en-US" sz="950" dirty="0">
                <a:solidFill>
                  <a:srgbClr val="5E6B75"/>
                </a:solidFill>
                <a:latin typeface="Calibri" pitchFamily="34" charset="0"/>
                <a:ea typeface="Calibri" pitchFamily="34" charset="-122"/>
                <a:cs typeface="Calibri" pitchFamily="34" charset="-120"/>
              </a:rPr>
              <a:t>nothing else has ever driven it, and there is no resume</a:t>
            </a:r>
            <a:endParaRPr lang="en-US" sz="950" dirty="0"/>
          </a:p>
        </p:txBody>
      </p:sp>
      <p:sp>
        <p:nvSpPr>
          <p:cNvPr id="46" name="Shape 44"/>
          <p:cNvSpPr/>
          <p:nvPr/>
        </p:nvSpPr>
        <p:spPr>
          <a:xfrm>
            <a:off x="457200" y="5285232"/>
            <a:ext cx="11274552" cy="960120"/>
          </a:xfrm>
          <a:prstGeom prst="rect">
            <a:avLst/>
          </a:prstGeom>
          <a:solidFill>
            <a:srgbClr val="16222B"/>
          </a:solidFill>
          <a:ln w="12700">
            <a:solidFill>
              <a:srgbClr val="16222B"/>
            </a:solidFill>
            <a:prstDash val="solid"/>
          </a:ln>
        </p:spPr>
      </p:sp>
      <p:sp>
        <p:nvSpPr>
          <p:cNvPr id="47" name="Text 45"/>
          <p:cNvSpPr txBox="1"/>
          <p:nvPr/>
        </p:nvSpPr>
        <p:spPr>
          <a:xfrm>
            <a:off x="640080" y="5376672"/>
            <a:ext cx="10927080" cy="804672"/>
          </a:xfrm>
          <a:prstGeom prst="rect">
            <a:avLst/>
          </a:prstGeom>
          <a:noFill/>
          <a:ln/>
        </p:spPr>
        <p:txBody>
          <a:bodyPr wrap="square" lIns="0" tIns="0" rIns="0" bIns="0" rtlCol="0" anchor="t"/>
          <a:lstStyle/>
          <a:p>
            <a:pPr indent="0" marL="0">
              <a:buNone/>
            </a:pPr>
            <a:r>
              <a:rPr lang="en-US" sz="1250" b="1" dirty="0">
                <a:solidFill>
                  <a:srgbClr val="F09A8C"/>
                </a:solidFill>
                <a:latin typeface="Calibri" pitchFamily="34" charset="0"/>
                <a:ea typeface="Calibri" pitchFamily="34" charset="-122"/>
                <a:cs typeface="Calibri" pitchFamily="34" charset="-120"/>
              </a:rPr>
              <a:t>The weak column is the middle one, and specifically performance at scale.  </a:t>
            </a:r>
            <a:pPr indent="0" marL="0">
              <a:buNone/>
            </a:pPr>
            <a:r>
              <a:rPr lang="en-US" sz="1250" dirty="0">
                <a:solidFill>
                  <a:srgbClr val="DCE5EC"/>
                </a:solidFill>
                <a:latin typeface="Calibri" pitchFamily="34" charset="0"/>
                <a:ea typeface="Calibri" pitchFamily="34" charset="-122"/>
                <a:cs typeface="Calibri" pitchFamily="34" charset="-120"/>
              </a:rPr>
              <a:t>Every figure in it comes from one lineage on one GPU: 16 complete six-stage runs, all of them serial. On real tools replicas &gt; 1 has never executed — only against mocks — so the invariant that N lineages must produce N independent nodes is unexercised, and it is the one most likely to be silently wrong. There is no head-to-head against the reference pipeline and I am not going to construct one.</a:t>
            </a:r>
            <a:endParaRPr lang="en-US" sz="1250" dirty="0"/>
          </a:p>
        </p:txBody>
      </p:sp>
      <p:sp>
        <p:nvSpPr>
          <p:cNvPr id="48" name="Text 46"/>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Each dimension gets an act, in this order, and each act names its own weakest claim before it rather than after.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WHY IT LOOKS LIKE THIS</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Two facts set the whole design</a:t>
            </a:r>
            <a:endParaRPr lang="en-US" sz="2800" dirty="0"/>
          </a:p>
        </p:txBody>
      </p:sp>
      <p:sp>
        <p:nvSpPr>
          <p:cNvPr id="4" name="Shape 2"/>
          <p:cNvSpPr/>
          <p:nvPr/>
        </p:nvSpPr>
        <p:spPr>
          <a:xfrm>
            <a:off x="457200" y="1371600"/>
            <a:ext cx="11274552" cy="868680"/>
          </a:xfrm>
          <a:prstGeom prst="rect">
            <a:avLst/>
          </a:prstGeom>
          <a:solidFill>
            <a:srgbClr val="16222B"/>
          </a:solidFill>
          <a:ln w="12700">
            <a:solidFill>
              <a:srgbClr val="16222B"/>
            </a:solidFill>
            <a:prstDash val="solid"/>
          </a:ln>
        </p:spPr>
      </p:sp>
      <p:sp>
        <p:nvSpPr>
          <p:cNvPr id="5" name="Text 3"/>
          <p:cNvSpPr txBox="1"/>
          <p:nvPr/>
        </p:nvSpPr>
        <p:spPr>
          <a:xfrm>
            <a:off x="658368" y="1490472"/>
            <a:ext cx="10881360" cy="640080"/>
          </a:xfrm>
          <a:prstGeom prst="rect">
            <a:avLst/>
          </a:prstGeom>
          <a:noFill/>
          <a:ln/>
        </p:spPr>
        <p:txBody>
          <a:bodyPr wrap="square" lIns="0" tIns="0" rIns="0" bIns="0" rtlCol="0" anchor="ctr"/>
          <a:lstStyle/>
          <a:p>
            <a:pPr indent="0" marL="0">
              <a:buNone/>
            </a:pPr>
            <a:r>
              <a:rPr lang="en-US" sz="1650" b="1" dirty="0">
                <a:solidFill>
                  <a:srgbClr val="F0C898"/>
                </a:solidFill>
                <a:latin typeface="Calibri" pitchFamily="34" charset="0"/>
                <a:ea typeface="Calibri" pitchFamily="34" charset="-122"/>
                <a:cs typeface="Calibri" pitchFamily="34" charset="-120"/>
              </a:rPr>
              <a:t>A machine composes workflows nobody has reviewed — </a:t>
            </a:r>
            <a:pPr indent="0" marL="0">
              <a:buNone/>
            </a:pPr>
            <a:r>
              <a:rPr lang="en-US" sz="1650" dirty="0">
                <a:solidFill>
                  <a:srgbClr val="DCE5EC"/>
                </a:solidFill>
                <a:latin typeface="Calibri" pitchFamily="34" charset="0"/>
                <a:ea typeface="Calibri" pitchFamily="34" charset="-122"/>
                <a:cs typeface="Calibri" pitchFamily="34" charset="-120"/>
              </a:rPr>
              <a:t>out of scientific tools that fail </a:t>
            </a:r>
            <a:pPr indent="0" marL="0">
              <a:buNone/>
            </a:pPr>
            <a:r>
              <a:rPr lang="en-US" sz="1650" b="1" dirty="0">
                <a:solidFill>
                  <a:srgbClr val="F09A8C"/>
                </a:solidFill>
                <a:latin typeface="Calibri" pitchFamily="34" charset="0"/>
                <a:ea typeface="Calibri" pitchFamily="34" charset="-122"/>
                <a:cs typeface="Calibri" pitchFamily="34" charset="-120"/>
              </a:rPr>
              <a:t>silently</a:t>
            </a:r>
            <a:pPr indent="0" marL="0">
              <a:buNone/>
            </a:pPr>
            <a:r>
              <a:rPr lang="en-US" sz="1650" dirty="0">
                <a:solidFill>
                  <a:srgbClr val="DCE5EC"/>
                </a:solidFill>
                <a:latin typeface="Calibri" pitchFamily="34" charset="0"/>
                <a:ea typeface="Calibri" pitchFamily="34" charset="-122"/>
                <a:cs typeface="Calibri" pitchFamily="34" charset="-120"/>
              </a:rPr>
              <a:t> far more often than they crash. A generator returns a structure with no secondary structure, a confident designability score, and exit code 0.</a:t>
            </a:r>
            <a:endParaRPr lang="en-US" sz="16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2450592"/>
          <a:ext cx="11274552" cy="914400"/>
        </p:xfrm>
        <a:graphic>
          <a:graphicData uri="http://schemas.openxmlformats.org/drawingml/2006/table">
            <a:tbl>
              <a:tblPr/>
              <a:tblGrid>
                <a:gridCol w="3017520"/>
                <a:gridCol w="6172200"/>
                <a:gridCol w="2084832"/>
              </a:tblGrid>
              <a:tr h="27432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consequence</a:t>
                      </a:r>
                      <a:endParaRPr lang="en-US" sz="1100" dirty="0">
                        <a:latin typeface="Calibri" charset="0"/>
                        <a:ea typeface="Calibri" charset="0"/>
                        <a:cs typeface="Calibri"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means in the code</a:t>
                      </a:r>
                      <a:endParaRPr lang="en-US" sz="1100" dirty="0">
                        <a:latin typeface="Calibri" charset="0"/>
                        <a:ea typeface="Calibri" charset="0"/>
                        <a:cs typeface="Calibri"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where</a:t>
                      </a:r>
                      <a:endParaRPr lang="en-US" sz="1100" dirty="0">
                        <a:latin typeface="Calibri" charset="0"/>
                        <a:ea typeface="Calibri" charset="0"/>
                        <a:cs typeface="Calibri"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r>
              <a:tr h="603504">
                <a:tc>
                  <a:txBody>
                    <a:bodyPr/>
                    <a:lstStyle/>
                    <a:p>
                      <a:pPr algn="l" indent="0" marL="0">
                        <a:buNone/>
                      </a:pPr>
                      <a:r>
                        <a:rPr lang="en-US" sz="1150" b="1" dirty="0">
                          <a:solidFill>
                            <a:srgbClr val="22303C"/>
                          </a:solidFill>
                          <a:latin typeface="Calibri" pitchFamily="34" charset="0"/>
                          <a:ea typeface="Calibri" pitchFamily="34" charset="-122"/>
                          <a:cs typeface="Calibri" pitchFamily="34" charset="-120"/>
                        </a:rPr>
                        <a:t>A policy emits intent, never a DAG</a:t>
                      </a:r>
                      <a:endParaRPr lang="en-US" sz="1150" dirty="0">
                        <a:latin typeface="Calibri" charset="0"/>
                        <a:ea typeface="Calibri" charset="0"/>
                        <a:cs typeface="Calibri"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150" dirty="0">
                          <a:solidFill>
                            <a:srgbClr val="22303C"/>
                          </a:solidFill>
                          <a:latin typeface="Calibri" pitchFamily="34" charset="0"/>
                          <a:ea typeface="Calibri" pitchFamily="34" charset="-122"/>
                          <a:cs typeface="Calibri" pitchFamily="34" charset="-120"/>
                        </a:rPr>
                        <a:t>ExperimentIntent is a list of tool ids and parameters. Turning it into a graph is the composer's job, so control models stay interchangeable — and the import contract forbids the edge.</a:t>
                      </a:r>
                      <a:endParaRPr lang="en-US" sz="1150" dirty="0">
                        <a:latin typeface="Calibri" charset="0"/>
                        <a:ea typeface="Calibri" charset="0"/>
                        <a:cs typeface="Calibri"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policy/base.py · core/decision.py:21</a:t>
                      </a:r>
                      <a:endParaRPr lang="en-US" sz="900" dirty="0">
                        <a:latin typeface="Consolas" charset="0"/>
                        <a:ea typeface="Consolas" charset="0"/>
                        <a:cs typeface="Consolas"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548640">
                <a:tc>
                  <a:txBody>
                    <a:bodyPr/>
                    <a:lstStyle/>
                    <a:p>
                      <a:pPr algn="l" indent="0" marL="0">
                        <a:buNone/>
                      </a:pPr>
                      <a:r>
                        <a:rPr lang="en-US" sz="1150" b="1" dirty="0">
                          <a:solidFill>
                            <a:srgbClr val="22303C"/>
                          </a:solidFill>
                          <a:latin typeface="Calibri" pitchFamily="34" charset="0"/>
                          <a:ea typeface="Calibri" pitchFamily="34" charset="-122"/>
                          <a:cs typeface="Calibri" pitchFamily="34" charset="-120"/>
                        </a:rPr>
                        <a:t>Composition-time validation, then a dry-run</a:t>
                      </a:r>
                      <a:endParaRPr lang="en-US" sz="1150" dirty="0">
                        <a:latin typeface="Calibri" charset="0"/>
                        <a:ea typeface="Calibri" charset="0"/>
                        <a:cs typeface="Calibri"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303C"/>
                          </a:solidFill>
                          <a:latin typeface="Calibri" pitchFamily="34" charset="0"/>
                          <a:ea typeface="Calibri" pitchFamily="34" charset="-122"/>
                          <a:cs typeface="Calibri" pitchFamily="34" charset="-120"/>
                        </a:rPr>
                        <a:t>Five gates, then every task agent parameterizes without executing. Rejection is cheap and structured, so free composition is affordable to get wrong.</a:t>
                      </a:r>
                      <a:endParaRPr lang="en-US" sz="1150" dirty="0">
                        <a:latin typeface="Calibri" charset="0"/>
                        <a:ea typeface="Calibri" charset="0"/>
                        <a:cs typeface="Calibri"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compose/validate.py:30, :143</a:t>
                      </a:r>
                      <a:endParaRPr lang="en-US" sz="900" dirty="0">
                        <a:latin typeface="Consolas" charset="0"/>
                        <a:ea typeface="Consolas" charset="0"/>
                        <a:cs typeface="Consolas"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566928">
                <a:tc>
                  <a:txBody>
                    <a:bodyPr/>
                    <a:lstStyle/>
                    <a:p>
                      <a:pPr algn="l" indent="0" marL="0">
                        <a:buNone/>
                      </a:pPr>
                      <a:r>
                        <a:rPr lang="en-US" sz="1150" b="1" dirty="0">
                          <a:solidFill>
                            <a:srgbClr val="22303C"/>
                          </a:solidFill>
                          <a:latin typeface="Calibri" pitchFamily="34" charset="0"/>
                          <a:ea typeface="Calibri" pitchFamily="34" charset="-122"/>
                          <a:cs typeface="Calibri" pitchFamily="34" charset="-120"/>
                        </a:rPr>
                        <a:t>Trust is scored on shape, and earned</a:t>
                      </a:r>
                      <a:endParaRPr lang="en-US" sz="1150" dirty="0">
                        <a:latin typeface="Calibri" charset="0"/>
                        <a:ea typeface="Calibri" charset="0"/>
                        <a:cs typeface="Calibri"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150" dirty="0">
                          <a:solidFill>
                            <a:srgbClr val="22303C"/>
                          </a:solidFill>
                          <a:latin typeface="Calibri" pitchFamily="34" charset="0"/>
                          <a:ea typeface="Calibri" pitchFamily="34" charset="-122"/>
                          <a:cs typeface="Calibri" pitchFamily="34" charset="-120"/>
                        </a:rPr>
                        <a:t>A novel graph shape runs under a cost cap, a forced dry-run, and is marked suspect whatever it scores. Promotion is N consecutive integrity-clean runs; demotion is immediate.</a:t>
                      </a:r>
                      <a:endParaRPr lang="en-US" sz="1150" dirty="0">
                        <a:latin typeface="Calibri" charset="0"/>
                        <a:ea typeface="Calibri" charset="0"/>
                        <a:cs typeface="Calibri"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compose/interlock.py:146</a:t>
                      </a:r>
                      <a:endParaRPr lang="en-US" sz="900" dirty="0">
                        <a:latin typeface="Consolas" charset="0"/>
                        <a:ea typeface="Consolas" charset="0"/>
                        <a:cs typeface="Consolas"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512064">
                <a:tc>
                  <a:txBody>
                    <a:bodyPr/>
                    <a:lstStyle/>
                    <a:p>
                      <a:pPr algn="l" indent="0" marL="0">
                        <a:buNone/>
                      </a:pPr>
                      <a:r>
                        <a:rPr lang="en-US" sz="1150" b="1" dirty="0">
                          <a:solidFill>
                            <a:srgbClr val="22303C"/>
                          </a:solidFill>
                          <a:latin typeface="Calibri" pitchFamily="34" charset="0"/>
                          <a:ea typeface="Calibri" pitchFamily="34" charset="-122"/>
                          <a:cs typeface="Calibri" pitchFamily="34" charset="-120"/>
                        </a:rPr>
                        <a:t>Exit code is never evidence</a:t>
                      </a:r>
                      <a:endParaRPr lang="en-US" sz="1150" dirty="0">
                        <a:latin typeface="Calibri" charset="0"/>
                        <a:ea typeface="Calibri" charset="0"/>
                        <a:cs typeface="Calibri"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303C"/>
                          </a:solidFill>
                          <a:latin typeface="Calibri" pitchFamily="34" charset="0"/>
                          <a:ea typeface="Calibri" pitchFamily="34" charset="-122"/>
                          <a:cs typeface="Calibri" pitchFamily="34" charset="-120"/>
                        </a:rPr>
                        <a:t>Every non-P6 tool declares mandatory QC gates, and a node whose verdict is FAIL is never eligible for the Pareto front, whatever it scored.</a:t>
                      </a:r>
                      <a:endParaRPr lang="en-US" sz="1150" dirty="0">
                        <a:latin typeface="Calibri" charset="0"/>
                        <a:ea typeface="Calibri" charset="0"/>
                        <a:cs typeface="Calibri"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tools/agent.py:110 · core/pareto.py:56</a:t>
                      </a:r>
                      <a:endParaRPr lang="en-US" sz="900" dirty="0">
                        <a:latin typeface="Consolas" charset="0"/>
                        <a:ea typeface="Consolas" charset="0"/>
                        <a:cs typeface="Consolas"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603504">
                <a:tc>
                  <a:txBody>
                    <a:bodyPr/>
                    <a:lstStyle/>
                    <a:p>
                      <a:pPr algn="l" indent="0" marL="0">
                        <a:buNone/>
                      </a:pPr>
                      <a:r>
                        <a:rPr lang="en-US" sz="1150" b="1" dirty="0">
                          <a:solidFill>
                            <a:srgbClr val="22303C"/>
                          </a:solidFill>
                          <a:latin typeface="Calibri" pitchFamily="34" charset="0"/>
                          <a:ea typeface="Calibri" pitchFamily="34" charset="-122"/>
                          <a:cs typeface="Calibri" pitchFamily="34" charset="-120"/>
                        </a:rPr>
                        <a:t>One writer, and it decides termination</a:t>
                      </a:r>
                      <a:endParaRPr lang="en-US" sz="1150" dirty="0">
                        <a:latin typeface="Calibri" charset="0"/>
                        <a:ea typeface="Calibri" charset="0"/>
                        <a:cs typeface="Calibri"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150" dirty="0">
                          <a:solidFill>
                            <a:srgbClr val="22303C"/>
                          </a:solidFill>
                          <a:latin typeface="Calibri" pitchFamily="34" charset="0"/>
                          <a:ea typeface="Calibri" pitchFamily="34" charset="-122"/>
                          <a:cs typeface="Calibri" pitchFamily="34" charset="-120"/>
                        </a:rPr>
                        <a:t>The executor owns all campaign state; every mutating block is await-free, so an observation is never taken mid-absorb. Budget and stagnation are facts a reasoner cannot see.</a:t>
                      </a:r>
                      <a:endParaRPr lang="en-US" sz="1150" dirty="0">
                        <a:latin typeface="Calibri" charset="0"/>
                        <a:ea typeface="Calibri" charset="0"/>
                        <a:cs typeface="Calibri"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runtime/executor.py:242</a:t>
                      </a:r>
                      <a:endParaRPr lang="en-US" sz="900" dirty="0">
                        <a:latin typeface="Consolas" charset="0"/>
                        <a:ea typeface="Consolas" charset="0"/>
                        <a:cs typeface="Consolas"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bl>
          </a:graphicData>
        </a:graphic>
      </p:graphicFrame>
      <p:sp>
        <p:nvSpPr>
          <p:cNvPr id="7" name="Text 4"/>
          <p:cNvSpPr txBox="1"/>
          <p:nvPr/>
        </p:nvSpPr>
        <p:spPr>
          <a:xfrm>
            <a:off x="457200" y="5907024"/>
            <a:ext cx="11274552" cy="585216"/>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The flip side, said plainly: </a:t>
            </a:r>
            <a:pPr indent="0" marL="0">
              <a:buNone/>
            </a:pPr>
            <a:r>
              <a:rPr lang="en-US" sz="1300" dirty="0">
                <a:solidFill>
                  <a:srgbClr val="22303C"/>
                </a:solidFill>
                <a:latin typeface="Calibri" pitchFamily="34" charset="0"/>
                <a:ea typeface="Calibri" pitchFamily="34" charset="-122"/>
                <a:cs typeface="Calibri" pitchFamily="34" charset="-120"/>
              </a:rPr>
              <a:t>if a human reviewed every graph before it ran, you would not build most of this — you would write the DAG down once and schedule it. That is the right answer under review, and next door it is 1,450 lines of pipeline class per use case. Everything in act 1 is what you get for not writing it down; everything in act 2 is what that costs.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222B"/>
        </a:solidFill>
      </p:bgPr>
    </p:bg>
    <p:spTree>
      <p:nvGrpSpPr>
        <p:cNvPr id="1" name=""/>
        <p:cNvGrpSpPr/>
        <p:nvPr/>
      </p:nvGrpSpPr>
      <p:grpSpPr>
        <a:xfrm>
          <a:off x="0" y="0"/>
          <a:ext cx="0" cy="0"/>
          <a:chOff x="0" y="0"/>
          <a:chExt cx="0" cy="0"/>
        </a:xfrm>
      </p:grpSpPr>
      <p:sp>
        <p:nvSpPr>
          <p:cNvPr id="2" name="Text 0"/>
          <p:cNvSpPr txBox="1"/>
          <p:nvPr/>
        </p:nvSpPr>
        <p:spPr>
          <a:xfrm>
            <a:off x="457200" y="777240"/>
            <a:ext cx="3657600" cy="274320"/>
          </a:xfrm>
          <a:prstGeom prst="rect">
            <a:avLst/>
          </a:prstGeom>
          <a:noFill/>
          <a:ln/>
        </p:spPr>
        <p:txBody>
          <a:bodyPr wrap="square" lIns="0" tIns="0" rIns="0" bIns="0" rtlCol="0" anchor="t"/>
          <a:lstStyle/>
          <a:p>
            <a:pPr indent="0" marL="0">
              <a:buNone/>
            </a:pPr>
            <a:r>
              <a:rPr lang="en-US" sz="1300" b="1" spc="300" kern="0" dirty="0">
                <a:solidFill>
                  <a:srgbClr val="5E6B75"/>
                </a:solidFill>
                <a:latin typeface="Calibri" pitchFamily="34" charset="0"/>
                <a:ea typeface="Calibri" pitchFamily="34" charset="-122"/>
                <a:cs typeface="Calibri" pitchFamily="34" charset="-120"/>
              </a:rPr>
              <a:t>ACT 1 OF 3</a:t>
            </a:r>
            <a:endParaRPr lang="en-US" sz="1300" dirty="0"/>
          </a:p>
        </p:txBody>
      </p:sp>
      <p:sp>
        <p:nvSpPr>
          <p:cNvPr id="3" name="Text 1"/>
          <p:cNvSpPr txBox="1"/>
          <p:nvPr/>
        </p:nvSpPr>
        <p:spPr>
          <a:xfrm>
            <a:off x="457200" y="1097280"/>
            <a:ext cx="8686800" cy="868680"/>
          </a:xfrm>
          <a:prstGeom prst="rect">
            <a:avLst/>
          </a:prstGeom>
          <a:noFill/>
          <a:ln/>
        </p:spPr>
        <p:txBody>
          <a:bodyPr wrap="square" lIns="0" tIns="0" rIns="0" bIns="0" rtlCol="0" anchor="t"/>
          <a:lstStyle/>
          <a:p>
            <a:pPr indent="0" marL="0">
              <a:buNone/>
            </a:pPr>
            <a:r>
              <a:rPr lang="en-US" sz="4600" b="1" spc="100" kern="0" dirty="0">
                <a:solidFill>
                  <a:srgbClr val="FFFFFF"/>
                </a:solidFill>
                <a:latin typeface="Cambria" pitchFamily="34" charset="0"/>
                <a:ea typeface="Cambria" pitchFamily="34" charset="-122"/>
                <a:cs typeface="Cambria" pitchFamily="34" charset="-120"/>
              </a:rPr>
              <a:t>FUNCTIONALITY</a:t>
            </a:r>
            <a:endParaRPr lang="en-US" sz="4600" dirty="0"/>
          </a:p>
        </p:txBody>
      </p:sp>
      <p:sp>
        <p:nvSpPr>
          <p:cNvPr id="4" name="Text 2"/>
          <p:cNvSpPr txBox="1"/>
          <p:nvPr/>
        </p:nvSpPr>
        <p:spPr>
          <a:xfrm>
            <a:off x="457200" y="2103120"/>
            <a:ext cx="11094415" cy="548640"/>
          </a:xfrm>
          <a:prstGeom prst="rect">
            <a:avLst/>
          </a:prstGeom>
          <a:noFill/>
          <a:ln/>
        </p:spPr>
        <p:txBody>
          <a:bodyPr wrap="square" lIns="0" tIns="0" rIns="0" bIns="0" rtlCol="0" anchor="t"/>
          <a:lstStyle/>
          <a:p>
            <a:pPr indent="0" marL="0">
              <a:buNone/>
            </a:pPr>
            <a:r>
              <a:rPr lang="en-US" sz="1600" i="1" dirty="0">
                <a:solidFill>
                  <a:srgbClr val="C8D4DD"/>
                </a:solidFill>
                <a:latin typeface="Calibri" pitchFamily="34" charset="0"/>
                <a:ea typeface="Calibri" pitchFamily="34" charset="-122"/>
                <a:cs typeface="Calibri" pitchFamily="34" charset="-120"/>
              </a:rPr>
              <a:t>What specific tasks can you ask for that an adaptive pipeline cannot be asked?</a:t>
            </a:r>
            <a:endParaRPr lang="en-US" sz="1600" dirty="0"/>
          </a:p>
        </p:txBody>
      </p:sp>
      <p:sp>
        <p:nvSpPr>
          <p:cNvPr id="5" name="Shape 3"/>
          <p:cNvSpPr/>
          <p:nvPr/>
        </p:nvSpPr>
        <p:spPr>
          <a:xfrm>
            <a:off x="457200" y="2962656"/>
            <a:ext cx="54864" cy="548640"/>
          </a:xfrm>
          <a:prstGeom prst="rect">
            <a:avLst/>
          </a:prstGeom>
          <a:solidFill>
            <a:srgbClr val="D9731A"/>
          </a:solidFill>
          <a:ln w="12700">
            <a:solidFill>
              <a:srgbClr val="D9731A"/>
            </a:solidFill>
            <a:prstDash val="solid"/>
          </a:ln>
        </p:spPr>
      </p:sp>
      <p:sp>
        <p:nvSpPr>
          <p:cNvPr id="6" name="Text 4"/>
          <p:cNvSpPr txBox="1"/>
          <p:nvPr/>
        </p:nvSpPr>
        <p:spPr>
          <a:xfrm>
            <a:off x="676656" y="2926080"/>
            <a:ext cx="11057839" cy="274320"/>
          </a:xfrm>
          <a:prstGeom prst="rect">
            <a:avLst/>
          </a:prstGeom>
          <a:noFill/>
          <a:ln/>
        </p:spPr>
        <p:txBody>
          <a:bodyPr wrap="square" lIns="0" tIns="0" rIns="0" bIns="0" rtlCol="0" anchor="t"/>
          <a:lstStyle/>
          <a:p>
            <a:pPr indent="0" marL="0">
              <a:buNone/>
            </a:pPr>
            <a:r>
              <a:rPr lang="en-US" sz="1500" b="1" dirty="0">
                <a:solidFill>
                  <a:srgbClr val="F0C898"/>
                </a:solidFill>
                <a:latin typeface="Calibri" pitchFamily="34" charset="0"/>
                <a:ea typeface="Calibri" pitchFamily="34" charset="-122"/>
                <a:cs typeface="Calibri" pitchFamily="34" charset="-120"/>
              </a:rPr>
              <a:t>You state a goal, not a pipeline</a:t>
            </a:r>
            <a:endParaRPr lang="en-US" sz="1500" dirty="0"/>
          </a:p>
        </p:txBody>
      </p:sp>
      <p:sp>
        <p:nvSpPr>
          <p:cNvPr id="7" name="Text 5"/>
          <p:cNvSpPr txBox="1"/>
          <p:nvPr/>
        </p:nvSpPr>
        <p:spPr>
          <a:xfrm>
            <a:off x="676656" y="3200400"/>
            <a:ext cx="11057839" cy="292608"/>
          </a:xfrm>
          <a:prstGeom prst="rect">
            <a:avLst/>
          </a:prstGeom>
          <a:noFill/>
          <a:ln/>
        </p:spPr>
        <p:txBody>
          <a:bodyPr wrap="square" lIns="0" tIns="0" rIns="0" bIns="0" rtlCol="0" anchor="t"/>
          <a:lstStyle/>
          <a:p>
            <a:pPr indent="0" marL="0">
              <a:buNone/>
            </a:pPr>
            <a:r>
              <a:rPr lang="en-US" sz="1200" dirty="0">
                <a:solidFill>
                  <a:srgbClr val="C8D4DD"/>
                </a:solidFill>
                <a:latin typeface="Calibri" pitchFamily="34" charset="0"/>
                <a:ea typeface="Calibri" pitchFamily="34" charset="-122"/>
                <a:cs typeface="Calibri" pitchFamily="34" charset="-120"/>
              </a:rPr>
              <a:t>An ExperimentIntent is a list of tool ids; the composer types it, five gates check it, and a dry-run parameterizes every stage before anything executes. The reference pipeline's shape lives in 19 next_step assignments inside one decision function.</a:t>
            </a:r>
            <a:endParaRPr lang="en-US" sz="1200" dirty="0"/>
          </a:p>
        </p:txBody>
      </p:sp>
      <p:sp>
        <p:nvSpPr>
          <p:cNvPr id="8" name="Shape 6"/>
          <p:cNvSpPr/>
          <p:nvPr/>
        </p:nvSpPr>
        <p:spPr>
          <a:xfrm>
            <a:off x="457200" y="3749040"/>
            <a:ext cx="54864" cy="548640"/>
          </a:xfrm>
          <a:prstGeom prst="rect">
            <a:avLst/>
          </a:prstGeom>
          <a:solidFill>
            <a:srgbClr val="D9731A"/>
          </a:solidFill>
          <a:ln w="12700">
            <a:solidFill>
              <a:srgbClr val="D9731A"/>
            </a:solidFill>
            <a:prstDash val="solid"/>
          </a:ln>
        </p:spPr>
      </p:sp>
      <p:sp>
        <p:nvSpPr>
          <p:cNvPr id="9" name="Text 7"/>
          <p:cNvSpPr txBox="1"/>
          <p:nvPr/>
        </p:nvSpPr>
        <p:spPr>
          <a:xfrm>
            <a:off x="676656" y="3712464"/>
            <a:ext cx="11057839" cy="274320"/>
          </a:xfrm>
          <a:prstGeom prst="rect">
            <a:avLst/>
          </a:prstGeom>
          <a:noFill/>
          <a:ln/>
        </p:spPr>
        <p:txBody>
          <a:bodyPr wrap="square" lIns="0" tIns="0" rIns="0" bIns="0" rtlCol="0" anchor="t"/>
          <a:lstStyle/>
          <a:p>
            <a:pPr indent="0" marL="0">
              <a:buNone/>
            </a:pPr>
            <a:r>
              <a:rPr lang="en-US" sz="1500" b="1" dirty="0">
                <a:solidFill>
                  <a:srgbClr val="F0C898"/>
                </a:solidFill>
                <a:latin typeface="Calibri" pitchFamily="34" charset="0"/>
                <a:ea typeface="Calibri" pitchFamily="34" charset="-122"/>
                <a:cs typeface="Calibri" pitchFamily="34" charset="-120"/>
              </a:rPr>
              <a:t>A tool is a spec file, and QC is part of the spec</a:t>
            </a:r>
            <a:endParaRPr lang="en-US" sz="1500" dirty="0"/>
          </a:p>
        </p:txBody>
      </p:sp>
      <p:sp>
        <p:nvSpPr>
          <p:cNvPr id="10" name="Text 8"/>
          <p:cNvSpPr txBox="1"/>
          <p:nvPr/>
        </p:nvSpPr>
        <p:spPr>
          <a:xfrm>
            <a:off x="676656" y="3986784"/>
            <a:ext cx="11057839" cy="292608"/>
          </a:xfrm>
          <a:prstGeom prst="rect">
            <a:avLst/>
          </a:prstGeom>
          <a:noFill/>
          <a:ln/>
        </p:spPr>
        <p:txBody>
          <a:bodyPr wrap="square" lIns="0" tIns="0" rIns="0" bIns="0" rtlCol="0" anchor="t"/>
          <a:lstStyle/>
          <a:p>
            <a:pPr indent="0" marL="0">
              <a:buNone/>
            </a:pPr>
            <a:r>
              <a:rPr lang="en-US" sz="1200" dirty="0">
                <a:solidFill>
                  <a:srgbClr val="C8D4DD"/>
                </a:solidFill>
                <a:latin typeface="Calibri" pitchFamily="34" charset="0"/>
                <a:ea typeface="Calibri" pitchFamily="34" charset="-122"/>
                <a:cs typeface="Calibri" pitchFamily="34" charset="-120"/>
              </a:rPr>
              <a:t>11 tools in 5 toolkits, each a spec.yaml plus an agent. Adding one never edits the composer, the validator or the manager - and gates are mandatory, shared by id, and not written by whoever parses the output.</a:t>
            </a:r>
            <a:endParaRPr lang="en-US" sz="1200" dirty="0"/>
          </a:p>
        </p:txBody>
      </p:sp>
      <p:sp>
        <p:nvSpPr>
          <p:cNvPr id="11" name="Shape 9"/>
          <p:cNvSpPr/>
          <p:nvPr/>
        </p:nvSpPr>
        <p:spPr>
          <a:xfrm>
            <a:off x="457200" y="4535424"/>
            <a:ext cx="54864" cy="548640"/>
          </a:xfrm>
          <a:prstGeom prst="rect">
            <a:avLst/>
          </a:prstGeom>
          <a:solidFill>
            <a:srgbClr val="D9731A"/>
          </a:solidFill>
          <a:ln w="12700">
            <a:solidFill>
              <a:srgbClr val="D9731A"/>
            </a:solidFill>
            <a:prstDash val="solid"/>
          </a:ln>
        </p:spPr>
      </p:sp>
      <p:sp>
        <p:nvSpPr>
          <p:cNvPr id="12" name="Text 10"/>
          <p:cNvSpPr txBox="1"/>
          <p:nvPr/>
        </p:nvSpPr>
        <p:spPr>
          <a:xfrm>
            <a:off x="676656" y="4498848"/>
            <a:ext cx="11057839" cy="274320"/>
          </a:xfrm>
          <a:prstGeom prst="rect">
            <a:avLst/>
          </a:prstGeom>
          <a:noFill/>
          <a:ln/>
        </p:spPr>
        <p:txBody>
          <a:bodyPr wrap="square" lIns="0" tIns="0" rIns="0" bIns="0" rtlCol="0" anchor="t"/>
          <a:lstStyle/>
          <a:p>
            <a:pPr indent="0" marL="0">
              <a:buNone/>
            </a:pPr>
            <a:r>
              <a:rPr lang="en-US" sz="1500" b="1" dirty="0">
                <a:solidFill>
                  <a:srgbClr val="F0C898"/>
                </a:solidFill>
                <a:latin typeface="Calibri" pitchFamily="34" charset="0"/>
                <a:ea typeface="Calibri" pitchFamily="34" charset="-122"/>
                <a:cs typeface="Calibri" pitchFamily="34" charset="-120"/>
              </a:rPr>
              <a:t>The control model is swappable, and the layer below it does not know which one ran</a:t>
            </a:r>
            <a:endParaRPr lang="en-US" sz="1500" dirty="0"/>
          </a:p>
        </p:txBody>
      </p:sp>
      <p:sp>
        <p:nvSpPr>
          <p:cNvPr id="13" name="Text 11"/>
          <p:cNvSpPr txBox="1"/>
          <p:nvPr/>
        </p:nvSpPr>
        <p:spPr>
          <a:xfrm>
            <a:off x="676656" y="4773168"/>
            <a:ext cx="11057839" cy="292608"/>
          </a:xfrm>
          <a:prstGeom prst="rect">
            <a:avLst/>
          </a:prstGeom>
          <a:noFill/>
          <a:ln/>
        </p:spPr>
        <p:txBody>
          <a:bodyPr wrap="square" lIns="0" tIns="0" rIns="0" bIns="0" rtlCol="0" anchor="t"/>
          <a:lstStyle/>
          <a:p>
            <a:pPr indent="0" marL="0">
              <a:buNone/>
            </a:pPr>
            <a:r>
              <a:rPr lang="en-US" sz="1200" dirty="0">
                <a:solidFill>
                  <a:srgbClr val="C8D4DD"/>
                </a:solidFill>
                <a:latin typeface="Calibri" pitchFamily="34" charset="0"/>
                <a:ea typeface="Calibri" pitchFamily="34" charset="-122"/>
                <a:cs typeface="Calibri" pitchFamily="34" charset="-120"/>
              </a:rPr>
              <a:t>Four models plus conduct() reasoners over one executor, byte-identical below the policy layer - which is what makes comparing an LLM against a rule cascade mean anything at all.</a:t>
            </a:r>
            <a:endParaRPr lang="en-US" sz="1200" dirty="0"/>
          </a:p>
        </p:txBody>
      </p:sp>
      <p:sp>
        <p:nvSpPr>
          <p:cNvPr id="14" name="Shape 12"/>
          <p:cNvSpPr/>
          <p:nvPr/>
        </p:nvSpPr>
        <p:spPr>
          <a:xfrm>
            <a:off x="457200" y="5577840"/>
            <a:ext cx="11277295" cy="768096"/>
          </a:xfrm>
          <a:prstGeom prst="rect">
            <a:avLst/>
          </a:prstGeom>
          <a:solidFill>
            <a:srgbClr val="3A2222"/>
          </a:solidFill>
          <a:ln w="25400">
            <a:solidFill>
              <a:srgbClr val="C0392B"/>
            </a:solidFill>
            <a:prstDash val="solid"/>
          </a:ln>
        </p:spPr>
      </p:sp>
      <p:sp>
        <p:nvSpPr>
          <p:cNvPr id="15" name="Text 13"/>
          <p:cNvSpPr txBox="1"/>
          <p:nvPr/>
        </p:nvSpPr>
        <p:spPr>
          <a:xfrm>
            <a:off x="621792" y="5687568"/>
            <a:ext cx="10948111" cy="585216"/>
          </a:xfrm>
          <a:prstGeom prst="rect">
            <a:avLst/>
          </a:prstGeom>
          <a:noFill/>
          <a:ln/>
        </p:spPr>
        <p:txBody>
          <a:bodyPr wrap="square" lIns="0" tIns="0" rIns="0" bIns="0" rtlCol="0" anchor="t"/>
          <a:lstStyle/>
          <a:p>
            <a:pPr indent="0" marL="0">
              <a:buNone/>
            </a:pPr>
            <a:r>
              <a:rPr lang="en-US" sz="1300" b="1" dirty="0">
                <a:solidFill>
                  <a:srgbClr val="E8A0A0"/>
                </a:solidFill>
                <a:latin typeface="Calibri" pitchFamily="34" charset="0"/>
                <a:ea typeface="Calibri" pitchFamily="34" charset="-122"/>
                <a:cs typeface="Calibri" pitchFamily="34" charset="-120"/>
              </a:rPr>
              <a:t>The weakest claim in this act:  </a:t>
            </a:r>
            <a:pPr indent="0" marL="0">
              <a:buNone/>
            </a:pPr>
            <a:r>
              <a:rPr lang="en-US" sz="1300" dirty="0">
                <a:solidFill>
                  <a:srgbClr val="FFFFFF"/>
                </a:solidFill>
                <a:latin typeface="Calibri" pitchFamily="34" charset="0"/>
                <a:ea typeface="Calibri" pitchFamily="34" charset="-122"/>
                <a:cs typeface="Calibri" pitchFamily="34" charset="-120"/>
              </a:rPr>
              <a:t>every graph we have ever composed is the same six-stage chain the reference pipeline already had. Free composition is real in the code and unexercised in the evidence.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THE LOOP · F1</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Two coroutines, one writer</a:t>
            </a:r>
            <a:endParaRPr lang="en-US" sz="2800" dirty="0"/>
          </a:p>
        </p:txBody>
      </p:sp>
      <p:sp>
        <p:nvSpPr>
          <p:cNvPr id="4" name="Shape 2"/>
          <p:cNvSpPr/>
          <p:nvPr/>
        </p:nvSpPr>
        <p:spPr>
          <a:xfrm>
            <a:off x="457200" y="1371600"/>
            <a:ext cx="3200400" cy="347472"/>
          </a:xfrm>
          <a:prstGeom prst="rect">
            <a:avLst/>
          </a:prstGeom>
          <a:solidFill>
            <a:srgbClr val="3B4E8C"/>
          </a:solidFill>
          <a:ln w="12700">
            <a:solidFill>
              <a:srgbClr val="3B4E8C"/>
            </a:solidFill>
            <a:prstDash val="solid"/>
          </a:ln>
        </p:spPr>
      </p:sp>
      <p:sp>
        <p:nvSpPr>
          <p:cNvPr id="5" name="Text 3"/>
          <p:cNvSpPr txBox="1"/>
          <p:nvPr/>
        </p:nvSpPr>
        <p:spPr>
          <a:xfrm>
            <a:off x="548640" y="1371600"/>
            <a:ext cx="301752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REASONER — coroutine 1</a:t>
            </a:r>
            <a:endParaRPr lang="en-US" sz="1200" dirty="0"/>
          </a:p>
        </p:txBody>
      </p:sp>
      <p:sp>
        <p:nvSpPr>
          <p:cNvPr id="6" name="Shape 4"/>
          <p:cNvSpPr/>
          <p:nvPr/>
        </p:nvSpPr>
        <p:spPr>
          <a:xfrm>
            <a:off x="4160520" y="1371600"/>
            <a:ext cx="1417320" cy="347472"/>
          </a:xfrm>
          <a:prstGeom prst="rect">
            <a:avLst/>
          </a:prstGeom>
          <a:solidFill>
            <a:srgbClr val="5E6B75"/>
          </a:solidFill>
          <a:ln w="12700">
            <a:solidFill>
              <a:srgbClr val="5E6B75"/>
            </a:solidFill>
            <a:prstDash val="solid"/>
          </a:ln>
        </p:spPr>
      </p:sp>
      <p:sp>
        <p:nvSpPr>
          <p:cNvPr id="7" name="Text 5"/>
          <p:cNvSpPr txBox="1"/>
          <p:nvPr/>
        </p:nvSpPr>
        <p:spPr>
          <a:xfrm>
            <a:off x="4251960" y="1371600"/>
            <a:ext cx="123444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SESSION</a:t>
            </a:r>
            <a:endParaRPr lang="en-US" sz="1100" dirty="0"/>
          </a:p>
        </p:txBody>
      </p:sp>
      <p:sp>
        <p:nvSpPr>
          <p:cNvPr id="8" name="Shape 6"/>
          <p:cNvSpPr/>
          <p:nvPr/>
        </p:nvSpPr>
        <p:spPr>
          <a:xfrm>
            <a:off x="6080760" y="1371600"/>
            <a:ext cx="4480560" cy="347472"/>
          </a:xfrm>
          <a:prstGeom prst="rect">
            <a:avLst/>
          </a:prstGeom>
          <a:solidFill>
            <a:srgbClr val="1E6470"/>
          </a:solidFill>
          <a:ln w="12700">
            <a:solidFill>
              <a:srgbClr val="1E6470"/>
            </a:solidFill>
            <a:prstDash val="solid"/>
          </a:ln>
        </p:spPr>
      </p:sp>
      <p:sp>
        <p:nvSpPr>
          <p:cNvPr id="9" name="Text 7"/>
          <p:cNvSpPr txBox="1"/>
          <p:nvPr/>
        </p:nvSpPr>
        <p:spPr>
          <a:xfrm>
            <a:off x="6172200" y="1371600"/>
            <a:ext cx="429768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EXECUTOR — coroutine 2 · the ONLY writer</a:t>
            </a:r>
            <a:endParaRPr lang="en-US" sz="1200" dirty="0"/>
          </a:p>
        </p:txBody>
      </p:sp>
      <p:sp>
        <p:nvSpPr>
          <p:cNvPr id="10" name="Text 8"/>
          <p:cNvSpPr txBox="1"/>
          <p:nvPr/>
        </p:nvSpPr>
        <p:spPr>
          <a:xfrm>
            <a:off x="457200" y="1737360"/>
            <a:ext cx="3200400" cy="237744"/>
          </a:xfrm>
          <a:prstGeom prst="rect">
            <a:avLst/>
          </a:prstGeom>
          <a:noFill/>
          <a:ln/>
        </p:spPr>
        <p:txBody>
          <a:bodyPr wrap="square" lIns="0" tIns="0" rIns="0" bIns="0" rtlCol="0" anchor="ctr"/>
          <a:lstStyle/>
          <a:p>
            <a:pPr algn="ctr" indent="0" marL="0">
              <a:buNone/>
            </a:pPr>
            <a:r>
              <a:rPr lang="en-US" sz="1050" dirty="0">
                <a:solidFill>
                  <a:srgbClr val="5E6B75"/>
                </a:solidFill>
                <a:latin typeface="Consolas" pitchFamily="34" charset="0"/>
                <a:ea typeface="Consolas" pitchFamily="34" charset="-122"/>
                <a:cs typeface="Consolas" pitchFamily="34" charset="-120"/>
              </a:rPr>
              <a:t>policy/driver.py or any conduct()</a:t>
            </a:r>
            <a:endParaRPr lang="en-US" sz="1050" dirty="0"/>
          </a:p>
        </p:txBody>
      </p:sp>
      <p:sp>
        <p:nvSpPr>
          <p:cNvPr id="11" name="Text 9"/>
          <p:cNvSpPr txBox="1"/>
          <p:nvPr/>
        </p:nvSpPr>
        <p:spPr>
          <a:xfrm>
            <a:off x="4160520" y="1737360"/>
            <a:ext cx="1417320" cy="237744"/>
          </a:xfrm>
          <a:prstGeom prst="rect">
            <a:avLst/>
          </a:prstGeom>
          <a:noFill/>
          <a:ln/>
        </p:spPr>
        <p:txBody>
          <a:bodyPr wrap="square" lIns="0" tIns="0" rIns="0" bIns="0" rtlCol="0" anchor="ctr"/>
          <a:lstStyle/>
          <a:p>
            <a:pPr algn="ctr" indent="0" marL="0">
              <a:buNone/>
            </a:pPr>
            <a:r>
              <a:rPr lang="en-US" sz="1050" dirty="0">
                <a:solidFill>
                  <a:srgbClr val="5E6B75"/>
                </a:solidFill>
                <a:latin typeface="Consolas" pitchFamily="34" charset="0"/>
                <a:ea typeface="Consolas" pitchFamily="34" charset="-122"/>
                <a:cs typeface="Consolas" pitchFamily="34" charset="-120"/>
              </a:rPr>
              <a:t>core/session.py</a:t>
            </a:r>
            <a:endParaRPr lang="en-US" sz="1050" dirty="0"/>
          </a:p>
        </p:txBody>
      </p:sp>
      <p:sp>
        <p:nvSpPr>
          <p:cNvPr id="12" name="Text 10"/>
          <p:cNvSpPr txBox="1"/>
          <p:nvPr/>
        </p:nvSpPr>
        <p:spPr>
          <a:xfrm>
            <a:off x="6080760" y="1737360"/>
            <a:ext cx="4480560" cy="237744"/>
          </a:xfrm>
          <a:prstGeom prst="rect">
            <a:avLst/>
          </a:prstGeom>
          <a:noFill/>
          <a:ln/>
        </p:spPr>
        <p:txBody>
          <a:bodyPr wrap="square" lIns="0" tIns="0" rIns="0" bIns="0" rtlCol="0" anchor="ctr"/>
          <a:lstStyle/>
          <a:p>
            <a:pPr algn="ctr" indent="0" marL="0">
              <a:buNone/>
            </a:pPr>
            <a:r>
              <a:rPr lang="en-US" sz="1050" dirty="0">
                <a:solidFill>
                  <a:srgbClr val="5E6B75"/>
                </a:solidFill>
                <a:latin typeface="Consolas" pitchFamily="34" charset="0"/>
                <a:ea typeface="Consolas" pitchFamily="34" charset="-122"/>
                <a:cs typeface="Consolas" pitchFamily="34" charset="-120"/>
              </a:rPr>
              <a:t>runtime/executor.py</a:t>
            </a:r>
            <a:endParaRPr lang="en-US" sz="1050" dirty="0"/>
          </a:p>
        </p:txBody>
      </p:sp>
      <p:sp>
        <p:nvSpPr>
          <p:cNvPr id="13" name="Shape 11"/>
          <p:cNvSpPr/>
          <p:nvPr/>
        </p:nvSpPr>
        <p:spPr>
          <a:xfrm>
            <a:off x="457200" y="2057400"/>
            <a:ext cx="3200400" cy="502920"/>
          </a:xfrm>
          <a:prstGeom prst="roundRect">
            <a:avLst>
              <a:gd name="adj" fmla="val 14545"/>
            </a:avLst>
          </a:prstGeom>
          <a:solidFill>
            <a:srgbClr val="FFFFFF"/>
          </a:solidFill>
          <a:ln w="19050">
            <a:solidFill>
              <a:srgbClr val="5E6B75"/>
            </a:solidFill>
            <a:prstDash val="solid"/>
          </a:ln>
        </p:spPr>
      </p:sp>
      <p:sp>
        <p:nvSpPr>
          <p:cNvPr id="14" name="Text 12"/>
          <p:cNvSpPr txBox="1"/>
          <p:nvPr/>
        </p:nvSpPr>
        <p:spPr>
          <a:xfrm>
            <a:off x="530352" y="2103120"/>
            <a:ext cx="3054096" cy="411480"/>
          </a:xfrm>
          <a:prstGeom prst="rect">
            <a:avLst/>
          </a:prstGeom>
          <a:noFill/>
          <a:ln/>
        </p:spPr>
        <p:txBody>
          <a:bodyPr wrap="square" lIns="0" tIns="0" rIns="0" bIns="0" rtlCol="0" anchor="ctr"/>
          <a:lstStyle/>
          <a:p>
            <a:pPr algn="ctr" indent="0" marL="0">
              <a:buNone/>
            </a:pPr>
            <a:r>
              <a:rPr lang="en-US" sz="1250" b="1" dirty="0">
                <a:solidFill>
                  <a:srgbClr val="16222B"/>
                </a:solidFill>
                <a:latin typeface="Calibri" pitchFamily="34" charset="0"/>
                <a:ea typeface="Calibri" pitchFamily="34" charset="-122"/>
                <a:cs typeface="Calibri" pitchFamily="34" charset="-120"/>
              </a:rPr>
              <a:t>OBSERVE</a:t>
            </a:r>
            <a:endParaRPr lang="en-US" sz="1400" dirty="0"/>
          </a:p>
        </p:txBody>
      </p:sp>
      <p:sp>
        <p:nvSpPr>
          <p:cNvPr id="15" name="Shape 13"/>
          <p:cNvSpPr/>
          <p:nvPr/>
        </p:nvSpPr>
        <p:spPr>
          <a:xfrm>
            <a:off x="6080760" y="2057400"/>
            <a:ext cx="4480560" cy="502920"/>
          </a:xfrm>
          <a:prstGeom prst="roundRect">
            <a:avLst>
              <a:gd name="adj" fmla="val 14545"/>
            </a:avLst>
          </a:prstGeom>
          <a:solidFill>
            <a:srgbClr val="E3F0F1"/>
          </a:solidFill>
          <a:ln w="19050">
            <a:solidFill>
              <a:srgbClr val="1E6470"/>
            </a:solidFill>
            <a:prstDash val="solid"/>
          </a:ln>
        </p:spPr>
      </p:sp>
      <p:sp>
        <p:nvSpPr>
          <p:cNvPr id="16" name="Text 14"/>
          <p:cNvSpPr txBox="1"/>
          <p:nvPr/>
        </p:nvSpPr>
        <p:spPr>
          <a:xfrm>
            <a:off x="6153912" y="2103120"/>
            <a:ext cx="4334256" cy="411480"/>
          </a:xfrm>
          <a:prstGeom prst="rect">
            <a:avLst/>
          </a:prstGeom>
          <a:noFill/>
          <a:ln/>
        </p:spPr>
        <p:txBody>
          <a:bodyPr wrap="square" lIns="0" tIns="0" rIns="0" bIns="0" rtlCol="0" anchor="ctr"/>
          <a:lstStyle/>
          <a:p>
            <a:pPr algn="l" indent="0" marL="0">
              <a:buNone/>
            </a:pPr>
            <a:r>
              <a:rPr lang="en-US" sz="1250" b="1" dirty="0">
                <a:solidFill>
                  <a:srgbClr val="16222B"/>
                </a:solidFill>
                <a:latin typeface="Calibri" pitchFamily="34" charset="0"/>
                <a:ea typeface="Calibri" pitchFamily="34" charset="-122"/>
                <a:cs typeface="Calibri" pitchFamily="34" charset="-120"/>
              </a:rPr>
              <a:t>OBSERVE</a:t>
            </a:r>
            <a:endParaRPr lang="en-US" sz="1400" dirty="0"/>
          </a:p>
          <a:p>
            <a:pPr algn="l" indent="0" marL="0">
              <a:buNone/>
            </a:pPr>
            <a:r>
              <a:rPr lang="en-US" sz="900" dirty="0">
                <a:solidFill>
                  <a:srgbClr val="5E6B75"/>
                </a:solidFill>
                <a:latin typeface="Calibri" pitchFamily="34" charset="0"/>
                <a:ea typeface="Calibri" pitchFamily="34" charset="-122"/>
                <a:cs typeface="Calibri" pitchFamily="34" charset="-120"/>
              </a:rPr>
              <a:t>  ::observe:215</a:t>
            </a:r>
            <a:endParaRPr lang="en-US" sz="1400" dirty="0"/>
          </a:p>
          <a:p>
            <a:pPr algn="l" indent="0" marL="0">
              <a:buNone/>
            </a:pPr>
            <a:r>
              <a:rPr lang="en-US" sz="900" dirty="0">
                <a:solidFill>
                  <a:srgbClr val="5E6B75"/>
                </a:solidFill>
                <a:latin typeface="Calibri" pitchFamily="34" charset="0"/>
                <a:ea typeface="Calibri" pitchFamily="34" charset="-122"/>
                <a:cs typeface="Calibri" pitchFamily="34" charset="-120"/>
              </a:rPr>
              <a:t>read-only, await-free</a:t>
            </a:r>
            <a:endParaRPr lang="en-US" sz="1400" dirty="0"/>
          </a:p>
        </p:txBody>
      </p:sp>
      <p:sp>
        <p:nvSpPr>
          <p:cNvPr id="17" name="Shape 15"/>
          <p:cNvSpPr/>
          <p:nvPr/>
        </p:nvSpPr>
        <p:spPr>
          <a:xfrm flipH="1">
            <a:off x="3685032" y="2308860"/>
            <a:ext cx="2368296" cy="91"/>
          </a:xfrm>
          <a:prstGeom prst="line">
            <a:avLst/>
          </a:prstGeom>
          <a:noFill/>
          <a:ln w="22225">
            <a:solidFill>
              <a:srgbClr val="1E6470"/>
            </a:solidFill>
            <a:prstDash val="solid"/>
            <a:tailEnd type="triangle"/>
          </a:ln>
        </p:spPr>
      </p:sp>
      <p:sp>
        <p:nvSpPr>
          <p:cNvPr id="18" name="Text 16"/>
          <p:cNvSpPr txBox="1"/>
          <p:nvPr/>
        </p:nvSpPr>
        <p:spPr>
          <a:xfrm>
            <a:off x="3749040" y="2080260"/>
            <a:ext cx="2240280" cy="237744"/>
          </a:xfrm>
          <a:prstGeom prst="rect">
            <a:avLst/>
          </a:prstGeom>
          <a:noFill/>
          <a:ln/>
        </p:spPr>
        <p:txBody>
          <a:bodyPr wrap="square" lIns="0" tIns="0" rIns="0" bIns="0" rtlCol="0" anchor="ctr"/>
          <a:lstStyle/>
          <a:p>
            <a:pPr algn="ctr" indent="0" marL="0">
              <a:buNone/>
            </a:pPr>
            <a:r>
              <a:rPr lang="en-US" sz="1050" dirty="0">
                <a:solidFill>
                  <a:srgbClr val="1E6470"/>
                </a:solidFill>
                <a:latin typeface="Consolas" pitchFamily="34" charset="0"/>
                <a:ea typeface="Consolas" pitchFamily="34" charset="-122"/>
                <a:cs typeface="Consolas" pitchFamily="34" charset="-120"/>
              </a:rPr>
              <a:t>CampaignObservation</a:t>
            </a:r>
            <a:endParaRPr lang="en-US" sz="1050" dirty="0"/>
          </a:p>
        </p:txBody>
      </p:sp>
      <p:sp>
        <p:nvSpPr>
          <p:cNvPr id="19" name="Shape 17"/>
          <p:cNvSpPr/>
          <p:nvPr/>
        </p:nvSpPr>
        <p:spPr>
          <a:xfrm>
            <a:off x="457200" y="2670048"/>
            <a:ext cx="3200400" cy="548640"/>
          </a:xfrm>
          <a:prstGeom prst="roundRect">
            <a:avLst>
              <a:gd name="adj" fmla="val 13333"/>
            </a:avLst>
          </a:prstGeom>
          <a:solidFill>
            <a:srgbClr val="E9EDF7"/>
          </a:solidFill>
          <a:ln w="31750">
            <a:solidFill>
              <a:srgbClr val="3B4E8C"/>
            </a:solidFill>
            <a:prstDash val="solid"/>
          </a:ln>
        </p:spPr>
      </p:sp>
      <p:sp>
        <p:nvSpPr>
          <p:cNvPr id="20" name="Text 18"/>
          <p:cNvSpPr txBox="1"/>
          <p:nvPr/>
        </p:nvSpPr>
        <p:spPr>
          <a:xfrm>
            <a:off x="530352" y="2715768"/>
            <a:ext cx="3054096" cy="457200"/>
          </a:xfrm>
          <a:prstGeom prst="rect">
            <a:avLst/>
          </a:prstGeom>
          <a:noFill/>
          <a:ln/>
        </p:spPr>
        <p:txBody>
          <a:bodyPr wrap="square" lIns="0" tIns="0" rIns="0" bIns="0" rtlCol="0" anchor="ctr"/>
          <a:lstStyle/>
          <a:p>
            <a:pPr algn="ctr" indent="0" marL="0">
              <a:buNone/>
            </a:pPr>
            <a:r>
              <a:rPr lang="en-US" sz="1400" b="1" dirty="0">
                <a:solidFill>
                  <a:srgbClr val="16222B"/>
                </a:solidFill>
                <a:latin typeface="Calibri" pitchFamily="34" charset="0"/>
                <a:ea typeface="Calibri" pitchFamily="34" charset="-122"/>
                <a:cs typeface="Calibri" pitchFamily="34" charset="-120"/>
              </a:rPr>
              <a:t>DECIDE</a:t>
            </a:r>
            <a:endParaRPr lang="en-US" sz="1400" dirty="0"/>
          </a:p>
          <a:p>
            <a:pPr algn="ctr" indent="0" marL="0">
              <a:buNone/>
            </a:pP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the one swappable block</a:t>
            </a:r>
            <a:endParaRPr lang="en-US" sz="1400" dirty="0"/>
          </a:p>
        </p:txBody>
      </p:sp>
      <p:sp>
        <p:nvSpPr>
          <p:cNvPr id="21" name="Text 19"/>
          <p:cNvSpPr txBox="1"/>
          <p:nvPr/>
        </p:nvSpPr>
        <p:spPr>
          <a:xfrm>
            <a:off x="457200" y="3227832"/>
            <a:ext cx="3200400" cy="237744"/>
          </a:xfrm>
          <a:prstGeom prst="rect">
            <a:avLst/>
          </a:prstGeom>
          <a:noFill/>
          <a:ln/>
        </p:spPr>
        <p:txBody>
          <a:bodyPr wrap="square" lIns="0" tIns="0" rIns="0" bIns="0" rtlCol="0" anchor="ctr"/>
          <a:lstStyle/>
          <a:p>
            <a:pPr algn="ctr" indent="0" marL="0">
              <a:buNone/>
            </a:pPr>
            <a:r>
              <a:rPr lang="en-US" sz="1050" dirty="0">
                <a:solidFill>
                  <a:srgbClr val="3B4E8C"/>
                </a:solidFill>
                <a:latin typeface="Calibri" pitchFamily="34" charset="0"/>
                <a:ea typeface="Calibri" pitchFamily="34" charset="-122"/>
                <a:cs typeface="Calibri" pitchFamily="34" charset="-120"/>
              </a:rPr>
              <a:t>A agentic · B oracle · C external · D explicit</a:t>
            </a:r>
            <a:endParaRPr lang="en-US" sz="1050" dirty="0"/>
          </a:p>
        </p:txBody>
      </p:sp>
      <p:sp>
        <p:nvSpPr>
          <p:cNvPr id="22" name="Shape 20"/>
          <p:cNvSpPr/>
          <p:nvPr/>
        </p:nvSpPr>
        <p:spPr>
          <a:xfrm>
            <a:off x="457200" y="3529584"/>
            <a:ext cx="3200400" cy="640080"/>
          </a:xfrm>
          <a:prstGeom prst="roundRect">
            <a:avLst>
              <a:gd name="adj" fmla="val 11429"/>
            </a:avLst>
          </a:prstGeom>
          <a:solidFill>
            <a:srgbClr val="FFFFFF"/>
          </a:solidFill>
          <a:ln w="19050">
            <a:solidFill>
              <a:srgbClr val="5E6B75"/>
            </a:solidFill>
            <a:prstDash val="solid"/>
          </a:ln>
        </p:spPr>
      </p:sp>
      <p:sp>
        <p:nvSpPr>
          <p:cNvPr id="23" name="Text 21"/>
          <p:cNvSpPr txBox="1"/>
          <p:nvPr/>
        </p:nvSpPr>
        <p:spPr>
          <a:xfrm>
            <a:off x="530352" y="3575304"/>
            <a:ext cx="3054096" cy="548640"/>
          </a:xfrm>
          <a:prstGeom prst="rect">
            <a:avLst/>
          </a:prstGeom>
          <a:noFill/>
          <a:ln/>
        </p:spPr>
        <p:txBody>
          <a:bodyPr wrap="square" lIns="0" tIns="0" rIns="0" bIns="0" rtlCol="0" anchor="ctr"/>
          <a:lstStyle/>
          <a:p>
            <a:pPr algn="ctr" indent="0" marL="0">
              <a:buNone/>
            </a:pPr>
            <a:r>
              <a:rPr lang="en-US" sz="1250" b="1" dirty="0">
                <a:solidFill>
                  <a:srgbClr val="16222B"/>
                </a:solidFill>
                <a:latin typeface="Calibri" pitchFamily="34" charset="0"/>
                <a:ea typeface="Calibri" pitchFamily="34" charset="-122"/>
                <a:cs typeface="Calibri" pitchFamily="34" charset="-120"/>
              </a:rPr>
              <a:t>SUBMIT</a:t>
            </a:r>
            <a:endParaRPr lang="en-US" sz="1400" dirty="0"/>
          </a:p>
          <a:p>
            <a:pPr algn="ctr" indent="0" marL="0">
              <a:buNone/>
            </a:pPr>
            <a:endParaRPr lang="en-US" sz="1400" dirty="0"/>
          </a:p>
          <a:p>
            <a:pPr algn="ctr" indent="0" marL="0">
              <a:buNone/>
            </a:pPr>
            <a:r>
              <a:rPr lang="en-US" sz="900" dirty="0">
                <a:solidFill>
                  <a:srgbClr val="5E6B75"/>
                </a:solidFill>
                <a:latin typeface="Consolas" pitchFamily="34" charset="0"/>
                <a:ea typeface="Consolas" pitchFamily="34" charset="-122"/>
                <a:cs typeface="Consolas" pitchFamily="34" charset="-120"/>
              </a:rPr>
              <a:t>_submit_with_retry:98</a:t>
            </a:r>
            <a:endParaRPr lang="en-US" sz="1400" dirty="0"/>
          </a:p>
        </p:txBody>
      </p:sp>
      <p:sp>
        <p:nvSpPr>
          <p:cNvPr id="24" name="Shape 22"/>
          <p:cNvSpPr/>
          <p:nvPr/>
        </p:nvSpPr>
        <p:spPr>
          <a:xfrm>
            <a:off x="6080760" y="3529584"/>
            <a:ext cx="4480560" cy="640080"/>
          </a:xfrm>
          <a:prstGeom prst="roundRect">
            <a:avLst>
              <a:gd name="adj" fmla="val 11429"/>
            </a:avLst>
          </a:prstGeom>
          <a:solidFill>
            <a:srgbClr val="E3F0F1"/>
          </a:solidFill>
          <a:ln w="19050">
            <a:solidFill>
              <a:srgbClr val="1E6470"/>
            </a:solidFill>
            <a:prstDash val="solid"/>
          </a:ln>
        </p:spPr>
      </p:sp>
      <p:sp>
        <p:nvSpPr>
          <p:cNvPr id="25" name="Text 23"/>
          <p:cNvSpPr txBox="1"/>
          <p:nvPr/>
        </p:nvSpPr>
        <p:spPr>
          <a:xfrm>
            <a:off x="6153912" y="3575304"/>
            <a:ext cx="4334256" cy="548640"/>
          </a:xfrm>
          <a:prstGeom prst="rect">
            <a:avLst/>
          </a:prstGeom>
          <a:noFill/>
          <a:ln/>
        </p:spPr>
        <p:txBody>
          <a:bodyPr wrap="square" lIns="0" tIns="0" rIns="0" bIns="0" rtlCol="0" anchor="ctr"/>
          <a:lstStyle/>
          <a:p>
            <a:pPr algn="l" indent="0" marL="0">
              <a:buNone/>
            </a:pPr>
            <a:r>
              <a:rPr lang="en-US" sz="1250" b="1" dirty="0">
                <a:solidFill>
                  <a:srgbClr val="16222B"/>
                </a:solidFill>
                <a:latin typeface="Calibri" pitchFamily="34" charset="0"/>
                <a:ea typeface="Calibri" pitchFamily="34" charset="-122"/>
                <a:cs typeface="Calibri" pitchFamily="34" charset="-120"/>
              </a:rPr>
              <a:t>ADMIT</a:t>
            </a:r>
            <a:endParaRPr lang="en-US" sz="1400" dirty="0"/>
          </a:p>
          <a:p>
            <a:pPr algn="l" indent="0" marL="0">
              <a:buNone/>
            </a:pPr>
            <a:r>
              <a:rPr lang="en-US" sz="900" dirty="0">
                <a:solidFill>
                  <a:srgbClr val="5E6B75"/>
                </a:solidFill>
                <a:latin typeface="Calibri" pitchFamily="34" charset="0"/>
                <a:ea typeface="Calibri" pitchFamily="34" charset="-122"/>
                <a:cs typeface="Calibri" pitchFamily="34" charset="-120"/>
              </a:rPr>
              <a:t>  ::_admit_once:304</a:t>
            </a:r>
            <a:endParaRPr lang="en-US" sz="1400" dirty="0"/>
          </a:p>
          <a:p>
            <a:pPr algn="l" indent="0" marL="0">
              <a:buNone/>
            </a:pPr>
            <a:r>
              <a:rPr lang="en-US" sz="900" dirty="0">
                <a:solidFill>
                  <a:srgbClr val="5E6B75"/>
                </a:solidFill>
                <a:latin typeface="Calibri" pitchFamily="34" charset="0"/>
                <a:ea typeface="Calibri" pitchFamily="34" charset="-122"/>
                <a:cs typeface="Calibri" pitchFamily="34" charset="-120"/>
              </a:rPr>
              <a:t>compose → gates → interlock</a:t>
            </a:r>
            <a:endParaRPr lang="en-US" sz="1400" dirty="0"/>
          </a:p>
          <a:p>
            <a:pPr algn="l" indent="0" marL="0">
              <a:buNone/>
            </a:pPr>
            <a:r>
              <a:rPr lang="en-US" sz="900" dirty="0">
                <a:solidFill>
                  <a:srgbClr val="5E6B75"/>
                </a:solidFill>
                <a:latin typeface="Calibri" pitchFamily="34" charset="0"/>
                <a:ea typeface="Calibri" pitchFamily="34" charset="-122"/>
                <a:cs typeface="Calibri" pitchFamily="34" charset="-120"/>
              </a:rPr>
              <a:t>→ dry-run → reserve</a:t>
            </a:r>
            <a:endParaRPr lang="en-US" sz="1400" dirty="0"/>
          </a:p>
        </p:txBody>
      </p:sp>
      <p:sp>
        <p:nvSpPr>
          <p:cNvPr id="26" name="Shape 24"/>
          <p:cNvSpPr/>
          <p:nvPr/>
        </p:nvSpPr>
        <p:spPr>
          <a:xfrm>
            <a:off x="3685032" y="3849624"/>
            <a:ext cx="2368296" cy="91"/>
          </a:xfrm>
          <a:prstGeom prst="line">
            <a:avLst/>
          </a:prstGeom>
          <a:noFill/>
          <a:ln w="22225">
            <a:solidFill>
              <a:srgbClr val="1E6470"/>
            </a:solidFill>
            <a:prstDash val="solid"/>
            <a:tailEnd type="triangle"/>
          </a:ln>
        </p:spPr>
      </p:sp>
      <p:sp>
        <p:nvSpPr>
          <p:cNvPr id="27" name="Text 25"/>
          <p:cNvSpPr txBox="1"/>
          <p:nvPr/>
        </p:nvSpPr>
        <p:spPr>
          <a:xfrm>
            <a:off x="3749040" y="3621024"/>
            <a:ext cx="2240280" cy="237744"/>
          </a:xfrm>
          <a:prstGeom prst="rect">
            <a:avLst/>
          </a:prstGeom>
          <a:noFill/>
          <a:ln/>
        </p:spPr>
        <p:txBody>
          <a:bodyPr wrap="square" lIns="0" tIns="0" rIns="0" bIns="0" rtlCol="0" anchor="ctr"/>
          <a:lstStyle/>
          <a:p>
            <a:pPr algn="ctr" indent="0" marL="0">
              <a:buNone/>
            </a:pPr>
            <a:r>
              <a:rPr lang="en-US" sz="1050" dirty="0">
                <a:solidFill>
                  <a:srgbClr val="1E6470"/>
                </a:solidFill>
                <a:latin typeface="Consolas" pitchFamily="34" charset="0"/>
                <a:ea typeface="Consolas" pitchFamily="34" charset="-122"/>
                <a:cs typeface="Consolas" pitchFamily="34" charset="-120"/>
              </a:rPr>
              <a:t>ExperimentIntent</a:t>
            </a:r>
            <a:endParaRPr lang="en-US" sz="1050" dirty="0"/>
          </a:p>
        </p:txBody>
      </p:sp>
      <p:sp>
        <p:nvSpPr>
          <p:cNvPr id="28" name="Shape 26"/>
          <p:cNvSpPr/>
          <p:nvPr/>
        </p:nvSpPr>
        <p:spPr>
          <a:xfrm>
            <a:off x="6080760" y="4526280"/>
            <a:ext cx="4480560" cy="502920"/>
          </a:xfrm>
          <a:prstGeom prst="roundRect">
            <a:avLst>
              <a:gd name="adj" fmla="val 14545"/>
            </a:avLst>
          </a:prstGeom>
          <a:solidFill>
            <a:srgbClr val="E3F0F1"/>
          </a:solidFill>
          <a:ln w="19050">
            <a:solidFill>
              <a:srgbClr val="1E6470"/>
            </a:solidFill>
            <a:prstDash val="solid"/>
          </a:ln>
        </p:spPr>
      </p:sp>
      <p:sp>
        <p:nvSpPr>
          <p:cNvPr id="29" name="Text 27"/>
          <p:cNvSpPr txBox="1"/>
          <p:nvPr/>
        </p:nvSpPr>
        <p:spPr>
          <a:xfrm>
            <a:off x="6153912" y="4572000"/>
            <a:ext cx="4334256" cy="411480"/>
          </a:xfrm>
          <a:prstGeom prst="rect">
            <a:avLst/>
          </a:prstGeom>
          <a:noFill/>
          <a:ln/>
        </p:spPr>
        <p:txBody>
          <a:bodyPr wrap="square" lIns="0" tIns="0" rIns="0" bIns="0" rtlCol="0" anchor="ctr"/>
          <a:lstStyle/>
          <a:p>
            <a:pPr algn="l" indent="0" marL="0">
              <a:buNone/>
            </a:pPr>
            <a:r>
              <a:rPr lang="en-US" sz="1250" b="1" dirty="0">
                <a:solidFill>
                  <a:srgbClr val="16222B"/>
                </a:solidFill>
                <a:latin typeface="Calibri" pitchFamily="34" charset="0"/>
                <a:ea typeface="Calibri" pitchFamily="34" charset="-122"/>
                <a:cs typeface="Calibri" pitchFamily="34" charset="-120"/>
              </a:rPr>
              <a:t>DISPATCH</a:t>
            </a:r>
            <a:endParaRPr lang="en-US" sz="1400" dirty="0"/>
          </a:p>
          <a:p>
            <a:pPr algn="l" indent="0" marL="0">
              <a:buNone/>
            </a:pPr>
            <a:r>
              <a:rPr lang="en-US" sz="900" dirty="0">
                <a:solidFill>
                  <a:srgbClr val="5E6B75"/>
                </a:solidFill>
                <a:latin typeface="Calibri" pitchFamily="34" charset="0"/>
                <a:ea typeface="Calibri" pitchFamily="34" charset="-122"/>
                <a:cs typeface="Calibri" pitchFamily="34" charset="-120"/>
              </a:rPr>
              <a:t>  Dispatcher.submit:165</a:t>
            </a:r>
            <a:endParaRPr lang="en-US" sz="1400" dirty="0"/>
          </a:p>
          <a:p>
            <a:pPr algn="l" indent="0" marL="0">
              <a:buNone/>
            </a:pPr>
            <a:r>
              <a:rPr lang="en-US" sz="900" dirty="0">
                <a:solidFill>
                  <a:srgbClr val="5E6B75"/>
                </a:solidFill>
                <a:latin typeface="Calibri" pitchFamily="34" charset="0"/>
                <a:ea typeface="Calibri" pitchFamily="34" charset="-122"/>
                <a:cs typeface="Calibri" pitchFamily="34" charset="-120"/>
              </a:rPr>
              <a:t>returns a handle, does not await</a:t>
            </a:r>
            <a:endParaRPr lang="en-US" sz="1400" dirty="0"/>
          </a:p>
        </p:txBody>
      </p:sp>
      <p:sp>
        <p:nvSpPr>
          <p:cNvPr id="30" name="Shape 28"/>
          <p:cNvSpPr/>
          <p:nvPr/>
        </p:nvSpPr>
        <p:spPr>
          <a:xfrm>
            <a:off x="457200" y="5138928"/>
            <a:ext cx="3200400" cy="603504"/>
          </a:xfrm>
          <a:prstGeom prst="roundRect">
            <a:avLst>
              <a:gd name="adj" fmla="val 12121"/>
            </a:avLst>
          </a:prstGeom>
          <a:solidFill>
            <a:srgbClr val="FFFFFF"/>
          </a:solidFill>
          <a:ln w="19050">
            <a:solidFill>
              <a:srgbClr val="5E6B75"/>
            </a:solidFill>
            <a:prstDash val="solid"/>
          </a:ln>
        </p:spPr>
      </p:sp>
      <p:sp>
        <p:nvSpPr>
          <p:cNvPr id="31" name="Text 29"/>
          <p:cNvSpPr txBox="1"/>
          <p:nvPr/>
        </p:nvSpPr>
        <p:spPr>
          <a:xfrm>
            <a:off x="530352" y="5184648"/>
            <a:ext cx="3054096" cy="512064"/>
          </a:xfrm>
          <a:prstGeom prst="rect">
            <a:avLst/>
          </a:prstGeom>
          <a:noFill/>
          <a:ln/>
        </p:spPr>
        <p:txBody>
          <a:bodyPr wrap="square" lIns="0" tIns="0" rIns="0" bIns="0" rtlCol="0" anchor="ctr"/>
          <a:lstStyle/>
          <a:p>
            <a:pPr algn="ctr" indent="0" marL="0">
              <a:buNone/>
            </a:pPr>
            <a:r>
              <a:rPr lang="en-US" sz="1250" b="1" dirty="0">
                <a:solidFill>
                  <a:srgbClr val="16222B"/>
                </a:solidFill>
                <a:latin typeface="Calibri" pitchFamily="34" charset="0"/>
                <a:ea typeface="Calibri" pitchFamily="34" charset="-122"/>
                <a:cs typeface="Calibri" pitchFamily="34" charset="-120"/>
              </a:rPr>
              <a:t>WAIT</a:t>
            </a:r>
            <a:endParaRPr lang="en-US" sz="1400" dirty="0"/>
          </a:p>
          <a:p>
            <a:pPr algn="ctr" indent="0" marL="0">
              <a:buNone/>
            </a:pPr>
            <a:endParaRPr lang="en-US" sz="1400" dirty="0"/>
          </a:p>
          <a:p>
            <a:pPr algn="ctr" indent="0" marL="0">
              <a:buNone/>
            </a:pPr>
            <a:r>
              <a:rPr lang="en-US" sz="900" dirty="0">
                <a:solidFill>
                  <a:srgbClr val="5E6B75"/>
                </a:solidFill>
                <a:latin typeface="Consolas" pitchFamily="34" charset="0"/>
                <a:ea typeface="Consolas" pitchFamily="34" charset="-122"/>
                <a:cs typeface="Consolas" pitchFamily="34" charset="-120"/>
              </a:rPr>
              <a:t>result() / as_completed()</a:t>
            </a:r>
            <a:endParaRPr lang="en-US" sz="1400" dirty="0"/>
          </a:p>
        </p:txBody>
      </p:sp>
      <p:sp>
        <p:nvSpPr>
          <p:cNvPr id="32" name="Shape 30"/>
          <p:cNvSpPr/>
          <p:nvPr/>
        </p:nvSpPr>
        <p:spPr>
          <a:xfrm>
            <a:off x="6080760" y="5138928"/>
            <a:ext cx="4480560" cy="603504"/>
          </a:xfrm>
          <a:prstGeom prst="roundRect">
            <a:avLst>
              <a:gd name="adj" fmla="val 12121"/>
            </a:avLst>
          </a:prstGeom>
          <a:solidFill>
            <a:srgbClr val="E3F0F1"/>
          </a:solidFill>
          <a:ln w="19050">
            <a:solidFill>
              <a:srgbClr val="1E6470"/>
            </a:solidFill>
            <a:prstDash val="solid"/>
          </a:ln>
        </p:spPr>
      </p:sp>
      <p:sp>
        <p:nvSpPr>
          <p:cNvPr id="33" name="Text 31"/>
          <p:cNvSpPr txBox="1"/>
          <p:nvPr/>
        </p:nvSpPr>
        <p:spPr>
          <a:xfrm>
            <a:off x="6153912" y="5184648"/>
            <a:ext cx="4334256" cy="512064"/>
          </a:xfrm>
          <a:prstGeom prst="rect">
            <a:avLst/>
          </a:prstGeom>
          <a:noFill/>
          <a:ln/>
        </p:spPr>
        <p:txBody>
          <a:bodyPr wrap="square" lIns="0" tIns="0" rIns="0" bIns="0" rtlCol="0" anchor="ctr"/>
          <a:lstStyle/>
          <a:p>
            <a:pPr algn="l" indent="0" marL="0">
              <a:buNone/>
            </a:pPr>
            <a:r>
              <a:rPr lang="en-US" sz="1250" b="1" dirty="0">
                <a:solidFill>
                  <a:srgbClr val="16222B"/>
                </a:solidFill>
                <a:latin typeface="Calibri" pitchFamily="34" charset="0"/>
                <a:ea typeface="Calibri" pitchFamily="34" charset="-122"/>
                <a:cs typeface="Calibri" pitchFamily="34" charset="-120"/>
              </a:rPr>
              <a:t>REAP</a:t>
            </a:r>
            <a:endParaRPr lang="en-US" sz="1400" dirty="0"/>
          </a:p>
          <a:p>
            <a:pPr algn="l" indent="0" marL="0">
              <a:buNone/>
            </a:pPr>
            <a:r>
              <a:rPr lang="en-US" sz="900" dirty="0">
                <a:solidFill>
                  <a:srgbClr val="5E6B75"/>
                </a:solidFill>
                <a:latin typeface="Calibri" pitchFamily="34" charset="0"/>
                <a:ea typeface="Calibri" pitchFamily="34" charset="-122"/>
                <a:cs typeface="Calibri" pitchFamily="34" charset="-120"/>
              </a:rPr>
              <a:t>  ::pump:744 → _reap:629</a:t>
            </a:r>
            <a:endParaRPr lang="en-US" sz="1400" dirty="0"/>
          </a:p>
          <a:p>
            <a:pPr algn="l" indent="0" marL="0">
              <a:buNone/>
            </a:pPr>
            <a:r>
              <a:rPr lang="en-US" sz="900" dirty="0">
                <a:solidFill>
                  <a:srgbClr val="5E6B75"/>
                </a:solidFill>
                <a:latin typeface="Calibri" pitchFamily="34" charset="0"/>
                <a:ea typeface="Calibri" pitchFamily="34" charset="-122"/>
                <a:cs typeface="Calibri" pitchFamily="34" charset="-120"/>
              </a:rPr>
              <a:t>collect · QC · _absorb:242</a:t>
            </a:r>
            <a:endParaRPr lang="en-US" sz="1400" dirty="0"/>
          </a:p>
          <a:p>
            <a:pPr algn="l" indent="0" marL="0">
              <a:buNone/>
            </a:pPr>
            <a:r>
              <a:rPr lang="en-US" sz="900" dirty="0">
                <a:solidFill>
                  <a:srgbClr val="5E6B75"/>
                </a:solidFill>
                <a:latin typeface="Calibri" pitchFamily="34" charset="0"/>
                <a:ea typeface="Calibri" pitchFamily="34" charset="-122"/>
                <a:cs typeface="Calibri" pitchFamily="34" charset="-120"/>
              </a:rPr>
              <a:t>terminate?</a:t>
            </a:r>
            <a:endParaRPr lang="en-US" sz="1400" dirty="0"/>
          </a:p>
        </p:txBody>
      </p:sp>
      <p:sp>
        <p:nvSpPr>
          <p:cNvPr id="34" name="Shape 32"/>
          <p:cNvSpPr/>
          <p:nvPr/>
        </p:nvSpPr>
        <p:spPr>
          <a:xfrm flipH="1">
            <a:off x="3685032" y="5440680"/>
            <a:ext cx="2368296" cy="91"/>
          </a:xfrm>
          <a:prstGeom prst="line">
            <a:avLst/>
          </a:prstGeom>
          <a:noFill/>
          <a:ln w="22225">
            <a:solidFill>
              <a:srgbClr val="1E6470"/>
            </a:solidFill>
            <a:prstDash val="solid"/>
            <a:tailEnd type="triangle"/>
          </a:ln>
        </p:spPr>
      </p:sp>
      <p:sp>
        <p:nvSpPr>
          <p:cNvPr id="35" name="Text 33"/>
          <p:cNvSpPr txBox="1"/>
          <p:nvPr/>
        </p:nvSpPr>
        <p:spPr>
          <a:xfrm>
            <a:off x="3749040" y="5212080"/>
            <a:ext cx="2240280" cy="237744"/>
          </a:xfrm>
          <a:prstGeom prst="rect">
            <a:avLst/>
          </a:prstGeom>
          <a:noFill/>
          <a:ln/>
        </p:spPr>
        <p:txBody>
          <a:bodyPr wrap="square" lIns="0" tIns="0" rIns="0" bIns="0" rtlCol="0" anchor="ctr"/>
          <a:lstStyle/>
          <a:p>
            <a:pPr algn="ctr" indent="0" marL="0">
              <a:buNone/>
            </a:pPr>
            <a:r>
              <a:rPr lang="en-US" sz="1050" dirty="0">
                <a:solidFill>
                  <a:srgbClr val="1E6470"/>
                </a:solidFill>
                <a:latin typeface="Consolas" pitchFamily="34" charset="0"/>
                <a:ea typeface="Consolas" pitchFamily="34" charset="-122"/>
                <a:cs typeface="Consolas" pitchFamily="34" charset="-120"/>
              </a:rPr>
              <a:t>RunOutcome</a:t>
            </a:r>
            <a:endParaRPr lang="en-US" sz="1050" dirty="0"/>
          </a:p>
        </p:txBody>
      </p:sp>
      <p:sp>
        <p:nvSpPr>
          <p:cNvPr id="36" name="Text 34"/>
          <p:cNvSpPr txBox="1"/>
          <p:nvPr/>
        </p:nvSpPr>
        <p:spPr>
          <a:xfrm>
            <a:off x="640080" y="4206240"/>
            <a:ext cx="10058400" cy="237744"/>
          </a:xfrm>
          <a:prstGeom prst="rect">
            <a:avLst/>
          </a:prstGeom>
          <a:noFill/>
          <a:ln/>
        </p:spPr>
        <p:txBody>
          <a:bodyPr wrap="square" lIns="0" tIns="0" rIns="0" bIns="0" rtlCol="0" anchor="ctr"/>
          <a:lstStyle/>
          <a:p>
            <a:pPr algn="ctr" indent="0" marL="0">
              <a:buNone/>
            </a:pPr>
            <a:r>
              <a:rPr lang="en-US" sz="1050" b="1" dirty="0">
                <a:solidFill>
                  <a:srgbClr val="C0392B"/>
                </a:solidFill>
                <a:latin typeface="Calibri" pitchFamily="34" charset="0"/>
                <a:ea typeface="Calibri" pitchFamily="34" charset="-122"/>
                <a:cs typeface="Calibri" pitchFamily="34" charset="-120"/>
              </a:rPr>
              <a:t>SubmissionRejected(ValidationFailure) → on_rejected → retry, ≤ max_attempts</a:t>
            </a:r>
            <a:endParaRPr lang="en-US" sz="1050" dirty="0"/>
          </a:p>
        </p:txBody>
      </p:sp>
      <p:sp>
        <p:nvSpPr>
          <p:cNvPr id="37" name="Shape 35"/>
          <p:cNvSpPr/>
          <p:nvPr/>
        </p:nvSpPr>
        <p:spPr>
          <a:xfrm flipH="1">
            <a:off x="3685032" y="4425696"/>
            <a:ext cx="2368296" cy="91"/>
          </a:xfrm>
          <a:prstGeom prst="line">
            <a:avLst/>
          </a:prstGeom>
          <a:noFill/>
          <a:ln w="25400">
            <a:solidFill>
              <a:srgbClr val="C0392B"/>
            </a:solidFill>
            <a:prstDash val="solid"/>
            <a:tailEnd type="triangle"/>
          </a:ln>
        </p:spPr>
      </p:sp>
      <p:sp>
        <p:nvSpPr>
          <p:cNvPr id="38" name="Shape 36"/>
          <p:cNvSpPr/>
          <p:nvPr/>
        </p:nvSpPr>
        <p:spPr>
          <a:xfrm>
            <a:off x="457200" y="5870448"/>
            <a:ext cx="5669280" cy="731520"/>
          </a:xfrm>
          <a:prstGeom prst="rect">
            <a:avLst/>
          </a:prstGeom>
          <a:solidFill>
            <a:srgbClr val="E9EDF7"/>
          </a:solidFill>
          <a:ln w="12700">
            <a:solidFill>
              <a:srgbClr val="E9EDF7"/>
            </a:solidFill>
            <a:prstDash val="solid"/>
          </a:ln>
        </p:spPr>
      </p:sp>
      <p:sp>
        <p:nvSpPr>
          <p:cNvPr id="39" name="Text 37"/>
          <p:cNvSpPr txBox="1"/>
          <p:nvPr/>
        </p:nvSpPr>
        <p:spPr>
          <a:xfrm>
            <a:off x="585216" y="5952744"/>
            <a:ext cx="5413248" cy="274320"/>
          </a:xfrm>
          <a:prstGeom prst="rect">
            <a:avLst/>
          </a:prstGeom>
          <a:noFill/>
          <a:ln/>
        </p:spPr>
        <p:txBody>
          <a:bodyPr wrap="square" lIns="0" tIns="0" rIns="0" bIns="0" rtlCol="0" anchor="t"/>
          <a:lstStyle/>
          <a:p>
            <a:pPr indent="0" marL="0">
              <a:buNone/>
            </a:pPr>
            <a:r>
              <a:rPr lang="en-US" sz="1300" b="1" dirty="0">
                <a:solidFill>
                  <a:srgbClr val="3B4E8C"/>
                </a:solidFill>
                <a:latin typeface="Calibri" pitchFamily="34" charset="0"/>
                <a:ea typeface="Calibri" pitchFamily="34" charset="-122"/>
                <a:cs typeface="Calibri" pitchFamily="34" charset="-120"/>
              </a:rPr>
              <a:t>Why the split exists</a:t>
            </a:r>
            <a:endParaRPr lang="en-US" sz="1300" dirty="0"/>
          </a:p>
        </p:txBody>
      </p:sp>
      <p:sp>
        <p:nvSpPr>
          <p:cNvPr id="40" name="Text 38"/>
          <p:cNvSpPr txBox="1"/>
          <p:nvPr/>
        </p:nvSpPr>
        <p:spPr>
          <a:xfrm>
            <a:off x="585216" y="6263640"/>
            <a:ext cx="5413248" cy="25603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The old manager awaited the whole graph where it submitted it, so the policy could not be consulted until the slowest lineage finished.</a:t>
            </a:r>
            <a:endParaRPr lang="en-US" sz="1050" dirty="0"/>
          </a:p>
        </p:txBody>
      </p:sp>
      <p:sp>
        <p:nvSpPr>
          <p:cNvPr id="41" name="Shape 39"/>
          <p:cNvSpPr/>
          <p:nvPr/>
        </p:nvSpPr>
        <p:spPr>
          <a:xfrm>
            <a:off x="6400800" y="5870448"/>
            <a:ext cx="5788152" cy="731520"/>
          </a:xfrm>
          <a:prstGeom prst="rect">
            <a:avLst/>
          </a:prstGeom>
          <a:solidFill>
            <a:srgbClr val="E3F0F1"/>
          </a:solidFill>
          <a:ln w="12700">
            <a:solidFill>
              <a:srgbClr val="E3F0F1"/>
            </a:solidFill>
            <a:prstDash val="solid"/>
          </a:ln>
        </p:spPr>
      </p:sp>
      <p:sp>
        <p:nvSpPr>
          <p:cNvPr id="42" name="Text 40"/>
          <p:cNvSpPr txBox="1"/>
          <p:nvPr/>
        </p:nvSpPr>
        <p:spPr>
          <a:xfrm>
            <a:off x="6528816" y="5952744"/>
            <a:ext cx="5532120" cy="274320"/>
          </a:xfrm>
          <a:prstGeom prst="rect">
            <a:avLst/>
          </a:prstGeom>
          <a:noFill/>
          <a:ln/>
        </p:spPr>
        <p:txBody>
          <a:bodyPr wrap="square" lIns="0" tIns="0" rIns="0" bIns="0" rtlCol="0" anchor="t"/>
          <a:lstStyle/>
          <a:p>
            <a:pPr indent="0" marL="0">
              <a:buNone/>
            </a:pPr>
            <a:r>
              <a:rPr lang="en-US" sz="1300" b="1" dirty="0">
                <a:solidFill>
                  <a:srgbClr val="1E6470"/>
                </a:solidFill>
                <a:latin typeface="Calibri" pitchFamily="34" charset="0"/>
                <a:ea typeface="Calibri" pitchFamily="34" charset="-122"/>
                <a:cs typeface="Calibri" pitchFamily="34" charset="-120"/>
              </a:rPr>
              <a:t>What keeps it honest</a:t>
            </a:r>
            <a:endParaRPr lang="en-US" sz="1300" dirty="0"/>
          </a:p>
        </p:txBody>
      </p:sp>
      <p:sp>
        <p:nvSpPr>
          <p:cNvPr id="43" name="Text 41"/>
          <p:cNvSpPr txBox="1"/>
          <p:nvPr/>
        </p:nvSpPr>
        <p:spPr>
          <a:xfrm>
            <a:off x="6528816" y="6263640"/>
            <a:ext cx="5532120" cy="25603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Every mutating block in the executor is await-free. Adding an await inside observe or _absorb reintroduces torn reads — a discipline, not something Python enforces.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ARCHITECTURE · F2</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Layers, and the four arrows that are not there</a:t>
            </a:r>
            <a:endParaRPr lang="en-US" sz="2800" dirty="0"/>
          </a:p>
        </p:txBody>
      </p:sp>
      <p:sp>
        <p:nvSpPr>
          <p:cNvPr id="4" name="Shape 2"/>
          <p:cNvSpPr/>
          <p:nvPr/>
        </p:nvSpPr>
        <p:spPr>
          <a:xfrm>
            <a:off x="457200" y="1298448"/>
            <a:ext cx="1005840" cy="475488"/>
          </a:xfrm>
          <a:prstGeom prst="rect">
            <a:avLst/>
          </a:prstGeom>
          <a:solidFill>
            <a:srgbClr val="1E6470"/>
          </a:solidFill>
          <a:ln w="12700">
            <a:solidFill>
              <a:srgbClr val="1E6470"/>
            </a:solidFill>
            <a:prstDash val="solid"/>
          </a:ln>
        </p:spPr>
      </p:sp>
      <p:sp>
        <p:nvSpPr>
          <p:cNvPr id="5" name="Text 3"/>
          <p:cNvSpPr txBox="1"/>
          <p:nvPr/>
        </p:nvSpPr>
        <p:spPr>
          <a:xfrm>
            <a:off x="457200" y="1298448"/>
            <a:ext cx="100584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control/</a:t>
            </a:r>
            <a:endParaRPr lang="en-US" sz="1100" dirty="0"/>
          </a:p>
        </p:txBody>
      </p:sp>
      <p:sp>
        <p:nvSpPr>
          <p:cNvPr id="6" name="Shape 4"/>
          <p:cNvSpPr/>
          <p:nvPr/>
        </p:nvSpPr>
        <p:spPr>
          <a:xfrm>
            <a:off x="1536192" y="1298448"/>
            <a:ext cx="5440680" cy="475488"/>
          </a:xfrm>
          <a:prstGeom prst="rect">
            <a:avLst/>
          </a:prstGeom>
          <a:solidFill>
            <a:srgbClr val="FFFFFF"/>
          </a:solidFill>
          <a:ln w="15875">
            <a:solidFill>
              <a:srgbClr val="1E6470"/>
            </a:solidFill>
            <a:prstDash val="solid"/>
          </a:ln>
        </p:spPr>
      </p:sp>
      <p:sp>
        <p:nvSpPr>
          <p:cNvPr id="7" name="Text 5"/>
          <p:cNvSpPr txBox="1"/>
          <p:nvPr/>
        </p:nvSpPr>
        <p:spPr>
          <a:xfrm>
            <a:off x="1609344" y="1344168"/>
            <a:ext cx="5294376" cy="384048"/>
          </a:xfrm>
          <a:prstGeom prst="rect">
            <a:avLst/>
          </a:prstGeom>
          <a:noFill/>
          <a:ln/>
        </p:spPr>
        <p:txBody>
          <a:bodyPr wrap="square" lIns="0" tIns="0" rIns="0" bIns="0" rtlCol="0" anchor="ctr"/>
          <a:lstStyle/>
          <a:p>
            <a:pPr algn="l" indent="0" marL="0">
              <a:buNone/>
            </a:pPr>
            <a:r>
              <a:rPr lang="en-US" sz="1000" b="1" dirty="0">
                <a:solidFill>
                  <a:srgbClr val="16222B"/>
                </a:solidFill>
                <a:latin typeface="Calibri" pitchFamily="34" charset="0"/>
                <a:ea typeface="Calibri" pitchFamily="34" charset="-122"/>
                <a:cs typeface="Calibri" pitchFamily="34" charset="-120"/>
              </a:rPr>
              <a:t>CampaignControlPlane · in-process ✔  HTTP+SSE ✔  MCP ╌ not built</a:t>
            </a:r>
            <a:endParaRPr lang="en-US" sz="1400" dirty="0"/>
          </a:p>
        </p:txBody>
      </p:sp>
      <p:sp>
        <p:nvSpPr>
          <p:cNvPr id="8" name="Shape 6"/>
          <p:cNvSpPr/>
          <p:nvPr/>
        </p:nvSpPr>
        <p:spPr>
          <a:xfrm>
            <a:off x="457200" y="1828800"/>
            <a:ext cx="1005840" cy="566928"/>
          </a:xfrm>
          <a:prstGeom prst="rect">
            <a:avLst/>
          </a:prstGeom>
          <a:solidFill>
            <a:srgbClr val="3B4E8C"/>
          </a:solidFill>
          <a:ln w="12700">
            <a:solidFill>
              <a:srgbClr val="3B4E8C"/>
            </a:solidFill>
            <a:prstDash val="solid"/>
          </a:ln>
        </p:spPr>
      </p:sp>
      <p:sp>
        <p:nvSpPr>
          <p:cNvPr id="9" name="Text 7"/>
          <p:cNvSpPr txBox="1"/>
          <p:nvPr/>
        </p:nvSpPr>
        <p:spPr>
          <a:xfrm>
            <a:off x="457200" y="1828800"/>
            <a:ext cx="10058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policy/</a:t>
            </a:r>
            <a:endParaRPr lang="en-US" sz="1100" dirty="0"/>
          </a:p>
        </p:txBody>
      </p:sp>
      <p:sp>
        <p:nvSpPr>
          <p:cNvPr id="10" name="Shape 8"/>
          <p:cNvSpPr/>
          <p:nvPr/>
        </p:nvSpPr>
        <p:spPr>
          <a:xfrm>
            <a:off x="1536192" y="1828800"/>
            <a:ext cx="5440680" cy="566928"/>
          </a:xfrm>
          <a:prstGeom prst="rect">
            <a:avLst/>
          </a:prstGeom>
          <a:solidFill>
            <a:srgbClr val="FFFFFF"/>
          </a:solidFill>
          <a:ln w="15875">
            <a:solidFill>
              <a:srgbClr val="3B4E8C"/>
            </a:solidFill>
            <a:prstDash val="solid"/>
          </a:ln>
        </p:spPr>
      </p:sp>
      <p:sp>
        <p:nvSpPr>
          <p:cNvPr id="11" name="Text 9"/>
          <p:cNvSpPr txBox="1"/>
          <p:nvPr/>
        </p:nvSpPr>
        <p:spPr>
          <a:xfrm>
            <a:off x="1609344" y="1874520"/>
            <a:ext cx="5294376" cy="475488"/>
          </a:xfrm>
          <a:prstGeom prst="rect">
            <a:avLst/>
          </a:prstGeom>
          <a:noFill/>
          <a:ln/>
        </p:spPr>
        <p:txBody>
          <a:bodyPr wrap="square" lIns="0" tIns="0" rIns="0" bIns="0" rtlCol="0" anchor="ctr"/>
          <a:lstStyle/>
          <a:p>
            <a:pPr algn="l" indent="0" marL="0">
              <a:buNone/>
            </a:pPr>
            <a:r>
              <a:rPr lang="en-US" sz="1000" b="1" dirty="0">
                <a:solidFill>
                  <a:srgbClr val="16222B"/>
                </a:solidFill>
                <a:latin typeface="Calibri" pitchFamily="34" charset="0"/>
                <a:ea typeface="Calibri" pitchFamily="34" charset="-122"/>
                <a:cs typeface="Calibri" pitchFamily="34" charset="-120"/>
              </a:rPr>
              <a:t>A agentic · B oracle · C external · D explicit · wrappers · driver</a:t>
            </a:r>
            <a:endParaRPr lang="en-US" sz="1400" dirty="0"/>
          </a:p>
        </p:txBody>
      </p:sp>
      <p:sp>
        <p:nvSpPr>
          <p:cNvPr id="12" name="Shape 10"/>
          <p:cNvSpPr/>
          <p:nvPr/>
        </p:nvSpPr>
        <p:spPr>
          <a:xfrm>
            <a:off x="457200" y="2450592"/>
            <a:ext cx="1005840" cy="365760"/>
          </a:xfrm>
          <a:prstGeom prst="rect">
            <a:avLst/>
          </a:prstGeom>
          <a:solidFill>
            <a:srgbClr val="3B4E8C"/>
          </a:solidFill>
          <a:ln w="12700">
            <a:solidFill>
              <a:srgbClr val="3B4E8C"/>
            </a:solidFill>
            <a:prstDash val="solid"/>
          </a:ln>
        </p:spPr>
      </p:sp>
      <p:sp>
        <p:nvSpPr>
          <p:cNvPr id="13" name="Text 11"/>
          <p:cNvSpPr txBox="1"/>
          <p:nvPr/>
        </p:nvSpPr>
        <p:spPr>
          <a:xfrm>
            <a:off x="457200" y="2450592"/>
            <a:ext cx="10058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manager.py</a:t>
            </a:r>
            <a:endParaRPr lang="en-US" sz="1100" dirty="0"/>
          </a:p>
        </p:txBody>
      </p:sp>
      <p:sp>
        <p:nvSpPr>
          <p:cNvPr id="14" name="Shape 12"/>
          <p:cNvSpPr/>
          <p:nvPr/>
        </p:nvSpPr>
        <p:spPr>
          <a:xfrm>
            <a:off x="1536192" y="2450592"/>
            <a:ext cx="5440680" cy="365760"/>
          </a:xfrm>
          <a:prstGeom prst="rect">
            <a:avLst/>
          </a:prstGeom>
          <a:solidFill>
            <a:srgbClr val="FFFFFF"/>
          </a:solidFill>
          <a:ln w="15875">
            <a:solidFill>
              <a:srgbClr val="3B4E8C"/>
            </a:solidFill>
            <a:prstDash val="solid"/>
          </a:ln>
        </p:spPr>
      </p:sp>
      <p:sp>
        <p:nvSpPr>
          <p:cNvPr id="15" name="Text 13"/>
          <p:cNvSpPr txBox="1"/>
          <p:nvPr/>
        </p:nvSpPr>
        <p:spPr>
          <a:xfrm>
            <a:off x="1609344" y="2496312"/>
            <a:ext cx="5294376" cy="274320"/>
          </a:xfrm>
          <a:prstGeom prst="rect">
            <a:avLst/>
          </a:prstGeom>
          <a:noFill/>
          <a:ln/>
        </p:spPr>
        <p:txBody>
          <a:bodyPr wrap="square" lIns="0" tIns="0" rIns="0" bIns="0" rtlCol="0" anchor="ctr"/>
          <a:lstStyle/>
          <a:p>
            <a:pPr algn="l" indent="0" marL="0">
              <a:buNone/>
            </a:pPr>
            <a:r>
              <a:rPr lang="en-US" sz="1000" b="1" dirty="0">
                <a:solidFill>
                  <a:srgbClr val="16222B"/>
                </a:solidFill>
                <a:latin typeface="Calibri" pitchFamily="34" charset="0"/>
                <a:ea typeface="Calibri" pitchFamily="34" charset="-122"/>
                <a:cs typeface="Calibri" pitchFamily="34" charset="-120"/>
              </a:rPr>
              <a:t>a facade: starts the executor and the reasoner, first to finish ends it</a:t>
            </a:r>
            <a:endParaRPr lang="en-US" sz="1400" dirty="0"/>
          </a:p>
        </p:txBody>
      </p:sp>
      <p:sp>
        <p:nvSpPr>
          <p:cNvPr id="16" name="Shape 14"/>
          <p:cNvSpPr/>
          <p:nvPr/>
        </p:nvSpPr>
        <p:spPr>
          <a:xfrm>
            <a:off x="457200" y="2871216"/>
            <a:ext cx="1005840" cy="566928"/>
          </a:xfrm>
          <a:prstGeom prst="rect">
            <a:avLst/>
          </a:prstGeom>
          <a:solidFill>
            <a:srgbClr val="1E6470"/>
          </a:solidFill>
          <a:ln w="12700">
            <a:solidFill>
              <a:srgbClr val="1E6470"/>
            </a:solidFill>
            <a:prstDash val="solid"/>
          </a:ln>
        </p:spPr>
      </p:sp>
      <p:sp>
        <p:nvSpPr>
          <p:cNvPr id="17" name="Text 15"/>
          <p:cNvSpPr txBox="1"/>
          <p:nvPr/>
        </p:nvSpPr>
        <p:spPr>
          <a:xfrm>
            <a:off x="457200" y="2871216"/>
            <a:ext cx="10058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runtime/</a:t>
            </a:r>
            <a:endParaRPr lang="en-US" sz="1100" dirty="0"/>
          </a:p>
        </p:txBody>
      </p:sp>
      <p:sp>
        <p:nvSpPr>
          <p:cNvPr id="18" name="Shape 16"/>
          <p:cNvSpPr/>
          <p:nvPr/>
        </p:nvSpPr>
        <p:spPr>
          <a:xfrm>
            <a:off x="1536192" y="2871216"/>
            <a:ext cx="5440680" cy="566928"/>
          </a:xfrm>
          <a:prstGeom prst="rect">
            <a:avLst/>
          </a:prstGeom>
          <a:solidFill>
            <a:srgbClr val="FFFFFF"/>
          </a:solidFill>
          <a:ln w="15875">
            <a:solidFill>
              <a:srgbClr val="1E6470"/>
            </a:solidFill>
            <a:prstDash val="solid"/>
          </a:ln>
        </p:spPr>
      </p:sp>
      <p:sp>
        <p:nvSpPr>
          <p:cNvPr id="19" name="Text 17"/>
          <p:cNvSpPr txBox="1"/>
          <p:nvPr/>
        </p:nvSpPr>
        <p:spPr>
          <a:xfrm>
            <a:off x="1609344" y="2916936"/>
            <a:ext cx="5294376" cy="475488"/>
          </a:xfrm>
          <a:prstGeom prst="rect">
            <a:avLst/>
          </a:prstGeom>
          <a:noFill/>
          <a:ln/>
        </p:spPr>
        <p:txBody>
          <a:bodyPr wrap="square" lIns="0" tIns="0" rIns="0" bIns="0" rtlCol="0" anchor="ctr"/>
          <a:lstStyle/>
          <a:p>
            <a:pPr algn="l" indent="0" marL="0">
              <a:buNone/>
            </a:pPr>
            <a:r>
              <a:rPr lang="en-US" sz="1000" b="1" dirty="0">
                <a:solidFill>
                  <a:srgbClr val="16222B"/>
                </a:solidFill>
                <a:latin typeface="Calibri" pitchFamily="34" charset="0"/>
                <a:ea typeface="Calibri" pitchFamily="34" charset="-122"/>
                <a:cs typeface="Calibri" pitchFamily="34" charset="-120"/>
              </a:rPr>
              <a:t>executor.py — sole state owner · session.py · runservice.py</a:t>
            </a:r>
            <a:endParaRPr lang="en-US" sz="1400" dirty="0"/>
          </a:p>
        </p:txBody>
      </p:sp>
      <p:sp>
        <p:nvSpPr>
          <p:cNvPr id="20" name="Shape 18"/>
          <p:cNvSpPr/>
          <p:nvPr/>
        </p:nvSpPr>
        <p:spPr>
          <a:xfrm>
            <a:off x="457200" y="3493008"/>
            <a:ext cx="1005840" cy="566928"/>
          </a:xfrm>
          <a:prstGeom prst="rect">
            <a:avLst/>
          </a:prstGeom>
          <a:solidFill>
            <a:srgbClr val="2E7D5B"/>
          </a:solidFill>
          <a:ln w="12700">
            <a:solidFill>
              <a:srgbClr val="2E7D5B"/>
            </a:solidFill>
            <a:prstDash val="solid"/>
          </a:ln>
        </p:spPr>
      </p:sp>
      <p:sp>
        <p:nvSpPr>
          <p:cNvPr id="21" name="Text 19"/>
          <p:cNvSpPr txBox="1"/>
          <p:nvPr/>
        </p:nvSpPr>
        <p:spPr>
          <a:xfrm>
            <a:off x="457200" y="3493008"/>
            <a:ext cx="10058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compose/</a:t>
            </a:r>
            <a:endParaRPr lang="en-US" sz="1100" dirty="0"/>
          </a:p>
        </p:txBody>
      </p:sp>
      <p:sp>
        <p:nvSpPr>
          <p:cNvPr id="22" name="Shape 20"/>
          <p:cNvSpPr/>
          <p:nvPr/>
        </p:nvSpPr>
        <p:spPr>
          <a:xfrm>
            <a:off x="1536192" y="3493008"/>
            <a:ext cx="5440680" cy="566928"/>
          </a:xfrm>
          <a:prstGeom prst="rect">
            <a:avLst/>
          </a:prstGeom>
          <a:solidFill>
            <a:srgbClr val="FFFFFF"/>
          </a:solidFill>
          <a:ln w="15875">
            <a:solidFill>
              <a:srgbClr val="2E7D5B"/>
            </a:solidFill>
            <a:prstDash val="solid"/>
          </a:ln>
        </p:spPr>
      </p:sp>
      <p:sp>
        <p:nvSpPr>
          <p:cNvPr id="23" name="Text 21"/>
          <p:cNvSpPr txBox="1"/>
          <p:nvPr/>
        </p:nvSpPr>
        <p:spPr>
          <a:xfrm>
            <a:off x="1609344" y="3538728"/>
            <a:ext cx="5294376" cy="475488"/>
          </a:xfrm>
          <a:prstGeom prst="rect">
            <a:avLst/>
          </a:prstGeom>
          <a:noFill/>
          <a:ln/>
        </p:spPr>
        <p:txBody>
          <a:bodyPr wrap="square" lIns="0" tIns="0" rIns="0" bIns="0" rtlCol="0" anchor="ctr"/>
          <a:lstStyle/>
          <a:p>
            <a:pPr algn="l" indent="0" marL="0">
              <a:buNone/>
            </a:pPr>
            <a:r>
              <a:rPr lang="en-US" sz="1000" b="1" dirty="0">
                <a:solidFill>
                  <a:srgbClr val="16222B"/>
                </a:solidFill>
                <a:latin typeface="Calibri" pitchFamily="34" charset="0"/>
                <a:ea typeface="Calibri" pitchFamily="34" charset="-122"/>
                <a:cs typeface="Calibri" pitchFamily="34" charset="-120"/>
              </a:rPr>
              <a:t>composer · graph · validate (5 gates) · interlock (trust)</a:t>
            </a:r>
            <a:endParaRPr lang="en-US" sz="1400" dirty="0"/>
          </a:p>
        </p:txBody>
      </p:sp>
      <p:sp>
        <p:nvSpPr>
          <p:cNvPr id="24" name="Shape 22"/>
          <p:cNvSpPr/>
          <p:nvPr/>
        </p:nvSpPr>
        <p:spPr>
          <a:xfrm>
            <a:off x="457200" y="4114800"/>
            <a:ext cx="1005840" cy="566928"/>
          </a:xfrm>
          <a:prstGeom prst="rect">
            <a:avLst/>
          </a:prstGeom>
          <a:solidFill>
            <a:srgbClr val="7A4A8C"/>
          </a:solidFill>
          <a:ln w="12700">
            <a:solidFill>
              <a:srgbClr val="7A4A8C"/>
            </a:solidFill>
            <a:prstDash val="solid"/>
          </a:ln>
        </p:spPr>
      </p:sp>
      <p:sp>
        <p:nvSpPr>
          <p:cNvPr id="25" name="Text 23"/>
          <p:cNvSpPr txBox="1"/>
          <p:nvPr/>
        </p:nvSpPr>
        <p:spPr>
          <a:xfrm>
            <a:off x="457200" y="4114800"/>
            <a:ext cx="10058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tools/</a:t>
            </a:r>
            <a:endParaRPr lang="en-US" sz="1100" dirty="0"/>
          </a:p>
        </p:txBody>
      </p:sp>
      <p:sp>
        <p:nvSpPr>
          <p:cNvPr id="26" name="Shape 24"/>
          <p:cNvSpPr/>
          <p:nvPr/>
        </p:nvSpPr>
        <p:spPr>
          <a:xfrm>
            <a:off x="1536192" y="4114800"/>
            <a:ext cx="5440680" cy="566928"/>
          </a:xfrm>
          <a:prstGeom prst="rect">
            <a:avLst/>
          </a:prstGeom>
          <a:solidFill>
            <a:srgbClr val="FFFFFF"/>
          </a:solidFill>
          <a:ln w="15875">
            <a:solidFill>
              <a:srgbClr val="7A4A8C"/>
            </a:solidFill>
            <a:prstDash val="solid"/>
          </a:ln>
        </p:spPr>
      </p:sp>
      <p:sp>
        <p:nvSpPr>
          <p:cNvPr id="27" name="Text 25"/>
          <p:cNvSpPr txBox="1"/>
          <p:nvPr/>
        </p:nvSpPr>
        <p:spPr>
          <a:xfrm>
            <a:off x="1609344" y="4160520"/>
            <a:ext cx="5294376" cy="475488"/>
          </a:xfrm>
          <a:prstGeom prst="rect">
            <a:avLst/>
          </a:prstGeom>
          <a:noFill/>
          <a:ln/>
        </p:spPr>
        <p:txBody>
          <a:bodyPr wrap="square" lIns="0" tIns="0" rIns="0" bIns="0" rtlCol="0" anchor="ctr"/>
          <a:lstStyle/>
          <a:p>
            <a:pPr algn="l" indent="0" marL="0">
              <a:buNone/>
            </a:pPr>
            <a:r>
              <a:rPr lang="en-US" sz="1000" b="1" dirty="0">
                <a:solidFill>
                  <a:srgbClr val="16222B"/>
                </a:solidFill>
                <a:latin typeface="Calibri" pitchFamily="34" charset="0"/>
                <a:ea typeface="Calibri" pitchFamily="34" charset="-122"/>
                <a:cs typeface="Calibri" pitchFamily="34" charset="-120"/>
              </a:rPr>
              <a:t>spec · registry · agent (4 phases) · gates · the real adapters</a:t>
            </a:r>
            <a:endParaRPr lang="en-US" sz="1400" dirty="0"/>
          </a:p>
        </p:txBody>
      </p:sp>
      <p:sp>
        <p:nvSpPr>
          <p:cNvPr id="28" name="Shape 26"/>
          <p:cNvSpPr/>
          <p:nvPr/>
        </p:nvSpPr>
        <p:spPr>
          <a:xfrm>
            <a:off x="457200" y="4736592"/>
            <a:ext cx="1005840" cy="566928"/>
          </a:xfrm>
          <a:prstGeom prst="rect">
            <a:avLst/>
          </a:prstGeom>
          <a:solidFill>
            <a:srgbClr val="D9731A"/>
          </a:solidFill>
          <a:ln w="12700">
            <a:solidFill>
              <a:srgbClr val="D9731A"/>
            </a:solidFill>
            <a:prstDash val="solid"/>
          </a:ln>
        </p:spPr>
      </p:sp>
      <p:sp>
        <p:nvSpPr>
          <p:cNvPr id="29" name="Text 27"/>
          <p:cNvSpPr txBox="1"/>
          <p:nvPr/>
        </p:nvSpPr>
        <p:spPr>
          <a:xfrm>
            <a:off x="457200" y="4736592"/>
            <a:ext cx="10058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exec/</a:t>
            </a:r>
            <a:endParaRPr lang="en-US" sz="1100" dirty="0"/>
          </a:p>
        </p:txBody>
      </p:sp>
      <p:sp>
        <p:nvSpPr>
          <p:cNvPr id="30" name="Shape 28"/>
          <p:cNvSpPr/>
          <p:nvPr/>
        </p:nvSpPr>
        <p:spPr>
          <a:xfrm>
            <a:off x="1536192" y="4736592"/>
            <a:ext cx="5440680" cy="566928"/>
          </a:xfrm>
          <a:prstGeom prst="rect">
            <a:avLst/>
          </a:prstGeom>
          <a:solidFill>
            <a:srgbClr val="FFFFFF"/>
          </a:solidFill>
          <a:ln w="15875">
            <a:solidFill>
              <a:srgbClr val="D9731A"/>
            </a:solidFill>
            <a:prstDash val="solid"/>
          </a:ln>
        </p:spPr>
      </p:sp>
      <p:sp>
        <p:nvSpPr>
          <p:cNvPr id="31" name="Text 29"/>
          <p:cNvSpPr txBox="1"/>
          <p:nvPr/>
        </p:nvSpPr>
        <p:spPr>
          <a:xfrm>
            <a:off x="1609344" y="4782312"/>
            <a:ext cx="5294376" cy="475488"/>
          </a:xfrm>
          <a:prstGeom prst="rect">
            <a:avLst/>
          </a:prstGeom>
          <a:noFill/>
          <a:ln/>
        </p:spPr>
        <p:txBody>
          <a:bodyPr wrap="square" lIns="0" tIns="0" rIns="0" bIns="0" rtlCol="0" anchor="ctr"/>
          <a:lstStyle/>
          <a:p>
            <a:pPr algn="l" indent="0" marL="0">
              <a:buNone/>
            </a:pPr>
            <a:r>
              <a:rPr lang="en-US" sz="1000" b="1" dirty="0">
                <a:solidFill>
                  <a:srgbClr val="16222B"/>
                </a:solidFill>
                <a:latin typeface="Calibri" pitchFamily="34" charset="0"/>
                <a:ea typeface="Calibri" pitchFamily="34" charset="-122"/>
                <a:cs typeface="Calibri" pitchFamily="34" charset="-120"/>
              </a:rPr>
              <a:t>backend · dispatch · ledger · resources ╌ no caller</a:t>
            </a:r>
            <a:endParaRPr lang="en-US" sz="1400" dirty="0"/>
          </a:p>
        </p:txBody>
      </p:sp>
      <p:sp>
        <p:nvSpPr>
          <p:cNvPr id="32" name="Shape 30"/>
          <p:cNvSpPr/>
          <p:nvPr/>
        </p:nvSpPr>
        <p:spPr>
          <a:xfrm>
            <a:off x="457200" y="5358384"/>
            <a:ext cx="1005840" cy="457200"/>
          </a:xfrm>
          <a:prstGeom prst="rect">
            <a:avLst/>
          </a:prstGeom>
          <a:solidFill>
            <a:srgbClr val="5E6B75"/>
          </a:solidFill>
          <a:ln w="12700">
            <a:solidFill>
              <a:srgbClr val="5E6B75"/>
            </a:solidFill>
            <a:prstDash val="solid"/>
          </a:ln>
        </p:spPr>
      </p:sp>
      <p:sp>
        <p:nvSpPr>
          <p:cNvPr id="33" name="Text 31"/>
          <p:cNvSpPr txBox="1"/>
          <p:nvPr/>
        </p:nvSpPr>
        <p:spPr>
          <a:xfrm>
            <a:off x="457200" y="5358384"/>
            <a:ext cx="10058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core/</a:t>
            </a:r>
            <a:endParaRPr lang="en-US" sz="1100" dirty="0"/>
          </a:p>
        </p:txBody>
      </p:sp>
      <p:sp>
        <p:nvSpPr>
          <p:cNvPr id="34" name="Shape 32"/>
          <p:cNvSpPr/>
          <p:nvPr/>
        </p:nvSpPr>
        <p:spPr>
          <a:xfrm>
            <a:off x="1536192" y="5358384"/>
            <a:ext cx="5440680" cy="457200"/>
          </a:xfrm>
          <a:prstGeom prst="rect">
            <a:avLst/>
          </a:prstGeom>
          <a:solidFill>
            <a:srgbClr val="FFFFFF"/>
          </a:solidFill>
          <a:ln w="15875">
            <a:solidFill>
              <a:srgbClr val="5E6B75"/>
            </a:solidFill>
            <a:prstDash val="solid"/>
          </a:ln>
        </p:spPr>
      </p:sp>
      <p:sp>
        <p:nvSpPr>
          <p:cNvPr id="35" name="Text 33"/>
          <p:cNvSpPr txBox="1"/>
          <p:nvPr/>
        </p:nvSpPr>
        <p:spPr>
          <a:xfrm>
            <a:off x="1609344" y="5404104"/>
            <a:ext cx="5294376" cy="365760"/>
          </a:xfrm>
          <a:prstGeom prst="rect">
            <a:avLst/>
          </a:prstGeom>
          <a:noFill/>
          <a:ln/>
        </p:spPr>
        <p:txBody>
          <a:bodyPr wrap="square" lIns="0" tIns="0" rIns="0" bIns="0" rtlCol="0" anchor="ctr"/>
          <a:lstStyle/>
          <a:p>
            <a:pPr algn="l" indent="0" marL="0">
              <a:buNone/>
            </a:pPr>
            <a:r>
              <a:rPr lang="en-US" sz="1000" b="1" dirty="0">
                <a:solidFill>
                  <a:srgbClr val="16222B"/>
                </a:solidFill>
                <a:latin typeface="Calibri" pitchFamily="34" charset="0"/>
                <a:ea typeface="Calibri" pitchFamily="34" charset="-122"/>
                <a:cs typeface="Calibri" pitchFamily="34" charset="-120"/>
              </a:rPr>
              <a:t>tree · pareto · qc · budget · decision · session · results · provenance</a:t>
            </a:r>
            <a:endParaRPr lang="en-US" sz="1400" dirty="0"/>
          </a:p>
        </p:txBody>
      </p:sp>
      <p:sp>
        <p:nvSpPr>
          <p:cNvPr id="36" name="Shape 34"/>
          <p:cNvSpPr/>
          <p:nvPr/>
        </p:nvSpPr>
        <p:spPr>
          <a:xfrm>
            <a:off x="1536192" y="5888736"/>
            <a:ext cx="5440680" cy="457200"/>
          </a:xfrm>
          <a:prstGeom prst="rect">
            <a:avLst/>
          </a:prstGeom>
          <a:solidFill>
            <a:srgbClr val="FCEBDD"/>
          </a:solidFill>
          <a:ln w="19050">
            <a:solidFill>
              <a:srgbClr val="D9731A"/>
            </a:solidFill>
            <a:prstDash val="solid"/>
          </a:ln>
        </p:spPr>
      </p:sp>
      <p:sp>
        <p:nvSpPr>
          <p:cNvPr id="37" name="Text 35"/>
          <p:cNvSpPr txBox="1"/>
          <p:nvPr/>
        </p:nvSpPr>
        <p:spPr>
          <a:xfrm>
            <a:off x="1609344" y="5934456"/>
            <a:ext cx="5294376" cy="365760"/>
          </a:xfrm>
          <a:prstGeom prst="rect">
            <a:avLst/>
          </a:prstGeom>
          <a:noFill/>
          <a:ln/>
        </p:spPr>
        <p:txBody>
          <a:bodyPr wrap="square" lIns="0" tIns="0" rIns="0" bIns="0" rtlCol="0" anchor="ctr"/>
          <a:lstStyle/>
          <a:p>
            <a:pPr algn="l" indent="0" marL="0">
              <a:buNone/>
            </a:pPr>
            <a:r>
              <a:rPr lang="en-US" sz="1000" b="1" dirty="0">
                <a:solidFill>
                  <a:srgbClr val="D9731A"/>
                </a:solidFill>
                <a:latin typeface="Calibri" pitchFamily="34" charset="0"/>
                <a:ea typeface="Calibri" pitchFamily="34" charset="-122"/>
                <a:cs typeface="Calibri" pitchFamily="34" charset="-120"/>
              </a:rPr>
              <a:t>radical.asyncflow.WorkflowEngine → rhapsody backend</a:t>
            </a:r>
            <a:endParaRPr lang="en-US" sz="1400" dirty="0"/>
          </a:p>
          <a:p>
            <a:pPr algn="l" indent="0" marL="0">
              <a:buNone/>
            </a:pPr>
            <a:endParaRPr lang="en-US" sz="1400" dirty="0"/>
          </a:p>
          <a:p>
            <a:pPr algn="l" indent="0" marL="0">
              <a:buNone/>
            </a:pPr>
            <a:r>
              <a:rPr lang="en-US" sz="850" dirty="0">
                <a:solidFill>
                  <a:srgbClr val="5E6B75"/>
                </a:solidFill>
                <a:latin typeface="Calibri" pitchFamily="34" charset="0"/>
                <a:ea typeface="Calibri" pitchFamily="34" charset="-122"/>
                <a:cs typeface="Calibri" pitchFamily="34" charset="-120"/>
              </a:rPr>
              <a:t>   concurrent · dragon · radical · dask — chosen BY NAME from the campaign spec</a:t>
            </a:r>
            <a:endParaRPr lang="en-US" sz="1400" dirty="0"/>
          </a:p>
        </p:txBody>
      </p:sp>
      <p:sp>
        <p:nvSpPr>
          <p:cNvPr id="38" name="Shape 36"/>
          <p:cNvSpPr/>
          <p:nvPr/>
        </p:nvSpPr>
        <p:spPr>
          <a:xfrm>
            <a:off x="2359152" y="5303520"/>
            <a:ext cx="91" cy="557784"/>
          </a:xfrm>
          <a:prstGeom prst="line">
            <a:avLst/>
          </a:prstGeom>
          <a:noFill/>
          <a:ln w="19050">
            <a:solidFill>
              <a:srgbClr val="D9731A"/>
            </a:solidFill>
            <a:prstDash val="solid"/>
            <a:tailEnd type="triangle"/>
          </a:ln>
        </p:spPr>
      </p:sp>
      <p:sp>
        <p:nvSpPr>
          <p:cNvPr id="39" name="Text 37"/>
          <p:cNvSpPr txBox="1"/>
          <p:nvPr/>
        </p:nvSpPr>
        <p:spPr>
          <a:xfrm>
            <a:off x="7068312" y="1938528"/>
            <a:ext cx="1325880" cy="219456"/>
          </a:xfrm>
          <a:prstGeom prst="rect">
            <a:avLst/>
          </a:prstGeom>
          <a:noFill/>
          <a:ln/>
        </p:spPr>
        <p:txBody>
          <a:bodyPr wrap="square" lIns="0" tIns="0" rIns="0" bIns="0" rtlCol="0" anchor="ctr"/>
          <a:lstStyle/>
          <a:p>
            <a:pPr indent="0" marL="0">
              <a:buNone/>
            </a:pPr>
            <a:r>
              <a:rPr lang="en-US" sz="900" b="1" dirty="0">
                <a:solidFill>
                  <a:srgbClr val="C0392B"/>
                </a:solidFill>
                <a:latin typeface="Consolas" pitchFamily="34" charset="0"/>
                <a:ea typeface="Consolas" pitchFamily="34" charset="-122"/>
                <a:cs typeface="Consolas" pitchFamily="34" charset="-120"/>
              </a:rPr>
              <a:t>policy ✗ tools</a:t>
            </a:r>
            <a:endParaRPr lang="en-US" sz="900" dirty="0"/>
          </a:p>
        </p:txBody>
      </p:sp>
      <p:sp>
        <p:nvSpPr>
          <p:cNvPr id="40" name="Text 38"/>
          <p:cNvSpPr txBox="1"/>
          <p:nvPr/>
        </p:nvSpPr>
        <p:spPr>
          <a:xfrm>
            <a:off x="7068312" y="2157984"/>
            <a:ext cx="1325880" cy="219456"/>
          </a:xfrm>
          <a:prstGeom prst="rect">
            <a:avLst/>
          </a:prstGeom>
          <a:noFill/>
          <a:ln/>
        </p:spPr>
        <p:txBody>
          <a:bodyPr wrap="square" lIns="0" tIns="0" rIns="0" bIns="0" rtlCol="0" anchor="ctr"/>
          <a:lstStyle/>
          <a:p>
            <a:pPr indent="0" marL="0">
              <a:buNone/>
            </a:pPr>
            <a:r>
              <a:rPr lang="en-US" sz="900" b="1" dirty="0">
                <a:solidFill>
                  <a:srgbClr val="C0392B"/>
                </a:solidFill>
                <a:latin typeface="Consolas" pitchFamily="34" charset="0"/>
                <a:ea typeface="Consolas" pitchFamily="34" charset="-122"/>
                <a:cs typeface="Consolas" pitchFamily="34" charset="-120"/>
              </a:rPr>
              <a:t>policy ✗ exec</a:t>
            </a:r>
            <a:endParaRPr lang="en-US" sz="900" dirty="0"/>
          </a:p>
        </p:txBody>
      </p:sp>
      <p:sp>
        <p:nvSpPr>
          <p:cNvPr id="41" name="Text 39"/>
          <p:cNvSpPr txBox="1"/>
          <p:nvPr/>
        </p:nvSpPr>
        <p:spPr>
          <a:xfrm>
            <a:off x="7068312" y="2377440"/>
            <a:ext cx="1325880" cy="219456"/>
          </a:xfrm>
          <a:prstGeom prst="rect">
            <a:avLst/>
          </a:prstGeom>
          <a:noFill/>
          <a:ln/>
        </p:spPr>
        <p:txBody>
          <a:bodyPr wrap="square" lIns="0" tIns="0" rIns="0" bIns="0" rtlCol="0" anchor="ctr"/>
          <a:lstStyle/>
          <a:p>
            <a:pPr indent="0" marL="0">
              <a:buNone/>
            </a:pPr>
            <a:r>
              <a:rPr lang="en-US" sz="900" b="1" dirty="0">
                <a:solidFill>
                  <a:srgbClr val="C0392B"/>
                </a:solidFill>
                <a:latin typeface="Consolas" pitchFamily="34" charset="0"/>
                <a:ea typeface="Consolas" pitchFamily="34" charset="-122"/>
                <a:cs typeface="Consolas" pitchFamily="34" charset="-120"/>
              </a:rPr>
              <a:t>policy ✗ runtime</a:t>
            </a:r>
            <a:endParaRPr lang="en-US" sz="900" dirty="0"/>
          </a:p>
        </p:txBody>
      </p:sp>
      <p:sp>
        <p:nvSpPr>
          <p:cNvPr id="42" name="Text 40"/>
          <p:cNvSpPr txBox="1"/>
          <p:nvPr/>
        </p:nvSpPr>
        <p:spPr>
          <a:xfrm>
            <a:off x="7068312" y="3611880"/>
            <a:ext cx="1325880" cy="219456"/>
          </a:xfrm>
          <a:prstGeom prst="rect">
            <a:avLst/>
          </a:prstGeom>
          <a:noFill/>
          <a:ln/>
        </p:spPr>
        <p:txBody>
          <a:bodyPr wrap="square" lIns="0" tIns="0" rIns="0" bIns="0" rtlCol="0" anchor="ctr"/>
          <a:lstStyle/>
          <a:p>
            <a:pPr indent="0" marL="0">
              <a:buNone/>
            </a:pPr>
            <a:r>
              <a:rPr lang="en-US" sz="900" b="1" dirty="0">
                <a:solidFill>
                  <a:srgbClr val="C0392B"/>
                </a:solidFill>
                <a:latin typeface="Consolas" pitchFamily="34" charset="0"/>
                <a:ea typeface="Consolas" pitchFamily="34" charset="-122"/>
                <a:cs typeface="Consolas" pitchFamily="34" charset="-120"/>
              </a:rPr>
              <a:t>compose ✗ exec</a:t>
            </a:r>
            <a:endParaRPr lang="en-US" sz="900" dirty="0"/>
          </a:p>
        </p:txBody>
      </p:sp>
      <p:sp>
        <p:nvSpPr>
          <p:cNvPr id="43" name="Shape 41"/>
          <p:cNvSpPr/>
          <p:nvPr/>
        </p:nvSpPr>
        <p:spPr>
          <a:xfrm>
            <a:off x="8439912" y="1325880"/>
            <a:ext cx="3294583" cy="1691640"/>
          </a:xfrm>
          <a:prstGeom prst="rect">
            <a:avLst/>
          </a:prstGeom>
          <a:solidFill>
            <a:srgbClr val="E9EDF7"/>
          </a:solidFill>
          <a:ln w="12700">
            <a:solidFill>
              <a:srgbClr val="E9EDF7"/>
            </a:solidFill>
            <a:prstDash val="solid"/>
          </a:ln>
        </p:spPr>
      </p:sp>
      <p:sp>
        <p:nvSpPr>
          <p:cNvPr id="44" name="Text 42"/>
          <p:cNvSpPr txBox="1"/>
          <p:nvPr/>
        </p:nvSpPr>
        <p:spPr>
          <a:xfrm>
            <a:off x="8567928" y="1408176"/>
            <a:ext cx="3038551" cy="274320"/>
          </a:xfrm>
          <a:prstGeom prst="rect">
            <a:avLst/>
          </a:prstGeom>
          <a:noFill/>
          <a:ln/>
        </p:spPr>
        <p:txBody>
          <a:bodyPr wrap="square" lIns="0" tIns="0" rIns="0" bIns="0" rtlCol="0" anchor="t"/>
          <a:lstStyle/>
          <a:p>
            <a:pPr indent="0" marL="0">
              <a:buNone/>
            </a:pPr>
            <a:r>
              <a:rPr lang="en-US" sz="1300" b="1" dirty="0">
                <a:solidFill>
                  <a:srgbClr val="3B4E8C"/>
                </a:solidFill>
                <a:latin typeface="Calibri" pitchFamily="34" charset="0"/>
                <a:ea typeface="Calibri" pitchFamily="34" charset="-122"/>
                <a:cs typeface="Calibri" pitchFamily="34" charset="-120"/>
              </a:rPr>
              <a:t>The two rules that carry weight</a:t>
            </a:r>
            <a:endParaRPr lang="en-US" sz="1300" dirty="0"/>
          </a:p>
        </p:txBody>
      </p:sp>
      <p:sp>
        <p:nvSpPr>
          <p:cNvPr id="45" name="Text 43"/>
          <p:cNvSpPr txBox="1"/>
          <p:nvPr/>
        </p:nvSpPr>
        <p:spPr>
          <a:xfrm>
            <a:off x="8567928" y="1719072"/>
            <a:ext cx="3038551" cy="1216152"/>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policy ↛ tools | exec | runtime — a policy that can reach a tool adapter stops emitting abstract intent, and control models stop being swappable.</a:t>
            </a:r>
            <a:endParaRPr lang="en-US" sz="1000" dirty="0"/>
          </a:p>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compose ↛ exec — validation stays testable with no backend at all. That is the entire laptop test tier.</a:t>
            </a:r>
            <a:endParaRPr lang="en-US" sz="1000" dirty="0"/>
          </a:p>
        </p:txBody>
      </p:sp>
      <p:sp>
        <p:nvSpPr>
          <p:cNvPr id="46" name="Shape 44"/>
          <p:cNvSpPr/>
          <p:nvPr/>
        </p:nvSpPr>
        <p:spPr>
          <a:xfrm>
            <a:off x="8439912" y="3154680"/>
            <a:ext cx="3294583" cy="1554480"/>
          </a:xfrm>
          <a:prstGeom prst="rect">
            <a:avLst/>
          </a:prstGeom>
          <a:solidFill>
            <a:srgbClr val="E4F1EA"/>
          </a:solidFill>
          <a:ln w="12700">
            <a:solidFill>
              <a:srgbClr val="E4F1EA"/>
            </a:solidFill>
            <a:prstDash val="solid"/>
          </a:ln>
        </p:spPr>
      </p:sp>
      <p:sp>
        <p:nvSpPr>
          <p:cNvPr id="47" name="Text 45"/>
          <p:cNvSpPr txBox="1"/>
          <p:nvPr/>
        </p:nvSpPr>
        <p:spPr>
          <a:xfrm>
            <a:off x="8567928" y="3236976"/>
            <a:ext cx="3038551" cy="274320"/>
          </a:xfrm>
          <a:prstGeom prst="rect">
            <a:avLst/>
          </a:prstGeom>
          <a:noFill/>
          <a:ln/>
        </p:spPr>
        <p:txBody>
          <a:bodyPr wrap="square" lIns="0" tIns="0" rIns="0" bIns="0" rtlCol="0" anchor="t"/>
          <a:lstStyle/>
          <a:p>
            <a:pPr indent="0" marL="0">
              <a:buNone/>
            </a:pPr>
            <a:r>
              <a:rPr lang="en-US" sz="1300" b="1" dirty="0">
                <a:solidFill>
                  <a:srgbClr val="2E7D5B"/>
                </a:solidFill>
                <a:latin typeface="Calibri" pitchFamily="34" charset="0"/>
                <a:ea typeface="Calibri" pitchFamily="34" charset="-122"/>
                <a:cs typeface="Calibri" pitchFamily="34" charset="-120"/>
              </a:rPr>
              <a:t>Asserted, not reviewed</a:t>
            </a:r>
            <a:endParaRPr lang="en-US" sz="1300" dirty="0"/>
          </a:p>
        </p:txBody>
      </p:sp>
      <p:sp>
        <p:nvSpPr>
          <p:cNvPr id="48" name="Text 46"/>
          <p:cNvSpPr txBox="1"/>
          <p:nvPr/>
        </p:nvSpPr>
        <p:spPr>
          <a:xfrm>
            <a:off x="8567928" y="3547872"/>
            <a:ext cx="3038551" cy="1078992"/>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tests/test_layering.py walks the source with ast and checks every internal import against one table.</a:t>
            </a:r>
            <a:endParaRPr lang="en-US" sz="1000" dirty="0"/>
          </a:p>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ast.walk deliberately: adapters defer science imports into run() bodies, and a deferred cross-layer import is exactly as fatal as one at the top.</a:t>
            </a:r>
            <a:endParaRPr lang="en-US" sz="1000" dirty="0"/>
          </a:p>
        </p:txBody>
      </p:sp>
      <p:sp>
        <p:nvSpPr>
          <p:cNvPr id="49" name="Shape 47"/>
          <p:cNvSpPr/>
          <p:nvPr/>
        </p:nvSpPr>
        <p:spPr>
          <a:xfrm>
            <a:off x="8439912" y="4846320"/>
            <a:ext cx="3294583" cy="1627632"/>
          </a:xfrm>
          <a:prstGeom prst="rect">
            <a:avLst/>
          </a:prstGeom>
          <a:solidFill>
            <a:srgbClr val="EEF2F5"/>
          </a:solidFill>
          <a:ln w="12700">
            <a:solidFill>
              <a:srgbClr val="EEF2F5"/>
            </a:solidFill>
            <a:prstDash val="solid"/>
          </a:ln>
        </p:spPr>
      </p:sp>
      <p:sp>
        <p:nvSpPr>
          <p:cNvPr id="50" name="Text 48"/>
          <p:cNvSpPr txBox="1"/>
          <p:nvPr/>
        </p:nvSpPr>
        <p:spPr>
          <a:xfrm>
            <a:off x="8567928" y="4928616"/>
            <a:ext cx="3038551"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What writing it found</a:t>
            </a:r>
            <a:endParaRPr lang="en-US" sz="1300" dirty="0"/>
          </a:p>
        </p:txBody>
      </p:sp>
      <p:sp>
        <p:nvSpPr>
          <p:cNvPr id="51" name="Text 49"/>
          <p:cNvSpPr txBox="1"/>
          <p:nvPr/>
        </p:nvSpPr>
        <p:spPr>
          <a:xfrm>
            <a:off x="8567928" y="5239512"/>
            <a:ext cx="3038551" cy="1152144"/>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Two undocumented edges — manager → tools, and cli / __main__ in no row at all. Both are recorded now: a contract with undocumented edges is not a contract.</a:t>
            </a:r>
            <a:endParaRPr lang="en-US" sz="1000" dirty="0"/>
          </a:p>
        </p:txBody>
      </p:sp>
      <p:sp>
        <p:nvSpPr>
          <p:cNvPr id="52" name="Text 50"/>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policy → core is the edge that forced core/session.py and core/results.py to exist: a reasoner may hold a RunOutcome, so RunOutcome cannot live in exec/.</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ADMISSION</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Admission: five gates, an interlock, and a reservation</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6903720" cy="914400"/>
        </p:xfrm>
        <a:graphic>
          <a:graphicData uri="http://schemas.openxmlformats.org/drawingml/2006/table">
            <a:tbl>
              <a:tblPr/>
              <a:tblGrid>
                <a:gridCol w="1371600"/>
                <a:gridCol w="4937760"/>
                <a:gridCol w="594360"/>
              </a:tblGrid>
              <a:tr h="31089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gate</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rejects</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line</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r>
              <a:tr h="310896">
                <a:tc>
                  <a:txBody>
                    <a:bodyPr/>
                    <a:lstStyle/>
                    <a:p>
                      <a:pPr algn="l" indent="0" marL="0">
                        <a:buNone/>
                      </a:pPr>
                      <a:r>
                        <a:rPr lang="en-US" sz="1100" b="1" dirty="0">
                          <a:solidFill>
                            <a:srgbClr val="22303C"/>
                          </a:solidFill>
                          <a:latin typeface="Calibri" pitchFamily="34" charset="0"/>
                          <a:ea typeface="Calibri" pitchFamily="34" charset="-122"/>
                          <a:cs typeface="Calibri" pitchFamily="34" charset="-120"/>
                        </a:rPr>
                        <a:t>1 type</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100" dirty="0">
                          <a:solidFill>
                            <a:srgbClr val="22303C"/>
                          </a:solidFill>
                          <a:latin typeface="Calibri" pitchFamily="34" charset="0"/>
                          <a:ea typeface="Calibri" pitchFamily="34" charset="-122"/>
                          <a:cs typeface="Calibri" pitchFamily="34" charset="-120"/>
                        </a:rPr>
                        <a:t>an edge whose producer type does not unify with the consumer's</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ctr" indent="0" marL="0">
                        <a:buNone/>
                      </a:pPr>
                      <a:r>
                        <a:rPr lang="en-US" sz="950" dirty="0">
                          <a:solidFill>
                            <a:srgbClr val="5E6B75"/>
                          </a:solidFill>
                          <a:latin typeface="Consolas" pitchFamily="34" charset="0"/>
                          <a:ea typeface="Consolas" pitchFamily="34" charset="-122"/>
                          <a:cs typeface="Consolas" pitchFamily="34" charset="-120"/>
                        </a:rPr>
                        <a:t>:38</a:t>
                      </a:r>
                      <a:endParaRPr lang="en-US" sz="9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310896">
                <a:tc>
                  <a:txBody>
                    <a:bodyPr/>
                    <a:lstStyle/>
                    <a:p>
                      <a:pPr algn="l" indent="0" marL="0">
                        <a:buNone/>
                      </a:pPr>
                      <a:r>
                        <a:rPr lang="en-US" sz="1100" b="1" dirty="0">
                          <a:solidFill>
                            <a:srgbClr val="22303C"/>
                          </a:solidFill>
                          <a:latin typeface="Calibri" pitchFamily="34" charset="0"/>
                          <a:ea typeface="Calibri" pitchFamily="34" charset="-122"/>
                          <a:cs typeface="Calibri" pitchFamily="34" charset="-120"/>
                        </a:rPr>
                        <a:t>2 structure</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3C"/>
                          </a:solidFill>
                          <a:latin typeface="Calibri" pitchFamily="34" charset="0"/>
                          <a:ea typeface="Calibri" pitchFamily="34" charset="-122"/>
                          <a:cs typeface="Calibri" pitchFamily="34" charset="-120"/>
                        </a:rPr>
                        <a:t>cycles, empty graphs, a tool composed without its QC gates</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E6B75"/>
                          </a:solidFill>
                          <a:latin typeface="Consolas" pitchFamily="34" charset="0"/>
                          <a:ea typeface="Consolas" pitchFamily="34" charset="-122"/>
                          <a:cs typeface="Consolas" pitchFamily="34" charset="-120"/>
                        </a:rPr>
                        <a:t>:70</a:t>
                      </a:r>
                      <a:endParaRPr lang="en-US" sz="9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310896">
                <a:tc>
                  <a:txBody>
                    <a:bodyPr/>
                    <a:lstStyle/>
                    <a:p>
                      <a:pPr algn="l" indent="0" marL="0">
                        <a:buNone/>
                      </a:pPr>
                      <a:r>
                        <a:rPr lang="en-US" sz="1100" b="1" dirty="0">
                          <a:solidFill>
                            <a:srgbClr val="22303C"/>
                          </a:solidFill>
                          <a:latin typeface="Calibri" pitchFamily="34" charset="0"/>
                          <a:ea typeface="Calibri" pitchFamily="34" charset="-122"/>
                          <a:cs typeface="Calibri" pitchFamily="34" charset="-120"/>
                        </a:rPr>
                        <a:t>3 parameter</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100" dirty="0">
                          <a:solidFill>
                            <a:srgbClr val="22303C"/>
                          </a:solidFill>
                          <a:latin typeface="Calibri" pitchFamily="34" charset="0"/>
                          <a:ea typeface="Calibri" pitchFamily="34" charset="-122"/>
                          <a:cs typeface="Calibri" pitchFamily="34" charset="-120"/>
                        </a:rPr>
                        <a:t>out of range, unknown, or declared frozen</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ctr" indent="0" marL="0">
                        <a:buNone/>
                      </a:pPr>
                      <a:r>
                        <a:rPr lang="en-US" sz="950" dirty="0">
                          <a:solidFill>
                            <a:srgbClr val="5E6B75"/>
                          </a:solidFill>
                          <a:latin typeface="Consolas" pitchFamily="34" charset="0"/>
                          <a:ea typeface="Consolas" pitchFamily="34" charset="-122"/>
                          <a:cs typeface="Consolas" pitchFamily="34" charset="-120"/>
                        </a:rPr>
                        <a:t>:86</a:t>
                      </a:r>
                      <a:endParaRPr lang="en-US" sz="9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310896">
                <a:tc>
                  <a:txBody>
                    <a:bodyPr/>
                    <a:lstStyle/>
                    <a:p>
                      <a:pPr algn="l" indent="0" marL="0">
                        <a:buNone/>
                      </a:pPr>
                      <a:r>
                        <a:rPr lang="en-US" sz="1100" b="1" dirty="0">
                          <a:solidFill>
                            <a:srgbClr val="22303C"/>
                          </a:solidFill>
                          <a:latin typeface="Calibri" pitchFamily="34" charset="0"/>
                          <a:ea typeface="Calibri" pitchFamily="34" charset="-122"/>
                          <a:cs typeface="Calibri" pitchFamily="34" charset="-120"/>
                        </a:rPr>
                        <a:t>4 resource</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3C"/>
                          </a:solidFill>
                          <a:latin typeface="Calibri" pitchFamily="34" charset="0"/>
                          <a:ea typeface="Calibri" pitchFamily="34" charset="-122"/>
                          <a:cs typeface="Calibri" pitchFamily="34" charset="-120"/>
                        </a:rPr>
                        <a:t>a SCHEDULED P6, oversize shapes, unproven GPU API, external submission</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E6B75"/>
                          </a:solidFill>
                          <a:latin typeface="Consolas" pitchFamily="34" charset="0"/>
                          <a:ea typeface="Consolas" pitchFamily="34" charset="-122"/>
                          <a:cs typeface="Consolas" pitchFamily="34" charset="-120"/>
                        </a:rPr>
                        <a:t>:103</a:t>
                      </a:r>
                      <a:endParaRPr lang="en-US" sz="9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310896">
                <a:tc>
                  <a:txBody>
                    <a:bodyPr/>
                    <a:lstStyle/>
                    <a:p>
                      <a:pPr algn="l" indent="0" marL="0">
                        <a:buNone/>
                      </a:pPr>
                      <a:r>
                        <a:rPr lang="en-US" sz="1100" b="1" dirty="0">
                          <a:solidFill>
                            <a:srgbClr val="22303C"/>
                          </a:solidFill>
                          <a:latin typeface="Calibri" pitchFamily="34" charset="0"/>
                          <a:ea typeface="Calibri" pitchFamily="34" charset="-122"/>
                          <a:cs typeface="Calibri" pitchFamily="34" charset="-120"/>
                        </a:rPr>
                        <a:t>5 budget</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100" dirty="0">
                          <a:solidFill>
                            <a:srgbClr val="22303C"/>
                          </a:solidFill>
                          <a:latin typeface="Calibri" pitchFamily="34" charset="0"/>
                          <a:ea typeface="Calibri" pitchFamily="34" charset="-122"/>
                          <a:cs typeface="Calibri" pitchFamily="34" charset="-120"/>
                        </a:rPr>
                        <a:t>an estimate exceeding remaining budget in any dimension</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ctr" indent="0" marL="0">
                        <a:buNone/>
                      </a:pPr>
                      <a:r>
                        <a:rPr lang="en-US" sz="950" dirty="0">
                          <a:solidFill>
                            <a:srgbClr val="5E6B75"/>
                          </a:solidFill>
                          <a:latin typeface="Consolas" pitchFamily="34" charset="0"/>
                          <a:ea typeface="Consolas" pitchFamily="34" charset="-122"/>
                          <a:cs typeface="Consolas" pitchFamily="34" charset="-120"/>
                        </a:rPr>
                        <a:t>:134</a:t>
                      </a:r>
                      <a:endParaRPr lang="en-US" sz="9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bl>
          </a:graphicData>
        </a:graphic>
      </p:graphicFrame>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457200" y="3429000"/>
          <a:ext cx="6903720" cy="914400"/>
        </p:xfrm>
        <a:graphic>
          <a:graphicData uri="http://schemas.openxmlformats.org/drawingml/2006/table">
            <a:tbl>
              <a:tblPr/>
              <a:tblGrid>
                <a:gridCol w="1371600"/>
                <a:gridCol w="3840480"/>
                <a:gridCol w="1691640"/>
              </a:tblGrid>
              <a:tr h="2743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then</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2E7D5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does</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2E7D5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where</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2E7D5B"/>
                    </a:solidFill>
                  </a:tcPr>
                </a:tc>
              </a:tr>
              <a:tr h="420624">
                <a:tc>
                  <a:txBody>
                    <a:bodyPr/>
                    <a:lstStyle/>
                    <a:p>
                      <a:pPr algn="l" indent="0" marL="0">
                        <a:buNone/>
                      </a:pPr>
                      <a:r>
                        <a:rPr lang="en-US" sz="1050" b="1" dirty="0">
                          <a:solidFill>
                            <a:srgbClr val="22303C"/>
                          </a:solidFill>
                          <a:latin typeface="Calibri" pitchFamily="34" charset="0"/>
                          <a:ea typeface="Calibri" pitchFamily="34" charset="-122"/>
                          <a:cs typeface="Calibri" pitchFamily="34" charset="-120"/>
                        </a:rPr>
                        <a:t>INTERLOCK</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one instance in flight for an untrusted shape; a cost cap for a provisional one — both transient</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850" dirty="0">
                          <a:solidFill>
                            <a:srgbClr val="5E6B75"/>
                          </a:solidFill>
                          <a:latin typeface="Consolas" pitchFamily="34" charset="0"/>
                          <a:ea typeface="Consolas" pitchFamily="34" charset="-122"/>
                          <a:cs typeface="Consolas" pitchFamily="34" charset="-120"/>
                        </a:rPr>
                        <a:t>executor.py:331, :337</a:t>
                      </a:r>
                      <a:endParaRPr lang="en-US" sz="8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310896">
                <a:tc>
                  <a:txBody>
                    <a:bodyPr/>
                    <a:lstStyle/>
                    <a:p>
                      <a:pPr algn="l" indent="0" marL="0">
                        <a:buNone/>
                      </a:pPr>
                      <a:r>
                        <a:rPr lang="en-US" sz="1050" b="1" dirty="0">
                          <a:solidFill>
                            <a:srgbClr val="22303C"/>
                          </a:solidFill>
                          <a:latin typeface="Calibri" pitchFamily="34" charset="0"/>
                          <a:ea typeface="Calibri" pitchFamily="34" charset="-122"/>
                          <a:cs typeface="Calibri" pitchFamily="34" charset="-120"/>
                        </a:rPr>
                        <a:t>DRY-RUN</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every task agent parameterizes WITHOUT executing</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850" dirty="0">
                          <a:solidFill>
                            <a:srgbClr val="5E6B75"/>
                          </a:solidFill>
                          <a:latin typeface="Consolas" pitchFamily="34" charset="0"/>
                          <a:ea typeface="Consolas" pitchFamily="34" charset="-122"/>
                          <a:cs typeface="Consolas" pitchFamily="34" charset="-120"/>
                        </a:rPr>
                        <a:t>validate.py:143</a:t>
                      </a:r>
                      <a:endParaRPr lang="en-US" sz="8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420624">
                <a:tc>
                  <a:txBody>
                    <a:bodyPr/>
                    <a:lstStyle/>
                    <a:p>
                      <a:pPr algn="l" indent="0" marL="0">
                        <a:buNone/>
                      </a:pPr>
                      <a:r>
                        <a:rPr lang="en-US" sz="1050" b="1" dirty="0">
                          <a:solidFill>
                            <a:srgbClr val="22303C"/>
                          </a:solidFill>
                          <a:latin typeface="Calibri" pitchFamily="34" charset="0"/>
                          <a:ea typeface="Calibri" pitchFamily="34" charset="-122"/>
                          <a:cs typeface="Calibri" pitchFamily="34" charset="-120"/>
                        </a:rPr>
                        <a:t>RESERVE</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re-check against AVAILABLE budget — remaining less what in-flight runs hold</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850" dirty="0">
                          <a:solidFill>
                            <a:srgbClr val="5E6B75"/>
                          </a:solidFill>
                          <a:latin typeface="Consolas" pitchFamily="34" charset="0"/>
                          <a:ea typeface="Consolas" pitchFamily="34" charset="-122"/>
                          <a:cs typeface="Consolas" pitchFamily="34" charset="-120"/>
                        </a:rPr>
                        <a:t>executor.py:355</a:t>
                      </a:r>
                      <a:endParaRPr lang="en-US" sz="8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bl>
          </a:graphicData>
        </a:graphic>
      </p:graphicFrame>
      <p:sp>
        <p:nvSpPr>
          <p:cNvPr id="6" name="Text 2"/>
          <p:cNvSpPr txBox="1"/>
          <p:nvPr/>
        </p:nvSpPr>
        <p:spPr>
          <a:xfrm>
            <a:off x="457200" y="5029200"/>
            <a:ext cx="6949440" cy="548640"/>
          </a:xfrm>
          <a:prstGeom prst="rect">
            <a:avLst/>
          </a:prstGeom>
          <a:noFill/>
          <a:ln/>
        </p:spPr>
        <p:txBody>
          <a:bodyPr wrap="square" lIns="0" tIns="0" rIns="0" bIns="0" rtlCol="0" anchor="t"/>
          <a:lstStyle/>
          <a:p>
            <a:pPr indent="0" marL="0">
              <a:buNone/>
            </a:pPr>
            <a:r>
              <a:rPr lang="en-US" sz="1150" b="1" dirty="0">
                <a:solidFill>
                  <a:srgbClr val="16222B"/>
                </a:solidFill>
                <a:latin typeface="Calibri" pitchFamily="34" charset="0"/>
                <a:ea typeface="Calibri" pitchFamily="34" charset="-122"/>
                <a:cs typeface="Calibri" pitchFamily="34" charset="-120"/>
              </a:rPr>
              <a:t>Why RESERVE is last: </a:t>
            </a:r>
            <a:pPr indent="0" marL="0">
              <a:buNone/>
            </a:pPr>
            <a:r>
              <a:rPr lang="en-US" sz="1150" dirty="0">
                <a:solidFill>
                  <a:srgbClr val="22303C"/>
                </a:solidFill>
                <a:latin typeface="Calibri" pitchFamily="34" charset="0"/>
                <a:ea typeface="Calibri" pitchFamily="34" charset="-122"/>
                <a:cs typeface="Calibri" pitchFamily="34" charset="-120"/>
              </a:rPr>
              <a:t>the dry-run awaits. By the time it returns, another submission may have claimed the budget gate 5 saw, so reserve re-checks and is the authoritative decision.</a:t>
            </a:r>
            <a:endParaRPr lang="en-US" sz="1150" dirty="0"/>
          </a:p>
        </p:txBody>
      </p:sp>
      <p:sp>
        <p:nvSpPr>
          <p:cNvPr id="7" name="Shape 3"/>
          <p:cNvSpPr/>
          <p:nvPr/>
        </p:nvSpPr>
        <p:spPr>
          <a:xfrm>
            <a:off x="7635240" y="1371600"/>
            <a:ext cx="4099255" cy="960120"/>
          </a:xfrm>
          <a:prstGeom prst="rect">
            <a:avLst/>
          </a:prstGeom>
          <a:solidFill>
            <a:srgbClr val="E4F1EA"/>
          </a:solidFill>
          <a:ln w="12700">
            <a:solidFill>
              <a:srgbClr val="E4F1EA"/>
            </a:solidFill>
            <a:prstDash val="solid"/>
          </a:ln>
        </p:spPr>
      </p:sp>
      <p:sp>
        <p:nvSpPr>
          <p:cNvPr id="8" name="Text 4"/>
          <p:cNvSpPr txBox="1"/>
          <p:nvPr/>
        </p:nvSpPr>
        <p:spPr>
          <a:xfrm>
            <a:off x="7763256" y="1453896"/>
            <a:ext cx="3843223" cy="274320"/>
          </a:xfrm>
          <a:prstGeom prst="rect">
            <a:avLst/>
          </a:prstGeom>
          <a:noFill/>
          <a:ln/>
        </p:spPr>
        <p:txBody>
          <a:bodyPr wrap="square" lIns="0" tIns="0" rIns="0" bIns="0" rtlCol="0" anchor="t"/>
          <a:lstStyle/>
          <a:p>
            <a:pPr indent="0" marL="0">
              <a:buNone/>
            </a:pPr>
            <a:r>
              <a:rPr lang="en-US" sz="1300" b="1" dirty="0">
                <a:solidFill>
                  <a:srgbClr val="2E7D5B"/>
                </a:solidFill>
                <a:latin typeface="Calibri" pitchFamily="34" charset="0"/>
                <a:ea typeface="Calibri" pitchFamily="34" charset="-122"/>
                <a:cs typeface="Calibri" pitchFamily="34" charset="-120"/>
              </a:rPr>
              <a:t>A pattern is the graph's SHAPE</a:t>
            </a:r>
            <a:endParaRPr lang="en-US" sz="1300" dirty="0"/>
          </a:p>
        </p:txBody>
      </p:sp>
      <p:sp>
        <p:nvSpPr>
          <p:cNvPr id="9" name="Text 5"/>
          <p:cNvSpPr txBox="1"/>
          <p:nvPr/>
        </p:nvSpPr>
        <p:spPr>
          <a:xfrm>
            <a:off x="7763256" y="1764792"/>
            <a:ext cx="3843223" cy="48463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tool ids plus typed edges, hashed. Parameter values are excluded, so tuning a parameter does not reset accumulated trust.</a:t>
            </a:r>
            <a:endParaRPr lang="en-US" sz="1050" dirty="0"/>
          </a:p>
        </p:txBody>
      </p:sp>
      <p:graphicFrame>
        <p:nvGraphicFramePr>
          <p:cNvPr id="28" name="Table 2"/>
          <p:cNvGraphicFramePr>
            <a:graphicFrameLocks noGrp="1"/>
          </p:cNvGraphicFramePr>
          <p:nvPr>
            <p:extLst>
              <p:ext uri="{D42A27DB-BD31-4B8C-83A1-F6EECF244321}">
                <p14:modId xmlns:p14="http://schemas.microsoft.com/office/powerpoint/2010/main" val="1579011935"/>
              </p:ext>
            </p:extLst>
          </p:nvPr>
        </p:nvGraphicFramePr>
        <p:xfrm>
          <a:off x="7635240" y="2514600"/>
          <a:ext cx="4114800" cy="914400"/>
        </p:xfrm>
        <a:graphic>
          <a:graphicData uri="http://schemas.openxmlformats.org/drawingml/2006/table">
            <a:tbl>
              <a:tblPr/>
              <a:tblGrid>
                <a:gridCol w="1234440"/>
                <a:gridCol w="1188720"/>
                <a:gridCol w="1691640"/>
              </a:tblGrid>
              <a:tr h="274320">
                <a:tc>
                  <a:txBody>
                    <a:bodyPr/>
                    <a:lstStyle/>
                    <a:p>
                      <a:pPr indent="0" marL="0">
                        <a:buNone/>
                      </a:pP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2E7D5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trusted</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2E7D5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provisional</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2E7D5B"/>
                    </a:solidFill>
                  </a:tcPr>
                </a:tc>
              </a:tr>
              <a:tr h="274320">
                <a:tc>
                  <a:txBody>
                    <a:bodyPr/>
                    <a:lstStyle/>
                    <a:p>
                      <a:pPr algn="l" indent="0" marL="0">
                        <a:buNone/>
                      </a:pPr>
                      <a:r>
                        <a:rPr lang="en-US" sz="1000" b="1" dirty="0">
                          <a:solidFill>
                            <a:srgbClr val="22303C"/>
                          </a:solidFill>
                          <a:latin typeface="Calibri" pitchFamily="34" charset="0"/>
                          <a:ea typeface="Calibri" pitchFamily="34" charset="-122"/>
                          <a:cs typeface="Calibri" pitchFamily="34" charset="-120"/>
                        </a:rPr>
                        <a:t>cost ceiling</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ctr" indent="0" marL="0">
                        <a:buNone/>
                      </a:pPr>
                      <a:r>
                        <a:rPr lang="en-US" sz="1000" dirty="0">
                          <a:solidFill>
                            <a:srgbClr val="2E7D4F"/>
                          </a:solidFill>
                          <a:latin typeface="Calibri" pitchFamily="34" charset="0"/>
                          <a:ea typeface="Calibri" pitchFamily="34" charset="-122"/>
                          <a:cs typeface="Calibri" pitchFamily="34" charset="-120"/>
                        </a:rPr>
                        <a:t>normal</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ctr" indent="0" marL="0">
                        <a:buNone/>
                      </a:pPr>
                      <a:r>
                        <a:rPr lang="en-US" sz="1000" dirty="0">
                          <a:solidFill>
                            <a:srgbClr val="C0392B"/>
                          </a:solidFill>
                          <a:latin typeface="Calibri" pitchFamily="34" charset="0"/>
                          <a:ea typeface="Calibri" pitchFamily="34" charset="-122"/>
                          <a:cs typeface="Calibri" pitchFamily="34" charset="-120"/>
                        </a:rPr>
                        <a:t>10% of available</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274320">
                <a:tc>
                  <a:txBody>
                    <a:bodyPr/>
                    <a:lstStyle/>
                    <a:p>
                      <a:pPr algn="l" indent="0" marL="0">
                        <a:buNone/>
                      </a:pPr>
                      <a:r>
                        <a:rPr lang="en-US" sz="1000" b="1" dirty="0">
                          <a:solidFill>
                            <a:srgbClr val="22303C"/>
                          </a:solidFill>
                          <a:latin typeface="Calibri" pitchFamily="34" charset="0"/>
                          <a:ea typeface="Calibri" pitchFamily="34" charset="-122"/>
                          <a:cs typeface="Calibri" pitchFamily="34" charset="-120"/>
                        </a:rPr>
                        <a:t>dry-run</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E7D4F"/>
                          </a:solidFill>
                          <a:latin typeface="Calibri" pitchFamily="34" charset="0"/>
                          <a:ea typeface="Calibri" pitchFamily="34" charset="-122"/>
                          <a:cs typeface="Calibri" pitchFamily="34" charset="-120"/>
                        </a:rPr>
                        <a:t>skipped</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C0392B"/>
                          </a:solidFill>
                          <a:latin typeface="Calibri" pitchFamily="34" charset="0"/>
                          <a:ea typeface="Calibri" pitchFamily="34" charset="-122"/>
                          <a:cs typeface="Calibri" pitchFamily="34" charset="-120"/>
                        </a:rPr>
                        <a:t>forced</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274320">
                <a:tc>
                  <a:txBody>
                    <a:bodyPr/>
                    <a:lstStyle/>
                    <a:p>
                      <a:pPr algn="l" indent="0" marL="0">
                        <a:buNone/>
                      </a:pPr>
                      <a:r>
                        <a:rPr lang="en-US" sz="1000" b="1" dirty="0">
                          <a:solidFill>
                            <a:srgbClr val="22303C"/>
                          </a:solidFill>
                          <a:latin typeface="Calibri" pitchFamily="34" charset="0"/>
                          <a:ea typeface="Calibri" pitchFamily="34" charset="-122"/>
                          <a:cs typeface="Calibri" pitchFamily="34" charset="-120"/>
                        </a:rPr>
                        <a:t>result</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ctr" indent="0" marL="0">
                        <a:buNone/>
                      </a:pPr>
                      <a:r>
                        <a:rPr lang="en-US" sz="1000" dirty="0">
                          <a:solidFill>
                            <a:srgbClr val="2E7D4F"/>
                          </a:solidFill>
                          <a:latin typeface="Calibri" pitchFamily="34" charset="0"/>
                          <a:ea typeface="Calibri" pitchFamily="34" charset="-122"/>
                          <a:cs typeface="Calibri" pitchFamily="34" charset="-120"/>
                        </a:rPr>
                        <a:t>its QC verdict</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ctr" indent="0" marL="0">
                        <a:buNone/>
                      </a:pPr>
                      <a:r>
                        <a:rPr lang="en-US" sz="1000" dirty="0">
                          <a:solidFill>
                            <a:srgbClr val="C0392B"/>
                          </a:solidFill>
                          <a:latin typeface="Calibri" pitchFamily="34" charset="0"/>
                          <a:ea typeface="Calibri" pitchFamily="34" charset="-122"/>
                          <a:cs typeface="Calibri" pitchFamily="34" charset="-120"/>
                        </a:rPr>
                        <a:t>SUSPECT anyway</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274320">
                <a:tc>
                  <a:txBody>
                    <a:bodyPr/>
                    <a:lstStyle/>
                    <a:p>
                      <a:pPr algn="l" indent="0" marL="0">
                        <a:buNone/>
                      </a:pPr>
                      <a:r>
                        <a:rPr lang="en-US" sz="1000" b="1" dirty="0">
                          <a:solidFill>
                            <a:srgbClr val="22303C"/>
                          </a:solidFill>
                          <a:latin typeface="Calibri" pitchFamily="34" charset="0"/>
                          <a:ea typeface="Calibri" pitchFamily="34" charset="-122"/>
                          <a:cs typeface="Calibri" pitchFamily="34" charset="-120"/>
                        </a:rPr>
                        <a:t>in flight</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E7D4F"/>
                          </a:solidFill>
                          <a:latin typeface="Calibri" pitchFamily="34" charset="0"/>
                          <a:ea typeface="Calibri" pitchFamily="34" charset="-122"/>
                          <a:cs typeface="Calibri" pitchFamily="34" charset="-120"/>
                        </a:rPr>
                        <a:t>many</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C0392B"/>
                          </a:solidFill>
                          <a:latin typeface="Calibri" pitchFamily="34" charset="0"/>
                          <a:ea typeface="Calibri" pitchFamily="34" charset="-122"/>
                          <a:cs typeface="Calibri" pitchFamily="34" charset="-120"/>
                        </a:rPr>
                        <a:t>one</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bl>
          </a:graphicData>
        </a:graphic>
      </p:graphicFrame>
      <p:sp>
        <p:nvSpPr>
          <p:cNvPr id="11" name="Shape 6"/>
          <p:cNvSpPr/>
          <p:nvPr/>
        </p:nvSpPr>
        <p:spPr>
          <a:xfrm>
            <a:off x="7635240" y="4114800"/>
            <a:ext cx="4099255" cy="1417320"/>
          </a:xfrm>
          <a:prstGeom prst="rect">
            <a:avLst/>
          </a:prstGeom>
          <a:solidFill>
            <a:srgbClr val="EEF2F5"/>
          </a:solidFill>
          <a:ln w="12700">
            <a:solidFill>
              <a:srgbClr val="EEF2F5"/>
            </a:solidFill>
            <a:prstDash val="solid"/>
          </a:ln>
        </p:spPr>
      </p:sp>
      <p:sp>
        <p:nvSpPr>
          <p:cNvPr id="12" name="Text 7"/>
          <p:cNvSpPr txBox="1"/>
          <p:nvPr/>
        </p:nvSpPr>
        <p:spPr>
          <a:xfrm>
            <a:off x="7763256" y="4197096"/>
            <a:ext cx="3843223"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Promotion is mechanical</a:t>
            </a:r>
            <a:endParaRPr lang="en-US" sz="1300" dirty="0"/>
          </a:p>
        </p:txBody>
      </p:sp>
      <p:sp>
        <p:nvSpPr>
          <p:cNvPr id="13" name="Text 8"/>
          <p:cNvSpPr txBox="1"/>
          <p:nvPr/>
        </p:nvSpPr>
        <p:spPr>
          <a:xfrm>
            <a:off x="7763256" y="4507992"/>
            <a:ext cx="3843223" cy="941832"/>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N consecutive integrity-clean runs promote; any integrity failure demotes and resets the counter.</a:t>
            </a:r>
            <a:endParaRPr lang="en-US" sz="1000" dirty="0"/>
          </a:p>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An untrusted shape may have only ONE instance in flight — N concurrent copies are one draw sampled N times, not N pieces of evidence.</a:t>
            </a:r>
            <a:endParaRPr lang="en-US" sz="1000" dirty="0"/>
          </a:p>
        </p:txBody>
      </p:sp>
      <p:sp>
        <p:nvSpPr>
          <p:cNvPr id="14" name="Text 9"/>
          <p:cNvSpPr txBox="1"/>
          <p:nvPr/>
        </p:nvSpPr>
        <p:spPr>
          <a:xfrm>
            <a:off x="457200" y="5623560"/>
            <a:ext cx="11274552" cy="457200"/>
          </a:xfrm>
          <a:prstGeom prst="rect">
            <a:avLst/>
          </a:prstGeom>
          <a:noFill/>
          <a:ln/>
        </p:spPr>
        <p:txBody>
          <a:bodyPr wrap="square" lIns="0" tIns="0" rIns="0" bIns="0" rtlCol="0" anchor="t"/>
          <a:lstStyle/>
          <a:p>
            <a:pPr indent="0" marL="0">
              <a:buNone/>
            </a:pPr>
            <a:r>
              <a:rPr lang="en-US" sz="1250" b="1" dirty="0">
                <a:solidFill>
                  <a:srgbClr val="C0392B"/>
                </a:solidFill>
                <a:latin typeface="Calibri" pitchFamily="34" charset="0"/>
                <a:ea typeface="Calibri" pitchFamily="34" charset="-122"/>
                <a:cs typeface="Calibri" pitchFamily="34" charset="-120"/>
              </a:rPr>
              <a:t>Be honest about the limit: </a:t>
            </a:r>
            <a:pPr indent="0" marL="0">
              <a:buNone/>
            </a:pPr>
            <a:r>
              <a:rPr lang="en-US" sz="1250" dirty="0">
                <a:solidFill>
                  <a:srgbClr val="22303C"/>
                </a:solidFill>
                <a:latin typeface="Calibri" pitchFamily="34" charset="0"/>
                <a:ea typeface="Calibri" pitchFamily="34" charset="-122"/>
                <a:cs typeface="Calibri" pitchFamily="34" charset="-120"/>
              </a:rPr>
              <a:t>the interlock buys examination and delay, not soundness. A </a:t>
            </a:r>
            <a:pPr indent="0" marL="0">
              <a:buNone/>
            </a:pPr>
            <a:r>
              <a:rPr lang="en-US" sz="1250" i="1" dirty="0">
                <a:solidFill>
                  <a:srgbClr val="22303C"/>
                </a:solidFill>
                <a:latin typeface="Calibri" pitchFamily="34" charset="0"/>
                <a:ea typeface="Calibri" pitchFamily="34" charset="-122"/>
                <a:cs typeface="Calibri" pitchFamily="34" charset="-120"/>
              </a:rPr>
              <a:t>consistent</a:t>
            </a:r>
            <a:pPr indent="0" marL="0">
              <a:buNone/>
            </a:pPr>
            <a:r>
              <a:rPr lang="en-US" sz="1250" dirty="0">
                <a:solidFill>
                  <a:srgbClr val="22303C"/>
                </a:solidFill>
                <a:latin typeface="Calibri" pitchFamily="34" charset="0"/>
                <a:ea typeface="Calibri" pitchFamily="34" charset="-122"/>
                <a:cs typeface="Calibri" pitchFamily="34" charset="-120"/>
              </a:rPr>
              <a:t> novel silent failure promotes.</a:t>
            </a:r>
            <a:endParaRPr lang="en-US" sz="1250" dirty="0"/>
          </a:p>
        </p:txBody>
      </p:sp>
      <p:sp>
        <p:nvSpPr>
          <p:cNvPr id="15" name="Text 10"/>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All of it is one method — runtime/executor.py::_admit_once:304 — and it dispatches nothing. Admission is synchronous everywhere, including over HTTP.</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TOOLS</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A tool is a spec file, and QC is part of the spec</a:t>
            </a:r>
            <a:endParaRPr lang="en-US" sz="2800" dirty="0"/>
          </a:p>
        </p:txBody>
      </p:sp>
      <p:sp>
        <p:nvSpPr>
          <p:cNvPr id="4" name="Shape 2"/>
          <p:cNvSpPr/>
          <p:nvPr/>
        </p:nvSpPr>
        <p:spPr>
          <a:xfrm>
            <a:off x="457200" y="1371600"/>
            <a:ext cx="5760720" cy="1737360"/>
          </a:xfrm>
          <a:prstGeom prst="rect">
            <a:avLst/>
          </a:prstGeom>
          <a:solidFill>
            <a:srgbClr val="16222B"/>
          </a:solidFill>
          <a:ln w="12700">
            <a:solidFill>
              <a:srgbClr val="16222B"/>
            </a:solidFill>
            <a:prstDash val="solid"/>
          </a:ln>
        </p:spPr>
      </p:sp>
      <p:sp>
        <p:nvSpPr>
          <p:cNvPr id="5" name="Text 3"/>
          <p:cNvSpPr txBox="1"/>
          <p:nvPr/>
        </p:nvSpPr>
        <p:spPr>
          <a:xfrm>
            <a:off x="557784" y="1463040"/>
            <a:ext cx="5559552" cy="1554480"/>
          </a:xfrm>
          <a:prstGeom prst="rect">
            <a:avLst/>
          </a:prstGeom>
          <a:noFill/>
          <a:ln/>
        </p:spPr>
        <p:txBody>
          <a:bodyPr wrap="square" lIns="0" tIns="0" rIns="0" bIns="0" rtlCol="0" anchor="t"/>
          <a:lstStyle/>
          <a:p>
            <a:pPr indent="0" marL="0">
              <a:lnSpc>
                <a:spcPts val="1020"/>
              </a:lnSpc>
              <a:buNone/>
            </a:pPr>
            <a:r>
              <a:rPr lang="en-US" sz="816" dirty="0">
                <a:solidFill>
                  <a:srgbClr val="DCE5EC"/>
                </a:solidFill>
                <a:latin typeface="Consolas" pitchFamily="34" charset="0"/>
                <a:ea typeface="Consolas" pitchFamily="34" charset="-122"/>
                <a:cs typeface="Consolas" pitchFamily="34" charset="-120"/>
              </a:rPr>
              <a:t>id: filter_shape</a:t>
            </a:r>
            <a:endParaRPr lang="en-US" sz="816" dirty="0"/>
          </a:p>
          <a:p>
            <a:pPr indent="0" marL="0">
              <a:lnSpc>
                <a:spcPts val="1020"/>
              </a:lnSpc>
              <a:buNone/>
            </a:pPr>
            <a:r>
              <a:rPr lang="en-US" sz="816" dirty="0">
                <a:solidFill>
                  <a:srgbClr val="DCE5EC"/>
                </a:solidFill>
                <a:latin typeface="Consolas" pitchFamily="34" charset="0"/>
                <a:ea typeface="Consolas" pitchFamily="34" charset="-122"/>
                <a:cs typeface="Consolas" pitchFamily="34" charset="-120"/>
              </a:rPr>
              <a:t>pattern: P2                 # compute pattern — normative, see docs</a:t>
            </a:r>
            <a:endParaRPr lang="en-US" sz="816" dirty="0"/>
          </a:p>
          <a:p>
            <a:pPr indent="0" marL="0">
              <a:lnSpc>
                <a:spcPts val="1020"/>
              </a:lnSpc>
              <a:buNone/>
            </a:pPr>
            <a:r>
              <a:rPr lang="en-US" sz="816" dirty="0">
                <a:solidFill>
                  <a:srgbClr val="DCE5EC"/>
                </a:solidFill>
                <a:latin typeface="Consolas" pitchFamily="34" charset="0"/>
                <a:ea typeface="Consolas" pitchFamily="34" charset="-122"/>
                <a:cs typeface="Consolas" pitchFamily="34" charset="-120"/>
              </a:rPr>
              <a:t>entry: impress_a.tools.rosetta_agents.FilterShapeAgent</a:t>
            </a:r>
            <a:endParaRPr lang="en-US" sz="816" dirty="0"/>
          </a:p>
          <a:p>
            <a:pPr indent="0" marL="0">
              <a:lnSpc>
                <a:spcPts val="1020"/>
              </a:lnSpc>
              <a:buNone/>
            </a:pPr>
            <a:r>
              <a:rPr lang="en-US" sz="816" dirty="0">
                <a:solidFill>
                  <a:srgbClr val="DCE5EC"/>
                </a:solidFill>
                <a:latin typeface="Consolas" pitchFamily="34" charset="0"/>
                <a:ea typeface="Consolas" pitchFamily="34" charset="-122"/>
                <a:cs typeface="Consolas" pitchFamily="34" charset="-120"/>
              </a:rPr>
              <a:t>resources: {cores: 2, walltime_s: 120}</a:t>
            </a:r>
            <a:endParaRPr lang="en-US" sz="816" dirty="0"/>
          </a:p>
          <a:p>
            <a:pPr indent="0" marL="0">
              <a:lnSpc>
                <a:spcPts val="1020"/>
              </a:lnSpc>
              <a:buNone/>
            </a:pPr>
            <a:r>
              <a:rPr lang="en-US" sz="816" dirty="0">
                <a:solidFill>
                  <a:srgbClr val="DCE5EC"/>
                </a:solidFill>
                <a:latin typeface="Consolas" pitchFamily="34" charset="0"/>
                <a:ea typeface="Consolas" pitchFamily="34" charset="-122"/>
                <a:cs typeface="Consolas" pitchFamily="34" charset="-120"/>
              </a:rPr>
              <a:t>inputs:   {structure: {type: Complex}}</a:t>
            </a:r>
            <a:endParaRPr lang="en-US" sz="816" dirty="0"/>
          </a:p>
          <a:p>
            <a:pPr indent="0" marL="0">
              <a:lnSpc>
                <a:spcPts val="1020"/>
              </a:lnSpc>
              <a:buNone/>
            </a:pPr>
            <a:r>
              <a:rPr lang="en-US" sz="816" dirty="0">
                <a:solidFill>
                  <a:srgbClr val="DCE5EC"/>
                </a:solidFill>
                <a:latin typeface="Consolas" pitchFamily="34" charset="0"/>
                <a:ea typeface="Consolas" pitchFamily="34" charset="-122"/>
                <a:cs typeface="Consolas" pitchFamily="34" charset="-120"/>
              </a:rPr>
              <a:t>outputs:  {structure: {type: Complex}}</a:t>
            </a:r>
            <a:endParaRPr lang="en-US" sz="816" dirty="0"/>
          </a:p>
          <a:p>
            <a:pPr indent="0" marL="0">
              <a:lnSpc>
                <a:spcPts val="1020"/>
              </a:lnSpc>
              <a:buNone/>
            </a:pPr>
            <a:r>
              <a:rPr lang="en-US" sz="816" dirty="0">
                <a:solidFill>
                  <a:srgbClr val="DCE5EC"/>
                </a:solidFill>
                <a:latin typeface="Consolas" pitchFamily="34" charset="0"/>
                <a:ea typeface="Consolas" pitchFamily="34" charset="-122"/>
                <a:cs typeface="Consolas" pitchFamily="34" charset="-120"/>
              </a:rPr>
              <a:t>metrics:  [shape_complementarity]</a:t>
            </a:r>
            <a:endParaRPr lang="en-US" sz="816" dirty="0"/>
          </a:p>
          <a:p>
            <a:pPr indent="0" marL="0">
              <a:lnSpc>
                <a:spcPts val="1020"/>
              </a:lnSpc>
              <a:buNone/>
            </a:pPr>
            <a:r>
              <a:rPr lang="en-US" sz="816" dirty="0">
                <a:solidFill>
                  <a:srgbClr val="DCE5EC"/>
                </a:solidFill>
                <a:latin typeface="Consolas" pitchFamily="34" charset="0"/>
                <a:ea typeface="Consolas" pitchFamily="34" charset="-122"/>
                <a:cs typeface="Consolas" pitchFamily="34" charset="-120"/>
              </a:rPr>
              <a:t>qc_gates:</a:t>
            </a:r>
            <a:endParaRPr lang="en-US" sz="816" dirty="0"/>
          </a:p>
          <a:p>
            <a:pPr indent="0" marL="0">
              <a:lnSpc>
                <a:spcPts val="1020"/>
              </a:lnSpc>
              <a:buNone/>
            </a:pPr>
            <a:r>
              <a:rPr lang="en-US" sz="816" dirty="0">
                <a:solidFill>
                  <a:srgbClr val="DCE5EC"/>
                </a:solidFill>
                <a:latin typeface="Consolas" pitchFamily="34" charset="0"/>
                <a:ea typeface="Consolas" pitchFamily="34" charset="-122"/>
                <a:cs typeface="Consolas" pitchFamily="34" charset="-120"/>
              </a:rPr>
              <a:t>  - {id: output_present,  params: {key: result}}</a:t>
            </a:r>
            <a:endParaRPr lang="en-US" sz="816" dirty="0"/>
          </a:p>
          <a:p>
            <a:pPr indent="0" marL="0">
              <a:lnSpc>
                <a:spcPts val="1020"/>
              </a:lnSpc>
              <a:buNone/>
            </a:pPr>
            <a:r>
              <a:rPr lang="en-US" sz="816" dirty="0">
                <a:solidFill>
                  <a:srgbClr val="DCE5EC"/>
                </a:solidFill>
                <a:latin typeface="Consolas" pitchFamily="34" charset="0"/>
                <a:ea typeface="Consolas" pitchFamily="34" charset="-122"/>
                <a:cs typeface="Consolas" pitchFamily="34" charset="-120"/>
              </a:rPr>
              <a:t>  - {id: metric_in_range, params: {metric: shape_complementarity,</a:t>
            </a:r>
            <a:endParaRPr lang="en-US" sz="816" dirty="0"/>
          </a:p>
          <a:p>
            <a:pPr indent="0" marL="0">
              <a:lnSpc>
                <a:spcPts val="1020"/>
              </a:lnSpc>
              <a:buNone/>
            </a:pPr>
            <a:r>
              <a:rPr lang="en-US" sz="816" dirty="0">
                <a:solidFill>
                  <a:srgbClr val="DCE5EC"/>
                </a:solidFill>
                <a:latin typeface="Consolas" pitchFamily="34" charset="0"/>
                <a:ea typeface="Consolas" pitchFamily="34" charset="-122"/>
                <a:cs typeface="Consolas" pitchFamily="34" charset="-120"/>
              </a:rPr>
              <a:t>                                   min: 0.55, max: 1.0}}</a:t>
            </a:r>
            <a:endParaRPr lang="en-US" sz="816" dirty="0"/>
          </a:p>
          <a:p>
            <a:pPr indent="0" marL="0">
              <a:lnSpc>
                <a:spcPts val="1020"/>
              </a:lnSpc>
              <a:buNone/>
            </a:pPr>
            <a:r>
              <a:rPr lang="en-US" sz="816" dirty="0">
                <a:solidFill>
                  <a:srgbClr val="DCE5EC"/>
                </a:solidFill>
                <a:latin typeface="Consolas" pitchFamily="34" charset="0"/>
                <a:ea typeface="Consolas" pitchFamily="34" charset="-122"/>
                <a:cs typeface="Consolas" pitchFamily="34" charset="-120"/>
              </a:rPr>
              <a:t>cost_model: {unit: invocation, cost: {cpu_hours: 0.01}}</a:t>
            </a:r>
            <a:endParaRPr lang="en-US" sz="816" dirty="0"/>
          </a:p>
        </p:txBody>
      </p:sp>
      <p:sp>
        <p:nvSpPr>
          <p:cNvPr id="6" name="Text 4"/>
          <p:cNvSpPr txBox="1"/>
          <p:nvPr/>
        </p:nvSpPr>
        <p:spPr>
          <a:xfrm>
            <a:off x="457200" y="3127248"/>
            <a:ext cx="5760720" cy="182880"/>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toolkits/rosetta/tools/filter_shape/spec.yaml  ·  EDITED</a:t>
            </a:r>
            <a:endParaRPr lang="en-US" sz="850" dirty="0"/>
          </a:p>
        </p:txBody>
      </p:sp>
      <p:sp>
        <p:nvSpPr>
          <p:cNvPr id="7" name="Shape 5"/>
          <p:cNvSpPr/>
          <p:nvPr/>
        </p:nvSpPr>
        <p:spPr>
          <a:xfrm>
            <a:off x="457200" y="3310128"/>
            <a:ext cx="1325880" cy="530352"/>
          </a:xfrm>
          <a:prstGeom prst="roundRect">
            <a:avLst>
              <a:gd name="adj" fmla="val 13793"/>
            </a:avLst>
          </a:prstGeom>
          <a:solidFill>
            <a:srgbClr val="F3EAF6"/>
          </a:solidFill>
          <a:ln w="19050">
            <a:solidFill>
              <a:srgbClr val="7A4A8C"/>
            </a:solidFill>
            <a:prstDash val="solid"/>
          </a:ln>
        </p:spPr>
      </p:sp>
      <p:sp>
        <p:nvSpPr>
          <p:cNvPr id="8" name="Text 6"/>
          <p:cNvSpPr txBox="1"/>
          <p:nvPr/>
        </p:nvSpPr>
        <p:spPr>
          <a:xfrm>
            <a:off x="530352" y="3355848"/>
            <a:ext cx="1179576" cy="438912"/>
          </a:xfrm>
          <a:prstGeom prst="rect">
            <a:avLst/>
          </a:prstGeom>
          <a:noFill/>
          <a:ln/>
        </p:spPr>
        <p:txBody>
          <a:bodyPr wrap="square" lIns="0" tIns="0" rIns="0" bIns="0" rtlCol="0" anchor="ctr"/>
          <a:lstStyle/>
          <a:p>
            <a:pPr algn="ctr" indent="0" marL="0">
              <a:buNone/>
            </a:pPr>
            <a:r>
              <a:rPr lang="en-US" sz="1050" b="1" dirty="0">
                <a:solidFill>
                  <a:srgbClr val="16222B"/>
                </a:solidFill>
                <a:latin typeface="Calibri" pitchFamily="34" charset="0"/>
                <a:ea typeface="Calibri" pitchFamily="34" charset="-122"/>
                <a:cs typeface="Calibri" pitchFamily="34" charset="-120"/>
              </a:rPr>
              <a:t>pre_process</a:t>
            </a:r>
            <a:endParaRPr lang="en-US" sz="1400" dirty="0"/>
          </a:p>
          <a:p>
            <a:pPr algn="ctr" indent="0" marL="0">
              <a:buNone/>
            </a:pPr>
            <a:endParaRPr lang="en-US" sz="1400" dirty="0"/>
          </a:p>
          <a:p>
            <a:pPr algn="ctr" indent="0" marL="0">
              <a:buNone/>
            </a:pPr>
            <a:r>
              <a:rPr lang="en-US" sz="850" dirty="0">
                <a:solidFill>
                  <a:srgbClr val="5E6B75"/>
                </a:solidFill>
                <a:latin typeface="Consolas" pitchFamily="34" charset="0"/>
                <a:ea typeface="Consolas" pitchFamily="34" charset="-122"/>
                <a:cs typeface="Consolas" pitchFamily="34" charset="-120"/>
              </a:rPr>
              <a:t>:55</a:t>
            </a:r>
            <a:endParaRPr lang="en-US" sz="1400" dirty="0"/>
          </a:p>
        </p:txBody>
      </p:sp>
      <p:sp>
        <p:nvSpPr>
          <p:cNvPr id="9" name="Shape 7"/>
          <p:cNvSpPr/>
          <p:nvPr/>
        </p:nvSpPr>
        <p:spPr>
          <a:xfrm>
            <a:off x="1792224" y="3575304"/>
            <a:ext cx="118872" cy="91"/>
          </a:xfrm>
          <a:prstGeom prst="line">
            <a:avLst/>
          </a:prstGeom>
          <a:noFill/>
          <a:ln w="15875">
            <a:solidFill>
              <a:srgbClr val="5E6B75"/>
            </a:solidFill>
            <a:prstDash val="solid"/>
            <a:tailEnd type="triangle"/>
          </a:ln>
        </p:spPr>
      </p:sp>
      <p:sp>
        <p:nvSpPr>
          <p:cNvPr id="10" name="Shape 8"/>
          <p:cNvSpPr/>
          <p:nvPr/>
        </p:nvSpPr>
        <p:spPr>
          <a:xfrm>
            <a:off x="1920240" y="3310128"/>
            <a:ext cx="1325880" cy="530352"/>
          </a:xfrm>
          <a:prstGeom prst="roundRect">
            <a:avLst>
              <a:gd name="adj" fmla="val 13793"/>
            </a:avLst>
          </a:prstGeom>
          <a:solidFill>
            <a:srgbClr val="F3EAF6"/>
          </a:solidFill>
          <a:ln w="19050">
            <a:solidFill>
              <a:srgbClr val="7A4A8C"/>
            </a:solidFill>
            <a:prstDash val="solid"/>
          </a:ln>
        </p:spPr>
      </p:sp>
      <p:sp>
        <p:nvSpPr>
          <p:cNvPr id="11" name="Text 9"/>
          <p:cNvSpPr txBox="1"/>
          <p:nvPr/>
        </p:nvSpPr>
        <p:spPr>
          <a:xfrm>
            <a:off x="1993392" y="3355848"/>
            <a:ext cx="1179576" cy="438912"/>
          </a:xfrm>
          <a:prstGeom prst="rect">
            <a:avLst/>
          </a:prstGeom>
          <a:noFill/>
          <a:ln/>
        </p:spPr>
        <p:txBody>
          <a:bodyPr wrap="square" lIns="0" tIns="0" rIns="0" bIns="0" rtlCol="0" anchor="ctr"/>
          <a:lstStyle/>
          <a:p>
            <a:pPr algn="ctr" indent="0" marL="0">
              <a:buNone/>
            </a:pPr>
            <a:r>
              <a:rPr lang="en-US" sz="1050" b="1" dirty="0">
                <a:solidFill>
                  <a:srgbClr val="16222B"/>
                </a:solidFill>
                <a:latin typeface="Calibri" pitchFamily="34" charset="0"/>
                <a:ea typeface="Calibri" pitchFamily="34" charset="-122"/>
                <a:cs typeface="Calibri" pitchFamily="34" charset="-120"/>
              </a:rPr>
              <a:t>parameterize</a:t>
            </a:r>
            <a:endParaRPr lang="en-US" sz="1400" dirty="0"/>
          </a:p>
          <a:p>
            <a:pPr algn="ctr" indent="0" marL="0">
              <a:buNone/>
            </a:pPr>
            <a:endParaRPr lang="en-US" sz="1400" dirty="0"/>
          </a:p>
          <a:p>
            <a:pPr algn="ctr" indent="0" marL="0">
              <a:buNone/>
            </a:pPr>
            <a:r>
              <a:rPr lang="en-US" sz="850" dirty="0">
                <a:solidFill>
                  <a:srgbClr val="5E6B75"/>
                </a:solidFill>
                <a:latin typeface="Consolas" pitchFamily="34" charset="0"/>
                <a:ea typeface="Consolas" pitchFamily="34" charset="-122"/>
                <a:cs typeface="Consolas" pitchFamily="34" charset="-120"/>
              </a:rPr>
              <a:t>:58</a:t>
            </a:r>
            <a:endParaRPr lang="en-US" sz="1400" dirty="0"/>
          </a:p>
        </p:txBody>
      </p:sp>
      <p:sp>
        <p:nvSpPr>
          <p:cNvPr id="12" name="Shape 10"/>
          <p:cNvSpPr/>
          <p:nvPr/>
        </p:nvSpPr>
        <p:spPr>
          <a:xfrm>
            <a:off x="3255264" y="3575304"/>
            <a:ext cx="118872" cy="91"/>
          </a:xfrm>
          <a:prstGeom prst="line">
            <a:avLst/>
          </a:prstGeom>
          <a:noFill/>
          <a:ln w="15875">
            <a:solidFill>
              <a:srgbClr val="5E6B75"/>
            </a:solidFill>
            <a:prstDash val="solid"/>
            <a:tailEnd type="triangle"/>
          </a:ln>
        </p:spPr>
      </p:sp>
      <p:sp>
        <p:nvSpPr>
          <p:cNvPr id="13" name="Shape 11"/>
          <p:cNvSpPr/>
          <p:nvPr/>
        </p:nvSpPr>
        <p:spPr>
          <a:xfrm>
            <a:off x="3383280" y="3310128"/>
            <a:ext cx="1325880" cy="530352"/>
          </a:xfrm>
          <a:prstGeom prst="roundRect">
            <a:avLst>
              <a:gd name="adj" fmla="val 13793"/>
            </a:avLst>
          </a:prstGeom>
          <a:solidFill>
            <a:srgbClr val="F3EAF6"/>
          </a:solidFill>
          <a:ln w="19050">
            <a:solidFill>
              <a:srgbClr val="7A4A8C"/>
            </a:solidFill>
            <a:prstDash val="solid"/>
          </a:ln>
        </p:spPr>
      </p:sp>
      <p:sp>
        <p:nvSpPr>
          <p:cNvPr id="14" name="Text 12"/>
          <p:cNvSpPr txBox="1"/>
          <p:nvPr/>
        </p:nvSpPr>
        <p:spPr>
          <a:xfrm>
            <a:off x="3456432" y="3355848"/>
            <a:ext cx="1179576" cy="438912"/>
          </a:xfrm>
          <a:prstGeom prst="rect">
            <a:avLst/>
          </a:prstGeom>
          <a:noFill/>
          <a:ln/>
        </p:spPr>
        <p:txBody>
          <a:bodyPr wrap="square" lIns="0" tIns="0" rIns="0" bIns="0" rtlCol="0" anchor="ctr"/>
          <a:lstStyle/>
          <a:p>
            <a:pPr algn="ctr" indent="0" marL="0">
              <a:buNone/>
            </a:pPr>
            <a:r>
              <a:rPr lang="en-US" sz="1050" b="1" dirty="0">
                <a:solidFill>
                  <a:srgbClr val="16222B"/>
                </a:solidFill>
                <a:latin typeface="Calibri" pitchFamily="34" charset="0"/>
                <a:ea typeface="Calibri" pitchFamily="34" charset="-122"/>
                <a:cs typeface="Calibri" pitchFamily="34" charset="-120"/>
              </a:rPr>
              <a:t>run</a:t>
            </a:r>
            <a:endParaRPr lang="en-US" sz="1400" dirty="0"/>
          </a:p>
          <a:p>
            <a:pPr algn="ctr" indent="0" marL="0">
              <a:buNone/>
            </a:pPr>
            <a:endParaRPr lang="en-US" sz="1400" dirty="0"/>
          </a:p>
          <a:p>
            <a:pPr algn="ctr" indent="0" marL="0">
              <a:buNone/>
            </a:pPr>
            <a:r>
              <a:rPr lang="en-US" sz="850" dirty="0">
                <a:solidFill>
                  <a:srgbClr val="5E6B75"/>
                </a:solidFill>
                <a:latin typeface="Consolas" pitchFamily="34" charset="0"/>
                <a:ea typeface="Consolas" pitchFamily="34" charset="-122"/>
                <a:cs typeface="Consolas" pitchFamily="34" charset="-120"/>
              </a:rPr>
              <a:t>:79</a:t>
            </a:r>
            <a:endParaRPr lang="en-US" sz="1400" dirty="0"/>
          </a:p>
        </p:txBody>
      </p:sp>
      <p:sp>
        <p:nvSpPr>
          <p:cNvPr id="15" name="Shape 13"/>
          <p:cNvSpPr/>
          <p:nvPr/>
        </p:nvSpPr>
        <p:spPr>
          <a:xfrm>
            <a:off x="4718304" y="3575304"/>
            <a:ext cx="118872" cy="91"/>
          </a:xfrm>
          <a:prstGeom prst="line">
            <a:avLst/>
          </a:prstGeom>
          <a:noFill/>
          <a:ln w="15875">
            <a:solidFill>
              <a:srgbClr val="5E6B75"/>
            </a:solidFill>
            <a:prstDash val="solid"/>
            <a:tailEnd type="triangle"/>
          </a:ln>
        </p:spPr>
      </p:sp>
      <p:sp>
        <p:nvSpPr>
          <p:cNvPr id="16" name="Shape 14"/>
          <p:cNvSpPr/>
          <p:nvPr/>
        </p:nvSpPr>
        <p:spPr>
          <a:xfrm>
            <a:off x="4846320" y="3310128"/>
            <a:ext cx="1325880" cy="530352"/>
          </a:xfrm>
          <a:prstGeom prst="roundRect">
            <a:avLst>
              <a:gd name="adj" fmla="val 13793"/>
            </a:avLst>
          </a:prstGeom>
          <a:solidFill>
            <a:srgbClr val="F3EAF6"/>
          </a:solidFill>
          <a:ln w="19050">
            <a:solidFill>
              <a:srgbClr val="7A4A8C"/>
            </a:solidFill>
            <a:prstDash val="solid"/>
          </a:ln>
        </p:spPr>
      </p:sp>
      <p:sp>
        <p:nvSpPr>
          <p:cNvPr id="17" name="Text 15"/>
          <p:cNvSpPr txBox="1"/>
          <p:nvPr/>
        </p:nvSpPr>
        <p:spPr>
          <a:xfrm>
            <a:off x="4919472" y="3355848"/>
            <a:ext cx="1179576" cy="438912"/>
          </a:xfrm>
          <a:prstGeom prst="rect">
            <a:avLst/>
          </a:prstGeom>
          <a:noFill/>
          <a:ln/>
        </p:spPr>
        <p:txBody>
          <a:bodyPr wrap="square" lIns="0" tIns="0" rIns="0" bIns="0" rtlCol="0" anchor="ctr"/>
          <a:lstStyle/>
          <a:p>
            <a:pPr algn="ctr" indent="0" marL="0">
              <a:buNone/>
            </a:pPr>
            <a:r>
              <a:rPr lang="en-US" sz="1050" b="1" dirty="0">
                <a:solidFill>
                  <a:srgbClr val="16222B"/>
                </a:solidFill>
                <a:latin typeface="Calibri" pitchFamily="34" charset="0"/>
                <a:ea typeface="Calibri" pitchFamily="34" charset="-122"/>
                <a:cs typeface="Calibri" pitchFamily="34" charset="-120"/>
              </a:rPr>
              <a:t>post_process</a:t>
            </a:r>
            <a:endParaRPr lang="en-US" sz="1400" dirty="0"/>
          </a:p>
          <a:p>
            <a:pPr algn="ctr" indent="0" marL="0">
              <a:buNone/>
            </a:pPr>
            <a:endParaRPr lang="en-US" sz="1400" dirty="0"/>
          </a:p>
          <a:p>
            <a:pPr algn="ctr" indent="0" marL="0">
              <a:buNone/>
            </a:pPr>
            <a:r>
              <a:rPr lang="en-US" sz="850" dirty="0">
                <a:solidFill>
                  <a:srgbClr val="5E6B75"/>
                </a:solidFill>
                <a:latin typeface="Consolas" pitchFamily="34" charset="0"/>
                <a:ea typeface="Consolas" pitchFamily="34" charset="-122"/>
                <a:cs typeface="Consolas" pitchFamily="34" charset="-120"/>
              </a:rPr>
              <a:t>:110</a:t>
            </a:r>
            <a:endParaRPr lang="en-US" sz="1400" dirty="0"/>
          </a:p>
        </p:txBody>
      </p:sp>
      <p:sp>
        <p:nvSpPr>
          <p:cNvPr id="18" name="Text 16"/>
          <p:cNvSpPr txBox="1"/>
          <p:nvPr/>
        </p:nvSpPr>
        <p:spPr>
          <a:xfrm>
            <a:off x="457200" y="3931920"/>
            <a:ext cx="5760720" cy="566928"/>
          </a:xfrm>
          <a:prstGeom prst="rect">
            <a:avLst/>
          </a:prstGeom>
          <a:noFill/>
          <a:ln/>
        </p:spPr>
        <p:txBody>
          <a:bodyPr wrap="square" lIns="0" tIns="0" rIns="0" bIns="0" rtlCol="0" anchor="t"/>
          <a:lstStyle/>
          <a:p>
            <a:pPr indent="0" marL="0">
              <a:buNone/>
            </a:pPr>
            <a:r>
              <a:rPr lang="en-US" sz="1050" b="1" dirty="0">
                <a:solidFill>
                  <a:srgbClr val="16222B"/>
                </a:solidFill>
                <a:latin typeface="Calibri" pitchFamily="34" charset="0"/>
                <a:ea typeface="Calibri" pitchFamily="34" charset="-122"/>
                <a:cs typeface="Calibri" pitchFamily="34" charset="-120"/>
              </a:rPr>
              <a:t>post_process ENFORCES the spec's qc_gates</a:t>
            </a:r>
            <a:pPr indent="0" marL="0">
              <a:buNone/>
            </a:pPr>
            <a:r>
              <a:rPr lang="en-US" sz="1050" dirty="0">
                <a:solidFill>
                  <a:srgbClr val="22303C"/>
                </a:solidFill>
                <a:latin typeface="Calibri" pitchFamily="34" charset="0"/>
                <a:ea typeface="Calibri" pitchFamily="34" charset="-122"/>
                <a:cs typeface="Calibri" pitchFamily="34" charset="-120"/>
              </a:rPr>
              <a:t> — never skippable, and execute() is not overridable by an adapter. Loading is validating too: a default outside its own range, an unknown gate id or a SKILL.md missing a section is a load-time error, and a toolkit that fails anywhere registers NOTHING rather than a partial set.</a:t>
            </a:r>
            <a:endParaRPr lang="en-US" sz="10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4590288"/>
          <a:ext cx="5760720" cy="914400"/>
        </p:xfrm>
        <a:graphic>
          <a:graphicData uri="http://schemas.openxmlformats.org/drawingml/2006/table">
            <a:tbl>
              <a:tblPr/>
              <a:tblGrid>
                <a:gridCol w="1691640"/>
                <a:gridCol w="2103120"/>
                <a:gridCol w="1965960"/>
              </a:tblGrid>
              <a:tr h="237744">
                <a:tc>
                  <a:txBody>
                    <a:bodyPr/>
                    <a:lstStyle/>
                    <a:p>
                      <a:pPr indent="0" marL="0">
                        <a:buNone/>
                      </a:pPr>
                      <a:endParaRPr lang="en-US" sz="9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7A4A8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here</a:t>
                      </a:r>
                      <a:endParaRPr lang="en-US" sz="9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7A4A8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the reference pipeline</a:t>
                      </a:r>
                      <a:endParaRPr lang="en-US" sz="9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7A4A8C"/>
                    </a:solidFill>
                  </a:tcPr>
                </a:tc>
              </a:tr>
              <a:tr h="457200">
                <a:tc>
                  <a:txBody>
                    <a:bodyPr/>
                    <a:lstStyle/>
                    <a:p>
                      <a:pPr algn="l" indent="0" marL="0">
                        <a:buNone/>
                      </a:pPr>
                      <a:r>
                        <a:rPr lang="en-US" sz="900" b="1" dirty="0">
                          <a:solidFill>
                            <a:srgbClr val="22303C"/>
                          </a:solidFill>
                          <a:latin typeface="Calibri" pitchFamily="34" charset="0"/>
                          <a:ea typeface="Calibri" pitchFamily="34" charset="-122"/>
                          <a:cs typeface="Calibri" pitchFamily="34" charset="-120"/>
                        </a:rPr>
                        <a:t>the verdict</a:t>
                      </a:r>
                      <a:endParaRPr lang="en-US" sz="90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00" dirty="0">
                          <a:solidFill>
                            <a:srgbClr val="22303C"/>
                          </a:solidFill>
                          <a:latin typeface="Calibri" pitchFamily="34" charset="0"/>
                          <a:ea typeface="Calibri" pitchFamily="34" charset="-122"/>
                          <a:cs typeface="Calibri" pitchFamily="34" charset="-120"/>
                        </a:rPr>
                        <a:t>declared in the spec, resolved by id, mandatory — and a FAIL node never reaches the front</a:t>
                      </a:r>
                      <a:endParaRPr lang="en-US" sz="90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00" dirty="0">
                          <a:solidFill>
                            <a:srgbClr val="22303C"/>
                          </a:solidFill>
                          <a:latin typeface="Calibri" pitchFamily="34" charset="0"/>
                          <a:ea typeface="Calibri" pitchFamily="34" charset="-122"/>
                          <a:cs typeface="Calibri" pitchFamily="34" charset="-120"/>
                        </a:rPr>
                        <a:t>computed in the coroutine that parses the output, as 'pass' in pipeline.state</a:t>
                      </a:r>
                      <a:endParaRPr lang="en-US" sz="90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274320">
                <a:tc>
                  <a:txBody>
                    <a:bodyPr/>
                    <a:lstStyle/>
                    <a:p>
                      <a:pPr algn="l" indent="0" marL="0">
                        <a:buNone/>
                      </a:pPr>
                      <a:r>
                        <a:rPr lang="en-US" sz="900" b="1" dirty="0">
                          <a:solidFill>
                            <a:srgbClr val="22303C"/>
                          </a:solidFill>
                          <a:latin typeface="Calibri" pitchFamily="34" charset="0"/>
                          <a:ea typeface="Calibri" pitchFamily="34" charset="-122"/>
                          <a:cs typeface="Calibri" pitchFamily="34" charset="-120"/>
                        </a:rPr>
                        <a:t>the thresholds</a:t>
                      </a:r>
                      <a:endParaRPr lang="en-US" sz="90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303C"/>
                          </a:solidFill>
                          <a:latin typeface="Calibri" pitchFamily="34" charset="0"/>
                          <a:ea typeface="Calibri" pitchFamily="34" charset="-122"/>
                          <a:cs typeface="Calibri" pitchFamily="34" charset="-120"/>
                        </a:rPr>
                        <a:t>in the spec, beside the tool</a:t>
                      </a:r>
                      <a:endParaRPr lang="en-US" sz="90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303C"/>
                          </a:solidFill>
                          <a:latin typeface="Calibri" pitchFamily="34" charset="0"/>
                          <a:ea typeface="Calibri" pitchFamily="34" charset="-122"/>
                          <a:cs typeface="Calibri" pitchFamily="34" charset="-120"/>
                        </a:rPr>
                        <a:t>in a PROD dataclass in the runner (14 fields)</a:t>
                      </a:r>
                      <a:endParaRPr lang="en-US" sz="90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420624">
                <a:tc>
                  <a:txBody>
                    <a:bodyPr/>
                    <a:lstStyle/>
                    <a:p>
                      <a:pPr algn="l" indent="0" marL="0">
                        <a:buNone/>
                      </a:pPr>
                      <a:r>
                        <a:rPr lang="en-US" sz="900" b="1" dirty="0">
                          <a:solidFill>
                            <a:srgbClr val="22303C"/>
                          </a:solidFill>
                          <a:latin typeface="Calibri" pitchFamily="34" charset="0"/>
                          <a:ea typeface="Calibri" pitchFamily="34" charset="-122"/>
                          <a:cs typeface="Calibri" pitchFamily="34" charset="-120"/>
                        </a:rPr>
                        <a:t>who is stricter, on the two stages we share</a:t>
                      </a:r>
                      <a:endParaRPr lang="en-US" sz="90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00" dirty="0">
                          <a:solidFill>
                            <a:srgbClr val="22303C"/>
                          </a:solidFill>
                          <a:latin typeface="Calibri" pitchFamily="34" charset="0"/>
                          <a:ea typeface="Calibri" pitchFamily="34" charset="-122"/>
                          <a:cs typeface="Calibri" pitchFamily="34" charset="-120"/>
                        </a:rPr>
                        <a:t>total_score ≤ 0, fa_rep ≤ 500, no interaction_energy</a:t>
                      </a:r>
                      <a:endParaRPr lang="en-US" sz="90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00" b="1" dirty="0">
                          <a:solidFill>
                            <a:srgbClr val="C0392B"/>
                          </a:solidFill>
                          <a:latin typeface="Calibri" pitchFamily="34" charset="0"/>
                          <a:ea typeface="Calibri" pitchFamily="34" charset="-122"/>
                          <a:cs typeface="Calibri" pitchFamily="34" charset="-120"/>
                        </a:rPr>
                        <a:t>&lt; -250, &lt; 100, &lt; -8 — THEY ARE</a:t>
                      </a:r>
                      <a:endParaRPr lang="en-US" sz="90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bl>
          </a:graphicData>
        </a:graphic>
      </p:graphicFrame>
      <p:sp>
        <p:nvSpPr>
          <p:cNvPr id="20" name="Shape 17"/>
          <p:cNvSpPr/>
          <p:nvPr/>
        </p:nvSpPr>
        <p:spPr>
          <a:xfrm>
            <a:off x="6492240" y="1371600"/>
            <a:ext cx="5242255" cy="365760"/>
          </a:xfrm>
          <a:prstGeom prst="rect">
            <a:avLst/>
          </a:prstGeom>
          <a:solidFill>
            <a:srgbClr val="16222B"/>
          </a:solidFill>
          <a:ln w="12700">
            <a:solidFill>
              <a:srgbClr val="16222B"/>
            </a:solidFill>
            <a:prstDash val="solid"/>
          </a:ln>
        </p:spPr>
      </p:sp>
      <p:sp>
        <p:nvSpPr>
          <p:cNvPr id="21" name="Text 18"/>
          <p:cNvSpPr txBox="1"/>
          <p:nvPr/>
        </p:nvSpPr>
        <p:spPr>
          <a:xfrm>
            <a:off x="6601968" y="1371600"/>
            <a:ext cx="5022799"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suite manufactures the failure mode</a:t>
            </a:r>
            <a:endParaRPr lang="en-US" sz="1300" dirty="0"/>
          </a:p>
        </p:txBody>
      </p:sp>
      <p:sp>
        <p:nvSpPr>
          <p:cNvPr id="22" name="Shape 19"/>
          <p:cNvSpPr/>
          <p:nvPr/>
        </p:nvSpPr>
        <p:spPr>
          <a:xfrm>
            <a:off x="6492240" y="1828800"/>
            <a:ext cx="5242255" cy="1417320"/>
          </a:xfrm>
          <a:prstGeom prst="rect">
            <a:avLst/>
          </a:prstGeom>
          <a:solidFill>
            <a:srgbClr val="16222B"/>
          </a:solidFill>
          <a:ln w="12700">
            <a:solidFill>
              <a:srgbClr val="16222B"/>
            </a:solidFill>
            <a:prstDash val="solid"/>
          </a:ln>
        </p:spPr>
      </p:sp>
      <p:sp>
        <p:nvSpPr>
          <p:cNvPr id="23" name="Text 20"/>
          <p:cNvSpPr txBox="1"/>
          <p:nvPr/>
        </p:nvSpPr>
        <p:spPr>
          <a:xfrm>
            <a:off x="6592824" y="1920240"/>
            <a:ext cx="5041087" cy="1234440"/>
          </a:xfrm>
          <a:prstGeom prst="rect">
            <a:avLst/>
          </a:prstGeom>
          <a:noFill/>
          <a:ln/>
        </p:spPr>
        <p:txBody>
          <a:bodyPr wrap="square" lIns="0" tIns="0" rIns="0" bIns="0" rtlCol="0" anchor="t"/>
          <a:lstStyle/>
          <a:p>
            <a:pPr indent="0" marL="0">
              <a:lnSpc>
                <a:spcPts val="972"/>
              </a:lnSpc>
              <a:buNone/>
            </a:pPr>
            <a:r>
              <a:rPr lang="en-US" sz="778" dirty="0">
                <a:solidFill>
                  <a:srgbClr val="DCE5EC"/>
                </a:solidFill>
                <a:latin typeface="Consolas" pitchFamily="34" charset="0"/>
                <a:ea typeface="Consolas" pitchFamily="34" charset="-122"/>
                <a:cs typeface="Consolas" pitchFamily="34" charset="-120"/>
              </a:rPr>
              <a:t>class NoodleAgent(TaskAgent):</a:t>
            </a:r>
            <a:endParaRPr lang="en-US" sz="778" dirty="0"/>
          </a:p>
          <a:p>
            <a:pPr indent="0" marL="0">
              <a:lnSpc>
                <a:spcPts val="972"/>
              </a:lnSpc>
              <a:buNone/>
            </a:pPr>
            <a:r>
              <a:rPr lang="en-US" sz="778" dirty="0">
                <a:solidFill>
                  <a:srgbClr val="DCE5EC"/>
                </a:solidFill>
                <a:latin typeface="Consolas" pitchFamily="34" charset="0"/>
                <a:ea typeface="Consolas" pitchFamily="34" charset="-122"/>
                <a:cs typeface="Consolas" pitchFamily="34" charset="-120"/>
              </a:rPr>
              <a:t>    """A tool that LIES.</a:t>
            </a:r>
            <a:endParaRPr lang="en-US" sz="778" dirty="0"/>
          </a:p>
          <a:p>
            <a:pPr indent="0" marL="0">
              <a:lnSpc>
                <a:spcPts val="972"/>
              </a:lnSpc>
              <a:buNone/>
            </a:pPr>
            <a:endParaRPr lang="en-US" sz="778" dirty="0"/>
          </a:p>
          <a:p>
            <a:pPr indent="0" marL="0">
              <a:lnSpc>
                <a:spcPts val="972"/>
              </a:lnSpc>
              <a:buNone/>
            </a:pPr>
            <a:r>
              <a:rPr lang="en-US" sz="778" dirty="0">
                <a:solidFill>
                  <a:srgbClr val="DCE5EC"/>
                </a:solidFill>
                <a:latin typeface="Consolas" pitchFamily="34" charset="0"/>
                <a:ea typeface="Consolas" pitchFamily="34" charset="-122"/>
                <a:cs typeface="Consolas" pitchFamily="34" charset="-120"/>
              </a:rPr>
              <a:t>    Completes successfully, returns confident-looking numbers,</a:t>
            </a:r>
            <a:endParaRPr lang="en-US" sz="778" dirty="0"/>
          </a:p>
          <a:p>
            <a:pPr indent="0" marL="0">
              <a:lnSpc>
                <a:spcPts val="972"/>
              </a:lnSpc>
              <a:buNone/>
            </a:pPr>
            <a:r>
              <a:rPr lang="en-US" sz="778" dirty="0">
                <a:solidFill>
                  <a:srgbClr val="DCE5EC"/>
                </a:solidFill>
                <a:latin typeface="Consolas" pitchFamily="34" charset="0"/>
                <a:ea typeface="Consolas" pitchFamily="34" charset="-122"/>
                <a:cs typeface="Consolas" pitchFamily="34" charset="-120"/>
              </a:rPr>
              <a:t>    and produces a structure with no secondary structure.</a:t>
            </a:r>
            <a:endParaRPr lang="en-US" sz="778" dirty="0"/>
          </a:p>
          <a:p>
            <a:pPr indent="0" marL="0">
              <a:lnSpc>
                <a:spcPts val="972"/>
              </a:lnSpc>
              <a:buNone/>
            </a:pPr>
            <a:r>
              <a:rPr lang="en-US" sz="778" dirty="0">
                <a:solidFill>
                  <a:srgbClr val="DCE5EC"/>
                </a:solidFill>
                <a:latin typeface="Consolas" pitchFamily="34" charset="0"/>
                <a:ea typeface="Consolas" pitchFamily="34" charset="-122"/>
                <a:cs typeface="Consolas" pitchFamily="34" charset="-120"/>
              </a:rPr>
              <a:t>    """</a:t>
            </a:r>
            <a:endParaRPr lang="en-US" sz="778" dirty="0"/>
          </a:p>
          <a:p>
            <a:pPr indent="0" marL="0">
              <a:lnSpc>
                <a:spcPts val="972"/>
              </a:lnSpc>
              <a:buNone/>
            </a:pPr>
            <a:r>
              <a:rPr lang="en-US" sz="778" dirty="0">
                <a:solidFill>
                  <a:srgbClr val="DCE5EC"/>
                </a:solidFill>
                <a:latin typeface="Consolas" pitchFamily="34" charset="0"/>
                <a:ea typeface="Consolas" pitchFamily="34" charset="-122"/>
                <a:cs typeface="Consolas" pitchFamily="34" charset="-120"/>
              </a:rPr>
              <a:t>    async def run(self, req, params):</a:t>
            </a:r>
            <a:endParaRPr lang="en-US" sz="778" dirty="0"/>
          </a:p>
          <a:p>
            <a:pPr indent="0" marL="0">
              <a:lnSpc>
                <a:spcPts val="972"/>
              </a:lnSpc>
              <a:buNone/>
            </a:pPr>
            <a:r>
              <a:rPr lang="en-US" sz="778" dirty="0">
                <a:solidFill>
                  <a:srgbClr val="DCE5EC"/>
                </a:solidFill>
                <a:latin typeface="Consolas" pitchFamily="34" charset="0"/>
                <a:ea typeface="Consolas" pitchFamily="34" charset="-122"/>
                <a:cs typeface="Consolas" pitchFamily="34" charset="-120"/>
              </a:rPr>
              <a:t>        return {"result": "backbone", ...,</a:t>
            </a:r>
            <a:endParaRPr lang="en-US" sz="778" dirty="0"/>
          </a:p>
          <a:p>
            <a:pPr indent="0" marL="0">
              <a:lnSpc>
                <a:spcPts val="972"/>
              </a:lnSpc>
              <a:buNone/>
            </a:pPr>
            <a:r>
              <a:rPr lang="en-US" sz="778" dirty="0">
                <a:solidFill>
                  <a:srgbClr val="DCE5EC"/>
                </a:solidFill>
                <a:latin typeface="Consolas" pitchFamily="34" charset="0"/>
                <a:ea typeface="Consolas" pitchFamily="34" charset="-122"/>
                <a:cs typeface="Consolas" pitchFamily="34" charset="-120"/>
              </a:rPr>
              <a:t>                "outputs": {"designs": "noodle"},</a:t>
            </a:r>
            <a:endParaRPr lang="en-US" sz="778" dirty="0"/>
          </a:p>
          <a:p>
            <a:pPr indent="0" marL="0">
              <a:lnSpc>
                <a:spcPts val="972"/>
              </a:lnSpc>
              <a:buNone/>
            </a:pPr>
            <a:r>
              <a:rPr lang="en-US" sz="778" dirty="0">
                <a:solidFill>
                  <a:srgbClr val="DCE5EC"/>
                </a:solidFill>
                <a:latin typeface="Consolas" pitchFamily="34" charset="0"/>
                <a:ea typeface="Consolas" pitchFamily="34" charset="-122"/>
                <a:cs typeface="Consolas" pitchFamily="34" charset="-120"/>
              </a:rPr>
              <a:t>                "metrics": {"ss_fraction": 0.02, "designability": 0.91}}</a:t>
            </a:r>
            <a:endParaRPr lang="en-US" sz="778" dirty="0"/>
          </a:p>
        </p:txBody>
      </p:sp>
      <p:sp>
        <p:nvSpPr>
          <p:cNvPr id="24" name="Text 21"/>
          <p:cNvSpPr txBox="1"/>
          <p:nvPr/>
        </p:nvSpPr>
        <p:spPr>
          <a:xfrm>
            <a:off x="6492240" y="3264408"/>
            <a:ext cx="5242255" cy="182880"/>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tools/mock_agents.py:84–95  ·  EDITED</a:t>
            </a:r>
            <a:endParaRPr lang="en-US" sz="850" dirty="0"/>
          </a:p>
        </p:txBody>
      </p:sp>
      <p:sp>
        <p:nvSpPr>
          <p:cNvPr id="25" name="Shape 22"/>
          <p:cNvSpPr/>
          <p:nvPr/>
        </p:nvSpPr>
        <p:spPr>
          <a:xfrm>
            <a:off x="6492240" y="3566160"/>
            <a:ext cx="5242255" cy="777240"/>
          </a:xfrm>
          <a:prstGeom prst="rect">
            <a:avLst/>
          </a:prstGeom>
          <a:solidFill>
            <a:srgbClr val="243240"/>
          </a:solidFill>
          <a:ln w="12700">
            <a:solidFill>
              <a:srgbClr val="243240"/>
            </a:solidFill>
            <a:prstDash val="solid"/>
          </a:ln>
        </p:spPr>
      </p:sp>
      <p:sp>
        <p:nvSpPr>
          <p:cNvPr id="26" name="Text 23"/>
          <p:cNvSpPr txBox="1"/>
          <p:nvPr/>
        </p:nvSpPr>
        <p:spPr>
          <a:xfrm>
            <a:off x="6592824" y="3657600"/>
            <a:ext cx="5041087" cy="594360"/>
          </a:xfrm>
          <a:prstGeom prst="rect">
            <a:avLst/>
          </a:prstGeom>
          <a:noFill/>
          <a:ln/>
        </p:spPr>
        <p:txBody>
          <a:bodyPr wrap="square" lIns="0" tIns="0" rIns="0" bIns="0" rtlCol="0" anchor="t"/>
          <a:lstStyle/>
          <a:p>
            <a:pPr indent="0" marL="0">
              <a:lnSpc>
                <a:spcPts val="1170"/>
              </a:lnSpc>
              <a:buNone/>
            </a:pPr>
            <a:r>
              <a:rPr lang="en-US" sz="936" dirty="0">
                <a:solidFill>
                  <a:srgbClr val="DCE5EC"/>
                </a:solidFill>
                <a:latin typeface="Consolas" pitchFamily="34" charset="0"/>
                <a:ea typeface="Consolas" pitchFamily="34" charset="-122"/>
                <a:cs typeface="Consolas" pitchFamily="34" charset="-120"/>
              </a:rPr>
              <a:t>assert not res.failures, "the tool must SUCCEED - that is</a:t>
            </a:r>
            <a:endParaRPr lang="en-US" sz="936" dirty="0"/>
          </a:p>
          <a:p>
            <a:pPr indent="0" marL="0">
              <a:lnSpc>
                <a:spcPts val="1170"/>
              </a:lnSpc>
              <a:buNone/>
            </a:pPr>
            <a:r>
              <a:rPr lang="en-US" sz="936" dirty="0">
                <a:solidFill>
                  <a:srgbClr val="DCE5EC"/>
                </a:solidFill>
                <a:latin typeface="Consolas" pitchFamily="34" charset="0"/>
                <a:ea typeface="Consolas" pitchFamily="34" charset="-122"/>
                <a:cs typeface="Consolas" pitchFamily="34" charset="-120"/>
              </a:rPr>
              <a:t>                          what makes it silent"</a:t>
            </a:r>
            <a:endParaRPr lang="en-US" sz="936" dirty="0"/>
          </a:p>
          <a:p>
            <a:pPr indent="0" marL="0">
              <a:lnSpc>
                <a:spcPts val="1170"/>
              </a:lnSpc>
              <a:buNone/>
            </a:pPr>
            <a:r>
              <a:rPr lang="en-US" sz="936" dirty="0">
                <a:solidFill>
                  <a:srgbClr val="DCE5EC"/>
                </a:solidFill>
                <a:latin typeface="Consolas" pitchFamily="34" charset="0"/>
                <a:ea typeface="Consolas" pitchFamily="34" charset="-122"/>
                <a:cs typeface="Consolas" pitchFamily="34" charset="-120"/>
              </a:rPr>
              <a:t>assert res.merged_metrics()["designability"] &gt; 0.9</a:t>
            </a:r>
            <a:endParaRPr lang="en-US" sz="936" dirty="0"/>
          </a:p>
          <a:p>
            <a:pPr indent="0" marL="0">
              <a:lnSpc>
                <a:spcPts val="1170"/>
              </a:lnSpc>
              <a:buNone/>
            </a:pPr>
            <a:r>
              <a:rPr lang="en-US" sz="936" dirty="0">
                <a:solidFill>
                  <a:srgbClr val="DCE5EC"/>
                </a:solidFill>
                <a:latin typeface="Consolas" pitchFamily="34" charset="0"/>
                <a:ea typeface="Consolas" pitchFamily="34" charset="-122"/>
                <a:cs typeface="Consolas" pitchFamily="34" charset="-120"/>
              </a:rPr>
              <a:t>assert res.merged_qc().verdict is QCVerdict.FAIL</a:t>
            </a:r>
            <a:endParaRPr lang="en-US" sz="936" dirty="0"/>
          </a:p>
        </p:txBody>
      </p:sp>
      <p:sp>
        <p:nvSpPr>
          <p:cNvPr id="27" name="Text 24"/>
          <p:cNvSpPr txBox="1"/>
          <p:nvPr/>
        </p:nvSpPr>
        <p:spPr>
          <a:xfrm>
            <a:off x="6492240" y="4361688"/>
            <a:ext cx="5242255" cy="182880"/>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tests/test_campaign.py:96–98  ·  EDITED (wrapped, messages dropped)</a:t>
            </a:r>
            <a:endParaRPr lang="en-US" sz="850" dirty="0"/>
          </a:p>
        </p:txBody>
      </p:sp>
      <p:sp>
        <p:nvSpPr>
          <p:cNvPr id="28" name="Shape 25"/>
          <p:cNvSpPr/>
          <p:nvPr/>
        </p:nvSpPr>
        <p:spPr>
          <a:xfrm>
            <a:off x="6492240" y="4590288"/>
            <a:ext cx="5242255" cy="1755648"/>
          </a:xfrm>
          <a:prstGeom prst="rect">
            <a:avLst/>
          </a:prstGeom>
          <a:solidFill>
            <a:srgbClr val="F9E0DD"/>
          </a:solidFill>
          <a:ln w="12700">
            <a:solidFill>
              <a:srgbClr val="F9E0DD"/>
            </a:solidFill>
            <a:prstDash val="solid"/>
          </a:ln>
        </p:spPr>
      </p:sp>
      <p:sp>
        <p:nvSpPr>
          <p:cNvPr id="29" name="Text 26"/>
          <p:cNvSpPr txBox="1"/>
          <p:nvPr/>
        </p:nvSpPr>
        <p:spPr>
          <a:xfrm>
            <a:off x="6620256" y="4672584"/>
            <a:ext cx="4986223" cy="274320"/>
          </a:xfrm>
          <a:prstGeom prst="rect">
            <a:avLst/>
          </a:prstGeom>
          <a:noFill/>
          <a:ln/>
        </p:spPr>
        <p:txBody>
          <a:bodyPr wrap="square" lIns="0" tIns="0" rIns="0" bIns="0" rtlCol="0" anchor="t"/>
          <a:lstStyle/>
          <a:p>
            <a:pPr indent="0" marL="0">
              <a:buNone/>
            </a:pPr>
            <a:r>
              <a:rPr lang="en-US" sz="1300" b="1" dirty="0">
                <a:solidFill>
                  <a:srgbClr val="C0392B"/>
                </a:solidFill>
                <a:latin typeface="Calibri" pitchFamily="34" charset="0"/>
                <a:ea typeface="Calibri" pitchFamily="34" charset="-122"/>
                <a:cs typeface="Calibri" pitchFamily="34" charset="-120"/>
              </a:rPr>
              <a:t>Where this defence is still thin</a:t>
            </a:r>
            <a:endParaRPr lang="en-US" sz="1300" dirty="0"/>
          </a:p>
        </p:txBody>
      </p:sp>
      <p:sp>
        <p:nvSpPr>
          <p:cNvPr id="30" name="Text 27"/>
          <p:cNvSpPr txBox="1"/>
          <p:nvPr/>
        </p:nvSpPr>
        <p:spPr>
          <a:xfrm>
            <a:off x="6620256" y="4983480"/>
            <a:ext cx="4986223" cy="128016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mock_noodle exists so the QC layer is tested at campaign scale against a tool that lies. The real toolkits have no equivalent.</a:t>
            </a:r>
            <a:endParaRPr lang="en-US" sz="1000" dirty="0"/>
          </a:p>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Their gates are almost entirely metric_in_range against a number the tool chose to report about itself — which is exactly what a confidently-wrong tool passes.</a:t>
            </a:r>
            <a:endParaRPr lang="en-US" sz="1000" dirty="0"/>
          </a:p>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No structural gates: nothing checks the ligand is in the output complex, that there are no chain breaks, or that sequence length matches the contig. The reference pipeline gates on RFD3's clash counts; we open that sidecar JSON and do not read it (backlog B1/G2).</a:t>
            </a:r>
            <a:endParaRPr lang="en-US" sz="1000" dirty="0"/>
          </a:p>
        </p:txBody>
      </p:sp>
      <p:sp>
        <p:nvSpPr>
          <p:cNvPr id="31" name="Text 28"/>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Our thresholds are mined from the spec files, theirs from their runner's PROD dataclass — the one comparison in this deck where we are behind.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222B"/>
        </a:solidFill>
      </p:bgPr>
    </p:bg>
    <p:spTree>
      <p:nvGrpSpPr>
        <p:cNvPr id="1" name=""/>
        <p:cNvGrpSpPr/>
        <p:nvPr/>
      </p:nvGrpSpPr>
      <p:grpSpPr>
        <a:xfrm>
          <a:off x="0" y="0"/>
          <a:ext cx="0" cy="0"/>
          <a:chOff x="0" y="0"/>
          <a:chExt cx="0" cy="0"/>
        </a:xfrm>
      </p:grpSpPr>
      <p:sp>
        <p:nvSpPr>
          <p:cNvPr id="2" name="Text 0"/>
          <p:cNvSpPr txBox="1"/>
          <p:nvPr/>
        </p:nvSpPr>
        <p:spPr>
          <a:xfrm>
            <a:off x="457200" y="777240"/>
            <a:ext cx="3657600" cy="274320"/>
          </a:xfrm>
          <a:prstGeom prst="rect">
            <a:avLst/>
          </a:prstGeom>
          <a:noFill/>
          <a:ln/>
        </p:spPr>
        <p:txBody>
          <a:bodyPr wrap="square" lIns="0" tIns="0" rIns="0" bIns="0" rtlCol="0" anchor="t"/>
          <a:lstStyle/>
          <a:p>
            <a:pPr indent="0" marL="0">
              <a:buNone/>
            </a:pPr>
            <a:r>
              <a:rPr lang="en-US" sz="1300" b="1" spc="300" kern="0" dirty="0">
                <a:solidFill>
                  <a:srgbClr val="5E6B75"/>
                </a:solidFill>
                <a:latin typeface="Calibri" pitchFamily="34" charset="0"/>
                <a:ea typeface="Calibri" pitchFamily="34" charset="-122"/>
                <a:cs typeface="Calibri" pitchFamily="34" charset="-120"/>
              </a:rPr>
              <a:t>ACT 2 OF 3</a:t>
            </a:r>
            <a:endParaRPr lang="en-US" sz="1300" dirty="0"/>
          </a:p>
        </p:txBody>
      </p:sp>
      <p:sp>
        <p:nvSpPr>
          <p:cNvPr id="3" name="Text 1"/>
          <p:cNvSpPr txBox="1"/>
          <p:nvPr/>
        </p:nvSpPr>
        <p:spPr>
          <a:xfrm>
            <a:off x="457200" y="1097280"/>
            <a:ext cx="8686800" cy="868680"/>
          </a:xfrm>
          <a:prstGeom prst="rect">
            <a:avLst/>
          </a:prstGeom>
          <a:noFill/>
          <a:ln/>
        </p:spPr>
        <p:txBody>
          <a:bodyPr wrap="square" lIns="0" tIns="0" rIns="0" bIns="0" rtlCol="0" anchor="t"/>
          <a:lstStyle/>
          <a:p>
            <a:pPr indent="0" marL="0">
              <a:buNone/>
            </a:pPr>
            <a:r>
              <a:rPr lang="en-US" sz="4600" b="1" spc="100" kern="0" dirty="0">
                <a:solidFill>
                  <a:srgbClr val="FFFFFF"/>
                </a:solidFill>
                <a:latin typeface="Cambria" pitchFamily="34" charset="0"/>
                <a:ea typeface="Cambria" pitchFamily="34" charset="-122"/>
                <a:cs typeface="Cambria" pitchFamily="34" charset="-120"/>
              </a:rPr>
              <a:t>PERFORMANCE</a:t>
            </a:r>
            <a:endParaRPr lang="en-US" sz="4600" dirty="0"/>
          </a:p>
        </p:txBody>
      </p:sp>
      <p:sp>
        <p:nvSpPr>
          <p:cNvPr id="4" name="Text 2"/>
          <p:cNvSpPr txBox="1"/>
          <p:nvPr/>
        </p:nvSpPr>
        <p:spPr>
          <a:xfrm>
            <a:off x="457200" y="2103120"/>
            <a:ext cx="11094415" cy="548640"/>
          </a:xfrm>
          <a:prstGeom prst="rect">
            <a:avLst/>
          </a:prstGeom>
          <a:noFill/>
          <a:ln/>
        </p:spPr>
        <p:txBody>
          <a:bodyPr wrap="square" lIns="0" tIns="0" rIns="0" bIns="0" rtlCol="0" anchor="t"/>
          <a:lstStyle/>
          <a:p>
            <a:pPr indent="0" marL="0">
              <a:buNone/>
            </a:pPr>
            <a:r>
              <a:rPr lang="en-US" sz="1600" i="1" dirty="0">
                <a:solidFill>
                  <a:srgbClr val="C8D4DD"/>
                </a:solidFill>
                <a:latin typeface="Calibri" pitchFamily="34" charset="0"/>
                <a:ea typeface="Calibri" pitchFamily="34" charset="-122"/>
                <a:cs typeface="Calibri" pitchFamily="34" charset="-120"/>
              </a:rPr>
              <a:t>What does composing, validating and scoring a graph cost - in wall clock, in hardware, and in scientific yield?</a:t>
            </a:r>
            <a:endParaRPr lang="en-US" sz="1600" dirty="0"/>
          </a:p>
        </p:txBody>
      </p:sp>
      <p:sp>
        <p:nvSpPr>
          <p:cNvPr id="5" name="Shape 3"/>
          <p:cNvSpPr/>
          <p:nvPr/>
        </p:nvSpPr>
        <p:spPr>
          <a:xfrm>
            <a:off x="457200" y="2962656"/>
            <a:ext cx="54864" cy="548640"/>
          </a:xfrm>
          <a:prstGeom prst="rect">
            <a:avLst/>
          </a:prstGeom>
          <a:solidFill>
            <a:srgbClr val="D9731A"/>
          </a:solidFill>
          <a:ln w="12700">
            <a:solidFill>
              <a:srgbClr val="D9731A"/>
            </a:solidFill>
            <a:prstDash val="solid"/>
          </a:ln>
        </p:spPr>
      </p:sp>
      <p:sp>
        <p:nvSpPr>
          <p:cNvPr id="6" name="Text 4"/>
          <p:cNvSpPr txBox="1"/>
          <p:nvPr/>
        </p:nvSpPr>
        <p:spPr>
          <a:xfrm>
            <a:off x="676656" y="2926080"/>
            <a:ext cx="11057839" cy="274320"/>
          </a:xfrm>
          <a:prstGeom prst="rect">
            <a:avLst/>
          </a:prstGeom>
          <a:noFill/>
          <a:ln/>
        </p:spPr>
        <p:txBody>
          <a:bodyPr wrap="square" lIns="0" tIns="0" rIns="0" bIns="0" rtlCol="0" anchor="t"/>
          <a:lstStyle/>
          <a:p>
            <a:pPr indent="0" marL="0">
              <a:buNone/>
            </a:pPr>
            <a:r>
              <a:rPr lang="en-US" sz="1500" b="1" dirty="0">
                <a:solidFill>
                  <a:srgbClr val="F0C898"/>
                </a:solidFill>
                <a:latin typeface="Calibri" pitchFamily="34" charset="0"/>
                <a:ea typeface="Calibri" pitchFamily="34" charset="-122"/>
                <a:cs typeface="Calibri" pitchFamily="34" charset="-120"/>
              </a:rPr>
              <a:t>The loop is not the cost</a:t>
            </a:r>
            <a:endParaRPr lang="en-US" sz="1500" dirty="0"/>
          </a:p>
        </p:txBody>
      </p:sp>
      <p:sp>
        <p:nvSpPr>
          <p:cNvPr id="7" name="Text 5"/>
          <p:cNvSpPr txBox="1"/>
          <p:nvPr/>
        </p:nvSpPr>
        <p:spPr>
          <a:xfrm>
            <a:off x="676656" y="3200400"/>
            <a:ext cx="11057839" cy="292608"/>
          </a:xfrm>
          <a:prstGeom prst="rect">
            <a:avLst/>
          </a:prstGeom>
          <a:noFill/>
          <a:ln/>
        </p:spPr>
        <p:txBody>
          <a:bodyPr wrap="square" lIns="0" tIns="0" rIns="0" bIns="0" rtlCol="0" anchor="t"/>
          <a:lstStyle/>
          <a:p>
            <a:pPr indent="0" marL="0">
              <a:buNone/>
            </a:pPr>
            <a:r>
              <a:rPr lang="en-US" sz="1200" dirty="0">
                <a:solidFill>
                  <a:srgbClr val="C8D4DD"/>
                </a:solidFill>
                <a:latin typeface="Calibri" pitchFamily="34" charset="0"/>
                <a:ea typeface="Calibri" pitchFamily="34" charset="-122"/>
                <a:cs typeface="Calibri" pitchFamily="34" charset="-120"/>
              </a:rPr>
              <a:t>Over 16 six-stage runs, everything outside a task - dispatch, absorb, QC, provenance - is a median 2.8s of a 159s run, and running untrusted costs 0.0s [-0.9, 1.2]. The reference manager's adaptive callback is the same order: 0%-2% of wall.</a:t>
            </a:r>
            <a:endParaRPr lang="en-US" sz="1200" dirty="0"/>
          </a:p>
        </p:txBody>
      </p:sp>
      <p:sp>
        <p:nvSpPr>
          <p:cNvPr id="8" name="Shape 6"/>
          <p:cNvSpPr/>
          <p:nvPr/>
        </p:nvSpPr>
        <p:spPr>
          <a:xfrm>
            <a:off x="457200" y="3749040"/>
            <a:ext cx="54864" cy="548640"/>
          </a:xfrm>
          <a:prstGeom prst="rect">
            <a:avLst/>
          </a:prstGeom>
          <a:solidFill>
            <a:srgbClr val="D9731A"/>
          </a:solidFill>
          <a:ln w="12700">
            <a:solidFill>
              <a:srgbClr val="D9731A"/>
            </a:solidFill>
            <a:prstDash val="solid"/>
          </a:ln>
        </p:spPr>
      </p:sp>
      <p:sp>
        <p:nvSpPr>
          <p:cNvPr id="9" name="Text 7"/>
          <p:cNvSpPr txBox="1"/>
          <p:nvPr/>
        </p:nvSpPr>
        <p:spPr>
          <a:xfrm>
            <a:off x="676656" y="3712464"/>
            <a:ext cx="11057839" cy="274320"/>
          </a:xfrm>
          <a:prstGeom prst="rect">
            <a:avLst/>
          </a:prstGeom>
          <a:noFill/>
          <a:ln/>
        </p:spPr>
        <p:txBody>
          <a:bodyPr wrap="square" lIns="0" tIns="0" rIns="0" bIns="0" rtlCol="0" anchor="t"/>
          <a:lstStyle/>
          <a:p>
            <a:pPr indent="0" marL="0">
              <a:buNone/>
            </a:pPr>
            <a:r>
              <a:rPr lang="en-US" sz="1500" b="1" dirty="0">
                <a:solidFill>
                  <a:srgbClr val="F0C898"/>
                </a:solidFill>
                <a:latin typeface="Calibri" pitchFamily="34" charset="0"/>
                <a:ea typeface="Calibri" pitchFamily="34" charset="-122"/>
                <a:cs typeface="Calibri" pitchFamily="34" charset="-120"/>
              </a:rPr>
              <a:t>The failures that eat allocations are bounded, in code</a:t>
            </a:r>
            <a:endParaRPr lang="en-US" sz="1500" dirty="0"/>
          </a:p>
        </p:txBody>
      </p:sp>
      <p:sp>
        <p:nvSpPr>
          <p:cNvPr id="10" name="Text 8"/>
          <p:cNvSpPr txBox="1"/>
          <p:nvPr/>
        </p:nvSpPr>
        <p:spPr>
          <a:xfrm>
            <a:off x="676656" y="3986784"/>
            <a:ext cx="11057839" cy="292608"/>
          </a:xfrm>
          <a:prstGeom prst="rect">
            <a:avLst/>
          </a:prstGeom>
          <a:noFill/>
          <a:ln/>
        </p:spPr>
        <p:txBody>
          <a:bodyPr wrap="square" lIns="0" tIns="0" rIns="0" bIns="0" rtlCol="0" anchor="t"/>
          <a:lstStyle/>
          <a:p>
            <a:pPr indent="0" marL="0">
              <a:buNone/>
            </a:pPr>
            <a:r>
              <a:rPr lang="en-US" sz="1200" dirty="0">
                <a:solidFill>
                  <a:srgbClr val="C8D4DD"/>
                </a:solidFill>
                <a:latin typeface="Calibri" pitchFamily="34" charset="0"/>
                <a:ea typeface="Calibri" pitchFamily="34" charset="-122"/>
                <a:cs typeface="Calibri" pitchFamily="34" charset="-120"/>
              </a:rPr>
              <a:t>Backend startup and teardown both, measured against two lost allocations and the 64 GPU-h a teardown that never returned cost the reference pipeline - 37% of that job's billed total, spent after the science was done.</a:t>
            </a:r>
            <a:endParaRPr lang="en-US" sz="1200" dirty="0"/>
          </a:p>
        </p:txBody>
      </p:sp>
      <p:sp>
        <p:nvSpPr>
          <p:cNvPr id="11" name="Shape 9"/>
          <p:cNvSpPr/>
          <p:nvPr/>
        </p:nvSpPr>
        <p:spPr>
          <a:xfrm>
            <a:off x="457200" y="4535424"/>
            <a:ext cx="54864" cy="548640"/>
          </a:xfrm>
          <a:prstGeom prst="rect">
            <a:avLst/>
          </a:prstGeom>
          <a:solidFill>
            <a:srgbClr val="D9731A"/>
          </a:solidFill>
          <a:ln w="12700">
            <a:solidFill>
              <a:srgbClr val="D9731A"/>
            </a:solidFill>
            <a:prstDash val="solid"/>
          </a:ln>
        </p:spPr>
      </p:sp>
      <p:sp>
        <p:nvSpPr>
          <p:cNvPr id="12" name="Text 10"/>
          <p:cNvSpPr txBox="1"/>
          <p:nvPr/>
        </p:nvSpPr>
        <p:spPr>
          <a:xfrm>
            <a:off x="676656" y="4498848"/>
            <a:ext cx="11057839" cy="274320"/>
          </a:xfrm>
          <a:prstGeom prst="rect">
            <a:avLst/>
          </a:prstGeom>
          <a:noFill/>
          <a:ln/>
        </p:spPr>
        <p:txBody>
          <a:bodyPr wrap="square" lIns="0" tIns="0" rIns="0" bIns="0" rtlCol="0" anchor="t"/>
          <a:lstStyle/>
          <a:p>
            <a:pPr indent="0" marL="0">
              <a:buNone/>
            </a:pPr>
            <a:r>
              <a:rPr lang="en-US" sz="1500" b="1" dirty="0">
                <a:solidFill>
                  <a:srgbClr val="F0C898"/>
                </a:solidFill>
                <a:latin typeface="Calibri" pitchFamily="34" charset="0"/>
                <a:ea typeface="Calibri" pitchFamily="34" charset="-122"/>
                <a:cs typeface="Calibri" pitchFamily="34" charset="-120"/>
              </a:rPr>
              <a:t>The headroom is not orchestration</a:t>
            </a:r>
            <a:endParaRPr lang="en-US" sz="1500" dirty="0"/>
          </a:p>
        </p:txBody>
      </p:sp>
      <p:sp>
        <p:nvSpPr>
          <p:cNvPr id="13" name="Text 11"/>
          <p:cNvSpPr txBox="1"/>
          <p:nvPr/>
        </p:nvSpPr>
        <p:spPr>
          <a:xfrm>
            <a:off x="676656" y="4773168"/>
            <a:ext cx="11057839" cy="292608"/>
          </a:xfrm>
          <a:prstGeom prst="rect">
            <a:avLst/>
          </a:prstGeom>
          <a:noFill/>
          <a:ln/>
        </p:spPr>
        <p:txBody>
          <a:bodyPr wrap="square" lIns="0" tIns="0" rIns="0" bIns="0" rtlCol="0" anchor="t"/>
          <a:lstStyle/>
          <a:p>
            <a:pPr indent="0" marL="0">
              <a:buNone/>
            </a:pPr>
            <a:r>
              <a:rPr lang="en-US" sz="1200" dirty="0">
                <a:solidFill>
                  <a:srgbClr val="C8D4DD"/>
                </a:solidFill>
                <a:latin typeface="Calibri" pitchFamily="34" charset="0"/>
                <a:ea typeface="Calibri" pitchFamily="34" charset="-122"/>
                <a:cs typeface="Calibri" pitchFamily="34" charset="-120"/>
              </a:rPr>
              <a:t>Tasks fill 95% of elapsed, so the idle hardware is the three GPUs we never give work to - and packing is the lever the reference pipeline already pulled, from 12% to 71%.</a:t>
            </a:r>
            <a:endParaRPr lang="en-US" sz="1200" dirty="0"/>
          </a:p>
        </p:txBody>
      </p:sp>
      <p:sp>
        <p:nvSpPr>
          <p:cNvPr id="14" name="Shape 12"/>
          <p:cNvSpPr/>
          <p:nvPr/>
        </p:nvSpPr>
        <p:spPr>
          <a:xfrm>
            <a:off x="457200" y="5577840"/>
            <a:ext cx="11277295" cy="768096"/>
          </a:xfrm>
          <a:prstGeom prst="rect">
            <a:avLst/>
          </a:prstGeom>
          <a:solidFill>
            <a:srgbClr val="3A2222"/>
          </a:solidFill>
          <a:ln w="25400">
            <a:solidFill>
              <a:srgbClr val="C0392B"/>
            </a:solidFill>
            <a:prstDash val="solid"/>
          </a:ln>
        </p:spPr>
      </p:sp>
      <p:sp>
        <p:nvSpPr>
          <p:cNvPr id="15" name="Text 13"/>
          <p:cNvSpPr txBox="1"/>
          <p:nvPr/>
        </p:nvSpPr>
        <p:spPr>
          <a:xfrm>
            <a:off x="621792" y="5687568"/>
            <a:ext cx="10948111" cy="585216"/>
          </a:xfrm>
          <a:prstGeom prst="rect">
            <a:avLst/>
          </a:prstGeom>
          <a:noFill/>
          <a:ln/>
        </p:spPr>
        <p:txBody>
          <a:bodyPr wrap="square" lIns="0" tIns="0" rIns="0" bIns="0" rtlCol="0" anchor="t"/>
          <a:lstStyle/>
          <a:p>
            <a:pPr indent="0" marL="0">
              <a:buNone/>
            </a:pPr>
            <a:r>
              <a:rPr lang="en-US" sz="1300" b="1" dirty="0">
                <a:solidFill>
                  <a:srgbClr val="E8A0A0"/>
                </a:solidFill>
                <a:latin typeface="Calibri" pitchFamily="34" charset="0"/>
                <a:ea typeface="Calibri" pitchFamily="34" charset="-122"/>
                <a:cs typeface="Calibri" pitchFamily="34" charset="-120"/>
              </a:rPr>
              <a:t>The weakest claim in this act:  </a:t>
            </a:r>
            <a:pPr indent="0" marL="0">
              <a:buNone/>
            </a:pPr>
            <a:r>
              <a:rPr lang="en-US" sz="1300" dirty="0">
                <a:solidFill>
                  <a:srgbClr val="FFFFFF"/>
                </a:solidFill>
                <a:latin typeface="Calibri" pitchFamily="34" charset="0"/>
                <a:ea typeface="Calibri" pitchFamily="34" charset="-122"/>
                <a:cs typeface="Calibri" pitchFamily="34" charset="-120"/>
              </a:rPr>
              <a:t>there is no serial baseline and no head-to-head. One lineage, one GPU, three idle, on a different partition from every reference figure - so nothing here divides into a speedup.</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PERFORMANCE · THE SEAM, 1 OF 2</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 One generic factory, and a submit that does not await</a:t>
            </a:r>
            <a:endParaRPr lang="en-US" sz="2800" dirty="0"/>
          </a:p>
        </p:txBody>
      </p:sp>
      <p:sp>
        <p:nvSpPr>
          <p:cNvPr id="4" name="Shape 2"/>
          <p:cNvSpPr/>
          <p:nvPr/>
        </p:nvSpPr>
        <p:spPr>
          <a:xfrm>
            <a:off x="457200" y="1371600"/>
            <a:ext cx="6537960" cy="1828800"/>
          </a:xfrm>
          <a:prstGeom prst="rect">
            <a:avLst/>
          </a:prstGeom>
          <a:solidFill>
            <a:srgbClr val="16222B"/>
          </a:solidFill>
          <a:ln w="12700">
            <a:solidFill>
              <a:srgbClr val="16222B"/>
            </a:solidFill>
            <a:prstDash val="solid"/>
          </a:ln>
        </p:spPr>
      </p:sp>
      <p:sp>
        <p:nvSpPr>
          <p:cNvPr id="5" name="Text 3"/>
          <p:cNvSpPr txBox="1"/>
          <p:nvPr/>
        </p:nvSpPr>
        <p:spPr>
          <a:xfrm>
            <a:off x="557784" y="1463040"/>
            <a:ext cx="6336792" cy="1645920"/>
          </a:xfrm>
          <a:prstGeom prst="rect">
            <a:avLst/>
          </a:prstGeom>
          <a:noFill/>
          <a:ln/>
        </p:spPr>
        <p:txBody>
          <a:bodyPr wrap="square" lIns="0" tIns="0" rIns="0" bIns="0" rtlCol="0" anchor="t"/>
          <a:lstStyle/>
          <a:p>
            <a:pPr indent="0" marL="0">
              <a:lnSpc>
                <a:spcPts val="926"/>
              </a:lnSpc>
              <a:buNone/>
            </a:pPr>
            <a:r>
              <a:rPr lang="en-US" sz="741" dirty="0">
                <a:solidFill>
                  <a:srgbClr val="DCE5EC"/>
                </a:solidFill>
                <a:latin typeface="Consolas" pitchFamily="34" charset="0"/>
                <a:ea typeface="Consolas" pitchFamily="34" charset="-122"/>
                <a:cs typeface="Consolas" pitchFamily="34" charset="-120"/>
              </a:rPr>
              <a:t>def _make_task(self, node_id, tool_id, params, invocation="", seed=None):</a:t>
            </a:r>
            <a:endParaRPr lang="en-US" sz="741" dirty="0"/>
          </a:p>
          <a:p>
            <a:pPr indent="0" marL="0">
              <a:lnSpc>
                <a:spcPts val="926"/>
              </a:lnSpc>
              <a:buNone/>
            </a:pPr>
            <a:r>
              <a:rPr lang="en-US" sz="741" dirty="0">
                <a:solidFill>
                  <a:srgbClr val="DCE5EC"/>
                </a:solidFill>
                <a:latin typeface="Consolas" pitchFamily="34" charset="0"/>
                <a:ea typeface="Consolas" pitchFamily="34" charset="-122"/>
                <a:cs typeface="Consolas" pitchFamily="34" charset="-120"/>
              </a:rPr>
              <a:t>    """ONE generic factory for every node in every graph."""</a:t>
            </a:r>
            <a:endParaRPr lang="en-US" sz="741" dirty="0"/>
          </a:p>
          <a:p>
            <a:pPr indent="0" marL="0">
              <a:lnSpc>
                <a:spcPts val="926"/>
              </a:lnSpc>
              <a:buNone/>
            </a:pPr>
            <a:r>
              <a:rPr lang="en-US" sz="741" dirty="0">
                <a:solidFill>
                  <a:srgbClr val="DCE5EC"/>
                </a:solidFill>
                <a:latin typeface="Consolas" pitchFamily="34" charset="0"/>
                <a:ea typeface="Consolas" pitchFamily="34" charset="-122"/>
                <a:cs typeface="Consolas" pitchFamily="34" charset="-120"/>
              </a:rPr>
              <a:t>    reg, spec = self.reg, self.reg.get(tool_id)</a:t>
            </a:r>
            <a:endParaRPr lang="en-US" sz="741" dirty="0"/>
          </a:p>
          <a:p>
            <a:pPr indent="0" marL="0">
              <a:lnSpc>
                <a:spcPts val="926"/>
              </a:lnSpc>
              <a:buNone/>
            </a:pPr>
            <a:r>
              <a:rPr lang="en-US" sz="741" dirty="0">
                <a:solidFill>
                  <a:srgbClr val="DCE5EC"/>
                </a:solidFill>
                <a:latin typeface="Consolas" pitchFamily="34" charset="0"/>
                <a:ea typeface="Consolas" pitchFamily="34" charset="-122"/>
                <a:cs typeface="Consolas" pitchFamily="34" charset="-120"/>
              </a:rPr>
              <a:t>    agent_cls = reg.agent_for(tool_id)</a:t>
            </a:r>
            <a:endParaRPr lang="en-US" sz="741" dirty="0"/>
          </a:p>
          <a:p>
            <a:pPr indent="0" marL="0">
              <a:lnSpc>
                <a:spcPts val="926"/>
              </a:lnSpc>
              <a:buNone/>
            </a:pPr>
            <a:r>
              <a:rPr lang="en-US" sz="741" dirty="0">
                <a:solidFill>
                  <a:srgbClr val="DCE5EC"/>
                </a:solidFill>
                <a:latin typeface="Consolas" pitchFamily="34" charset="0"/>
                <a:ea typeface="Consolas" pitchFamily="34" charset="-122"/>
                <a:cs typeface="Consolas" pitchFamily="34" charset="-120"/>
              </a:rPr>
              <a:t>    workdir = self.workdir      # bind locally: the closure is PICKLED</a:t>
            </a:r>
            <a:endParaRPr lang="en-US" sz="741" dirty="0"/>
          </a:p>
          <a:p>
            <a:pPr indent="0" marL="0">
              <a:lnSpc>
                <a:spcPts val="926"/>
              </a:lnSpc>
              <a:buNone/>
            </a:pPr>
            <a:endParaRPr lang="en-US" sz="741" dirty="0"/>
          </a:p>
          <a:p>
            <a:pPr indent="0" marL="0">
              <a:lnSpc>
                <a:spcPts val="926"/>
              </a:lnSpc>
              <a:buNone/>
            </a:pPr>
            <a:r>
              <a:rPr lang="en-US" sz="741" dirty="0">
                <a:solidFill>
                  <a:srgbClr val="DCE5EC"/>
                </a:solidFill>
                <a:latin typeface="Consolas" pitchFamily="34" charset="0"/>
                <a:ea typeface="Consolas" pitchFamily="34" charset="-122"/>
                <a:cs typeface="Consolas" pitchFamily="34" charset="-120"/>
              </a:rPr>
              <a:t>    async def _run(*deps):</a:t>
            </a:r>
            <a:endParaRPr lang="en-US" sz="741" dirty="0"/>
          </a:p>
          <a:p>
            <a:pPr indent="0" marL="0">
              <a:lnSpc>
                <a:spcPts val="926"/>
              </a:lnSpc>
              <a:buNone/>
            </a:pPr>
            <a:r>
              <a:rPr lang="en-US" sz="741" dirty="0">
                <a:solidFill>
                  <a:srgbClr val="DCE5EC"/>
                </a:solidFill>
                <a:latin typeface="Consolas" pitchFamily="34" charset="0"/>
                <a:ea typeface="Consolas" pitchFamily="34" charset="-122"/>
                <a:cs typeface="Consolas" pitchFamily="34" charset="-120"/>
              </a:rPr>
              <a:t>        agent = agent_cls(spec)</a:t>
            </a:r>
            <a:endParaRPr lang="en-US" sz="741" dirty="0"/>
          </a:p>
          <a:p>
            <a:pPr indent="0" marL="0">
              <a:lnSpc>
                <a:spcPts val="926"/>
              </a:lnSpc>
              <a:buNone/>
            </a:pPr>
            <a:r>
              <a:rPr lang="en-US" sz="741" dirty="0">
                <a:solidFill>
                  <a:srgbClr val="DCE5EC"/>
                </a:solidFill>
                <a:latin typeface="Consolas" pitchFamily="34" charset="0"/>
                <a:ea typeface="Consolas" pitchFamily="34" charset="-122"/>
                <a:cs typeface="Consolas" pitchFamily="34" charset="-120"/>
              </a:rPr>
              <a:t>        req = TaskRequest(tool=tool_id, params=params, seed=seed, ...)</a:t>
            </a:r>
            <a:endParaRPr lang="en-US" sz="741" dirty="0"/>
          </a:p>
          <a:p>
            <a:pPr indent="0" marL="0">
              <a:lnSpc>
                <a:spcPts val="926"/>
              </a:lnSpc>
              <a:buNone/>
            </a:pPr>
            <a:r>
              <a:rPr lang="en-US" sz="741" dirty="0">
                <a:solidFill>
                  <a:srgbClr val="DCE5EC"/>
                </a:solidFill>
                <a:latin typeface="Consolas" pitchFamily="34" charset="0"/>
                <a:ea typeface="Consolas" pitchFamily="34" charset="-122"/>
                <a:cs typeface="Consolas" pitchFamily="34" charset="-120"/>
              </a:rPr>
              <a:t>        res = await agent(req)</a:t>
            </a:r>
            <a:endParaRPr lang="en-US" sz="741" dirty="0"/>
          </a:p>
          <a:p>
            <a:pPr indent="0" marL="0">
              <a:lnSpc>
                <a:spcPts val="926"/>
              </a:lnSpc>
              <a:buNone/>
            </a:pPr>
            <a:r>
              <a:rPr lang="en-US" sz="741" dirty="0">
                <a:solidFill>
                  <a:srgbClr val="DCE5EC"/>
                </a:solidFill>
                <a:latin typeface="Consolas" pitchFamily="34" charset="0"/>
                <a:ea typeface="Consolas" pitchFamily="34" charset="-122"/>
                <a:cs typeface="Consolas" pitchFamily="34" charset="-120"/>
              </a:rPr>
              <a:t>        return {"tool": ..., "metrics": ..., "qc": ..., "cost": ...}</a:t>
            </a:r>
            <a:endParaRPr lang="en-US" sz="741" dirty="0"/>
          </a:p>
          <a:p>
            <a:pPr indent="0" marL="0">
              <a:lnSpc>
                <a:spcPts val="926"/>
              </a:lnSpc>
              <a:buNone/>
            </a:pPr>
            <a:endParaRPr lang="en-US" sz="741" dirty="0"/>
          </a:p>
          <a:p>
            <a:pPr indent="0" marL="0">
              <a:lnSpc>
                <a:spcPts val="926"/>
              </a:lnSpc>
              <a:buNone/>
            </a:pPr>
            <a:r>
              <a:rPr lang="en-US" sz="741" dirty="0">
                <a:solidFill>
                  <a:srgbClr val="DCE5EC"/>
                </a:solidFill>
                <a:latin typeface="Consolas" pitchFamily="34" charset="0"/>
                <a:ea typeface="Consolas" pitchFamily="34" charset="-122"/>
                <a:cs typeface="Consolas" pitchFamily="34" charset="-120"/>
              </a:rPr>
              <a:t>    _run.__name__ = node_id   # asyncflow reads the name from __name__</a:t>
            </a:r>
            <a:endParaRPr lang="en-US" sz="741" dirty="0"/>
          </a:p>
          <a:p>
            <a:pPr indent="0" marL="0">
              <a:lnSpc>
                <a:spcPts val="926"/>
              </a:lnSpc>
              <a:buNone/>
            </a:pPr>
            <a:r>
              <a:rPr lang="en-US" sz="741" dirty="0">
                <a:solidFill>
                  <a:srgbClr val="DCE5EC"/>
                </a:solidFill>
                <a:latin typeface="Consolas" pitchFamily="34" charset="0"/>
                <a:ea typeface="Consolas" pitchFamily="34" charset="-122"/>
                <a:cs typeface="Consolas" pitchFamily="34" charset="-120"/>
              </a:rPr>
              <a:t>    return self.flow.function_task(_run)</a:t>
            </a:r>
            <a:endParaRPr lang="en-US" sz="741" dirty="0"/>
          </a:p>
        </p:txBody>
      </p:sp>
      <p:sp>
        <p:nvSpPr>
          <p:cNvPr id="6" name="Text 4"/>
          <p:cNvSpPr txBox="1"/>
          <p:nvPr/>
        </p:nvSpPr>
        <p:spPr>
          <a:xfrm>
            <a:off x="457200" y="3218688"/>
            <a:ext cx="6537960" cy="182880"/>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exec/dispatch.py:144–163  ·  EDITED — annotations elided</a:t>
            </a:r>
            <a:endParaRPr lang="en-US" sz="850" dirty="0"/>
          </a:p>
        </p:txBody>
      </p:sp>
      <p:sp>
        <p:nvSpPr>
          <p:cNvPr id="7" name="Shape 5"/>
          <p:cNvSpPr/>
          <p:nvPr/>
        </p:nvSpPr>
        <p:spPr>
          <a:xfrm>
            <a:off x="457200" y="3429000"/>
            <a:ext cx="6537960" cy="1280160"/>
          </a:xfrm>
          <a:prstGeom prst="rect">
            <a:avLst/>
          </a:prstGeom>
          <a:solidFill>
            <a:srgbClr val="16222B"/>
          </a:solidFill>
          <a:ln w="12700">
            <a:solidFill>
              <a:srgbClr val="16222B"/>
            </a:solidFill>
            <a:prstDash val="solid"/>
          </a:ln>
        </p:spPr>
      </p:sp>
      <p:sp>
        <p:nvSpPr>
          <p:cNvPr id="8" name="Text 6"/>
          <p:cNvSpPr txBox="1"/>
          <p:nvPr/>
        </p:nvSpPr>
        <p:spPr>
          <a:xfrm>
            <a:off x="557784" y="3520440"/>
            <a:ext cx="6336792" cy="1097280"/>
          </a:xfrm>
          <a:prstGeom prst="rect">
            <a:avLst/>
          </a:prstGeom>
          <a:noFill/>
          <a:ln/>
        </p:spPr>
        <p:txBody>
          <a:bodyPr wrap="square" lIns="0" tIns="0" rIns="0" bIns="0" rtlCol="0" anchor="t"/>
          <a:lstStyle/>
          <a:p>
            <a:pPr indent="0" marL="0">
              <a:lnSpc>
                <a:spcPts val="1080"/>
              </a:lnSpc>
              <a:buNone/>
            </a:pPr>
            <a:r>
              <a:rPr lang="en-US" sz="864" dirty="0">
                <a:solidFill>
                  <a:srgbClr val="DCE5EC"/>
                </a:solidFill>
                <a:latin typeface="Consolas" pitchFamily="34" charset="0"/>
                <a:ea typeface="Consolas" pitchFamily="34" charset="-122"/>
                <a:cs typeface="Consolas" pitchFamily="34" charset="-120"/>
              </a:rPr>
              <a:t>for tid in g.topo_order():                 # edges via unawaited futures</a:t>
            </a:r>
            <a:endParaRPr lang="en-US" sz="864" dirty="0"/>
          </a:p>
          <a:p>
            <a:pPr indent="0" marL="0">
              <a:lnSpc>
                <a:spcPts val="1080"/>
              </a:lnSpc>
              <a:buNone/>
            </a:pPr>
            <a:r>
              <a:rPr lang="en-US" sz="864" dirty="0">
                <a:solidFill>
                  <a:srgbClr val="DCE5EC"/>
                </a:solidFill>
                <a:latin typeface="Consolas" pitchFamily="34" charset="0"/>
                <a:ea typeface="Consolas" pitchFamily="34" charset="-122"/>
                <a:cs typeface="Consolas" pitchFamily="34" charset="-120"/>
              </a:rPr>
              <a:t>    deps = [futures[d] for d in g.nodes[tid].deps]</a:t>
            </a:r>
            <a:endParaRPr lang="en-US" sz="864" dirty="0"/>
          </a:p>
          <a:p>
            <a:pPr indent="0" marL="0">
              <a:lnSpc>
                <a:spcPts val="1080"/>
              </a:lnSpc>
              <a:buNone/>
            </a:pPr>
            <a:r>
              <a:rPr lang="en-US" sz="864" dirty="0">
                <a:solidFill>
                  <a:srgbClr val="DCE5EC"/>
                </a:solidFill>
                <a:latin typeface="Consolas" pitchFamily="34" charset="0"/>
                <a:ea typeface="Consolas" pitchFamily="34" charset="-122"/>
                <a:cs typeface="Consolas" pitchFamily="34" charset="-120"/>
              </a:rPr>
              <a:t>    futures[tid] = tasks[tid](*deps, workflow_id=run_id)</a:t>
            </a:r>
            <a:endParaRPr lang="en-US" sz="864" dirty="0"/>
          </a:p>
          <a:p>
            <a:pPr indent="0" marL="0">
              <a:lnSpc>
                <a:spcPts val="1080"/>
              </a:lnSpc>
              <a:buNone/>
            </a:pPr>
            <a:endParaRPr lang="en-US" sz="864" dirty="0"/>
          </a:p>
          <a:p>
            <a:pPr indent="0" marL="0">
              <a:lnSpc>
                <a:spcPts val="1080"/>
              </a:lnSpc>
              <a:buNone/>
            </a:pPr>
            <a:r>
              <a:rPr lang="en-US" sz="864" dirty="0">
                <a:solidFill>
                  <a:srgbClr val="DCE5EC"/>
                </a:solidFill>
                <a:latin typeface="Consolas" pitchFamily="34" charset="0"/>
                <a:ea typeface="Consolas" pitchFamily="34" charset="-122"/>
                <a:cs typeface="Consolas" pitchFamily="34" charset="-120"/>
              </a:rPr>
              <a:t># one bad task must not cancel its siblings</a:t>
            </a:r>
            <a:endParaRPr lang="en-US" sz="864" dirty="0"/>
          </a:p>
          <a:p>
            <a:pPr indent="0" marL="0">
              <a:lnSpc>
                <a:spcPts val="1080"/>
              </a:lnSpc>
              <a:buNone/>
            </a:pPr>
            <a:r>
              <a:rPr lang="en-US" sz="864" dirty="0">
                <a:solidFill>
                  <a:srgbClr val="DCE5EC"/>
                </a:solidFill>
                <a:latin typeface="Consolas" pitchFamily="34" charset="0"/>
                <a:ea typeface="Consolas" pitchFamily="34" charset="-122"/>
                <a:cs typeface="Consolas" pitchFamily="34" charset="-120"/>
              </a:rPr>
              <a:t>gather = asyncio.gather(*futures.values(), return_exceptions=True)</a:t>
            </a:r>
            <a:endParaRPr lang="en-US" sz="864" dirty="0"/>
          </a:p>
          <a:p>
            <a:pPr indent="0" marL="0">
              <a:lnSpc>
                <a:spcPts val="1080"/>
              </a:lnSpc>
              <a:buNone/>
            </a:pPr>
            <a:r>
              <a:rPr lang="en-US" sz="864" dirty="0">
                <a:solidFill>
                  <a:srgbClr val="DCE5EC"/>
                </a:solidFill>
                <a:latin typeface="Consolas" pitchFamily="34" charset="0"/>
                <a:ea typeface="Consolas" pitchFamily="34" charset="-122"/>
                <a:cs typeface="Consolas" pitchFamily="34" charset="-120"/>
              </a:rPr>
              <a:t>return DispatchHandle(run_id=run_id, graph_id=g.id,</a:t>
            </a:r>
            <a:endParaRPr lang="en-US" sz="864" dirty="0"/>
          </a:p>
          <a:p>
            <a:pPr indent="0" marL="0">
              <a:lnSpc>
                <a:spcPts val="1080"/>
              </a:lnSpc>
              <a:buNone/>
            </a:pPr>
            <a:r>
              <a:rPr lang="en-US" sz="864" dirty="0">
                <a:solidFill>
                  <a:srgbClr val="DCE5EC"/>
                </a:solidFill>
                <a:latin typeface="Consolas" pitchFamily="34" charset="0"/>
                <a:ea typeface="Consolas" pitchFamily="34" charset="-122"/>
                <a:cs typeface="Consolas" pitchFamily="34" charset="-120"/>
              </a:rPr>
              <a:t>                      futures=futures, gather=gather)   # NOT awaited</a:t>
            </a:r>
            <a:endParaRPr lang="en-US" sz="864" dirty="0"/>
          </a:p>
        </p:txBody>
      </p:sp>
      <p:sp>
        <p:nvSpPr>
          <p:cNvPr id="9" name="Text 7"/>
          <p:cNvSpPr txBox="1"/>
          <p:nvPr/>
        </p:nvSpPr>
        <p:spPr>
          <a:xfrm>
            <a:off x="457200" y="4727448"/>
            <a:ext cx="6537960" cy="182880"/>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exec/dispatch.py:182–190  ·  EDITED — see CODE_FOR_DECK.md</a:t>
            </a:r>
            <a:endParaRPr lang="en-US" sz="850" dirty="0"/>
          </a:p>
        </p:txBody>
      </p:sp>
      <p:sp>
        <p:nvSpPr>
          <p:cNvPr id="10" name="Shape 8"/>
          <p:cNvSpPr/>
          <p:nvPr/>
        </p:nvSpPr>
        <p:spPr>
          <a:xfrm>
            <a:off x="457200" y="4892040"/>
            <a:ext cx="6537960" cy="1463040"/>
          </a:xfrm>
          <a:prstGeom prst="rect">
            <a:avLst/>
          </a:prstGeom>
          <a:solidFill>
            <a:srgbClr val="FCEBDD"/>
          </a:solidFill>
          <a:ln w="12700">
            <a:solidFill>
              <a:srgbClr val="FCEBDD"/>
            </a:solidFill>
            <a:prstDash val="solid"/>
          </a:ln>
        </p:spPr>
      </p:sp>
      <p:sp>
        <p:nvSpPr>
          <p:cNvPr id="11" name="Text 9"/>
          <p:cNvSpPr txBox="1"/>
          <p:nvPr/>
        </p:nvSpPr>
        <p:spPr>
          <a:xfrm>
            <a:off x="585216" y="4974336"/>
            <a:ext cx="6281928" cy="274320"/>
          </a:xfrm>
          <a:prstGeom prst="rect">
            <a:avLst/>
          </a:prstGeom>
          <a:noFill/>
          <a:ln/>
        </p:spPr>
        <p:txBody>
          <a:bodyPr wrap="square" lIns="0" tIns="0" rIns="0" bIns="0" rtlCol="0" anchor="t"/>
          <a:lstStyle/>
          <a:p>
            <a:pPr indent="0" marL="0">
              <a:buNone/>
            </a:pPr>
            <a:r>
              <a:rPr lang="en-US" sz="1300" b="1" dirty="0">
                <a:solidFill>
                  <a:srgbClr val="D9731A"/>
                </a:solidFill>
                <a:latin typeface="Calibri" pitchFamily="34" charset="0"/>
                <a:ea typeface="Calibri" pitchFamily="34" charset="-122"/>
                <a:cs typeface="Calibri" pitchFamily="34" charset="-120"/>
              </a:rPr>
              <a:t>Two asyncflow idioms, not interchangeable</a:t>
            </a:r>
            <a:endParaRPr lang="en-US" sz="1300" dirty="0"/>
          </a:p>
        </p:txBody>
      </p:sp>
      <p:sp>
        <p:nvSpPr>
          <p:cNvPr id="12" name="Text 10"/>
          <p:cNvSpPr txBox="1"/>
          <p:nvPr/>
        </p:nvSpPr>
        <p:spPr>
          <a:xfrm>
            <a:off x="585216" y="5285232"/>
            <a:ext cx="6281928" cy="98755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An unawaited future passed as an argument expresses a DAG edge.</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asyncio.gather groups INDEPENDENT work — the replica lineages. The executor, not the dispatcher, decides when to wait on it, racing every in-flight gather with FIRST_COMPLETED.</a:t>
            </a:r>
            <a:endParaRPr lang="en-US" sz="1050" dirty="0"/>
          </a:p>
        </p:txBody>
      </p:sp>
      <p:sp>
        <p:nvSpPr>
          <p:cNvPr id="13" name="Shape 11"/>
          <p:cNvSpPr/>
          <p:nvPr/>
        </p:nvSpPr>
        <p:spPr>
          <a:xfrm>
            <a:off x="7269480" y="1371600"/>
            <a:ext cx="4465015" cy="1600200"/>
          </a:xfrm>
          <a:prstGeom prst="rect">
            <a:avLst/>
          </a:prstGeom>
          <a:solidFill>
            <a:srgbClr val="EEF2F5"/>
          </a:solidFill>
          <a:ln w="12700">
            <a:solidFill>
              <a:srgbClr val="EEF2F5"/>
            </a:solidFill>
            <a:prstDash val="solid"/>
          </a:ln>
        </p:spPr>
      </p:sp>
      <p:sp>
        <p:nvSpPr>
          <p:cNvPr id="14" name="Text 12"/>
          <p:cNvSpPr txBox="1"/>
          <p:nvPr/>
        </p:nvSpPr>
        <p:spPr>
          <a:xfrm>
            <a:off x="7397496" y="1453896"/>
            <a:ext cx="4208983"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The bet, and it held twice</a:t>
            </a:r>
            <a:endParaRPr lang="en-US" sz="1300" dirty="0"/>
          </a:p>
        </p:txBody>
      </p:sp>
      <p:sp>
        <p:nvSpPr>
          <p:cNvPr id="15" name="Text 13"/>
          <p:cNvSpPr txBox="1"/>
          <p:nvPr/>
        </p:nvSpPr>
        <p:spPr>
          <a:xfrm>
            <a:off x="7397496" y="1764792"/>
            <a:ext cx="4208983" cy="112471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A DAG described as data dispatches with one generic factory — no codegen, no AST work, no templating.</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And the same factory survived going non-blocking unchanged: submit builds the gather and hands it back instead of awaiting it.</a:t>
            </a:r>
            <a:endParaRPr lang="en-US" sz="1050" dirty="0"/>
          </a:p>
        </p:txBody>
      </p:sp>
      <p:sp>
        <p:nvSpPr>
          <p:cNvPr id="16" name="Shape 14"/>
          <p:cNvSpPr/>
          <p:nvPr/>
        </p:nvSpPr>
        <p:spPr>
          <a:xfrm>
            <a:off x="7269480" y="3108960"/>
            <a:ext cx="4465015" cy="1371600"/>
          </a:xfrm>
          <a:prstGeom prst="rect">
            <a:avLst/>
          </a:prstGeom>
          <a:solidFill>
            <a:srgbClr val="E3F0F1"/>
          </a:solidFill>
          <a:ln w="12700">
            <a:solidFill>
              <a:srgbClr val="E3F0F1"/>
            </a:solidFill>
            <a:prstDash val="solid"/>
          </a:ln>
        </p:spPr>
      </p:sp>
      <p:sp>
        <p:nvSpPr>
          <p:cNvPr id="17" name="Text 15"/>
          <p:cNvSpPr txBox="1"/>
          <p:nvPr/>
        </p:nvSpPr>
        <p:spPr>
          <a:xfrm>
            <a:off x="7397496" y="3191256"/>
            <a:ext cx="4208983" cy="274320"/>
          </a:xfrm>
          <a:prstGeom prst="rect">
            <a:avLst/>
          </a:prstGeom>
          <a:noFill/>
          <a:ln/>
        </p:spPr>
        <p:txBody>
          <a:bodyPr wrap="square" lIns="0" tIns="0" rIns="0" bIns="0" rtlCol="0" anchor="t"/>
          <a:lstStyle/>
          <a:p>
            <a:pPr indent="0" marL="0">
              <a:buNone/>
            </a:pPr>
            <a:r>
              <a:rPr lang="en-US" sz="1300" b="1" dirty="0">
                <a:solidFill>
                  <a:srgbClr val="1E6470"/>
                </a:solidFill>
                <a:latin typeface="Calibri" pitchFamily="34" charset="0"/>
                <a:ea typeface="Calibri" pitchFamily="34" charset="-122"/>
                <a:cs typeface="Calibri" pitchFamily="34" charset="-120"/>
              </a:rPr>
              <a:t>Three findings in four lines</a:t>
            </a:r>
            <a:endParaRPr lang="en-US" sz="1300" dirty="0"/>
          </a:p>
        </p:txBody>
      </p:sp>
      <p:sp>
        <p:nvSpPr>
          <p:cNvPr id="18" name="Text 16"/>
          <p:cNvSpPr txBox="1"/>
          <p:nvPr/>
        </p:nvSpPr>
        <p:spPr>
          <a:xfrm>
            <a:off x="7397496" y="3502152"/>
            <a:ext cx="4208983" cy="89611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The task decorators take no name= kwarg — setting __name__ first is what lets one factory serve every node.</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workflow_id tags every task, but no lookup API exists, so the handle is the run's own index.</a:t>
            </a:r>
            <a:endParaRPr lang="en-US" sz="1050" dirty="0"/>
          </a:p>
        </p:txBody>
      </p:sp>
      <p:sp>
        <p:nvSpPr>
          <p:cNvPr id="19" name="Shape 17"/>
          <p:cNvSpPr/>
          <p:nvPr/>
        </p:nvSpPr>
        <p:spPr>
          <a:xfrm>
            <a:off x="7269480" y="4617720"/>
            <a:ext cx="4465015" cy="1737360"/>
          </a:xfrm>
          <a:prstGeom prst="rect">
            <a:avLst/>
          </a:prstGeom>
          <a:solidFill>
            <a:srgbClr val="F9E0DD"/>
          </a:solidFill>
          <a:ln w="12700">
            <a:solidFill>
              <a:srgbClr val="F9E0DD"/>
            </a:solidFill>
            <a:prstDash val="solid"/>
          </a:ln>
        </p:spPr>
      </p:sp>
      <p:sp>
        <p:nvSpPr>
          <p:cNvPr id="20" name="Text 18"/>
          <p:cNvSpPr txBox="1"/>
          <p:nvPr/>
        </p:nvSpPr>
        <p:spPr>
          <a:xfrm>
            <a:off x="7397496" y="4700016"/>
            <a:ext cx="4208983" cy="274320"/>
          </a:xfrm>
          <a:prstGeom prst="rect">
            <a:avLst/>
          </a:prstGeom>
          <a:noFill/>
          <a:ln/>
        </p:spPr>
        <p:txBody>
          <a:bodyPr wrap="square" lIns="0" tIns="0" rIns="0" bIns="0" rtlCol="0" anchor="t"/>
          <a:lstStyle/>
          <a:p>
            <a:pPr indent="0" marL="0">
              <a:buNone/>
            </a:pPr>
            <a:r>
              <a:rPr lang="en-US" sz="1300" b="1" dirty="0">
                <a:solidFill>
                  <a:srgbClr val="C0392B"/>
                </a:solidFill>
                <a:latin typeface="Calibri" pitchFamily="34" charset="0"/>
                <a:ea typeface="Calibri" pitchFamily="34" charset="-122"/>
                <a:cs typeface="Calibri" pitchFamily="34" charset="-120"/>
              </a:rPr>
              <a:t>Cancellation is advisory</a:t>
            </a:r>
            <a:endParaRPr lang="en-US" sz="1300" dirty="0"/>
          </a:p>
        </p:txBody>
      </p:sp>
      <p:sp>
        <p:nvSpPr>
          <p:cNvPr id="21" name="Text 19"/>
          <p:cNvSpPr txBox="1"/>
          <p:nvPr/>
        </p:nvSpPr>
        <p:spPr>
          <a:xfrm>
            <a:off x="7397496" y="5010912"/>
            <a:ext cx="4208983" cy="126187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Measured, not assumed: Future.cancel() returns False once a callable has started, and asyncflow discards that answer. Queued work is reclaimed, running work is not, and you cannot learn which happened.</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So a run's terminal state always comes from collecting it. Backtracking sidesteps this by branching the tree; reclaiming a GPU from an abandoned run is unsolved.</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PERFORMANCE · THE SEAM, 2 OF 2</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 Building the engine on the loop that will use it</a:t>
            </a:r>
            <a:endParaRPr lang="en-US" sz="2800" dirty="0"/>
          </a:p>
        </p:txBody>
      </p:sp>
      <p:sp>
        <p:nvSpPr>
          <p:cNvPr id="4" name="Shape 2"/>
          <p:cNvSpPr/>
          <p:nvPr/>
        </p:nvSpPr>
        <p:spPr>
          <a:xfrm>
            <a:off x="457200" y="1371600"/>
            <a:ext cx="6675120" cy="1691640"/>
          </a:xfrm>
          <a:prstGeom prst="rect">
            <a:avLst/>
          </a:prstGeom>
          <a:solidFill>
            <a:srgbClr val="16222B"/>
          </a:solidFill>
          <a:ln w="12700">
            <a:solidFill>
              <a:srgbClr val="16222B"/>
            </a:solidFill>
            <a:prstDash val="solid"/>
          </a:ln>
        </p:spPr>
      </p:sp>
      <p:sp>
        <p:nvSpPr>
          <p:cNvPr id="5" name="Text 3"/>
          <p:cNvSpPr txBox="1"/>
          <p:nvPr/>
        </p:nvSpPr>
        <p:spPr>
          <a:xfrm>
            <a:off x="557784" y="1463040"/>
            <a:ext cx="6473952" cy="1508760"/>
          </a:xfrm>
          <a:prstGeom prst="rect">
            <a:avLst/>
          </a:prstGeom>
          <a:noFill/>
          <a:ln/>
        </p:spPr>
        <p:txBody>
          <a:bodyPr wrap="square" lIns="0" tIns="0" rIns="0" bIns="0" rtlCol="0" anchor="t"/>
          <a:lstStyle/>
          <a:p>
            <a:pPr indent="0" marL="0">
              <a:lnSpc>
                <a:spcPts val="990"/>
              </a:lnSpc>
              <a:buNone/>
            </a:pPr>
            <a:r>
              <a:rPr lang="en-US" sz="792" dirty="0">
                <a:solidFill>
                  <a:srgbClr val="DCE5EC"/>
                </a:solidFill>
                <a:latin typeface="Consolas" pitchFamily="34" charset="0"/>
                <a:ea typeface="Consolas" pitchFamily="34" charset="-122"/>
                <a:cs typeface="Consolas" pitchFamily="34" charset="-120"/>
              </a:rPr>
              <a:t>async def make_engine_bounded(kind, config, timeout_s, heartbeat_s, work_dir):</a:t>
            </a:r>
            <a:endParaRPr lang="en-US" sz="792" dirty="0"/>
          </a:p>
          <a:p>
            <a:pPr indent="0" marL="0">
              <a:lnSpc>
                <a:spcPts val="990"/>
              </a:lnSpc>
              <a:buNone/>
            </a:pPr>
            <a:r>
              <a:rPr lang="en-US" sz="792" dirty="0">
                <a:solidFill>
                  <a:srgbClr val="DCE5EC"/>
                </a:solidFill>
                <a:latin typeface="Consolas" pitchFamily="34" charset="0"/>
                <a:ea typeface="Consolas" pitchFamily="34" charset="-122"/>
                <a:cs typeface="Consolas" pitchFamily="34" charset="-120"/>
              </a:rPr>
              <a:t>    if timeout_s &lt;= 0 or kind.lower() in _CHEAP_KINDS:</a:t>
            </a:r>
            <a:endParaRPr lang="en-US" sz="792" dirty="0"/>
          </a:p>
          <a:p>
            <a:pPr indent="0" marL="0">
              <a:lnSpc>
                <a:spcPts val="990"/>
              </a:lnSpc>
              <a:buNone/>
            </a:pPr>
            <a:r>
              <a:rPr lang="en-US" sz="792" dirty="0">
                <a:solidFill>
                  <a:srgbClr val="DCE5EC"/>
                </a:solidFill>
                <a:latin typeface="Consolas" pitchFamily="34" charset="0"/>
                <a:ea typeface="Consolas" pitchFamily="34" charset="-122"/>
                <a:cs typeface="Consolas" pitchFamily="34" charset="-120"/>
              </a:rPr>
              <a:t>        return await make_engine(kind, config)</a:t>
            </a:r>
            <a:endParaRPr lang="en-US" sz="792" dirty="0"/>
          </a:p>
          <a:p>
            <a:pPr indent="0" marL="0">
              <a:lnSpc>
                <a:spcPts val="990"/>
              </a:lnSpc>
              <a:buNone/>
            </a:pPr>
            <a:endParaRPr lang="en-US" sz="792" dirty="0"/>
          </a:p>
          <a:p>
            <a:pPr indent="0" marL="0">
              <a:lnSpc>
                <a:spcPts val="990"/>
              </a:lnSpc>
              <a:buNone/>
            </a:pPr>
            <a:r>
              <a:rPr lang="en-US" sz="792" dirty="0">
                <a:solidFill>
                  <a:srgbClr val="DCE5EC"/>
                </a:solidFill>
                <a:latin typeface="Consolas" pitchFamily="34" charset="0"/>
                <a:ea typeface="Consolas" pitchFamily="34" charset="-122"/>
                <a:cs typeface="Consolas" pitchFamily="34" charset="-120"/>
              </a:rPr>
              <a:t>    # ONLY the synchronous construction leaves this loop.</a:t>
            </a:r>
            <a:endParaRPr lang="en-US" sz="792" dirty="0"/>
          </a:p>
          <a:p>
            <a:pPr indent="0" marL="0">
              <a:lnSpc>
                <a:spcPts val="990"/>
              </a:lnSpc>
              <a:buNone/>
            </a:pPr>
            <a:r>
              <a:rPr lang="en-US" sz="792" dirty="0">
                <a:solidFill>
                  <a:srgbClr val="DCE5EC"/>
                </a:solidFill>
                <a:latin typeface="Consolas" pitchFamily="34" charset="0"/>
                <a:ea typeface="Consolas" pitchFamily="34" charset="-122"/>
                <a:cs typeface="Consolas" pitchFamily="34" charset="-120"/>
              </a:rPr>
              <a:t>    threading.Thread(target=_construct_backend_in_thread,</a:t>
            </a:r>
            <a:endParaRPr lang="en-US" sz="792" dirty="0"/>
          </a:p>
          <a:p>
            <a:pPr indent="0" marL="0">
              <a:lnSpc>
                <a:spcPts val="990"/>
              </a:lnSpc>
              <a:buNone/>
            </a:pPr>
            <a:r>
              <a:rPr lang="en-US" sz="792" dirty="0">
                <a:solidFill>
                  <a:srgbClr val="DCE5EC"/>
                </a:solidFill>
                <a:latin typeface="Consolas" pitchFamily="34" charset="0"/>
                <a:ea typeface="Consolas" pitchFamily="34" charset="-122"/>
                <a:cs typeface="Consolas" pitchFamily="34" charset="-120"/>
              </a:rPr>
              <a:t>                     args=(kind, config, fut), daemon=True).start()</a:t>
            </a:r>
            <a:endParaRPr lang="en-US" sz="792" dirty="0"/>
          </a:p>
          <a:p>
            <a:pPr indent="0" marL="0">
              <a:lnSpc>
                <a:spcPts val="990"/>
              </a:lnSpc>
              <a:buNone/>
            </a:pPr>
            <a:r>
              <a:rPr lang="en-US" sz="792" dirty="0">
                <a:solidFill>
                  <a:srgbClr val="DCE5EC"/>
                </a:solidFill>
                <a:latin typeface="Consolas" pitchFamily="34" charset="0"/>
                <a:ea typeface="Consolas" pitchFamily="34" charset="-122"/>
                <a:cs typeface="Consolas" pitchFamily="34" charset="-120"/>
              </a:rPr>
              <a:t>    be = await asyncio.wait_for(asyncio.shield(async_fut), timeout_s)</a:t>
            </a:r>
            <a:endParaRPr lang="en-US" sz="792" dirty="0"/>
          </a:p>
          <a:p>
            <a:pPr indent="0" marL="0">
              <a:lnSpc>
                <a:spcPts val="990"/>
              </a:lnSpc>
              <a:buNone/>
            </a:pPr>
            <a:endParaRPr lang="en-US" sz="792" dirty="0"/>
          </a:p>
          <a:p>
            <a:pPr indent="0" marL="0">
              <a:lnSpc>
                <a:spcPts val="990"/>
              </a:lnSpc>
              <a:buNone/>
            </a:pPr>
            <a:r>
              <a:rPr lang="en-US" sz="792" dirty="0">
                <a:solidFill>
                  <a:srgbClr val="DCE5EC"/>
                </a:solidFill>
                <a:latin typeface="Consolas" pitchFamily="34" charset="0"/>
                <a:ea typeface="Consolas" pitchFamily="34" charset="-122"/>
                <a:cs typeface="Consolas" pitchFamily="34" charset="-120"/>
              </a:rPr>
              <a:t>    async def _finish():                   # on OUR loop, deliberately</a:t>
            </a:r>
            <a:endParaRPr lang="en-US" sz="792" dirty="0"/>
          </a:p>
          <a:p>
            <a:pPr indent="0" marL="0">
              <a:lnSpc>
                <a:spcPts val="990"/>
              </a:lnSpc>
              <a:buNone/>
            </a:pPr>
            <a:r>
              <a:rPr lang="en-US" sz="792" dirty="0">
                <a:solidFill>
                  <a:srgbClr val="DCE5EC"/>
                </a:solidFill>
                <a:latin typeface="Consolas" pitchFamily="34" charset="0"/>
                <a:ea typeface="Consolas" pitchFamily="34" charset="-122"/>
                <a:cs typeface="Consolas" pitchFamily="34" charset="-120"/>
              </a:rPr>
              <a:t>        backend = await _init_backend(be)  # __await__ registers states</a:t>
            </a:r>
            <a:endParaRPr lang="en-US" sz="792" dirty="0"/>
          </a:p>
          <a:p>
            <a:pPr indent="0" marL="0">
              <a:lnSpc>
                <a:spcPts val="990"/>
              </a:lnSpc>
              <a:buNone/>
            </a:pPr>
            <a:r>
              <a:rPr lang="en-US" sz="792" dirty="0">
                <a:solidFill>
                  <a:srgbClr val="DCE5EC"/>
                </a:solidFill>
                <a:latin typeface="Consolas" pitchFamily="34" charset="0"/>
                <a:ea typeface="Consolas" pitchFamily="34" charset="-122"/>
                <a:cs typeface="Consolas" pitchFamily="34" charset="-120"/>
              </a:rPr>
              <a:t>        return await WorkflowEngine.create(backend=backend, work_dir=work_dir), backend</a:t>
            </a:r>
            <a:endParaRPr lang="en-US" sz="792" dirty="0"/>
          </a:p>
        </p:txBody>
      </p:sp>
      <p:sp>
        <p:nvSpPr>
          <p:cNvPr id="6" name="Text 4"/>
          <p:cNvSpPr txBox="1"/>
          <p:nvPr/>
        </p:nvSpPr>
        <p:spPr>
          <a:xfrm>
            <a:off x="457200" y="3081528"/>
            <a:ext cx="6675120" cy="182880"/>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exec/backend.py:128–176  ·  EDITED — condensed, see CODE_FOR_DECK.md</a:t>
            </a:r>
            <a:endParaRPr lang="en-US" sz="850" dirty="0"/>
          </a:p>
        </p:txBody>
      </p:sp>
      <p:sp>
        <p:nvSpPr>
          <p:cNvPr id="7" name="Shape 5"/>
          <p:cNvSpPr/>
          <p:nvPr/>
        </p:nvSpPr>
        <p:spPr>
          <a:xfrm>
            <a:off x="457200" y="3310128"/>
            <a:ext cx="6675120" cy="713232"/>
          </a:xfrm>
          <a:prstGeom prst="rect">
            <a:avLst/>
          </a:prstGeom>
          <a:solidFill>
            <a:srgbClr val="EEF2F5"/>
          </a:solidFill>
          <a:ln w="12700">
            <a:solidFill>
              <a:srgbClr val="C9D1D8"/>
            </a:solidFill>
            <a:prstDash val="solid"/>
          </a:ln>
        </p:spPr>
      </p:sp>
      <p:sp>
        <p:nvSpPr>
          <p:cNvPr id="8" name="Text 6"/>
          <p:cNvSpPr txBox="1"/>
          <p:nvPr/>
        </p:nvSpPr>
        <p:spPr>
          <a:xfrm>
            <a:off x="566928" y="3364992"/>
            <a:ext cx="6455664" cy="603504"/>
          </a:xfrm>
          <a:prstGeom prst="rect">
            <a:avLst/>
          </a:prstGeom>
          <a:noFill/>
          <a:ln/>
        </p:spPr>
        <p:txBody>
          <a:bodyPr wrap="square" lIns="0" tIns="0" rIns="0" bIns="0" rtlCol="0" anchor="t"/>
          <a:lstStyle/>
          <a:p>
            <a:pPr indent="0" marL="0">
              <a:buNone/>
            </a:pPr>
            <a:r>
              <a:rPr lang="en-US" sz="950" b="1" dirty="0">
                <a:solidFill>
                  <a:srgbClr val="16222B"/>
                </a:solidFill>
                <a:latin typeface="Calibri" pitchFamily="34" charset="0"/>
                <a:ea typeface="Calibri" pitchFamily="34" charset="-122"/>
                <a:cs typeface="Calibri" pitchFamily="34" charset="-120"/>
              </a:rPr>
              <a:t>Backends are awaitable, and must be awaited  </a:t>
            </a:r>
            <a:pPr indent="0" marL="0">
              <a:buNone/>
            </a:pPr>
            <a:r>
              <a:rPr lang="en-US" sz="950" dirty="0">
                <a:solidFill>
                  <a:srgbClr val="22303C"/>
                </a:solidFill>
                <a:latin typeface="Calibri" pitchFamily="34" charset="0"/>
                <a:ea typeface="Calibri" pitchFamily="34" charset="-122"/>
                <a:cs typeface="Calibri" pitchFamily="34" charset="-120"/>
              </a:rPr>
              <a:t>__await__ triggers _async_init(), which registers task states. Constructing synchronously appears to work, then fails later with "Backend 'x' not registered. Available backends: []".</a:t>
            </a:r>
            <a:endParaRPr lang="en-US" sz="950" dirty="0"/>
          </a:p>
        </p:txBody>
      </p:sp>
      <p:sp>
        <p:nvSpPr>
          <p:cNvPr id="9" name="Shape 7"/>
          <p:cNvSpPr/>
          <p:nvPr/>
        </p:nvSpPr>
        <p:spPr>
          <a:xfrm>
            <a:off x="457200" y="4023360"/>
            <a:ext cx="6675120" cy="713232"/>
          </a:xfrm>
          <a:prstGeom prst="rect">
            <a:avLst/>
          </a:prstGeom>
          <a:solidFill>
            <a:srgbClr val="FFFFFF"/>
          </a:solidFill>
          <a:ln w="12700">
            <a:solidFill>
              <a:srgbClr val="C9D1D8"/>
            </a:solidFill>
            <a:prstDash val="solid"/>
          </a:ln>
        </p:spPr>
      </p:sp>
      <p:sp>
        <p:nvSpPr>
          <p:cNvPr id="10" name="Text 8"/>
          <p:cNvSpPr txBox="1"/>
          <p:nvPr/>
        </p:nvSpPr>
        <p:spPr>
          <a:xfrm>
            <a:off x="566928" y="4078224"/>
            <a:ext cx="6455664" cy="603504"/>
          </a:xfrm>
          <a:prstGeom prst="rect">
            <a:avLst/>
          </a:prstGeom>
          <a:noFill/>
          <a:ln/>
        </p:spPr>
        <p:txBody>
          <a:bodyPr wrap="square" lIns="0" tIns="0" rIns="0" bIns="0" rtlCol="0" anchor="t"/>
          <a:lstStyle/>
          <a:p>
            <a:pPr indent="0" marL="0">
              <a:buNone/>
            </a:pPr>
            <a:r>
              <a:rPr lang="en-US" sz="950" b="1" dirty="0">
                <a:solidFill>
                  <a:srgbClr val="16222B"/>
                </a:solidFill>
                <a:latin typeface="Calibri" pitchFamily="34" charset="0"/>
                <a:ea typeface="Calibri" pitchFamily="34" charset="-122"/>
                <a:cs typeface="Calibri" pitchFamily="34" charset="-120"/>
              </a:rPr>
              <a:t>The engine must be built on the loop that will submit to it  </a:t>
            </a:r>
            <a:pPr indent="0" marL="0">
              <a:buNone/>
            </a:pPr>
            <a:r>
              <a:rPr lang="en-US" sz="950" dirty="0">
                <a:solidFill>
                  <a:srgbClr val="22303C"/>
                </a:solidFill>
                <a:latin typeface="Calibri" pitchFamily="34" charset="0"/>
                <a:ea typeface="Calibri" pitchFamily="34" charset="-122"/>
                <a:cs typeface="Calibri" pitchFamily="34" charset="-120"/>
              </a:rPr>
              <a:t>WorkflowEngine.__init__ captures the running loop and puts its run-component dispatch task on it. Build one on a throwaway loop and you get an engine that looks fine and dispatches nothing — silently.</a:t>
            </a:r>
            <a:endParaRPr lang="en-US" sz="950" dirty="0"/>
          </a:p>
        </p:txBody>
      </p:sp>
      <p:sp>
        <p:nvSpPr>
          <p:cNvPr id="11" name="Shape 9"/>
          <p:cNvSpPr/>
          <p:nvPr/>
        </p:nvSpPr>
        <p:spPr>
          <a:xfrm>
            <a:off x="457200" y="4736592"/>
            <a:ext cx="6675120" cy="713232"/>
          </a:xfrm>
          <a:prstGeom prst="rect">
            <a:avLst/>
          </a:prstGeom>
          <a:solidFill>
            <a:srgbClr val="EEF2F5"/>
          </a:solidFill>
          <a:ln w="12700">
            <a:solidFill>
              <a:srgbClr val="C9D1D8"/>
            </a:solidFill>
            <a:prstDash val="solid"/>
          </a:ln>
        </p:spPr>
      </p:sp>
      <p:sp>
        <p:nvSpPr>
          <p:cNvPr id="12" name="Text 10"/>
          <p:cNvSpPr txBox="1"/>
          <p:nvPr/>
        </p:nvSpPr>
        <p:spPr>
          <a:xfrm>
            <a:off x="566928" y="4791456"/>
            <a:ext cx="6455664" cy="603504"/>
          </a:xfrm>
          <a:prstGeom prst="rect">
            <a:avLst/>
          </a:prstGeom>
          <a:noFill/>
          <a:ln/>
        </p:spPr>
        <p:txBody>
          <a:bodyPr wrap="square" lIns="0" tIns="0" rIns="0" bIns="0" rtlCol="0" anchor="t"/>
          <a:lstStyle/>
          <a:p>
            <a:pPr indent="0" marL="0">
              <a:buNone/>
            </a:pPr>
            <a:r>
              <a:rPr lang="en-US" sz="950" b="1" dirty="0">
                <a:solidFill>
                  <a:srgbClr val="16222B"/>
                </a:solidFill>
                <a:latin typeface="Calibri" pitchFamily="34" charset="0"/>
                <a:ea typeface="Calibri" pitchFamily="34" charset="-122"/>
                <a:cs typeface="Calibri" pitchFamily="34" charset="-120"/>
              </a:rPr>
              <a:t>Real backends live in rhapsody, not asyncflow  </a:t>
            </a:r>
            <a:pPr indent="0" marL="0">
              <a:buNone/>
            </a:pPr>
            <a:r>
              <a:rPr lang="en-US" sz="950" dirty="0">
                <a:solidFill>
                  <a:srgbClr val="22303C"/>
                </a:solidFill>
                <a:latin typeface="Calibri" pitchFamily="34" charset="0"/>
                <a:ea typeface="Calibri" pitchFamily="34" charset="-122"/>
                <a:cs typeface="Calibri" pitchFamily="34" charset="-120"/>
              </a:rPr>
              <a:t>asyncflow exports only Noop and Local. Everything real resolves by NAME through rhapsody.backends.get_backend(), from the campaign spec — so no backend class is named outside one module.</a:t>
            </a:r>
            <a:endParaRPr lang="en-US" sz="950" dirty="0"/>
          </a:p>
        </p:txBody>
      </p:sp>
      <p:sp>
        <p:nvSpPr>
          <p:cNvPr id="13" name="Shape 11"/>
          <p:cNvSpPr/>
          <p:nvPr/>
        </p:nvSpPr>
        <p:spPr>
          <a:xfrm>
            <a:off x="457200" y="5449824"/>
            <a:ext cx="6675120" cy="713232"/>
          </a:xfrm>
          <a:prstGeom prst="rect">
            <a:avLst/>
          </a:prstGeom>
          <a:solidFill>
            <a:srgbClr val="FFFFFF"/>
          </a:solidFill>
          <a:ln w="12700">
            <a:solidFill>
              <a:srgbClr val="C9D1D8"/>
            </a:solidFill>
            <a:prstDash val="solid"/>
          </a:ln>
        </p:spPr>
      </p:sp>
      <p:sp>
        <p:nvSpPr>
          <p:cNvPr id="14" name="Text 12"/>
          <p:cNvSpPr txBox="1"/>
          <p:nvPr/>
        </p:nvSpPr>
        <p:spPr>
          <a:xfrm>
            <a:off x="566928" y="5504688"/>
            <a:ext cx="6455664" cy="603504"/>
          </a:xfrm>
          <a:prstGeom prst="rect">
            <a:avLst/>
          </a:prstGeom>
          <a:noFill/>
          <a:ln/>
        </p:spPr>
        <p:txBody>
          <a:bodyPr wrap="square" lIns="0" tIns="0" rIns="0" bIns="0" rtlCol="0" anchor="t"/>
          <a:lstStyle/>
          <a:p>
            <a:pPr indent="0" marL="0">
              <a:buNone/>
            </a:pPr>
            <a:r>
              <a:rPr lang="en-US" sz="950" b="1" dirty="0">
                <a:solidFill>
                  <a:srgbClr val="16222B"/>
                </a:solidFill>
                <a:latin typeface="Calibri" pitchFamily="34" charset="0"/>
                <a:ea typeface="Calibri" pitchFamily="34" charset="-122"/>
                <a:cs typeface="Calibri" pitchFamily="34" charset="-120"/>
              </a:rPr>
              <a:t>Dragon empties the root logger  </a:t>
            </a:r>
            <a:pPr indent="0" marL="0">
              <a:buNone/>
            </a:pPr>
            <a:r>
              <a:rPr lang="en-US" sz="950" dirty="0">
                <a:solidFill>
                  <a:srgbClr val="22303C"/>
                </a:solidFill>
                <a:latin typeface="Calibri" pitchFamily="34" charset="0"/>
                <a:ea typeface="Calibri" pitchFamily="34" charset="-122"/>
                <a:cs typeface="Calibri" pitchFamily="34" charset="-120"/>
              </a:rPr>
              <a:t>Pool()/ProcessGroup() call setup_BE_logging, which clears root handlers. A run configured with logging.basicConfig alone goes mute the moment the backend comes up.</a:t>
            </a:r>
            <a:endParaRPr lang="en-US" sz="950" dirty="0"/>
          </a:p>
        </p:txBody>
      </p:sp>
      <p:sp>
        <p:nvSpPr>
          <p:cNvPr id="15" name="Shape 13"/>
          <p:cNvSpPr/>
          <p:nvPr/>
        </p:nvSpPr>
        <p:spPr>
          <a:xfrm>
            <a:off x="7406640" y="1371600"/>
            <a:ext cx="4327855" cy="365760"/>
          </a:xfrm>
          <a:prstGeom prst="rect">
            <a:avLst/>
          </a:prstGeom>
          <a:solidFill>
            <a:srgbClr val="C0392B"/>
          </a:solidFill>
          <a:ln w="12700">
            <a:solidFill>
              <a:srgbClr val="C0392B"/>
            </a:solidFill>
            <a:prstDash val="solid"/>
          </a:ln>
        </p:spPr>
      </p:sp>
      <p:sp>
        <p:nvSpPr>
          <p:cNvPr id="16" name="Text 14"/>
          <p:cNvSpPr txBox="1"/>
          <p:nvPr/>
        </p:nvSpPr>
        <p:spPr>
          <a:xfrm>
            <a:off x="7516368" y="1371600"/>
            <a:ext cx="4108399"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What each lesson cost</a:t>
            </a:r>
            <a:endParaRPr lang="en-US" sz="1300" dirty="0"/>
          </a:p>
        </p:txBody>
      </p:sp>
      <p:sp>
        <p:nvSpPr>
          <p:cNvPr id="17" name="Shape 15"/>
          <p:cNvSpPr/>
          <p:nvPr/>
        </p:nvSpPr>
        <p:spPr>
          <a:xfrm>
            <a:off x="7406640" y="1874520"/>
            <a:ext cx="4327855" cy="1051560"/>
          </a:xfrm>
          <a:prstGeom prst="rect">
            <a:avLst/>
          </a:prstGeom>
          <a:solidFill>
            <a:srgbClr val="F9E0DD"/>
          </a:solidFill>
          <a:ln w="12700">
            <a:solidFill>
              <a:srgbClr val="F9E0DD"/>
            </a:solidFill>
            <a:prstDash val="solid"/>
          </a:ln>
        </p:spPr>
      </p:sp>
      <p:sp>
        <p:nvSpPr>
          <p:cNvPr id="18" name="Text 16"/>
          <p:cNvSpPr txBox="1"/>
          <p:nvPr/>
        </p:nvSpPr>
        <p:spPr>
          <a:xfrm>
            <a:off x="7498080" y="1947672"/>
            <a:ext cx="868680" cy="457200"/>
          </a:xfrm>
          <a:prstGeom prst="rect">
            <a:avLst/>
          </a:prstGeom>
          <a:noFill/>
          <a:ln/>
        </p:spPr>
        <p:txBody>
          <a:bodyPr wrap="square" lIns="0" tIns="0" rIns="0" bIns="0" rtlCol="0" anchor="t"/>
          <a:lstStyle/>
          <a:p>
            <a:pPr indent="0" marL="0">
              <a:buNone/>
            </a:pPr>
            <a:r>
              <a:rPr lang="en-US" sz="900" b="1" dirty="0">
                <a:solidFill>
                  <a:srgbClr val="C0392B"/>
                </a:solidFill>
                <a:latin typeface="Consolas" pitchFamily="34" charset="0"/>
                <a:ea typeface="Consolas" pitchFamily="34" charset="-122"/>
                <a:cs typeface="Consolas" pitchFamily="34" charset="-120"/>
              </a:rPr>
              <a:t>22328172</a:t>
            </a:r>
            <a:endParaRPr lang="en-US" sz="900" dirty="0"/>
          </a:p>
          <a:p>
            <a:pPr indent="0" marL="0">
              <a:buNone/>
            </a:pPr>
            <a:r>
              <a:rPr lang="en-US" sz="900" b="1" dirty="0">
                <a:solidFill>
                  <a:srgbClr val="C0392B"/>
                </a:solidFill>
                <a:latin typeface="Consolas" pitchFamily="34" charset="0"/>
                <a:ea typeface="Consolas" pitchFamily="34" charset="-122"/>
                <a:cs typeface="Consolas" pitchFamily="34" charset="-120"/>
              </a:rPr>
              <a:t>22328262</a:t>
            </a:r>
            <a:endParaRPr lang="en-US" sz="900" dirty="0"/>
          </a:p>
        </p:txBody>
      </p:sp>
      <p:sp>
        <p:nvSpPr>
          <p:cNvPr id="19" name="Text 17"/>
          <p:cNvSpPr txBox="1"/>
          <p:nvPr/>
        </p:nvSpPr>
        <p:spPr>
          <a:xfrm>
            <a:off x="7498080" y="2423160"/>
            <a:ext cx="1051560" cy="411480"/>
          </a:xfrm>
          <a:prstGeom prst="rect">
            <a:avLst/>
          </a:prstGeom>
          <a:noFill/>
          <a:ln/>
        </p:spPr>
        <p:txBody>
          <a:bodyPr wrap="square" lIns="0" tIns="0" rIns="0" bIns="0" rtlCol="0" anchor="t"/>
          <a:lstStyle/>
          <a:p>
            <a:pPr indent="0" marL="0">
              <a:buNone/>
            </a:pPr>
            <a:r>
              <a:rPr lang="en-US" sz="900" b="1" dirty="0">
                <a:solidFill>
                  <a:srgbClr val="C0392B"/>
                </a:solidFill>
                <a:latin typeface="Calibri" pitchFamily="34" charset="0"/>
                <a:ea typeface="Calibri" pitchFamily="34" charset="-122"/>
                <a:cs typeface="Calibri" pitchFamily="34" charset="-120"/>
              </a:rPr>
              <a:t>two full allocations</a:t>
            </a:r>
            <a:endParaRPr lang="en-US" sz="900" dirty="0"/>
          </a:p>
        </p:txBody>
      </p:sp>
      <p:sp>
        <p:nvSpPr>
          <p:cNvPr id="20" name="Text 18"/>
          <p:cNvSpPr txBox="1"/>
          <p:nvPr/>
        </p:nvSpPr>
        <p:spPr>
          <a:xfrm>
            <a:off x="8641080" y="1947672"/>
            <a:ext cx="3001975" cy="914400"/>
          </a:xfrm>
          <a:prstGeom prst="rect">
            <a:avLst/>
          </a:prstGeom>
          <a:noFill/>
          <a:ln/>
        </p:spPr>
        <p:txBody>
          <a:bodyPr wrap="square" lIns="0" tIns="0" rIns="0" bIns="0" rtlCol="0" anchor="t"/>
          <a:lstStyle/>
          <a:p>
            <a:pPr indent="0" marL="0">
              <a:buNone/>
            </a:pPr>
            <a:r>
              <a:rPr lang="en-US" sz="950" dirty="0">
                <a:solidFill>
                  <a:srgbClr val="22303C"/>
                </a:solidFill>
                <a:latin typeface="Calibri" pitchFamily="34" charset="0"/>
                <a:ea typeface="Calibri" pitchFamily="34" charset="-122"/>
                <a:cs typeface="Calibri" pitchFamily="34" charset="-120"/>
              </a:rPr>
              <a:t>the engine was built on a throwaway loop via asyncio.run on a helper thread — every submitted task hung</a:t>
            </a:r>
            <a:endParaRPr lang="en-US" sz="950" dirty="0"/>
          </a:p>
        </p:txBody>
      </p:sp>
      <p:sp>
        <p:nvSpPr>
          <p:cNvPr id="21" name="Shape 19"/>
          <p:cNvSpPr/>
          <p:nvPr/>
        </p:nvSpPr>
        <p:spPr>
          <a:xfrm>
            <a:off x="7406640" y="2990088"/>
            <a:ext cx="4327855" cy="1051560"/>
          </a:xfrm>
          <a:prstGeom prst="rect">
            <a:avLst/>
          </a:prstGeom>
          <a:solidFill>
            <a:srgbClr val="F9E0DD"/>
          </a:solidFill>
          <a:ln w="12700">
            <a:solidFill>
              <a:srgbClr val="F9E0DD"/>
            </a:solidFill>
            <a:prstDash val="solid"/>
          </a:ln>
        </p:spPr>
      </p:sp>
      <p:sp>
        <p:nvSpPr>
          <p:cNvPr id="22" name="Text 20"/>
          <p:cNvSpPr txBox="1"/>
          <p:nvPr/>
        </p:nvSpPr>
        <p:spPr>
          <a:xfrm>
            <a:off x="7498080" y="3063240"/>
            <a:ext cx="868680" cy="457200"/>
          </a:xfrm>
          <a:prstGeom prst="rect">
            <a:avLst/>
          </a:prstGeom>
          <a:noFill/>
          <a:ln/>
        </p:spPr>
        <p:txBody>
          <a:bodyPr wrap="square" lIns="0" tIns="0" rIns="0" bIns="0" rtlCol="0" anchor="t"/>
          <a:lstStyle/>
          <a:p>
            <a:pPr indent="0" marL="0">
              <a:buNone/>
            </a:pPr>
            <a:r>
              <a:rPr lang="en-US" sz="900" b="1" dirty="0">
                <a:solidFill>
                  <a:srgbClr val="C0392B"/>
                </a:solidFill>
                <a:latin typeface="Consolas" pitchFamily="34" charset="0"/>
                <a:ea typeface="Consolas" pitchFamily="34" charset="-122"/>
                <a:cs typeface="Consolas" pitchFamily="34" charset="-120"/>
              </a:rPr>
              <a:t>22318678</a:t>
            </a:r>
            <a:endParaRPr lang="en-US" sz="900" dirty="0"/>
          </a:p>
        </p:txBody>
      </p:sp>
      <p:sp>
        <p:nvSpPr>
          <p:cNvPr id="23" name="Text 21"/>
          <p:cNvSpPr txBox="1"/>
          <p:nvPr/>
        </p:nvSpPr>
        <p:spPr>
          <a:xfrm>
            <a:off x="7498080" y="3538728"/>
            <a:ext cx="1051560" cy="411480"/>
          </a:xfrm>
          <a:prstGeom prst="rect">
            <a:avLst/>
          </a:prstGeom>
          <a:noFill/>
          <a:ln/>
        </p:spPr>
        <p:txBody>
          <a:bodyPr wrap="square" lIns="0" tIns="0" rIns="0" bIns="0" rtlCol="0" anchor="t"/>
          <a:lstStyle/>
          <a:p>
            <a:pPr indent="0" marL="0">
              <a:buNone/>
            </a:pPr>
            <a:r>
              <a:rPr lang="en-US" sz="900" b="1" dirty="0">
                <a:solidFill>
                  <a:srgbClr val="C0392B"/>
                </a:solidFill>
                <a:latin typeface="Calibri" pitchFamily="34" charset="0"/>
                <a:ea typeface="Calibri" pitchFamily="34" charset="-122"/>
                <a:cs typeface="Calibri" pitchFamily="34" charset="-120"/>
              </a:rPr>
              <a:t>one 2-hour allocation,</a:t>
            </a:r>
            <a:endParaRPr lang="en-US" sz="900" dirty="0"/>
          </a:p>
          <a:p>
            <a:pPr indent="0" marL="0">
              <a:buNone/>
            </a:pPr>
            <a:r>
              <a:rPr lang="en-US" sz="900" b="1" dirty="0">
                <a:solidFill>
                  <a:srgbClr val="C0392B"/>
                </a:solidFill>
                <a:latin typeface="Calibri" pitchFamily="34" charset="0"/>
                <a:ea typeface="Calibri" pitchFamily="34" charset="-122"/>
                <a:cs typeface="Calibri" pitchFamily="34" charset="-120"/>
              </a:rPr>
              <a:t>in full</a:t>
            </a:r>
            <a:endParaRPr lang="en-US" sz="900" dirty="0"/>
          </a:p>
        </p:txBody>
      </p:sp>
      <p:sp>
        <p:nvSpPr>
          <p:cNvPr id="24" name="Text 22"/>
          <p:cNvSpPr txBox="1"/>
          <p:nvPr/>
        </p:nvSpPr>
        <p:spPr>
          <a:xfrm>
            <a:off x="8641080" y="3063240"/>
            <a:ext cx="3001975" cy="914400"/>
          </a:xfrm>
          <a:prstGeom prst="rect">
            <a:avLst/>
          </a:prstGeom>
          <a:noFill/>
          <a:ln/>
        </p:spPr>
        <p:txBody>
          <a:bodyPr wrap="square" lIns="0" tIns="0" rIns="0" bIns="0" rtlCol="0" anchor="t"/>
          <a:lstStyle/>
          <a:p>
            <a:pPr indent="0" marL="0">
              <a:buNone/>
            </a:pPr>
            <a:r>
              <a:rPr lang="en-US" sz="950" dirty="0">
                <a:solidFill>
                  <a:srgbClr val="22303C"/>
                </a:solidFill>
                <a:latin typeface="Calibri" pitchFamily="34" charset="0"/>
                <a:ea typeface="Calibri" pitchFamily="34" charset="-122"/>
                <a:cs typeface="Calibri" pitchFamily="34" charset="-120"/>
              </a:rPr>
              <a:t>Dragon's Batch() builds synchronously with no await points. No heartbeat, no campaign log, nothing, until the wall clock killed it</a:t>
            </a:r>
            <a:endParaRPr lang="en-US" sz="950" dirty="0"/>
          </a:p>
        </p:txBody>
      </p:sp>
      <p:sp>
        <p:nvSpPr>
          <p:cNvPr id="25" name="Shape 23"/>
          <p:cNvSpPr/>
          <p:nvPr/>
        </p:nvSpPr>
        <p:spPr>
          <a:xfrm>
            <a:off x="7406640" y="4105656"/>
            <a:ext cx="4327855" cy="1051560"/>
          </a:xfrm>
          <a:prstGeom prst="rect">
            <a:avLst/>
          </a:prstGeom>
          <a:solidFill>
            <a:srgbClr val="F9E0DD"/>
          </a:solidFill>
          <a:ln w="12700">
            <a:solidFill>
              <a:srgbClr val="F9E0DD"/>
            </a:solidFill>
            <a:prstDash val="solid"/>
          </a:ln>
        </p:spPr>
      </p:sp>
      <p:sp>
        <p:nvSpPr>
          <p:cNvPr id="26" name="Text 24"/>
          <p:cNvSpPr txBox="1"/>
          <p:nvPr/>
        </p:nvSpPr>
        <p:spPr>
          <a:xfrm>
            <a:off x="7498080" y="4178808"/>
            <a:ext cx="868680" cy="457200"/>
          </a:xfrm>
          <a:prstGeom prst="rect">
            <a:avLst/>
          </a:prstGeom>
          <a:noFill/>
          <a:ln/>
        </p:spPr>
        <p:txBody>
          <a:bodyPr wrap="square" lIns="0" tIns="0" rIns="0" bIns="0" rtlCol="0" anchor="t"/>
          <a:lstStyle/>
          <a:p>
            <a:pPr indent="0" marL="0">
              <a:buNone/>
            </a:pPr>
            <a:r>
              <a:rPr lang="en-US" sz="900" b="1" dirty="0">
                <a:solidFill>
                  <a:srgbClr val="C0392B"/>
                </a:solidFill>
                <a:latin typeface="Consolas" pitchFamily="34" charset="0"/>
                <a:ea typeface="Consolas" pitchFamily="34" charset="-122"/>
                <a:cs typeface="Consolas" pitchFamily="34" charset="-120"/>
              </a:rPr>
              <a:t>22491438</a:t>
            </a:r>
            <a:endParaRPr lang="en-US" sz="900" dirty="0"/>
          </a:p>
        </p:txBody>
      </p:sp>
      <p:sp>
        <p:nvSpPr>
          <p:cNvPr id="27" name="Text 25"/>
          <p:cNvSpPr txBox="1"/>
          <p:nvPr/>
        </p:nvSpPr>
        <p:spPr>
          <a:xfrm>
            <a:off x="7498080" y="4654296"/>
            <a:ext cx="1051560" cy="411480"/>
          </a:xfrm>
          <a:prstGeom prst="rect">
            <a:avLst/>
          </a:prstGeom>
          <a:noFill/>
          <a:ln/>
        </p:spPr>
        <p:txBody>
          <a:bodyPr wrap="square" lIns="0" tIns="0" rIns="0" bIns="0" rtlCol="0" anchor="t"/>
          <a:lstStyle/>
          <a:p>
            <a:pPr indent="0" marL="0">
              <a:buNone/>
            </a:pPr>
            <a:r>
              <a:rPr lang="en-US" sz="900" b="1" dirty="0">
                <a:solidFill>
                  <a:srgbClr val="C0392B"/>
                </a:solidFill>
                <a:latin typeface="Calibri" pitchFamily="34" charset="0"/>
                <a:ea typeface="Calibri" pitchFamily="34" charset="-122"/>
                <a:cs typeface="Calibri" pitchFamily="34" charset="-120"/>
              </a:rPr>
              <a:t>~64 GPU-hours,</a:t>
            </a:r>
            <a:endParaRPr lang="en-US" sz="900" dirty="0"/>
          </a:p>
          <a:p>
            <a:pPr indent="0" marL="0">
              <a:buNone/>
            </a:pPr>
            <a:r>
              <a:rPr lang="en-US" sz="900" b="1" dirty="0">
                <a:solidFill>
                  <a:srgbClr val="C0392B"/>
                </a:solidFill>
                <a:latin typeface="Calibri" pitchFamily="34" charset="0"/>
                <a:ea typeface="Calibri" pitchFamily="34" charset="-122"/>
                <a:cs typeface="Calibri" pitchFamily="34" charset="-120"/>
              </a:rPr>
              <a:t>37% of the bill</a:t>
            </a:r>
            <a:endParaRPr lang="en-US" sz="900" dirty="0"/>
          </a:p>
        </p:txBody>
      </p:sp>
      <p:sp>
        <p:nvSpPr>
          <p:cNvPr id="28" name="Text 26"/>
          <p:cNvSpPr txBox="1"/>
          <p:nvPr/>
        </p:nvSpPr>
        <p:spPr>
          <a:xfrm>
            <a:off x="8641080" y="4178808"/>
            <a:ext cx="3001975" cy="914400"/>
          </a:xfrm>
          <a:prstGeom prst="rect">
            <a:avLst/>
          </a:prstGeom>
          <a:noFill/>
          <a:ln/>
        </p:spPr>
        <p:txBody>
          <a:bodyPr wrap="square" lIns="0" tIns="0" rIns="0" bIns="0" rtlCol="0" anchor="t"/>
          <a:lstStyle/>
          <a:p>
            <a:pPr indent="0" marL="0">
              <a:buNone/>
            </a:pPr>
            <a:r>
              <a:rPr lang="en-US" sz="950" dirty="0">
                <a:solidFill>
                  <a:srgbClr val="22303C"/>
                </a:solidFill>
                <a:latin typeface="Calibri" pitchFamily="34" charset="0"/>
                <a:ea typeface="Calibri" pitchFamily="34" charset="-122"/>
                <a:cs typeface="Calibri" pitchFamily="34" charset="-120"/>
              </a:rPr>
              <a:t>flow.shutdown() never returned after the science finished. Teardown is the more expensive end</a:t>
            </a:r>
            <a:endParaRPr lang="en-US" sz="950" dirty="0"/>
          </a:p>
        </p:txBody>
      </p:sp>
      <p:sp>
        <p:nvSpPr>
          <p:cNvPr id="29" name="Shape 27"/>
          <p:cNvSpPr/>
          <p:nvPr/>
        </p:nvSpPr>
        <p:spPr>
          <a:xfrm>
            <a:off x="7406640" y="5257800"/>
            <a:ext cx="4327855" cy="1097280"/>
          </a:xfrm>
          <a:prstGeom prst="rect">
            <a:avLst/>
          </a:prstGeom>
          <a:solidFill>
            <a:srgbClr val="EEF2F5"/>
          </a:solidFill>
          <a:ln w="12700">
            <a:solidFill>
              <a:srgbClr val="EEF2F5"/>
            </a:solidFill>
            <a:prstDash val="solid"/>
          </a:ln>
        </p:spPr>
      </p:sp>
      <p:sp>
        <p:nvSpPr>
          <p:cNvPr id="30" name="Text 28"/>
          <p:cNvSpPr txBox="1"/>
          <p:nvPr/>
        </p:nvSpPr>
        <p:spPr>
          <a:xfrm>
            <a:off x="7534656" y="5340096"/>
            <a:ext cx="4071823"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Both ends are bounded now</a:t>
            </a:r>
            <a:endParaRPr lang="en-US" sz="1300" dirty="0"/>
          </a:p>
        </p:txBody>
      </p:sp>
      <p:sp>
        <p:nvSpPr>
          <p:cNvPr id="31" name="Text 29"/>
          <p:cNvSpPr txBox="1"/>
          <p:nvPr/>
        </p:nvSpPr>
        <p:spPr>
          <a:xfrm>
            <a:off x="7534656" y="5650992"/>
            <a:ext cx="4071823" cy="621792"/>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backend_startup_timeout_s / _heartbeat_s and backend_shutdown_timeout_s. A stuck teardown is abandoned with a warning, never raised — results are already durable by then.</a:t>
            </a:r>
            <a:endParaRPr lang="en-US" sz="1000" dirty="0"/>
          </a:p>
        </p:txBody>
      </p:sp>
      <p:sp>
        <p:nvSpPr>
          <p:cNvPr id="32" name="Text 30"/>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The reference IMPRESS pipeline declined the teardown fix and relies on an operator watching the log. We do not.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PERFORMANCE · MEASURED</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What the loop costs, and what is not measured</a:t>
            </a:r>
            <a:endParaRPr lang="en-US" sz="2800" dirty="0"/>
          </a:p>
        </p:txBody>
      </p:sp>
      <p:sp>
        <p:nvSpPr>
          <p:cNvPr id="4" name="Text 2"/>
          <p:cNvSpPr txBox="1"/>
          <p:nvPr/>
        </p:nvSpPr>
        <p:spPr>
          <a:xfrm>
            <a:off x="457200" y="1298448"/>
            <a:ext cx="5486400" cy="256032"/>
          </a:xfrm>
          <a:prstGeom prst="rect">
            <a:avLst/>
          </a:prstGeom>
          <a:noFill/>
          <a:ln/>
        </p:spPr>
        <p:txBody>
          <a:bodyPr wrap="square" lIns="0" tIns="0" rIns="0" bIns="0" rtlCol="0" anchor="t"/>
          <a:lstStyle/>
          <a:p>
            <a:pPr indent="0" marL="0">
              <a:buNone/>
            </a:pPr>
            <a:r>
              <a:rPr lang="en-US" sz="1250" b="1" dirty="0">
                <a:solidFill>
                  <a:srgbClr val="16222B"/>
                </a:solidFill>
                <a:latin typeface="Calibri" pitchFamily="34" charset="0"/>
                <a:ea typeface="Calibri" pitchFamily="34" charset="-122"/>
                <a:cs typeface="Calibri" pitchFamily="34" charset="-120"/>
              </a:rPr>
              <a:t>A six-stage run, by where its seconds go</a:t>
            </a:r>
            <a:endParaRPr lang="en-US" sz="1250" dirty="0"/>
          </a:p>
        </p:txBody>
      </p:sp>
      <p:sp>
        <p:nvSpPr>
          <p:cNvPr id="5" name="Text 3"/>
          <p:cNvSpPr txBox="1"/>
          <p:nvPr/>
        </p:nvSpPr>
        <p:spPr>
          <a:xfrm>
            <a:off x="457200" y="1627632"/>
            <a:ext cx="1033272" cy="384048"/>
          </a:xfrm>
          <a:prstGeom prst="rect">
            <a:avLst/>
          </a:prstGeom>
          <a:noFill/>
          <a:ln/>
        </p:spPr>
        <p:txBody>
          <a:bodyPr wrap="square" lIns="0" tIns="0" rIns="0" bIns="0" rtlCol="0" anchor="ctr"/>
          <a:lstStyle/>
          <a:p>
            <a:pPr algn="r" indent="0" marL="0">
              <a:buNone/>
            </a:pPr>
            <a:r>
              <a:rPr lang="en-US" sz="1000" dirty="0">
                <a:solidFill>
                  <a:srgbClr val="22303C"/>
                </a:solidFill>
                <a:latin typeface="Calibri" pitchFamily="34" charset="0"/>
                <a:ea typeface="Calibri" pitchFamily="34" charset="-122"/>
                <a:cs typeface="Calibri" pitchFamily="34" charset="-120"/>
              </a:rPr>
              <a:t>untrusted</a:t>
            </a:r>
            <a:endParaRPr lang="en-US" sz="1000" dirty="0"/>
          </a:p>
          <a:p>
            <a:pPr algn="r" indent="0" marL="0">
              <a:buNone/>
            </a:pPr>
            <a:r>
              <a:rPr lang="en-US" sz="1000" dirty="0">
                <a:solidFill>
                  <a:srgbClr val="22303C"/>
                </a:solidFill>
                <a:latin typeface="Calibri" pitchFamily="34" charset="0"/>
                <a:ea typeface="Calibri" pitchFamily="34" charset="-122"/>
                <a:cs typeface="Calibri" pitchFamily="34" charset="-120"/>
              </a:rPr>
              <a:t>(n = 11)</a:t>
            </a:r>
            <a:endParaRPr lang="en-US" sz="1000" dirty="0"/>
          </a:p>
        </p:txBody>
      </p:sp>
      <p:sp>
        <p:nvSpPr>
          <p:cNvPr id="6" name="Shape 4"/>
          <p:cNvSpPr/>
          <p:nvPr/>
        </p:nvSpPr>
        <p:spPr>
          <a:xfrm>
            <a:off x="1600200" y="1664208"/>
            <a:ext cx="3584600" cy="310896"/>
          </a:xfrm>
          <a:prstGeom prst="rect">
            <a:avLst/>
          </a:prstGeom>
          <a:solidFill>
            <a:srgbClr val="1E6470"/>
          </a:solidFill>
          <a:ln w="12700">
            <a:solidFill>
              <a:srgbClr val="1E6470"/>
            </a:solidFill>
            <a:prstDash val="solid"/>
          </a:ln>
        </p:spPr>
      </p:sp>
      <p:sp>
        <p:nvSpPr>
          <p:cNvPr id="7" name="Shape 5"/>
          <p:cNvSpPr/>
          <p:nvPr/>
        </p:nvSpPr>
        <p:spPr>
          <a:xfrm>
            <a:off x="5184800" y="1664208"/>
            <a:ext cx="64008" cy="310896"/>
          </a:xfrm>
          <a:prstGeom prst="rect">
            <a:avLst/>
          </a:prstGeom>
          <a:solidFill>
            <a:srgbClr val="D9731A"/>
          </a:solidFill>
          <a:ln w="12700">
            <a:solidFill>
              <a:srgbClr val="D9731A"/>
            </a:solidFill>
            <a:prstDash val="solid"/>
          </a:ln>
        </p:spPr>
      </p:sp>
      <p:sp>
        <p:nvSpPr>
          <p:cNvPr id="8" name="Text 6"/>
          <p:cNvSpPr txBox="1"/>
          <p:nvPr/>
        </p:nvSpPr>
        <p:spPr>
          <a:xfrm>
            <a:off x="5321960" y="1645920"/>
            <a:ext cx="822960" cy="347472"/>
          </a:xfrm>
          <a:prstGeom prst="rect">
            <a:avLst/>
          </a:prstGeom>
          <a:noFill/>
          <a:ln/>
        </p:spPr>
        <p:txBody>
          <a:bodyPr wrap="square" lIns="0" tIns="0" rIns="0" bIns="0" rtlCol="0" anchor="ctr"/>
          <a:lstStyle/>
          <a:p>
            <a:pPr indent="0" marL="0">
              <a:buNone/>
            </a:pPr>
            <a:r>
              <a:rPr lang="en-US" sz="1050" b="1" dirty="0">
                <a:solidFill>
                  <a:srgbClr val="22303C"/>
                </a:solidFill>
                <a:latin typeface="Calibri" pitchFamily="34" charset="0"/>
                <a:ea typeface="Calibri" pitchFamily="34" charset="-122"/>
                <a:cs typeface="Calibri" pitchFamily="34" charset="-120"/>
              </a:rPr>
              <a:t>167.0s</a:t>
            </a:r>
            <a:endParaRPr lang="en-US" sz="1050" dirty="0"/>
          </a:p>
        </p:txBody>
      </p:sp>
      <p:sp>
        <p:nvSpPr>
          <p:cNvPr id="9" name="Text 7"/>
          <p:cNvSpPr txBox="1"/>
          <p:nvPr/>
        </p:nvSpPr>
        <p:spPr>
          <a:xfrm>
            <a:off x="457200" y="2340864"/>
            <a:ext cx="1033272" cy="384048"/>
          </a:xfrm>
          <a:prstGeom prst="rect">
            <a:avLst/>
          </a:prstGeom>
          <a:noFill/>
          <a:ln/>
        </p:spPr>
        <p:txBody>
          <a:bodyPr wrap="square" lIns="0" tIns="0" rIns="0" bIns="0" rtlCol="0" anchor="ctr"/>
          <a:lstStyle/>
          <a:p>
            <a:pPr algn="r" indent="0" marL="0">
              <a:buNone/>
            </a:pPr>
            <a:r>
              <a:rPr lang="en-US" sz="1000" dirty="0">
                <a:solidFill>
                  <a:srgbClr val="22303C"/>
                </a:solidFill>
                <a:latin typeface="Calibri" pitchFamily="34" charset="0"/>
                <a:ea typeface="Calibri" pitchFamily="34" charset="-122"/>
                <a:cs typeface="Calibri" pitchFamily="34" charset="-120"/>
              </a:rPr>
              <a:t>trusted</a:t>
            </a:r>
            <a:endParaRPr lang="en-US" sz="1000" dirty="0"/>
          </a:p>
          <a:p>
            <a:pPr algn="r" indent="0" marL="0">
              <a:buNone/>
            </a:pPr>
            <a:r>
              <a:rPr lang="en-US" sz="1000" dirty="0">
                <a:solidFill>
                  <a:srgbClr val="22303C"/>
                </a:solidFill>
                <a:latin typeface="Calibri" pitchFamily="34" charset="0"/>
                <a:ea typeface="Calibri" pitchFamily="34" charset="-122"/>
                <a:cs typeface="Calibri" pitchFamily="34" charset="-120"/>
              </a:rPr>
              <a:t>(n = 5)</a:t>
            </a:r>
            <a:endParaRPr lang="en-US" sz="1000" dirty="0"/>
          </a:p>
        </p:txBody>
      </p:sp>
      <p:sp>
        <p:nvSpPr>
          <p:cNvPr id="10" name="Shape 8"/>
          <p:cNvSpPr/>
          <p:nvPr/>
        </p:nvSpPr>
        <p:spPr>
          <a:xfrm>
            <a:off x="1600200" y="2377440"/>
            <a:ext cx="3414217" cy="310896"/>
          </a:xfrm>
          <a:prstGeom prst="rect">
            <a:avLst/>
          </a:prstGeom>
          <a:solidFill>
            <a:srgbClr val="1E6470"/>
          </a:solidFill>
          <a:ln w="12700">
            <a:solidFill>
              <a:srgbClr val="1E6470"/>
            </a:solidFill>
            <a:prstDash val="solid"/>
          </a:ln>
        </p:spPr>
      </p:sp>
      <p:sp>
        <p:nvSpPr>
          <p:cNvPr id="11" name="Shape 9"/>
          <p:cNvSpPr/>
          <p:nvPr/>
        </p:nvSpPr>
        <p:spPr>
          <a:xfrm>
            <a:off x="5014417" y="2377440"/>
            <a:ext cx="64008" cy="310896"/>
          </a:xfrm>
          <a:prstGeom prst="rect">
            <a:avLst/>
          </a:prstGeom>
          <a:solidFill>
            <a:srgbClr val="D9731A"/>
          </a:solidFill>
          <a:ln w="12700">
            <a:solidFill>
              <a:srgbClr val="D9731A"/>
            </a:solidFill>
            <a:prstDash val="solid"/>
          </a:ln>
        </p:spPr>
      </p:sp>
      <p:sp>
        <p:nvSpPr>
          <p:cNvPr id="12" name="Text 10"/>
          <p:cNvSpPr txBox="1"/>
          <p:nvPr/>
        </p:nvSpPr>
        <p:spPr>
          <a:xfrm>
            <a:off x="5151577" y="2359152"/>
            <a:ext cx="822960" cy="347472"/>
          </a:xfrm>
          <a:prstGeom prst="rect">
            <a:avLst/>
          </a:prstGeom>
          <a:noFill/>
          <a:ln/>
        </p:spPr>
        <p:txBody>
          <a:bodyPr wrap="square" lIns="0" tIns="0" rIns="0" bIns="0" rtlCol="0" anchor="ctr"/>
          <a:lstStyle/>
          <a:p>
            <a:pPr indent="0" marL="0">
              <a:buNone/>
            </a:pPr>
            <a:r>
              <a:rPr lang="en-US" sz="1050" b="1" dirty="0">
                <a:solidFill>
                  <a:srgbClr val="22303C"/>
                </a:solidFill>
                <a:latin typeface="Calibri" pitchFamily="34" charset="0"/>
                <a:ea typeface="Calibri" pitchFamily="34" charset="-122"/>
                <a:cs typeface="Calibri" pitchFamily="34" charset="-120"/>
              </a:rPr>
              <a:t>159.1s</a:t>
            </a:r>
            <a:endParaRPr lang="en-US" sz="1050" dirty="0"/>
          </a:p>
        </p:txBody>
      </p:sp>
      <p:sp>
        <p:nvSpPr>
          <p:cNvPr id="13" name="Shape 11"/>
          <p:cNvSpPr/>
          <p:nvPr/>
        </p:nvSpPr>
        <p:spPr>
          <a:xfrm>
            <a:off x="1600200" y="3035808"/>
            <a:ext cx="4206240" cy="91"/>
          </a:xfrm>
          <a:prstGeom prst="line">
            <a:avLst/>
          </a:prstGeom>
          <a:noFill/>
          <a:ln w="12700">
            <a:solidFill>
              <a:srgbClr val="C9D1D8"/>
            </a:solidFill>
            <a:prstDash val="solid"/>
          </a:ln>
        </p:spPr>
      </p:sp>
      <p:sp>
        <p:nvSpPr>
          <p:cNvPr id="14" name="Shape 12"/>
          <p:cNvSpPr/>
          <p:nvPr/>
        </p:nvSpPr>
        <p:spPr>
          <a:xfrm>
            <a:off x="1600200" y="3035808"/>
            <a:ext cx="91" cy="64008"/>
          </a:xfrm>
          <a:prstGeom prst="line">
            <a:avLst/>
          </a:prstGeom>
          <a:noFill/>
          <a:ln w="12700">
            <a:solidFill>
              <a:srgbClr val="C9D1D8"/>
            </a:solidFill>
            <a:prstDash val="solid"/>
          </a:ln>
        </p:spPr>
      </p:sp>
      <p:sp>
        <p:nvSpPr>
          <p:cNvPr id="15" name="Text 13"/>
          <p:cNvSpPr txBox="1"/>
          <p:nvPr/>
        </p:nvSpPr>
        <p:spPr>
          <a:xfrm>
            <a:off x="1325880" y="3108960"/>
            <a:ext cx="548640" cy="237744"/>
          </a:xfrm>
          <a:prstGeom prst="rect">
            <a:avLst/>
          </a:prstGeom>
          <a:noFill/>
          <a:ln/>
        </p:spPr>
        <p:txBody>
          <a:bodyPr wrap="square" lIns="0" tIns="0" rIns="0" bIns="0" rtlCol="0" anchor="ctr"/>
          <a:lstStyle/>
          <a:p>
            <a:pPr algn="ctr" indent="0" marL="0">
              <a:buNone/>
            </a:pPr>
            <a:r>
              <a:rPr lang="en-US" sz="900" dirty="0">
                <a:solidFill>
                  <a:srgbClr val="5E6B75"/>
                </a:solidFill>
                <a:latin typeface="Calibri" pitchFamily="34" charset="0"/>
                <a:ea typeface="Calibri" pitchFamily="34" charset="-122"/>
                <a:cs typeface="Calibri" pitchFamily="34" charset="-120"/>
              </a:rPr>
              <a:t>0</a:t>
            </a:r>
            <a:endParaRPr lang="en-US" sz="900" dirty="0"/>
          </a:p>
        </p:txBody>
      </p:sp>
      <p:sp>
        <p:nvSpPr>
          <p:cNvPr id="16" name="Shape 14"/>
          <p:cNvSpPr/>
          <p:nvPr/>
        </p:nvSpPr>
        <p:spPr>
          <a:xfrm>
            <a:off x="2910840" y="3035808"/>
            <a:ext cx="91" cy="64008"/>
          </a:xfrm>
          <a:prstGeom prst="line">
            <a:avLst/>
          </a:prstGeom>
          <a:noFill/>
          <a:ln w="12700">
            <a:solidFill>
              <a:srgbClr val="C9D1D8"/>
            </a:solidFill>
            <a:prstDash val="solid"/>
          </a:ln>
        </p:spPr>
      </p:sp>
      <p:sp>
        <p:nvSpPr>
          <p:cNvPr id="17" name="Text 15"/>
          <p:cNvSpPr txBox="1"/>
          <p:nvPr/>
        </p:nvSpPr>
        <p:spPr>
          <a:xfrm>
            <a:off x="2636520" y="3108960"/>
            <a:ext cx="548640" cy="237744"/>
          </a:xfrm>
          <a:prstGeom prst="rect">
            <a:avLst/>
          </a:prstGeom>
          <a:noFill/>
          <a:ln/>
        </p:spPr>
        <p:txBody>
          <a:bodyPr wrap="square" lIns="0" tIns="0" rIns="0" bIns="0" rtlCol="0" anchor="ctr"/>
          <a:lstStyle/>
          <a:p>
            <a:pPr algn="ctr" indent="0" marL="0">
              <a:buNone/>
            </a:pPr>
            <a:r>
              <a:rPr lang="en-US" sz="900" dirty="0">
                <a:solidFill>
                  <a:srgbClr val="5E6B75"/>
                </a:solidFill>
                <a:latin typeface="Calibri" pitchFamily="34" charset="0"/>
                <a:ea typeface="Calibri" pitchFamily="34" charset="-122"/>
                <a:cs typeface="Calibri" pitchFamily="34" charset="-120"/>
              </a:rPr>
              <a:t>60</a:t>
            </a:r>
            <a:endParaRPr lang="en-US" sz="900" dirty="0"/>
          </a:p>
        </p:txBody>
      </p:sp>
      <p:sp>
        <p:nvSpPr>
          <p:cNvPr id="18" name="Shape 16"/>
          <p:cNvSpPr/>
          <p:nvPr/>
        </p:nvSpPr>
        <p:spPr>
          <a:xfrm>
            <a:off x="4221480" y="3035808"/>
            <a:ext cx="91" cy="64008"/>
          </a:xfrm>
          <a:prstGeom prst="line">
            <a:avLst/>
          </a:prstGeom>
          <a:noFill/>
          <a:ln w="12700">
            <a:solidFill>
              <a:srgbClr val="C9D1D8"/>
            </a:solidFill>
            <a:prstDash val="solid"/>
          </a:ln>
        </p:spPr>
      </p:sp>
      <p:sp>
        <p:nvSpPr>
          <p:cNvPr id="19" name="Text 17"/>
          <p:cNvSpPr txBox="1"/>
          <p:nvPr/>
        </p:nvSpPr>
        <p:spPr>
          <a:xfrm>
            <a:off x="3947160" y="3108960"/>
            <a:ext cx="548640" cy="237744"/>
          </a:xfrm>
          <a:prstGeom prst="rect">
            <a:avLst/>
          </a:prstGeom>
          <a:noFill/>
          <a:ln/>
        </p:spPr>
        <p:txBody>
          <a:bodyPr wrap="square" lIns="0" tIns="0" rIns="0" bIns="0" rtlCol="0" anchor="ctr"/>
          <a:lstStyle/>
          <a:p>
            <a:pPr algn="ctr" indent="0" marL="0">
              <a:buNone/>
            </a:pPr>
            <a:r>
              <a:rPr lang="en-US" sz="900" dirty="0">
                <a:solidFill>
                  <a:srgbClr val="5E6B75"/>
                </a:solidFill>
                <a:latin typeface="Calibri" pitchFamily="34" charset="0"/>
                <a:ea typeface="Calibri" pitchFamily="34" charset="-122"/>
                <a:cs typeface="Calibri" pitchFamily="34" charset="-120"/>
              </a:rPr>
              <a:t>120</a:t>
            </a:r>
            <a:endParaRPr lang="en-US" sz="900" dirty="0"/>
          </a:p>
        </p:txBody>
      </p:sp>
      <p:sp>
        <p:nvSpPr>
          <p:cNvPr id="20" name="Shape 18"/>
          <p:cNvSpPr/>
          <p:nvPr/>
        </p:nvSpPr>
        <p:spPr>
          <a:xfrm>
            <a:off x="5532120" y="3035808"/>
            <a:ext cx="91" cy="64008"/>
          </a:xfrm>
          <a:prstGeom prst="line">
            <a:avLst/>
          </a:prstGeom>
          <a:noFill/>
          <a:ln w="12700">
            <a:solidFill>
              <a:srgbClr val="C9D1D8"/>
            </a:solidFill>
            <a:prstDash val="solid"/>
          </a:ln>
        </p:spPr>
      </p:sp>
      <p:sp>
        <p:nvSpPr>
          <p:cNvPr id="21" name="Text 19"/>
          <p:cNvSpPr txBox="1"/>
          <p:nvPr/>
        </p:nvSpPr>
        <p:spPr>
          <a:xfrm>
            <a:off x="5257800" y="3108960"/>
            <a:ext cx="548640" cy="237744"/>
          </a:xfrm>
          <a:prstGeom prst="rect">
            <a:avLst/>
          </a:prstGeom>
          <a:noFill/>
          <a:ln/>
        </p:spPr>
        <p:txBody>
          <a:bodyPr wrap="square" lIns="0" tIns="0" rIns="0" bIns="0" rtlCol="0" anchor="ctr"/>
          <a:lstStyle/>
          <a:p>
            <a:pPr algn="ctr" indent="0" marL="0">
              <a:buNone/>
            </a:pPr>
            <a:r>
              <a:rPr lang="en-US" sz="900" dirty="0">
                <a:solidFill>
                  <a:srgbClr val="5E6B75"/>
                </a:solidFill>
                <a:latin typeface="Calibri" pitchFamily="34" charset="0"/>
                <a:ea typeface="Calibri" pitchFamily="34" charset="-122"/>
                <a:cs typeface="Calibri" pitchFamily="34" charset="-120"/>
              </a:rPr>
              <a:t>180</a:t>
            </a:r>
            <a:endParaRPr lang="en-US" sz="900" dirty="0"/>
          </a:p>
        </p:txBody>
      </p:sp>
      <p:sp>
        <p:nvSpPr>
          <p:cNvPr id="22" name="Text 20"/>
          <p:cNvSpPr txBox="1"/>
          <p:nvPr/>
        </p:nvSpPr>
        <p:spPr>
          <a:xfrm>
            <a:off x="1600200" y="3310128"/>
            <a:ext cx="3931920" cy="237744"/>
          </a:xfrm>
          <a:prstGeom prst="rect">
            <a:avLst/>
          </a:prstGeom>
          <a:noFill/>
          <a:ln/>
        </p:spPr>
        <p:txBody>
          <a:bodyPr wrap="square" lIns="0" tIns="0" rIns="0" bIns="0" rtlCol="0" anchor="ctr"/>
          <a:lstStyle/>
          <a:p>
            <a:pPr algn="l" indent="0" marL="0">
              <a:buNone/>
            </a:pPr>
            <a:r>
              <a:rPr lang="en-US" sz="950" dirty="0">
                <a:solidFill>
                  <a:srgbClr val="5E6B75"/>
                </a:solidFill>
                <a:latin typeface="Calibri" pitchFamily="34" charset="0"/>
                <a:ea typeface="Calibri" pitchFamily="34" charset="-122"/>
                <a:cs typeface="Calibri" pitchFamily="34" charset="-120"/>
              </a:rPr>
              <a:t>seconds of run wall clock, median</a:t>
            </a:r>
            <a:endParaRPr lang="en-US" sz="950" dirty="0"/>
          </a:p>
        </p:txBody>
      </p:sp>
      <p:sp>
        <p:nvSpPr>
          <p:cNvPr id="23" name="Shape 21"/>
          <p:cNvSpPr/>
          <p:nvPr/>
        </p:nvSpPr>
        <p:spPr>
          <a:xfrm>
            <a:off x="1600200" y="3547872"/>
            <a:ext cx="1234440" cy="237744"/>
          </a:xfrm>
          <a:prstGeom prst="roundRect">
            <a:avLst>
              <a:gd name="adj" fmla="val 57692"/>
            </a:avLst>
          </a:prstGeom>
          <a:solidFill>
            <a:srgbClr val="1E6470"/>
          </a:solidFill>
          <a:ln w="12700">
            <a:solidFill>
              <a:srgbClr val="1E6470"/>
            </a:solidFill>
            <a:prstDash val="solid"/>
          </a:ln>
        </p:spPr>
      </p:sp>
      <p:sp>
        <p:nvSpPr>
          <p:cNvPr id="24" name="Text 22"/>
          <p:cNvSpPr txBox="1"/>
          <p:nvPr/>
        </p:nvSpPr>
        <p:spPr>
          <a:xfrm>
            <a:off x="1600200" y="3547872"/>
            <a:ext cx="123444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inside a task</a:t>
            </a:r>
            <a:endParaRPr lang="en-US" sz="900" dirty="0"/>
          </a:p>
        </p:txBody>
      </p:sp>
      <p:sp>
        <p:nvSpPr>
          <p:cNvPr id="25" name="Shape 23"/>
          <p:cNvSpPr/>
          <p:nvPr/>
        </p:nvSpPr>
        <p:spPr>
          <a:xfrm>
            <a:off x="2926080" y="3547872"/>
            <a:ext cx="1463040" cy="237744"/>
          </a:xfrm>
          <a:prstGeom prst="roundRect">
            <a:avLst>
              <a:gd name="adj" fmla="val 57692"/>
            </a:avLst>
          </a:prstGeom>
          <a:solidFill>
            <a:srgbClr val="D9731A"/>
          </a:solidFill>
          <a:ln w="12700">
            <a:solidFill>
              <a:srgbClr val="D9731A"/>
            </a:solidFill>
            <a:prstDash val="solid"/>
          </a:ln>
        </p:spPr>
      </p:sp>
      <p:sp>
        <p:nvSpPr>
          <p:cNvPr id="26" name="Text 24"/>
          <p:cNvSpPr txBox="1"/>
          <p:nvPr/>
        </p:nvSpPr>
        <p:spPr>
          <a:xfrm>
            <a:off x="2926080" y="3547872"/>
            <a:ext cx="146304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everything else</a:t>
            </a:r>
            <a:endParaRPr lang="en-US" sz="900" dirty="0"/>
          </a:p>
        </p:txBody>
      </p:sp>
      <p:sp>
        <p:nvSpPr>
          <p:cNvPr id="27" name="Text 25"/>
          <p:cNvSpPr txBox="1"/>
          <p:nvPr/>
        </p:nvSpPr>
        <p:spPr>
          <a:xfrm>
            <a:off x="457200" y="3877056"/>
            <a:ext cx="5486400" cy="658368"/>
          </a:xfrm>
          <a:prstGeom prst="rect">
            <a:avLst/>
          </a:prstGeom>
          <a:noFill/>
          <a:ln/>
        </p:spPr>
        <p:txBody>
          <a:bodyPr wrap="square" lIns="0" tIns="0" rIns="0" bIns="0" rtlCol="0" anchor="t"/>
          <a:lstStyle/>
          <a:p>
            <a:pPr indent="0" marL="0">
              <a:buNone/>
            </a:pPr>
            <a:r>
              <a:rPr lang="en-US" sz="1050" b="1" dirty="0">
                <a:solidFill>
                  <a:srgbClr val="D9731A"/>
                </a:solidFill>
                <a:latin typeface="Calibri" pitchFamily="34" charset="0"/>
                <a:ea typeface="Calibri" pitchFamily="34" charset="-122"/>
                <a:cs typeface="Calibri" pitchFamily="34" charset="-120"/>
              </a:rPr>
              <a:t>Everything else</a:t>
            </a:r>
            <a:pPr indent="0" marL="0">
              <a:buNone/>
            </a:pPr>
            <a:r>
              <a:rPr lang="en-US" sz="1050" dirty="0">
                <a:solidFill>
                  <a:srgbClr val="22303C"/>
                </a:solidFill>
                <a:latin typeface="Calibri" pitchFamily="34" charset="0"/>
                <a:ea typeface="Calibri" pitchFamily="34" charset="-122"/>
                <a:cs typeface="Calibri" pitchFamily="34" charset="-120"/>
              </a:rPr>
              <a:t> is dispatch, absorb, QC, Pareto, provenance and the ledger: a median 2.8s. Running UNTRUSTED — forced dry-run, cost cap, suspect verdict — costs 0.0s [-0.9, 1.2] on top of that. The gates are not the cost.</a:t>
            </a:r>
            <a:endParaRPr lang="en-US" sz="1050" dirty="0"/>
          </a:p>
        </p:txBody>
      </p:sp>
      <p:sp>
        <p:nvSpPr>
          <p:cNvPr id="28" name="Text 26"/>
          <p:cNvSpPr txBox="1"/>
          <p:nvPr/>
        </p:nvSpPr>
        <p:spPr>
          <a:xfrm>
            <a:off x="457200" y="4572000"/>
            <a:ext cx="5486400" cy="548640"/>
          </a:xfrm>
          <a:prstGeom prst="rect">
            <a:avLst/>
          </a:prstGeom>
          <a:noFill/>
          <a:ln/>
        </p:spPr>
        <p:txBody>
          <a:bodyPr wrap="square" lIns="0" tIns="0" rIns="0" bIns="0" rtlCol="0" anchor="t"/>
          <a:lstStyle/>
          <a:p>
            <a:pPr indent="0" marL="0">
              <a:buNone/>
            </a:pPr>
            <a:r>
              <a:rPr lang="en-US" sz="1000" dirty="0">
                <a:solidFill>
                  <a:srgbClr val="5E6B75"/>
                </a:solidFill>
                <a:latin typeface="Calibri" pitchFamily="34" charset="0"/>
                <a:ea typeface="Calibri" pitchFamily="34" charset="-122"/>
                <a:cs typeface="Calibri" pitchFamily="34" charset="-120"/>
              </a:rPr>
              <a:t>Declared vs measured, per six-stage chain: 0.17 GPU-h declared, 0.0285 measured (max 0.0337). Every declared figure is ≥2.25× the worst task observed, deliberately — gate 5 and the untrusted cap REFUSE graphs against them, so they err high.</a:t>
            </a:r>
            <a:endParaRPr lang="en-US" sz="1000" dirty="0"/>
          </a:p>
        </p:txBody>
      </p:sp>
      <p:sp>
        <p:nvSpPr>
          <p:cNvPr id="29" name="Shape 27"/>
          <p:cNvSpPr/>
          <p:nvPr/>
        </p:nvSpPr>
        <p:spPr>
          <a:xfrm>
            <a:off x="6245352" y="1298448"/>
            <a:ext cx="5486400" cy="2066544"/>
          </a:xfrm>
          <a:prstGeom prst="rect">
            <a:avLst/>
          </a:prstGeom>
          <a:solidFill>
            <a:srgbClr val="EEF2F5"/>
          </a:solidFill>
          <a:ln w="12700">
            <a:solidFill>
              <a:srgbClr val="EEF2F5"/>
            </a:solidFill>
            <a:prstDash val="solid"/>
          </a:ln>
        </p:spPr>
      </p:sp>
      <p:sp>
        <p:nvSpPr>
          <p:cNvPr id="30" name="Text 28"/>
          <p:cNvSpPr txBox="1"/>
          <p:nvPr/>
        </p:nvSpPr>
        <p:spPr>
          <a:xfrm>
            <a:off x="6373368" y="1380744"/>
            <a:ext cx="5230368"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Measured, and in this deck</a:t>
            </a:r>
            <a:endParaRPr lang="en-US" sz="1300" dirty="0"/>
          </a:p>
        </p:txBody>
      </p:sp>
      <p:sp>
        <p:nvSpPr>
          <p:cNvPr id="31" name="Text 29"/>
          <p:cNvSpPr txBox="1"/>
          <p:nvPr/>
        </p:nvSpPr>
        <p:spPr>
          <a:xfrm>
            <a:off x="6373368" y="1691640"/>
            <a:ext cx="5230368" cy="1591056"/>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2303C"/>
                </a:solidFill>
                <a:latin typeface="Calibri" pitchFamily="34" charset="0"/>
                <a:ea typeface="Calibri" pitchFamily="34" charset="-122"/>
                <a:cs typeface="Calibri" pitchFamily="34" charset="-120"/>
              </a:rPr>
              <a:t>101 timed tasks over 5 jobs, from asyncflow's own RUNNING → DONE lines in campaign.log — the only per-task wall time a run records.</a:t>
            </a:r>
            <a:endParaRPr lang="en-US" sz="950" dirty="0"/>
          </a:p>
          <a:p>
            <a:pPr marL="342900" indent="-342900">
              <a:spcAft>
                <a:spcPts val="400"/>
              </a:spcAft>
              <a:buSzPct val="100000"/>
              <a:buChar char="•"/>
            </a:pPr>
            <a:r>
              <a:rPr lang="en-US" sz="950" dirty="0">
                <a:solidFill>
                  <a:srgbClr val="22303C"/>
                </a:solidFill>
                <a:latin typeface="Calibri" pitchFamily="34" charset="0"/>
                <a:ea typeface="Calibri" pitchFamily="34" charset="-122"/>
                <a:cs typeface="Calibri" pitchFamily="34" charset="-120"/>
              </a:rPr>
              <a:t>Per-stage spread: rfd3 41s median, 15 of 17 tasks in 40–45s, one outlier at 145.7s.</a:t>
            </a:r>
            <a:endParaRPr lang="en-US" sz="950" dirty="0"/>
          </a:p>
          <a:p>
            <a:pPr marL="342900" indent="-342900">
              <a:spcAft>
                <a:spcPts val="400"/>
              </a:spcAft>
              <a:buSzPct val="100000"/>
              <a:buChar char="•"/>
            </a:pPr>
            <a:r>
              <a:rPr lang="en-US" sz="950" dirty="0">
                <a:solidFill>
                  <a:srgbClr val="22303C"/>
                </a:solidFill>
                <a:latin typeface="Calibri" pitchFamily="34" charset="0"/>
                <a:ea typeface="Calibri" pitchFamily="34" charset="-122"/>
                <a:cs typeface="Calibri" pitchFamily="34" charset="-120"/>
              </a:rPr>
              <a:t>Where the allocation goes: tasks 95% of elapsed, CPU efficiency 42%, peak memory 16.3 of 240 GB.</a:t>
            </a:r>
            <a:endParaRPr lang="en-US" sz="950" dirty="0"/>
          </a:p>
          <a:p>
            <a:pPr marL="342900" indent="-342900">
              <a:spcAft>
                <a:spcPts val="400"/>
              </a:spcAft>
              <a:buSzPct val="100000"/>
              <a:buChar char="•"/>
            </a:pPr>
            <a:r>
              <a:rPr lang="en-US" sz="950" dirty="0">
                <a:solidFill>
                  <a:srgbClr val="22303C"/>
                </a:solidFill>
                <a:latin typeface="Calibri" pitchFamily="34" charset="0"/>
                <a:ea typeface="Calibri" pitchFamily="34" charset="-122"/>
                <a:cs typeface="Calibri" pitchFamily="34" charset="-120"/>
              </a:rPr>
              <a:t>Queue wait, unbilled but real: 184–26,626s against campaign elapsed of 191–821s. It is the real latency of a test cycle, and it is nobody's code.</a:t>
            </a:r>
            <a:endParaRPr lang="en-US" sz="950" dirty="0"/>
          </a:p>
        </p:txBody>
      </p:sp>
      <p:sp>
        <p:nvSpPr>
          <p:cNvPr id="32" name="Shape 30"/>
          <p:cNvSpPr/>
          <p:nvPr/>
        </p:nvSpPr>
        <p:spPr>
          <a:xfrm>
            <a:off x="6245352" y="3456432"/>
            <a:ext cx="5486400" cy="2066544"/>
          </a:xfrm>
          <a:prstGeom prst="rect">
            <a:avLst/>
          </a:prstGeom>
          <a:solidFill>
            <a:srgbClr val="F9E0DD"/>
          </a:solidFill>
          <a:ln w="12700">
            <a:solidFill>
              <a:srgbClr val="F9E0DD"/>
            </a:solidFill>
            <a:prstDash val="solid"/>
          </a:ln>
        </p:spPr>
      </p:sp>
      <p:sp>
        <p:nvSpPr>
          <p:cNvPr id="33" name="Text 31"/>
          <p:cNvSpPr txBox="1"/>
          <p:nvPr/>
        </p:nvSpPr>
        <p:spPr>
          <a:xfrm>
            <a:off x="6373368" y="3538728"/>
            <a:ext cx="5230368" cy="274320"/>
          </a:xfrm>
          <a:prstGeom prst="rect">
            <a:avLst/>
          </a:prstGeom>
          <a:noFill/>
          <a:ln/>
        </p:spPr>
        <p:txBody>
          <a:bodyPr wrap="square" lIns="0" tIns="0" rIns="0" bIns="0" rtlCol="0" anchor="t"/>
          <a:lstStyle/>
          <a:p>
            <a:pPr indent="0" marL="0">
              <a:buNone/>
            </a:pPr>
            <a:r>
              <a:rPr lang="en-US" sz="1300" b="1" dirty="0">
                <a:solidFill>
                  <a:srgbClr val="C0392B"/>
                </a:solidFill>
                <a:latin typeface="Calibri" pitchFamily="34" charset="0"/>
                <a:ea typeface="Calibri" pitchFamily="34" charset="-122"/>
                <a:cs typeface="Calibri" pitchFamily="34" charset="-120"/>
              </a:rPr>
              <a:t>Not measured — so not claimed</a:t>
            </a:r>
            <a:endParaRPr lang="en-US" sz="1300" dirty="0"/>
          </a:p>
        </p:txBody>
      </p:sp>
      <p:sp>
        <p:nvSpPr>
          <p:cNvPr id="34" name="Text 32"/>
          <p:cNvSpPr txBox="1"/>
          <p:nvPr/>
        </p:nvSpPr>
        <p:spPr>
          <a:xfrm>
            <a:off x="6373368" y="3849624"/>
            <a:ext cx="5230368" cy="1591056"/>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2303C"/>
                </a:solidFill>
                <a:latin typeface="Calibri" pitchFamily="34" charset="0"/>
                <a:ea typeface="Calibri" pitchFamily="34" charset="-122"/>
                <a:cs typeface="Calibri" pitchFamily="34" charset="-120"/>
              </a:rPr>
              <a:t>No serial baseline exists, so nothing on this slide divides into a speedup.</a:t>
            </a:r>
            <a:endParaRPr lang="en-US" sz="950" dirty="0"/>
          </a:p>
          <a:p>
            <a:pPr marL="342900" indent="-342900">
              <a:spcAft>
                <a:spcPts val="400"/>
              </a:spcAft>
              <a:buSzPct val="100000"/>
              <a:buChar char="•"/>
            </a:pPr>
            <a:r>
              <a:rPr lang="en-US" sz="950" dirty="0">
                <a:solidFill>
                  <a:srgbClr val="22303C"/>
                </a:solidFill>
                <a:latin typeface="Calibri" pitchFamily="34" charset="0"/>
                <a:ea typeface="Calibri" pitchFamily="34" charset="-122"/>
                <a:cs typeface="Calibri" pitchFamily="34" charset="-120"/>
              </a:rPr>
              <a:t>GPU utilisation is recorded nowhere in a run. ≤17% of billed GPU time is an UPPER BOUND with model load counted inside it.</a:t>
            </a:r>
            <a:endParaRPr lang="en-US" sz="950" dirty="0"/>
          </a:p>
          <a:p>
            <a:pPr marL="342900" indent="-342900">
              <a:spcAft>
                <a:spcPts val="400"/>
              </a:spcAft>
              <a:buSzPct val="100000"/>
              <a:buChar char="•"/>
            </a:pPr>
            <a:r>
              <a:rPr lang="en-US" sz="950" dirty="0">
                <a:solidFill>
                  <a:srgbClr val="22303C"/>
                </a:solidFill>
                <a:latin typeface="Calibri" pitchFamily="34" charset="0"/>
                <a:ea typeface="Calibri" pitchFamily="34" charset="-122"/>
                <a:cs typeface="Calibri" pitchFamily="34" charset="-120"/>
              </a:rPr>
              <a:t>Concurrency has never happened: every run is one serial chain, so this is not a scheduling result. Packing more than one lineage onto a GPU has never been attempted.</a:t>
            </a:r>
            <a:endParaRPr lang="en-US" sz="950" dirty="0"/>
          </a:p>
          <a:p>
            <a:pPr marL="342900" indent="-342900">
              <a:spcAft>
                <a:spcPts val="400"/>
              </a:spcAft>
              <a:buSzPct val="100000"/>
              <a:buChar char="•"/>
            </a:pPr>
            <a:r>
              <a:rPr lang="en-US" sz="950" dirty="0">
                <a:solidFill>
                  <a:srgbClr val="22303C"/>
                </a:solidFill>
                <a:latin typeface="Calibri" pitchFamily="34" charset="0"/>
                <a:ea typeface="Calibri" pitchFamily="34" charset="-122"/>
                <a:cs typeface="Calibri" pitchFamily="34" charset="-120"/>
              </a:rPr>
              <a:t>The ledger's cost field is the admission estimate echoed back. It is not evidence and no figure here uses it.</a:t>
            </a:r>
            <a:endParaRPr lang="en-US" sz="950" dirty="0"/>
          </a:p>
        </p:txBody>
      </p:sp>
      <p:sp>
        <p:nvSpPr>
          <p:cNvPr id="35" name="Shape 33"/>
          <p:cNvSpPr/>
          <p:nvPr/>
        </p:nvSpPr>
        <p:spPr>
          <a:xfrm>
            <a:off x="457200" y="5669280"/>
            <a:ext cx="11274552" cy="566928"/>
          </a:xfrm>
          <a:prstGeom prst="rect">
            <a:avLst/>
          </a:prstGeom>
          <a:solidFill>
            <a:srgbClr val="16222B"/>
          </a:solidFill>
          <a:ln w="12700">
            <a:solidFill>
              <a:srgbClr val="16222B"/>
            </a:solidFill>
            <a:prstDash val="solid"/>
          </a:ln>
        </p:spPr>
      </p:sp>
      <p:sp>
        <p:nvSpPr>
          <p:cNvPr id="36" name="Text 34"/>
          <p:cNvSpPr txBox="1"/>
          <p:nvPr/>
        </p:nvSpPr>
        <p:spPr>
          <a:xfrm>
            <a:off x="640080" y="5742432"/>
            <a:ext cx="10927080" cy="420624"/>
          </a:xfrm>
          <a:prstGeom prst="rect">
            <a:avLst/>
          </a:prstGeom>
          <a:noFill/>
          <a:ln/>
        </p:spPr>
        <p:txBody>
          <a:bodyPr wrap="square" lIns="0" tIns="0" rIns="0" bIns="0" rtlCol="0" anchor="t"/>
          <a:lstStyle/>
          <a:p>
            <a:pPr indent="0" marL="0">
              <a:buNone/>
            </a:pPr>
            <a:r>
              <a:rPr lang="en-US" sz="1200" b="1" dirty="0">
                <a:solidFill>
                  <a:srgbClr val="F0C898"/>
                </a:solidFill>
                <a:latin typeface="Calibri" pitchFamily="34" charset="0"/>
                <a:ea typeface="Calibri" pitchFamily="34" charset="-122"/>
                <a:cs typeface="Calibri" pitchFamily="34" charset="-120"/>
              </a:rPr>
              <a:t>Where this stops being a systems question:  </a:t>
            </a:r>
            <a:pPr indent="0" marL="0">
              <a:buNone/>
            </a:pPr>
            <a:r>
              <a:rPr lang="en-US" sz="1200" dirty="0">
                <a:solidFill>
                  <a:srgbClr val="DCE5EC"/>
                </a:solidFill>
                <a:latin typeface="Calibri" pitchFamily="34" charset="0"/>
                <a:ea typeface="Calibri" pitchFamily="34" charset="-122"/>
                <a:cs typeface="Calibri" pitchFamily="34" charset="-120"/>
              </a:rPr>
              <a:t>the loop is ~2% of a run and the hardware is 83% idle. The next real gain is not in this orchestrator — it is giving the other three GPUs work, which is a lineage-count question, not a scheduling one.</a:t>
            </a:r>
            <a:endParaRPr lang="en-US" sz="1200" dirty="0"/>
          </a:p>
        </p:txBody>
      </p:sp>
      <p:sp>
        <p:nvSpPr>
          <p:cNvPr id="37" name="Text 35"/>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source: performance_analysis report 2026-10-09 over impress_a_runs_2026-10-08.tar.gz (22702568, 22726105, 22728140 trust; 22684607, 22692304 smoke), code at d3c20ca</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MEASURED · F3</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Seven jobs: what storage bought, and what trust cost</a:t>
            </a:r>
            <a:endParaRPr lang="en-US" sz="2800" dirty="0"/>
          </a:p>
        </p:txBody>
      </p:sp>
      <p:sp>
        <p:nvSpPr>
          <p:cNvPr id="4" name="Text 2"/>
          <p:cNvSpPr txBox="1"/>
          <p:nvPr/>
        </p:nvSpPr>
        <p:spPr>
          <a:xfrm>
            <a:off x="457200" y="1481328"/>
            <a:ext cx="1554480" cy="274320"/>
          </a:xfrm>
          <a:prstGeom prst="rect">
            <a:avLst/>
          </a:prstGeom>
          <a:noFill/>
          <a:ln/>
        </p:spPr>
        <p:txBody>
          <a:bodyPr wrap="square" lIns="0" tIns="0" rIns="0" bIns="0" rtlCol="0" anchor="ctr"/>
          <a:lstStyle/>
          <a:p>
            <a:pPr algn="r" indent="0" marL="0">
              <a:buNone/>
            </a:pPr>
            <a:r>
              <a:rPr lang="en-US" sz="1050" b="1" dirty="0">
                <a:solidFill>
                  <a:srgbClr val="22303C"/>
                </a:solidFill>
                <a:latin typeface="Consolas" pitchFamily="34" charset="0"/>
                <a:ea typeface="Consolas" pitchFamily="34" charset="-122"/>
                <a:cs typeface="Consolas" pitchFamily="34" charset="-120"/>
              </a:rPr>
              <a:t>22675512 · HDD</a:t>
            </a:r>
            <a:endParaRPr lang="en-US" sz="1050" dirty="0"/>
          </a:p>
        </p:txBody>
      </p:sp>
      <p:sp>
        <p:nvSpPr>
          <p:cNvPr id="5" name="Shape 3"/>
          <p:cNvSpPr/>
          <p:nvPr/>
        </p:nvSpPr>
        <p:spPr>
          <a:xfrm>
            <a:off x="2057400" y="1508760"/>
            <a:ext cx="1737079" cy="237744"/>
          </a:xfrm>
          <a:prstGeom prst="rect">
            <a:avLst/>
          </a:prstGeom>
          <a:solidFill>
            <a:srgbClr val="D9731A"/>
          </a:solidFill>
          <a:ln w="12700">
            <a:solidFill>
              <a:srgbClr val="D9731A"/>
            </a:solidFill>
            <a:prstDash val="solid"/>
          </a:ln>
        </p:spPr>
      </p:sp>
      <p:sp>
        <p:nvSpPr>
          <p:cNvPr id="6" name="Text 4"/>
          <p:cNvSpPr txBox="1"/>
          <p:nvPr/>
        </p:nvSpPr>
        <p:spPr>
          <a:xfrm>
            <a:off x="2057400" y="1508760"/>
            <a:ext cx="1737079"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137</a:t>
            </a:r>
            <a:endParaRPr lang="en-US" sz="800" dirty="0"/>
          </a:p>
        </p:txBody>
      </p:sp>
      <p:sp>
        <p:nvSpPr>
          <p:cNvPr id="7" name="Shape 5"/>
          <p:cNvSpPr/>
          <p:nvPr/>
        </p:nvSpPr>
        <p:spPr>
          <a:xfrm>
            <a:off x="3794479" y="1508760"/>
            <a:ext cx="3704586" cy="237744"/>
          </a:xfrm>
          <a:prstGeom prst="rect">
            <a:avLst/>
          </a:prstGeom>
          <a:solidFill>
            <a:srgbClr val="3B4E8C"/>
          </a:solidFill>
          <a:ln w="12700">
            <a:solidFill>
              <a:srgbClr val="3B4E8C"/>
            </a:solidFill>
            <a:prstDash val="solid"/>
          </a:ln>
        </p:spPr>
      </p:sp>
      <p:sp>
        <p:nvSpPr>
          <p:cNvPr id="8" name="Text 6"/>
          <p:cNvSpPr txBox="1"/>
          <p:nvPr/>
        </p:nvSpPr>
        <p:spPr>
          <a:xfrm>
            <a:off x="3794479" y="1508760"/>
            <a:ext cx="3704586"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293</a:t>
            </a:r>
            <a:endParaRPr lang="en-US" sz="800" dirty="0"/>
          </a:p>
        </p:txBody>
      </p:sp>
      <p:sp>
        <p:nvSpPr>
          <p:cNvPr id="9" name="Text 7"/>
          <p:cNvSpPr txBox="1"/>
          <p:nvPr/>
        </p:nvSpPr>
        <p:spPr>
          <a:xfrm>
            <a:off x="7553929" y="1508760"/>
            <a:ext cx="1371600" cy="237744"/>
          </a:xfrm>
          <a:prstGeom prst="rect">
            <a:avLst/>
          </a:prstGeom>
          <a:noFill/>
          <a:ln/>
        </p:spPr>
        <p:txBody>
          <a:bodyPr wrap="square" lIns="0" tIns="0" rIns="0" bIns="0" rtlCol="0" anchor="ctr"/>
          <a:lstStyle/>
          <a:p>
            <a:pPr indent="0" marL="0">
              <a:buNone/>
            </a:pPr>
            <a:r>
              <a:rPr lang="en-US" sz="850" dirty="0">
                <a:solidFill>
                  <a:srgbClr val="5E6B75"/>
                </a:solidFill>
                <a:latin typeface="Calibri" pitchFamily="34" charset="0"/>
                <a:ea typeface="Calibri" pitchFamily="34" charset="-122"/>
                <a:cs typeface="Calibri" pitchFamily="34" charset="-120"/>
              </a:rPr>
              <a:t>430 s of tool time</a:t>
            </a:r>
            <a:endParaRPr lang="en-US" sz="850" dirty="0"/>
          </a:p>
        </p:txBody>
      </p:sp>
      <p:sp>
        <p:nvSpPr>
          <p:cNvPr id="10" name="Text 8"/>
          <p:cNvSpPr txBox="1"/>
          <p:nvPr/>
        </p:nvSpPr>
        <p:spPr>
          <a:xfrm>
            <a:off x="2057400" y="1783080"/>
            <a:ext cx="8229600" cy="219456"/>
          </a:xfrm>
          <a:prstGeom prst="rect">
            <a:avLst/>
          </a:prstGeom>
          <a:noFill/>
          <a:ln/>
        </p:spPr>
        <p:txBody>
          <a:bodyPr wrap="square" lIns="0" tIns="0" rIns="0" bIns="0" rtlCol="0" anchor="t"/>
          <a:lstStyle/>
          <a:p>
            <a:pPr indent="0" marL="0">
              <a:buNone/>
            </a:pPr>
            <a:r>
              <a:rPr lang="en-US" sz="900" i="1" dirty="0">
                <a:solidFill>
                  <a:srgbClr val="5E6B75"/>
                </a:solidFill>
                <a:latin typeface="Calibri" pitchFamily="34" charset="0"/>
                <a:ea typeface="Calibri" pitchFamily="34" charset="-122"/>
                <a:cs typeface="Calibri" pitchFamily="34" charset="-120"/>
              </a:rPr>
              <a:t>packmin could not finish `import pyrosetta` in 300 s — nothing downstream ran</a:t>
            </a:r>
            <a:endParaRPr lang="en-US" sz="900" dirty="0"/>
          </a:p>
        </p:txBody>
      </p:sp>
      <p:sp>
        <p:nvSpPr>
          <p:cNvPr id="11" name="Text 9"/>
          <p:cNvSpPr txBox="1"/>
          <p:nvPr/>
        </p:nvSpPr>
        <p:spPr>
          <a:xfrm>
            <a:off x="457200" y="2103120"/>
            <a:ext cx="1554480" cy="274320"/>
          </a:xfrm>
          <a:prstGeom prst="rect">
            <a:avLst/>
          </a:prstGeom>
          <a:noFill/>
          <a:ln/>
        </p:spPr>
        <p:txBody>
          <a:bodyPr wrap="square" lIns="0" tIns="0" rIns="0" bIns="0" rtlCol="0" anchor="ctr"/>
          <a:lstStyle/>
          <a:p>
            <a:pPr algn="r" indent="0" marL="0">
              <a:buNone/>
            </a:pPr>
            <a:r>
              <a:rPr lang="en-US" sz="1050" b="1" dirty="0">
                <a:solidFill>
                  <a:srgbClr val="22303C"/>
                </a:solidFill>
                <a:latin typeface="Consolas" pitchFamily="34" charset="0"/>
                <a:ea typeface="Consolas" pitchFamily="34" charset="-122"/>
                <a:cs typeface="Consolas" pitchFamily="34" charset="-120"/>
              </a:rPr>
              <a:t>22684607 · NVMe</a:t>
            </a:r>
            <a:endParaRPr lang="en-US" sz="1050" dirty="0"/>
          </a:p>
        </p:txBody>
      </p:sp>
      <p:sp>
        <p:nvSpPr>
          <p:cNvPr id="12" name="Shape 10"/>
          <p:cNvSpPr/>
          <p:nvPr/>
        </p:nvSpPr>
        <p:spPr>
          <a:xfrm>
            <a:off x="2057400" y="2130552"/>
            <a:ext cx="1844696" cy="237744"/>
          </a:xfrm>
          <a:prstGeom prst="rect">
            <a:avLst/>
          </a:prstGeom>
          <a:solidFill>
            <a:srgbClr val="D9731A"/>
          </a:solidFill>
          <a:ln w="12700">
            <a:solidFill>
              <a:srgbClr val="D9731A"/>
            </a:solidFill>
            <a:prstDash val="solid"/>
          </a:ln>
        </p:spPr>
      </p:sp>
      <p:sp>
        <p:nvSpPr>
          <p:cNvPr id="13" name="Text 11"/>
          <p:cNvSpPr txBox="1"/>
          <p:nvPr/>
        </p:nvSpPr>
        <p:spPr>
          <a:xfrm>
            <a:off x="2057400" y="2130552"/>
            <a:ext cx="1844696"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146</a:t>
            </a:r>
            <a:endParaRPr lang="en-US" sz="800" dirty="0"/>
          </a:p>
        </p:txBody>
      </p:sp>
      <p:sp>
        <p:nvSpPr>
          <p:cNvPr id="14" name="Shape 12"/>
          <p:cNvSpPr/>
          <p:nvPr/>
        </p:nvSpPr>
        <p:spPr>
          <a:xfrm>
            <a:off x="3902096" y="2130552"/>
            <a:ext cx="229163" cy="237744"/>
          </a:xfrm>
          <a:prstGeom prst="rect">
            <a:avLst/>
          </a:prstGeom>
          <a:solidFill>
            <a:srgbClr val="3B4E8C"/>
          </a:solidFill>
          <a:ln w="12700">
            <a:solidFill>
              <a:srgbClr val="3B4E8C"/>
            </a:solidFill>
            <a:prstDash val="solid"/>
          </a:ln>
        </p:spPr>
      </p:sp>
      <p:sp>
        <p:nvSpPr>
          <p:cNvPr id="15" name="Shape 13"/>
          <p:cNvSpPr/>
          <p:nvPr/>
        </p:nvSpPr>
        <p:spPr>
          <a:xfrm>
            <a:off x="4131259" y="2130552"/>
            <a:ext cx="201309" cy="237744"/>
          </a:xfrm>
          <a:prstGeom prst="rect">
            <a:avLst/>
          </a:prstGeom>
          <a:solidFill>
            <a:srgbClr val="1E6470"/>
          </a:solidFill>
          <a:ln w="12700">
            <a:solidFill>
              <a:srgbClr val="1E6470"/>
            </a:solidFill>
            <a:prstDash val="solid"/>
          </a:ln>
        </p:spPr>
      </p:sp>
      <p:sp>
        <p:nvSpPr>
          <p:cNvPr id="16" name="Shape 14"/>
          <p:cNvSpPr/>
          <p:nvPr/>
        </p:nvSpPr>
        <p:spPr>
          <a:xfrm>
            <a:off x="4332568" y="2130552"/>
            <a:ext cx="327918" cy="237744"/>
          </a:xfrm>
          <a:prstGeom prst="rect">
            <a:avLst/>
          </a:prstGeom>
          <a:solidFill>
            <a:srgbClr val="2E7D5B"/>
          </a:solidFill>
          <a:ln w="12700">
            <a:solidFill>
              <a:srgbClr val="2E7D5B"/>
            </a:solidFill>
            <a:prstDash val="solid"/>
          </a:ln>
        </p:spPr>
      </p:sp>
      <p:sp>
        <p:nvSpPr>
          <p:cNvPr id="17" name="Shape 15"/>
          <p:cNvSpPr/>
          <p:nvPr/>
        </p:nvSpPr>
        <p:spPr>
          <a:xfrm>
            <a:off x="4660486" y="2130552"/>
            <a:ext cx="129141" cy="237744"/>
          </a:xfrm>
          <a:prstGeom prst="rect">
            <a:avLst/>
          </a:prstGeom>
          <a:solidFill>
            <a:srgbClr val="7A4A8C"/>
          </a:solidFill>
          <a:ln w="12700">
            <a:solidFill>
              <a:srgbClr val="7A4A8C"/>
            </a:solidFill>
            <a:prstDash val="solid"/>
          </a:ln>
        </p:spPr>
      </p:sp>
      <p:sp>
        <p:nvSpPr>
          <p:cNvPr id="18" name="Text 16"/>
          <p:cNvSpPr txBox="1"/>
          <p:nvPr/>
        </p:nvSpPr>
        <p:spPr>
          <a:xfrm>
            <a:off x="4844491" y="2130552"/>
            <a:ext cx="1371600" cy="237744"/>
          </a:xfrm>
          <a:prstGeom prst="rect">
            <a:avLst/>
          </a:prstGeom>
          <a:noFill/>
          <a:ln/>
        </p:spPr>
        <p:txBody>
          <a:bodyPr wrap="square" lIns="0" tIns="0" rIns="0" bIns="0" rtlCol="0" anchor="ctr"/>
          <a:lstStyle/>
          <a:p>
            <a:pPr indent="0" marL="0">
              <a:buNone/>
            </a:pPr>
            <a:r>
              <a:rPr lang="en-US" sz="850" dirty="0">
                <a:solidFill>
                  <a:srgbClr val="5E6B75"/>
                </a:solidFill>
                <a:latin typeface="Calibri" pitchFamily="34" charset="0"/>
                <a:ea typeface="Calibri" pitchFamily="34" charset="-122"/>
                <a:cs typeface="Calibri" pitchFamily="34" charset="-120"/>
              </a:rPr>
              <a:t>216 s of tool time</a:t>
            </a:r>
            <a:endParaRPr lang="en-US" sz="850" dirty="0"/>
          </a:p>
        </p:txBody>
      </p:sp>
      <p:sp>
        <p:nvSpPr>
          <p:cNvPr id="19" name="Text 17"/>
          <p:cNvSpPr txBox="1"/>
          <p:nvPr/>
        </p:nvSpPr>
        <p:spPr>
          <a:xfrm>
            <a:off x="2057400" y="2404872"/>
            <a:ext cx="8229600" cy="219456"/>
          </a:xfrm>
          <a:prstGeom prst="rect">
            <a:avLst/>
          </a:prstGeom>
          <a:noFill/>
          <a:ln/>
        </p:spPr>
        <p:txBody>
          <a:bodyPr wrap="square" lIns="0" tIns="0" rIns="0" bIns="0" rtlCol="0" anchor="t"/>
          <a:lstStyle/>
          <a:p>
            <a:pPr indent="0" marL="0">
              <a:buNone/>
            </a:pPr>
            <a:r>
              <a:rPr lang="en-US" sz="900" i="1" dirty="0">
                <a:solidFill>
                  <a:srgbClr val="5E6B75"/>
                </a:solidFill>
                <a:latin typeface="Calibri" pitchFamily="34" charset="0"/>
                <a:ea typeface="Calibri" pitchFamily="34" charset="-122"/>
                <a:cs typeface="Calibri" pitchFamily="34" charset="-120"/>
              </a:rPr>
              <a:t>5/5 ok · boltz truncated off the chain by a cost cap</a:t>
            </a:r>
            <a:endParaRPr lang="en-US" sz="900" dirty="0"/>
          </a:p>
        </p:txBody>
      </p:sp>
      <p:sp>
        <p:nvSpPr>
          <p:cNvPr id="20" name="Text 18"/>
          <p:cNvSpPr txBox="1"/>
          <p:nvPr/>
        </p:nvSpPr>
        <p:spPr>
          <a:xfrm>
            <a:off x="457200" y="2724912"/>
            <a:ext cx="1554480" cy="274320"/>
          </a:xfrm>
          <a:prstGeom prst="rect">
            <a:avLst/>
          </a:prstGeom>
          <a:noFill/>
          <a:ln/>
        </p:spPr>
        <p:txBody>
          <a:bodyPr wrap="square" lIns="0" tIns="0" rIns="0" bIns="0" rtlCol="0" anchor="ctr"/>
          <a:lstStyle/>
          <a:p>
            <a:pPr algn="r" indent="0" marL="0">
              <a:buNone/>
            </a:pPr>
            <a:r>
              <a:rPr lang="en-US" sz="1050" b="1" dirty="0">
                <a:solidFill>
                  <a:srgbClr val="22303C"/>
                </a:solidFill>
                <a:latin typeface="Consolas" pitchFamily="34" charset="0"/>
                <a:ea typeface="Consolas" pitchFamily="34" charset="-122"/>
                <a:cs typeface="Consolas" pitchFamily="34" charset="-120"/>
              </a:rPr>
              <a:t>22692304 · NVMe</a:t>
            </a:r>
            <a:endParaRPr lang="en-US" sz="1050" dirty="0"/>
          </a:p>
        </p:txBody>
      </p:sp>
      <p:sp>
        <p:nvSpPr>
          <p:cNvPr id="21" name="Shape 19"/>
          <p:cNvSpPr/>
          <p:nvPr/>
        </p:nvSpPr>
        <p:spPr>
          <a:xfrm>
            <a:off x="2057400" y="2752344"/>
            <a:ext cx="569742" cy="237744"/>
          </a:xfrm>
          <a:prstGeom prst="rect">
            <a:avLst/>
          </a:prstGeom>
          <a:solidFill>
            <a:srgbClr val="D9731A"/>
          </a:solidFill>
          <a:ln w="12700">
            <a:solidFill>
              <a:srgbClr val="D9731A"/>
            </a:solidFill>
            <a:prstDash val="solid"/>
          </a:ln>
        </p:spPr>
      </p:sp>
      <p:sp>
        <p:nvSpPr>
          <p:cNvPr id="22" name="Text 20"/>
          <p:cNvSpPr txBox="1"/>
          <p:nvPr/>
        </p:nvSpPr>
        <p:spPr>
          <a:xfrm>
            <a:off x="2057400" y="2752344"/>
            <a:ext cx="569742"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45</a:t>
            </a:r>
            <a:endParaRPr lang="en-US" sz="800" dirty="0"/>
          </a:p>
        </p:txBody>
      </p:sp>
      <p:sp>
        <p:nvSpPr>
          <p:cNvPr id="23" name="Shape 21"/>
          <p:cNvSpPr/>
          <p:nvPr/>
        </p:nvSpPr>
        <p:spPr>
          <a:xfrm>
            <a:off x="2627142" y="2752344"/>
            <a:ext cx="184849" cy="237744"/>
          </a:xfrm>
          <a:prstGeom prst="rect">
            <a:avLst/>
          </a:prstGeom>
          <a:solidFill>
            <a:srgbClr val="3B4E8C"/>
          </a:solidFill>
          <a:ln w="12700">
            <a:solidFill>
              <a:srgbClr val="3B4E8C"/>
            </a:solidFill>
            <a:prstDash val="solid"/>
          </a:ln>
        </p:spPr>
      </p:sp>
      <p:sp>
        <p:nvSpPr>
          <p:cNvPr id="24" name="Shape 22"/>
          <p:cNvSpPr/>
          <p:nvPr/>
        </p:nvSpPr>
        <p:spPr>
          <a:xfrm>
            <a:off x="2811991" y="2752344"/>
            <a:ext cx="192446" cy="237744"/>
          </a:xfrm>
          <a:prstGeom prst="rect">
            <a:avLst/>
          </a:prstGeom>
          <a:solidFill>
            <a:srgbClr val="1E6470"/>
          </a:solidFill>
          <a:ln w="12700">
            <a:solidFill>
              <a:srgbClr val="1E6470"/>
            </a:solidFill>
            <a:prstDash val="solid"/>
          </a:ln>
        </p:spPr>
      </p:sp>
      <p:sp>
        <p:nvSpPr>
          <p:cNvPr id="25" name="Shape 23"/>
          <p:cNvSpPr/>
          <p:nvPr/>
        </p:nvSpPr>
        <p:spPr>
          <a:xfrm>
            <a:off x="3004437" y="2752344"/>
            <a:ext cx="283605" cy="237744"/>
          </a:xfrm>
          <a:prstGeom prst="rect">
            <a:avLst/>
          </a:prstGeom>
          <a:solidFill>
            <a:srgbClr val="2E7D5B"/>
          </a:solidFill>
          <a:ln w="12700">
            <a:solidFill>
              <a:srgbClr val="2E7D5B"/>
            </a:solidFill>
            <a:prstDash val="solid"/>
          </a:ln>
        </p:spPr>
      </p:sp>
      <p:sp>
        <p:nvSpPr>
          <p:cNvPr id="26" name="Shape 24"/>
          <p:cNvSpPr/>
          <p:nvPr/>
        </p:nvSpPr>
        <p:spPr>
          <a:xfrm>
            <a:off x="3288042" y="2752344"/>
            <a:ext cx="126609" cy="237744"/>
          </a:xfrm>
          <a:prstGeom prst="rect">
            <a:avLst/>
          </a:prstGeom>
          <a:solidFill>
            <a:srgbClr val="7A4A8C"/>
          </a:solidFill>
          <a:ln w="12700">
            <a:solidFill>
              <a:srgbClr val="7A4A8C"/>
            </a:solidFill>
            <a:prstDash val="solid"/>
          </a:ln>
        </p:spPr>
      </p:sp>
      <p:sp>
        <p:nvSpPr>
          <p:cNvPr id="27" name="Shape 25"/>
          <p:cNvSpPr/>
          <p:nvPr/>
        </p:nvSpPr>
        <p:spPr>
          <a:xfrm>
            <a:off x="3414651" y="2752344"/>
            <a:ext cx="731801" cy="237744"/>
          </a:xfrm>
          <a:prstGeom prst="rect">
            <a:avLst/>
          </a:prstGeom>
          <a:solidFill>
            <a:srgbClr val="8C6D1F"/>
          </a:solidFill>
          <a:ln w="12700">
            <a:solidFill>
              <a:srgbClr val="8C6D1F"/>
            </a:solidFill>
            <a:prstDash val="solid"/>
          </a:ln>
        </p:spPr>
      </p:sp>
      <p:sp>
        <p:nvSpPr>
          <p:cNvPr id="28" name="Text 26"/>
          <p:cNvSpPr txBox="1"/>
          <p:nvPr/>
        </p:nvSpPr>
        <p:spPr>
          <a:xfrm>
            <a:off x="3414651" y="2752344"/>
            <a:ext cx="731801"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58</a:t>
            </a:r>
            <a:endParaRPr lang="en-US" sz="800" dirty="0"/>
          </a:p>
        </p:txBody>
      </p:sp>
      <p:sp>
        <p:nvSpPr>
          <p:cNvPr id="29" name="Text 27"/>
          <p:cNvSpPr txBox="1"/>
          <p:nvPr/>
        </p:nvSpPr>
        <p:spPr>
          <a:xfrm>
            <a:off x="4201316" y="2752344"/>
            <a:ext cx="1371600" cy="237744"/>
          </a:xfrm>
          <a:prstGeom prst="rect">
            <a:avLst/>
          </a:prstGeom>
          <a:noFill/>
          <a:ln/>
        </p:spPr>
        <p:txBody>
          <a:bodyPr wrap="square" lIns="0" tIns="0" rIns="0" bIns="0" rtlCol="0" anchor="ctr"/>
          <a:lstStyle/>
          <a:p>
            <a:pPr indent="0" marL="0">
              <a:buNone/>
            </a:pPr>
            <a:r>
              <a:rPr lang="en-US" sz="850" dirty="0">
                <a:solidFill>
                  <a:srgbClr val="5E6B75"/>
                </a:solidFill>
                <a:latin typeface="Calibri" pitchFamily="34" charset="0"/>
                <a:ea typeface="Calibri" pitchFamily="34" charset="-122"/>
                <a:cs typeface="Calibri" pitchFamily="34" charset="-120"/>
              </a:rPr>
              <a:t>165 s of tool time</a:t>
            </a:r>
            <a:endParaRPr lang="en-US" sz="850" dirty="0"/>
          </a:p>
        </p:txBody>
      </p:sp>
      <p:sp>
        <p:nvSpPr>
          <p:cNvPr id="30" name="Text 28"/>
          <p:cNvSpPr txBox="1"/>
          <p:nvPr/>
        </p:nvSpPr>
        <p:spPr>
          <a:xfrm>
            <a:off x="2057400" y="3026664"/>
            <a:ext cx="8229600" cy="219456"/>
          </a:xfrm>
          <a:prstGeom prst="rect">
            <a:avLst/>
          </a:prstGeom>
          <a:noFill/>
          <a:ln/>
        </p:spPr>
        <p:txBody>
          <a:bodyPr wrap="square" lIns="0" tIns="0" rIns="0" bIns="0" rtlCol="0" anchor="t"/>
          <a:lstStyle/>
          <a:p>
            <a:pPr indent="0" marL="0">
              <a:buNone/>
            </a:pPr>
            <a:r>
              <a:rPr lang="en-US" sz="900" i="1" dirty="0">
                <a:solidFill>
                  <a:srgbClr val="5E6B75"/>
                </a:solidFill>
                <a:latin typeface="Calibri" pitchFamily="34" charset="0"/>
                <a:ea typeface="Calibri" pitchFamily="34" charset="-122"/>
                <a:cs typeface="Calibri" pitchFamily="34" charset="-120"/>
              </a:rPr>
              <a:t>6/6 ok in 2m53s · the first completed campaign</a:t>
            </a:r>
            <a:endParaRPr lang="en-US" sz="900" dirty="0"/>
          </a:p>
        </p:txBody>
      </p:sp>
      <p:sp>
        <p:nvSpPr>
          <p:cNvPr id="31" name="Shape 29"/>
          <p:cNvSpPr/>
          <p:nvPr/>
        </p:nvSpPr>
        <p:spPr>
          <a:xfrm>
            <a:off x="2057400" y="3300984"/>
            <a:ext cx="6583680" cy="91"/>
          </a:xfrm>
          <a:prstGeom prst="line">
            <a:avLst/>
          </a:prstGeom>
          <a:noFill/>
          <a:ln w="12700">
            <a:solidFill>
              <a:srgbClr val="C9D1D8"/>
            </a:solidFill>
            <a:prstDash val="solid"/>
          </a:ln>
        </p:spPr>
      </p:sp>
      <p:sp>
        <p:nvSpPr>
          <p:cNvPr id="32" name="Shape 30"/>
          <p:cNvSpPr/>
          <p:nvPr/>
        </p:nvSpPr>
        <p:spPr>
          <a:xfrm>
            <a:off x="2057400" y="3300984"/>
            <a:ext cx="91" cy="64008"/>
          </a:xfrm>
          <a:prstGeom prst="line">
            <a:avLst/>
          </a:prstGeom>
          <a:noFill/>
          <a:ln w="12700">
            <a:solidFill>
              <a:srgbClr val="C9D1D8"/>
            </a:solidFill>
            <a:prstDash val="solid"/>
          </a:ln>
        </p:spPr>
      </p:sp>
      <p:sp>
        <p:nvSpPr>
          <p:cNvPr id="33" name="Text 31"/>
          <p:cNvSpPr txBox="1"/>
          <p:nvPr/>
        </p:nvSpPr>
        <p:spPr>
          <a:xfrm>
            <a:off x="1828800" y="3374136"/>
            <a:ext cx="457200" cy="237744"/>
          </a:xfrm>
          <a:prstGeom prst="rect">
            <a:avLst/>
          </a:prstGeom>
          <a:noFill/>
          <a:ln/>
        </p:spPr>
        <p:txBody>
          <a:bodyPr wrap="square" lIns="0" tIns="0" rIns="0" bIns="0" rtlCol="0" anchor="ctr"/>
          <a:lstStyle/>
          <a:p>
            <a:pPr algn="ctr" indent="0" marL="0">
              <a:buNone/>
            </a:pPr>
            <a:r>
              <a:rPr lang="en-US" sz="1050" dirty="0">
                <a:solidFill>
                  <a:srgbClr val="5E6B75"/>
                </a:solidFill>
                <a:latin typeface="Calibri" pitchFamily="34" charset="0"/>
                <a:ea typeface="Calibri" pitchFamily="34" charset="-122"/>
                <a:cs typeface="Calibri" pitchFamily="34" charset="-120"/>
              </a:rPr>
              <a:t>0s</a:t>
            </a:r>
            <a:endParaRPr lang="en-US" sz="1050" dirty="0"/>
          </a:p>
        </p:txBody>
      </p:sp>
      <p:sp>
        <p:nvSpPr>
          <p:cNvPr id="34" name="Shape 32"/>
          <p:cNvSpPr/>
          <p:nvPr/>
        </p:nvSpPr>
        <p:spPr>
          <a:xfrm>
            <a:off x="3323492" y="3300984"/>
            <a:ext cx="91" cy="64008"/>
          </a:xfrm>
          <a:prstGeom prst="line">
            <a:avLst/>
          </a:prstGeom>
          <a:noFill/>
          <a:ln w="12700">
            <a:solidFill>
              <a:srgbClr val="C9D1D8"/>
            </a:solidFill>
            <a:prstDash val="solid"/>
          </a:ln>
        </p:spPr>
      </p:sp>
      <p:sp>
        <p:nvSpPr>
          <p:cNvPr id="35" name="Text 33"/>
          <p:cNvSpPr txBox="1"/>
          <p:nvPr/>
        </p:nvSpPr>
        <p:spPr>
          <a:xfrm>
            <a:off x="3094892" y="3374136"/>
            <a:ext cx="457200" cy="237744"/>
          </a:xfrm>
          <a:prstGeom prst="rect">
            <a:avLst/>
          </a:prstGeom>
          <a:noFill/>
          <a:ln/>
        </p:spPr>
        <p:txBody>
          <a:bodyPr wrap="square" lIns="0" tIns="0" rIns="0" bIns="0" rtlCol="0" anchor="ctr"/>
          <a:lstStyle/>
          <a:p>
            <a:pPr algn="ctr" indent="0" marL="0">
              <a:buNone/>
            </a:pPr>
            <a:r>
              <a:rPr lang="en-US" sz="1050" dirty="0">
                <a:solidFill>
                  <a:srgbClr val="5E6B75"/>
                </a:solidFill>
                <a:latin typeface="Calibri" pitchFamily="34" charset="0"/>
                <a:ea typeface="Calibri" pitchFamily="34" charset="-122"/>
                <a:cs typeface="Calibri" pitchFamily="34" charset="-120"/>
              </a:rPr>
              <a:t>100s</a:t>
            </a:r>
            <a:endParaRPr lang="en-US" sz="1050" dirty="0"/>
          </a:p>
        </p:txBody>
      </p:sp>
      <p:sp>
        <p:nvSpPr>
          <p:cNvPr id="36" name="Shape 34"/>
          <p:cNvSpPr/>
          <p:nvPr/>
        </p:nvSpPr>
        <p:spPr>
          <a:xfrm>
            <a:off x="4589585" y="3300984"/>
            <a:ext cx="91" cy="64008"/>
          </a:xfrm>
          <a:prstGeom prst="line">
            <a:avLst/>
          </a:prstGeom>
          <a:noFill/>
          <a:ln w="12700">
            <a:solidFill>
              <a:srgbClr val="C9D1D8"/>
            </a:solidFill>
            <a:prstDash val="solid"/>
          </a:ln>
        </p:spPr>
      </p:sp>
      <p:sp>
        <p:nvSpPr>
          <p:cNvPr id="37" name="Text 35"/>
          <p:cNvSpPr txBox="1"/>
          <p:nvPr/>
        </p:nvSpPr>
        <p:spPr>
          <a:xfrm>
            <a:off x="4360985" y="3374136"/>
            <a:ext cx="457200" cy="237744"/>
          </a:xfrm>
          <a:prstGeom prst="rect">
            <a:avLst/>
          </a:prstGeom>
          <a:noFill/>
          <a:ln/>
        </p:spPr>
        <p:txBody>
          <a:bodyPr wrap="square" lIns="0" tIns="0" rIns="0" bIns="0" rtlCol="0" anchor="ctr"/>
          <a:lstStyle/>
          <a:p>
            <a:pPr algn="ctr" indent="0" marL="0">
              <a:buNone/>
            </a:pPr>
            <a:r>
              <a:rPr lang="en-US" sz="1050" dirty="0">
                <a:solidFill>
                  <a:srgbClr val="5E6B75"/>
                </a:solidFill>
                <a:latin typeface="Calibri" pitchFamily="34" charset="0"/>
                <a:ea typeface="Calibri" pitchFamily="34" charset="-122"/>
                <a:cs typeface="Calibri" pitchFamily="34" charset="-120"/>
              </a:rPr>
              <a:t>200s</a:t>
            </a:r>
            <a:endParaRPr lang="en-US" sz="1050" dirty="0"/>
          </a:p>
        </p:txBody>
      </p:sp>
      <p:sp>
        <p:nvSpPr>
          <p:cNvPr id="38" name="Shape 36"/>
          <p:cNvSpPr/>
          <p:nvPr/>
        </p:nvSpPr>
        <p:spPr>
          <a:xfrm>
            <a:off x="5855677" y="3300984"/>
            <a:ext cx="91" cy="64008"/>
          </a:xfrm>
          <a:prstGeom prst="line">
            <a:avLst/>
          </a:prstGeom>
          <a:noFill/>
          <a:ln w="12700">
            <a:solidFill>
              <a:srgbClr val="C9D1D8"/>
            </a:solidFill>
            <a:prstDash val="solid"/>
          </a:ln>
        </p:spPr>
      </p:sp>
      <p:sp>
        <p:nvSpPr>
          <p:cNvPr id="39" name="Text 37"/>
          <p:cNvSpPr txBox="1"/>
          <p:nvPr/>
        </p:nvSpPr>
        <p:spPr>
          <a:xfrm>
            <a:off x="5627077" y="3374136"/>
            <a:ext cx="457200" cy="237744"/>
          </a:xfrm>
          <a:prstGeom prst="rect">
            <a:avLst/>
          </a:prstGeom>
          <a:noFill/>
          <a:ln/>
        </p:spPr>
        <p:txBody>
          <a:bodyPr wrap="square" lIns="0" tIns="0" rIns="0" bIns="0" rtlCol="0" anchor="ctr"/>
          <a:lstStyle/>
          <a:p>
            <a:pPr algn="ctr" indent="0" marL="0">
              <a:buNone/>
            </a:pPr>
            <a:r>
              <a:rPr lang="en-US" sz="1050" dirty="0">
                <a:solidFill>
                  <a:srgbClr val="5E6B75"/>
                </a:solidFill>
                <a:latin typeface="Calibri" pitchFamily="34" charset="0"/>
                <a:ea typeface="Calibri" pitchFamily="34" charset="-122"/>
                <a:cs typeface="Calibri" pitchFamily="34" charset="-120"/>
              </a:rPr>
              <a:t>300s</a:t>
            </a:r>
            <a:endParaRPr lang="en-US" sz="1050" dirty="0"/>
          </a:p>
        </p:txBody>
      </p:sp>
      <p:sp>
        <p:nvSpPr>
          <p:cNvPr id="40" name="Shape 38"/>
          <p:cNvSpPr/>
          <p:nvPr/>
        </p:nvSpPr>
        <p:spPr>
          <a:xfrm>
            <a:off x="7121769" y="3300984"/>
            <a:ext cx="91" cy="64008"/>
          </a:xfrm>
          <a:prstGeom prst="line">
            <a:avLst/>
          </a:prstGeom>
          <a:noFill/>
          <a:ln w="12700">
            <a:solidFill>
              <a:srgbClr val="C9D1D8"/>
            </a:solidFill>
            <a:prstDash val="solid"/>
          </a:ln>
        </p:spPr>
      </p:sp>
      <p:sp>
        <p:nvSpPr>
          <p:cNvPr id="41" name="Text 39"/>
          <p:cNvSpPr txBox="1"/>
          <p:nvPr/>
        </p:nvSpPr>
        <p:spPr>
          <a:xfrm>
            <a:off x="6893169" y="3374136"/>
            <a:ext cx="457200" cy="237744"/>
          </a:xfrm>
          <a:prstGeom prst="rect">
            <a:avLst/>
          </a:prstGeom>
          <a:noFill/>
          <a:ln/>
        </p:spPr>
        <p:txBody>
          <a:bodyPr wrap="square" lIns="0" tIns="0" rIns="0" bIns="0" rtlCol="0" anchor="ctr"/>
          <a:lstStyle/>
          <a:p>
            <a:pPr algn="ctr" indent="0" marL="0">
              <a:buNone/>
            </a:pPr>
            <a:r>
              <a:rPr lang="en-US" sz="1050" dirty="0">
                <a:solidFill>
                  <a:srgbClr val="5E6B75"/>
                </a:solidFill>
                <a:latin typeface="Calibri" pitchFamily="34" charset="0"/>
                <a:ea typeface="Calibri" pitchFamily="34" charset="-122"/>
                <a:cs typeface="Calibri" pitchFamily="34" charset="-120"/>
              </a:rPr>
              <a:t>400s</a:t>
            </a:r>
            <a:endParaRPr lang="en-US" sz="1050" dirty="0"/>
          </a:p>
        </p:txBody>
      </p:sp>
      <p:sp>
        <p:nvSpPr>
          <p:cNvPr id="42" name="Shape 40"/>
          <p:cNvSpPr/>
          <p:nvPr/>
        </p:nvSpPr>
        <p:spPr>
          <a:xfrm>
            <a:off x="8387862" y="3300984"/>
            <a:ext cx="91" cy="64008"/>
          </a:xfrm>
          <a:prstGeom prst="line">
            <a:avLst/>
          </a:prstGeom>
          <a:noFill/>
          <a:ln w="12700">
            <a:solidFill>
              <a:srgbClr val="C9D1D8"/>
            </a:solidFill>
            <a:prstDash val="solid"/>
          </a:ln>
        </p:spPr>
      </p:sp>
      <p:sp>
        <p:nvSpPr>
          <p:cNvPr id="43" name="Text 41"/>
          <p:cNvSpPr txBox="1"/>
          <p:nvPr/>
        </p:nvSpPr>
        <p:spPr>
          <a:xfrm>
            <a:off x="8159262" y="3374136"/>
            <a:ext cx="457200" cy="237744"/>
          </a:xfrm>
          <a:prstGeom prst="rect">
            <a:avLst/>
          </a:prstGeom>
          <a:noFill/>
          <a:ln/>
        </p:spPr>
        <p:txBody>
          <a:bodyPr wrap="square" lIns="0" tIns="0" rIns="0" bIns="0" rtlCol="0" anchor="ctr"/>
          <a:lstStyle/>
          <a:p>
            <a:pPr algn="ctr" indent="0" marL="0">
              <a:buNone/>
            </a:pPr>
            <a:r>
              <a:rPr lang="en-US" sz="1050" dirty="0">
                <a:solidFill>
                  <a:srgbClr val="5E6B75"/>
                </a:solidFill>
                <a:latin typeface="Calibri" pitchFamily="34" charset="0"/>
                <a:ea typeface="Calibri" pitchFamily="34" charset="-122"/>
                <a:cs typeface="Calibri" pitchFamily="34" charset="-120"/>
              </a:rPr>
              <a:t>500s</a:t>
            </a:r>
            <a:endParaRPr lang="en-US" sz="1050" dirty="0"/>
          </a:p>
        </p:txBody>
      </p:sp>
      <p:sp>
        <p:nvSpPr>
          <p:cNvPr id="44" name="Shape 42"/>
          <p:cNvSpPr/>
          <p:nvPr/>
        </p:nvSpPr>
        <p:spPr>
          <a:xfrm>
            <a:off x="457200" y="3685032"/>
            <a:ext cx="164592" cy="118872"/>
          </a:xfrm>
          <a:prstGeom prst="rect">
            <a:avLst/>
          </a:prstGeom>
          <a:solidFill>
            <a:srgbClr val="D9731A"/>
          </a:solidFill>
          <a:ln w="12700">
            <a:solidFill>
              <a:srgbClr val="D9731A"/>
            </a:solidFill>
            <a:prstDash val="solid"/>
          </a:ln>
        </p:spPr>
      </p:sp>
      <p:sp>
        <p:nvSpPr>
          <p:cNvPr id="45" name="Text 43"/>
          <p:cNvSpPr txBox="1"/>
          <p:nvPr/>
        </p:nvSpPr>
        <p:spPr>
          <a:xfrm>
            <a:off x="667512" y="3648456"/>
            <a:ext cx="1088136" cy="201168"/>
          </a:xfrm>
          <a:prstGeom prst="rect">
            <a:avLst/>
          </a:prstGeom>
          <a:noFill/>
          <a:ln/>
        </p:spPr>
        <p:txBody>
          <a:bodyPr wrap="square" lIns="0" tIns="0" rIns="0" bIns="0" rtlCol="0" anchor="ctr"/>
          <a:lstStyle/>
          <a:p>
            <a:pPr indent="0" marL="0">
              <a:buNone/>
            </a:pPr>
            <a:r>
              <a:rPr lang="en-US" sz="750" dirty="0">
                <a:solidFill>
                  <a:srgbClr val="5E6B75"/>
                </a:solidFill>
                <a:latin typeface="Consolas" pitchFamily="34" charset="0"/>
                <a:ea typeface="Consolas" pitchFamily="34" charset="-122"/>
                <a:cs typeface="Consolas" pitchFamily="34" charset="-120"/>
              </a:rPr>
              <a:t>rfd3_design</a:t>
            </a:r>
            <a:endParaRPr lang="en-US" sz="750" dirty="0"/>
          </a:p>
        </p:txBody>
      </p:sp>
      <p:sp>
        <p:nvSpPr>
          <p:cNvPr id="46" name="Shape 44"/>
          <p:cNvSpPr/>
          <p:nvPr/>
        </p:nvSpPr>
        <p:spPr>
          <a:xfrm>
            <a:off x="1755648" y="3685032"/>
            <a:ext cx="164592" cy="118872"/>
          </a:xfrm>
          <a:prstGeom prst="rect">
            <a:avLst/>
          </a:prstGeom>
          <a:solidFill>
            <a:srgbClr val="3B4E8C"/>
          </a:solidFill>
          <a:ln w="12700">
            <a:solidFill>
              <a:srgbClr val="3B4E8C"/>
            </a:solidFill>
            <a:prstDash val="solid"/>
          </a:ln>
        </p:spPr>
      </p:sp>
      <p:sp>
        <p:nvSpPr>
          <p:cNvPr id="47" name="Text 45"/>
          <p:cNvSpPr txBox="1"/>
          <p:nvPr/>
        </p:nvSpPr>
        <p:spPr>
          <a:xfrm>
            <a:off x="1965960" y="3648456"/>
            <a:ext cx="1088136" cy="201168"/>
          </a:xfrm>
          <a:prstGeom prst="rect">
            <a:avLst/>
          </a:prstGeom>
          <a:noFill/>
          <a:ln/>
        </p:spPr>
        <p:txBody>
          <a:bodyPr wrap="square" lIns="0" tIns="0" rIns="0" bIns="0" rtlCol="0" anchor="ctr"/>
          <a:lstStyle/>
          <a:p>
            <a:pPr indent="0" marL="0">
              <a:buNone/>
            </a:pPr>
            <a:r>
              <a:rPr lang="en-US" sz="750" dirty="0">
                <a:solidFill>
                  <a:srgbClr val="5E6B75"/>
                </a:solidFill>
                <a:latin typeface="Consolas" pitchFamily="34" charset="0"/>
                <a:ea typeface="Consolas" pitchFamily="34" charset="-122"/>
                <a:cs typeface="Consolas" pitchFamily="34" charset="-120"/>
              </a:rPr>
              <a:t>ligandmpnn_design</a:t>
            </a:r>
            <a:endParaRPr lang="en-US" sz="750" dirty="0"/>
          </a:p>
        </p:txBody>
      </p:sp>
      <p:sp>
        <p:nvSpPr>
          <p:cNvPr id="48" name="Shape 46"/>
          <p:cNvSpPr/>
          <p:nvPr/>
        </p:nvSpPr>
        <p:spPr>
          <a:xfrm>
            <a:off x="3054096" y="3685032"/>
            <a:ext cx="164592" cy="118872"/>
          </a:xfrm>
          <a:prstGeom prst="rect">
            <a:avLst/>
          </a:prstGeom>
          <a:solidFill>
            <a:srgbClr val="1E6470"/>
          </a:solidFill>
          <a:ln w="12700">
            <a:solidFill>
              <a:srgbClr val="1E6470"/>
            </a:solidFill>
            <a:prstDash val="solid"/>
          </a:ln>
        </p:spPr>
      </p:sp>
      <p:sp>
        <p:nvSpPr>
          <p:cNvPr id="49" name="Text 47"/>
          <p:cNvSpPr txBox="1"/>
          <p:nvPr/>
        </p:nvSpPr>
        <p:spPr>
          <a:xfrm>
            <a:off x="3264408" y="3648456"/>
            <a:ext cx="1088136" cy="201168"/>
          </a:xfrm>
          <a:prstGeom prst="rect">
            <a:avLst/>
          </a:prstGeom>
          <a:noFill/>
          <a:ln/>
        </p:spPr>
        <p:txBody>
          <a:bodyPr wrap="square" lIns="0" tIns="0" rIns="0" bIns="0" rtlCol="0" anchor="ctr"/>
          <a:lstStyle/>
          <a:p>
            <a:pPr indent="0" marL="0">
              <a:buNone/>
            </a:pPr>
            <a:r>
              <a:rPr lang="en-US" sz="750" dirty="0">
                <a:solidFill>
                  <a:srgbClr val="5E6B75"/>
                </a:solidFill>
                <a:latin typeface="Consolas" pitchFamily="34" charset="0"/>
                <a:ea typeface="Consolas" pitchFamily="34" charset="-122"/>
                <a:cs typeface="Consolas" pitchFamily="34" charset="-120"/>
              </a:rPr>
              <a:t>packmin</a:t>
            </a:r>
            <a:endParaRPr lang="en-US" sz="750" dirty="0"/>
          </a:p>
        </p:txBody>
      </p:sp>
      <p:sp>
        <p:nvSpPr>
          <p:cNvPr id="50" name="Shape 48"/>
          <p:cNvSpPr/>
          <p:nvPr/>
        </p:nvSpPr>
        <p:spPr>
          <a:xfrm>
            <a:off x="4352544" y="3685032"/>
            <a:ext cx="164592" cy="118872"/>
          </a:xfrm>
          <a:prstGeom prst="rect">
            <a:avLst/>
          </a:prstGeom>
          <a:solidFill>
            <a:srgbClr val="2E7D5B"/>
          </a:solidFill>
          <a:ln w="12700">
            <a:solidFill>
              <a:srgbClr val="2E7D5B"/>
            </a:solidFill>
            <a:prstDash val="solid"/>
          </a:ln>
        </p:spPr>
      </p:sp>
      <p:sp>
        <p:nvSpPr>
          <p:cNvPr id="51" name="Text 49"/>
          <p:cNvSpPr txBox="1"/>
          <p:nvPr/>
        </p:nvSpPr>
        <p:spPr>
          <a:xfrm>
            <a:off x="4562856" y="3648456"/>
            <a:ext cx="1088136" cy="201168"/>
          </a:xfrm>
          <a:prstGeom prst="rect">
            <a:avLst/>
          </a:prstGeom>
          <a:noFill/>
          <a:ln/>
        </p:spPr>
        <p:txBody>
          <a:bodyPr wrap="square" lIns="0" tIns="0" rIns="0" bIns="0" rtlCol="0" anchor="ctr"/>
          <a:lstStyle/>
          <a:p>
            <a:pPr indent="0" marL="0">
              <a:buNone/>
            </a:pPr>
            <a:r>
              <a:rPr lang="en-US" sz="750" dirty="0">
                <a:solidFill>
                  <a:srgbClr val="5E6B75"/>
                </a:solidFill>
                <a:latin typeface="Consolas" pitchFamily="34" charset="0"/>
                <a:ea typeface="Consolas" pitchFamily="34" charset="-122"/>
                <a:cs typeface="Consolas" pitchFamily="34" charset="-120"/>
              </a:rPr>
              <a:t>fastrelax</a:t>
            </a:r>
            <a:endParaRPr lang="en-US" sz="750" dirty="0"/>
          </a:p>
        </p:txBody>
      </p:sp>
      <p:sp>
        <p:nvSpPr>
          <p:cNvPr id="52" name="Shape 50"/>
          <p:cNvSpPr/>
          <p:nvPr/>
        </p:nvSpPr>
        <p:spPr>
          <a:xfrm>
            <a:off x="5650992" y="3685032"/>
            <a:ext cx="164592" cy="118872"/>
          </a:xfrm>
          <a:prstGeom prst="rect">
            <a:avLst/>
          </a:prstGeom>
          <a:solidFill>
            <a:srgbClr val="7A4A8C"/>
          </a:solidFill>
          <a:ln w="12700">
            <a:solidFill>
              <a:srgbClr val="7A4A8C"/>
            </a:solidFill>
            <a:prstDash val="solid"/>
          </a:ln>
        </p:spPr>
      </p:sp>
      <p:sp>
        <p:nvSpPr>
          <p:cNvPr id="53" name="Text 51"/>
          <p:cNvSpPr txBox="1"/>
          <p:nvPr/>
        </p:nvSpPr>
        <p:spPr>
          <a:xfrm>
            <a:off x="5861304" y="3648456"/>
            <a:ext cx="1088136" cy="201168"/>
          </a:xfrm>
          <a:prstGeom prst="rect">
            <a:avLst/>
          </a:prstGeom>
          <a:noFill/>
          <a:ln/>
        </p:spPr>
        <p:txBody>
          <a:bodyPr wrap="square" lIns="0" tIns="0" rIns="0" bIns="0" rtlCol="0" anchor="ctr"/>
          <a:lstStyle/>
          <a:p>
            <a:pPr indent="0" marL="0">
              <a:buNone/>
            </a:pPr>
            <a:r>
              <a:rPr lang="en-US" sz="750" dirty="0">
                <a:solidFill>
                  <a:srgbClr val="5E6B75"/>
                </a:solidFill>
                <a:latin typeface="Consolas" pitchFamily="34" charset="0"/>
                <a:ea typeface="Consolas" pitchFamily="34" charset="-122"/>
                <a:cs typeface="Consolas" pitchFamily="34" charset="-120"/>
              </a:rPr>
              <a:t>filter_shape</a:t>
            </a:r>
            <a:endParaRPr lang="en-US" sz="750" dirty="0"/>
          </a:p>
        </p:txBody>
      </p:sp>
      <p:sp>
        <p:nvSpPr>
          <p:cNvPr id="54" name="Shape 52"/>
          <p:cNvSpPr/>
          <p:nvPr/>
        </p:nvSpPr>
        <p:spPr>
          <a:xfrm>
            <a:off x="6949440" y="3685032"/>
            <a:ext cx="164592" cy="118872"/>
          </a:xfrm>
          <a:prstGeom prst="rect">
            <a:avLst/>
          </a:prstGeom>
          <a:solidFill>
            <a:srgbClr val="8C6D1F"/>
          </a:solidFill>
          <a:ln w="12700">
            <a:solidFill>
              <a:srgbClr val="8C6D1F"/>
            </a:solidFill>
            <a:prstDash val="solid"/>
          </a:ln>
        </p:spPr>
      </p:sp>
      <p:sp>
        <p:nvSpPr>
          <p:cNvPr id="55" name="Text 53"/>
          <p:cNvSpPr txBox="1"/>
          <p:nvPr/>
        </p:nvSpPr>
        <p:spPr>
          <a:xfrm>
            <a:off x="7159752" y="3648456"/>
            <a:ext cx="1088136" cy="201168"/>
          </a:xfrm>
          <a:prstGeom prst="rect">
            <a:avLst/>
          </a:prstGeom>
          <a:noFill/>
          <a:ln/>
        </p:spPr>
        <p:txBody>
          <a:bodyPr wrap="square" lIns="0" tIns="0" rIns="0" bIns="0" rtlCol="0" anchor="ctr"/>
          <a:lstStyle/>
          <a:p>
            <a:pPr indent="0" marL="0">
              <a:buNone/>
            </a:pPr>
            <a:r>
              <a:rPr lang="en-US" sz="750" dirty="0">
                <a:solidFill>
                  <a:srgbClr val="5E6B75"/>
                </a:solidFill>
                <a:latin typeface="Consolas" pitchFamily="34" charset="0"/>
                <a:ea typeface="Consolas" pitchFamily="34" charset="-122"/>
                <a:cs typeface="Consolas" pitchFamily="34" charset="-120"/>
              </a:rPr>
              <a:t>boltz_predict</a:t>
            </a:r>
            <a:endParaRPr lang="en-US" sz="750" dirty="0"/>
          </a:p>
        </p:txBody>
      </p:sp>
      <p:sp>
        <p:nvSpPr>
          <p:cNvPr id="56" name="Shape 54"/>
          <p:cNvSpPr/>
          <p:nvPr/>
        </p:nvSpPr>
        <p:spPr>
          <a:xfrm>
            <a:off x="8823960" y="1463040"/>
            <a:ext cx="2910535" cy="1874520"/>
          </a:xfrm>
          <a:prstGeom prst="rect">
            <a:avLst/>
          </a:prstGeom>
          <a:solidFill>
            <a:srgbClr val="F9E0DD"/>
          </a:solidFill>
          <a:ln w="12700">
            <a:solidFill>
              <a:srgbClr val="F9E0DD"/>
            </a:solidFill>
            <a:prstDash val="solid"/>
          </a:ln>
        </p:spPr>
      </p:sp>
      <p:sp>
        <p:nvSpPr>
          <p:cNvPr id="57" name="Text 55"/>
          <p:cNvSpPr txBox="1"/>
          <p:nvPr/>
        </p:nvSpPr>
        <p:spPr>
          <a:xfrm>
            <a:off x="8951976" y="1545336"/>
            <a:ext cx="2654503" cy="274320"/>
          </a:xfrm>
          <a:prstGeom prst="rect">
            <a:avLst/>
          </a:prstGeom>
          <a:noFill/>
          <a:ln/>
        </p:spPr>
        <p:txBody>
          <a:bodyPr wrap="square" lIns="0" tIns="0" rIns="0" bIns="0" rtlCol="0" anchor="t"/>
          <a:lstStyle/>
          <a:p>
            <a:pPr indent="0" marL="0">
              <a:buNone/>
            </a:pPr>
            <a:r>
              <a:rPr lang="en-US" sz="1300" b="1" dirty="0">
                <a:solidFill>
                  <a:srgbClr val="C0392B"/>
                </a:solidFill>
                <a:latin typeface="Calibri" pitchFamily="34" charset="0"/>
                <a:ea typeface="Calibri" pitchFamily="34" charset="-122"/>
                <a:cs typeface="Calibri" pitchFamily="34" charset="-120"/>
              </a:rPr>
              <a:t>Where the bytes live</a:t>
            </a:r>
            <a:endParaRPr lang="en-US" sz="1300" dirty="0"/>
          </a:p>
        </p:txBody>
      </p:sp>
      <p:sp>
        <p:nvSpPr>
          <p:cNvPr id="58" name="Text 56"/>
          <p:cNvSpPr txBox="1"/>
          <p:nvPr/>
        </p:nvSpPr>
        <p:spPr>
          <a:xfrm>
            <a:off x="8951976" y="1856232"/>
            <a:ext cx="2654503" cy="1399032"/>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2303C"/>
                </a:solidFill>
                <a:latin typeface="Calibri" pitchFamily="34" charset="0"/>
                <a:ea typeface="Calibri" pitchFamily="34" charset="-122"/>
                <a:cs typeface="Calibri" pitchFamily="34" charset="-120"/>
              </a:rPr>
              <a:t>import pyrosetta off HDD-backed Lustre: 471 s for a 598 MB rosetta.so, demand-paged. torch: ~280 s.</a:t>
            </a:r>
            <a:endParaRPr lang="en-US" sz="950" dirty="0"/>
          </a:p>
          <a:p>
            <a:pPr marL="342900" indent="-342900">
              <a:spcAft>
                <a:spcPts val="400"/>
              </a:spcAft>
              <a:buSzPct val="100000"/>
              <a:buChar char="•"/>
            </a:pPr>
            <a:r>
              <a:rPr lang="en-US" sz="950" dirty="0">
                <a:solidFill>
                  <a:srgbClr val="22303C"/>
                </a:solidFill>
                <a:latin typeface="Calibri" pitchFamily="34" charset="0"/>
                <a:ea typeface="Calibri" pitchFamily="34" charset="-122"/>
                <a:cs typeface="Calibri" pitchFamily="34" charset="-120"/>
              </a:rPr>
              <a:t>On NVMe both are seconds — the single variable behind rows one and two.</a:t>
            </a:r>
            <a:endParaRPr lang="en-US" sz="950" dirty="0"/>
          </a:p>
          <a:p>
            <a:pPr marL="342900" indent="-342900">
              <a:spcAft>
                <a:spcPts val="400"/>
              </a:spcAft>
              <a:buSzPct val="100000"/>
              <a:buChar char="•"/>
            </a:pPr>
            <a:r>
              <a:rPr lang="en-US" sz="950" dirty="0">
                <a:solidFill>
                  <a:srgbClr val="22303C"/>
                </a:solidFill>
                <a:latin typeface="Calibri" pitchFamily="34" charset="0"/>
                <a:ea typeface="Calibri" pitchFamily="34" charset="-122"/>
                <a:cs typeface="Calibri" pitchFamily="34" charset="-120"/>
              </a:rPr>
              <a:t>And we did not find it: the $WORK_DIR move is ported from their own PR #67.</a:t>
            </a:r>
            <a:endParaRPr lang="en-US" sz="950" dirty="0"/>
          </a:p>
        </p:txBody>
      </p:sp>
      <p:sp>
        <p:nvSpPr>
          <p:cNvPr id="59" name="Shape 57"/>
          <p:cNvSpPr/>
          <p:nvPr/>
        </p:nvSpPr>
        <p:spPr>
          <a:xfrm>
            <a:off x="8823960" y="3474720"/>
            <a:ext cx="2910535" cy="1600200"/>
          </a:xfrm>
          <a:prstGeom prst="rect">
            <a:avLst/>
          </a:prstGeom>
          <a:solidFill>
            <a:srgbClr val="EEF2F5"/>
          </a:solidFill>
          <a:ln w="12700">
            <a:solidFill>
              <a:srgbClr val="EEF2F5"/>
            </a:solidFill>
            <a:prstDash val="solid"/>
          </a:ln>
        </p:spPr>
      </p:sp>
      <p:sp>
        <p:nvSpPr>
          <p:cNvPr id="60" name="Text 58"/>
          <p:cNvSpPr txBox="1"/>
          <p:nvPr/>
        </p:nvSpPr>
        <p:spPr>
          <a:xfrm>
            <a:off x="8951976" y="3557016"/>
            <a:ext cx="2654503"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Wall time is not stable</a:t>
            </a:r>
            <a:endParaRPr lang="en-US" sz="1300" dirty="0"/>
          </a:p>
        </p:txBody>
      </p:sp>
      <p:sp>
        <p:nvSpPr>
          <p:cNvPr id="61" name="Text 59"/>
          <p:cNvSpPr txBox="1"/>
          <p:nvPr/>
        </p:nvSpPr>
        <p:spPr>
          <a:xfrm>
            <a:off x="8951976" y="3867912"/>
            <a:ext cx="2654503" cy="1124712"/>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rfd3_design took 145.7 s in 22684607 and 45 s in 22692304 — same campaign, same allocation shape, same parameters, 3.2× apart.</a:t>
            </a:r>
            <a:endParaRPr lang="en-US" sz="1000" dirty="0"/>
          </a:p>
        </p:txBody>
      </p:sp>
      <p:sp>
        <p:nvSpPr>
          <p:cNvPr id="62" name="Shape 60"/>
          <p:cNvSpPr/>
          <p:nvPr/>
        </p:nvSpPr>
        <p:spPr>
          <a:xfrm>
            <a:off x="8823960" y="5212080"/>
            <a:ext cx="2910535" cy="1143000"/>
          </a:xfrm>
          <a:prstGeom prst="rect">
            <a:avLst/>
          </a:prstGeom>
          <a:solidFill>
            <a:srgbClr val="E4F1EA"/>
          </a:solidFill>
          <a:ln w="12700">
            <a:solidFill>
              <a:srgbClr val="E4F1EA"/>
            </a:solidFill>
            <a:prstDash val="solid"/>
          </a:ln>
        </p:spPr>
      </p:sp>
      <p:sp>
        <p:nvSpPr>
          <p:cNvPr id="63" name="Text 61"/>
          <p:cNvSpPr txBox="1"/>
          <p:nvPr/>
        </p:nvSpPr>
        <p:spPr>
          <a:xfrm>
            <a:off x="8951976" y="5294376"/>
            <a:ext cx="2654503" cy="274320"/>
          </a:xfrm>
          <a:prstGeom prst="rect">
            <a:avLst/>
          </a:prstGeom>
          <a:noFill/>
          <a:ln/>
        </p:spPr>
        <p:txBody>
          <a:bodyPr wrap="square" lIns="0" tIns="0" rIns="0" bIns="0" rtlCol="0" anchor="t"/>
          <a:lstStyle/>
          <a:p>
            <a:pPr indent="0" marL="0">
              <a:buNone/>
            </a:pPr>
            <a:r>
              <a:rPr lang="en-US" sz="1150" b="1" dirty="0">
                <a:solidFill>
                  <a:srgbClr val="2E7D5B"/>
                </a:solidFill>
                <a:latin typeface="Calibri" pitchFamily="34" charset="0"/>
                <a:ea typeface="Calibri" pitchFamily="34" charset="-122"/>
                <a:cs typeface="Calibri" pitchFamily="34" charset="-120"/>
              </a:rPr>
              <a:t>So do not tune cost models to it</a:t>
            </a:r>
            <a:endParaRPr lang="en-US" sz="1150" dirty="0"/>
          </a:p>
        </p:txBody>
      </p:sp>
      <p:sp>
        <p:nvSpPr>
          <p:cNvPr id="64" name="Text 62"/>
          <p:cNvSpPr txBox="1"/>
          <p:nvPr/>
        </p:nvSpPr>
        <p:spPr>
          <a:xfrm>
            <a:off x="8951976" y="5605272"/>
            <a:ext cx="2654503" cy="667512"/>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They feed gate 5 and the untrusted cap, which REFUSE graphs. They sit a few multiples above measurement on purpose.</a:t>
            </a:r>
            <a:endParaRPr lang="en-US" sz="1000" dirty="0"/>
          </a:p>
        </p:txBody>
      </p:sp>
      <p:sp>
        <p:nvSpPr>
          <p:cNvPr id="65" name="Shape 63"/>
          <p:cNvSpPr/>
          <p:nvPr/>
        </p:nvSpPr>
        <p:spPr>
          <a:xfrm>
            <a:off x="457200" y="3913632"/>
            <a:ext cx="8229600" cy="292608"/>
          </a:xfrm>
          <a:prstGeom prst="rect">
            <a:avLst/>
          </a:prstGeom>
          <a:solidFill>
            <a:srgbClr val="2E7D5B"/>
          </a:solidFill>
          <a:ln w="12700">
            <a:solidFill>
              <a:srgbClr val="2E7D5B"/>
            </a:solidFill>
            <a:prstDash val="solid"/>
          </a:ln>
        </p:spPr>
      </p:sp>
      <p:sp>
        <p:nvSpPr>
          <p:cNvPr id="66" name="Text 64"/>
          <p:cNvSpPr txBox="1"/>
          <p:nvPr/>
        </p:nvSpPr>
        <p:spPr>
          <a:xfrm>
            <a:off x="566928" y="3913632"/>
            <a:ext cx="804672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Then three jobs about the SHAPE, not the science — 15 runs, 6/6 tasks every time</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4242816"/>
          <a:ext cx="8229600" cy="914400"/>
        </p:xfrm>
        <a:graphic>
          <a:graphicData uri="http://schemas.openxmlformats.org/drawingml/2006/table">
            <a:tbl>
              <a:tblPr/>
              <a:tblGrid>
                <a:gridCol w="731520"/>
                <a:gridCol w="3749040"/>
                <a:gridCol w="3749040"/>
              </a:tblGrid>
              <a:tr h="23774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run</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2E7D5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22726105 · 13m41s</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2E7D5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22728140 · 13m37s</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2E7D5B"/>
                    </a:solidFill>
                  </a:tcPr>
                </a:tc>
              </a:tr>
              <a:tr h="237744">
                <a:tc>
                  <a:txBody>
                    <a:bodyPr/>
                    <a:lstStyle/>
                    <a:p>
                      <a:pPr algn="l" indent="0" marL="0">
                        <a:buNone/>
                      </a:pPr>
                      <a:r>
                        <a:rPr lang="en-US" sz="1000" b="1" dirty="0">
                          <a:solidFill>
                            <a:srgbClr val="22303C"/>
                          </a:solidFill>
                          <a:latin typeface="Calibri" pitchFamily="34" charset="0"/>
                          <a:ea typeface="Calibri" pitchFamily="34" charset="-122"/>
                          <a:cs typeface="Calibri" pitchFamily="34" charset="-120"/>
                        </a:rPr>
                        <a:t>r0001</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provisional · clean</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provisional · clean</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237744">
                <a:tc>
                  <a:txBody>
                    <a:bodyPr/>
                    <a:lstStyle/>
                    <a:p>
                      <a:pPr algn="l" indent="0" marL="0">
                        <a:buNone/>
                      </a:pPr>
                      <a:r>
                        <a:rPr lang="en-US" sz="1000" b="1" dirty="0">
                          <a:solidFill>
                            <a:srgbClr val="22303C"/>
                          </a:solidFill>
                          <a:latin typeface="Calibri" pitchFamily="34" charset="0"/>
                          <a:ea typeface="Calibri" pitchFamily="34" charset="-122"/>
                          <a:cs typeface="Calibri" pitchFamily="34" charset="-120"/>
                        </a:rPr>
                        <a:t>r0002</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provisional · clean → PROMOTED</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provisional · clean → PROMOTED</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237744">
                <a:tc>
                  <a:txBody>
                    <a:bodyPr/>
                    <a:lstStyle/>
                    <a:p>
                      <a:pPr algn="l" indent="0" marL="0">
                        <a:buNone/>
                      </a:pPr>
                      <a:r>
                        <a:rPr lang="en-US" sz="1000" b="1" dirty="0">
                          <a:solidFill>
                            <a:srgbClr val="22303C"/>
                          </a:solidFill>
                          <a:latin typeface="Calibri" pitchFamily="34" charset="0"/>
                          <a:ea typeface="Calibri" pitchFamily="34" charset="-122"/>
                          <a:cs typeface="Calibri" pitchFamily="34" charset="-120"/>
                        </a:rPr>
                        <a:t>r0003</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00" b="1" dirty="0">
                          <a:solidFill>
                            <a:srgbClr val="2E7D4F"/>
                          </a:solidFill>
                          <a:latin typeface="Calibri" pitchFamily="34" charset="0"/>
                          <a:ea typeface="Calibri" pitchFamily="34" charset="-122"/>
                          <a:cs typeface="Calibri" pitchFamily="34" charset="-120"/>
                        </a:rPr>
                        <a:t>trusted · fail (acceptance)</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00" b="1" dirty="0">
                          <a:solidFill>
                            <a:srgbClr val="2E7D4F"/>
                          </a:solidFill>
                          <a:latin typeface="Calibri" pitchFamily="34" charset="0"/>
                          <a:ea typeface="Calibri" pitchFamily="34" charset="-122"/>
                          <a:cs typeface="Calibri" pitchFamily="34" charset="-120"/>
                        </a:rPr>
                        <a:t>trusted · fail (acceptance)</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237744">
                <a:tc>
                  <a:txBody>
                    <a:bodyPr/>
                    <a:lstStyle/>
                    <a:p>
                      <a:pPr algn="l" indent="0" marL="0">
                        <a:buNone/>
                      </a:pPr>
                      <a:r>
                        <a:rPr lang="en-US" sz="1000" b="1" dirty="0">
                          <a:solidFill>
                            <a:srgbClr val="22303C"/>
                          </a:solidFill>
                          <a:latin typeface="Calibri" pitchFamily="34" charset="0"/>
                          <a:ea typeface="Calibri" pitchFamily="34" charset="-122"/>
                          <a:cs typeface="Calibri" pitchFamily="34" charset="-120"/>
                        </a:rPr>
                        <a:t>r0004</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C0392B"/>
                          </a:solidFill>
                          <a:latin typeface="Calibri" pitchFamily="34" charset="0"/>
                          <a:ea typeface="Calibri" pitchFamily="34" charset="-122"/>
                          <a:cs typeface="Calibri" pitchFamily="34" charset="-120"/>
                        </a:rPr>
                        <a:t>trusted · INTEGRITY fail → demoted</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2E7D4F"/>
                          </a:solidFill>
                          <a:latin typeface="Calibri" pitchFamily="34" charset="0"/>
                          <a:ea typeface="Calibri" pitchFamily="34" charset="-122"/>
                          <a:cs typeface="Calibri" pitchFamily="34" charset="-120"/>
                        </a:rPr>
                        <a:t>trusted · fail (acceptance)</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237744">
                <a:tc>
                  <a:txBody>
                    <a:bodyPr/>
                    <a:lstStyle/>
                    <a:p>
                      <a:pPr algn="l" indent="0" marL="0">
                        <a:buNone/>
                      </a:pPr>
                      <a:r>
                        <a:rPr lang="en-US" sz="1000" b="1" dirty="0">
                          <a:solidFill>
                            <a:srgbClr val="22303C"/>
                          </a:solidFill>
                          <a:latin typeface="Calibri" pitchFamily="34" charset="0"/>
                          <a:ea typeface="Calibri" pitchFamily="34" charset="-122"/>
                          <a:cs typeface="Calibri" pitchFamily="34" charset="-120"/>
                        </a:rPr>
                        <a:t>r0005</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provisional · fail (acceptance)</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00" b="1" dirty="0">
                          <a:solidFill>
                            <a:srgbClr val="2E7D4F"/>
                          </a:solidFill>
                          <a:latin typeface="Calibri" pitchFamily="34" charset="0"/>
                          <a:ea typeface="Calibri" pitchFamily="34" charset="-122"/>
                          <a:cs typeface="Calibri" pitchFamily="34" charset="-120"/>
                        </a:rPr>
                        <a:t>trusted · fail (acceptance)</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bl>
          </a:graphicData>
        </a:graphic>
      </p:graphicFrame>
      <p:sp>
        <p:nvSpPr>
          <p:cNvPr id="68" name="Text 65"/>
          <p:cNvSpPr txBox="1"/>
          <p:nvPr/>
        </p:nvSpPr>
        <p:spPr>
          <a:xfrm>
            <a:off x="457200" y="5925312"/>
            <a:ext cx="8229600" cy="512064"/>
          </a:xfrm>
          <a:prstGeom prst="rect">
            <a:avLst/>
          </a:prstGeom>
          <a:noFill/>
          <a:ln/>
        </p:spPr>
        <p:txBody>
          <a:bodyPr wrap="square" lIns="0" tIns="0" rIns="0" bIns="0" rtlCol="0" anchor="t"/>
          <a:lstStyle/>
          <a:p>
            <a:pPr indent="0" marL="0">
              <a:buNone/>
            </a:pPr>
            <a:r>
              <a:rPr lang="en-US" sz="950" b="1" dirty="0">
                <a:solidFill>
                  <a:srgbClr val="22303C"/>
                </a:solidFill>
                <a:latin typeface="Calibri" pitchFamily="34" charset="0"/>
                <a:ea typeface="Calibri" pitchFamily="34" charset="-122"/>
                <a:cs typeface="Calibri" pitchFamily="34" charset="-120"/>
              </a:rPr>
              <a:t>22702568 ran 30/30 tasks clean and promoted nothing</a:t>
            </a:r>
            <a:pPr indent="0" marL="0">
              <a:buNone/>
            </a:pPr>
            <a:r>
              <a:rPr lang="en-US" sz="950" dirty="0">
                <a:solidFill>
                  <a:srgbClr val="22303C"/>
                </a:solidFill>
                <a:latin typeface="Calibri" pitchFamily="34" charset="0"/>
                <a:ea typeface="Calibri" pitchFamily="34" charset="-122"/>
                <a:cs typeface="Calibri" pitchFamily="34" charset="-120"/>
              </a:rPr>
              <a:t> — the all-gates rule made promotion a function of target difficulty (decision 0013). Two defects, both fixed: packmin's total_score &lt;= 1000 bound was ONE observation wide and demoted r0004 over a +1064.5 pose fastrelax took to -336, and the driver counted a Backtrack as a cycle, so every job asked for 6 runs and ran 5.</a:t>
            </a:r>
            <a:endParaRPr lang="en-US" sz="950" dirty="0"/>
          </a:p>
        </p:txBody>
      </p:sp>
      <p:sp>
        <p:nvSpPr>
          <p:cNvPr id="69" name="Text 66"/>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Durations transcribed from plans/first-real-run.md; the trust runs from plans/next-run-promotion.md and plans/next-run-sustained-trust.md — the raw logs live under $WORK_DIR/impress_a_runs on Delta. Bars are tool time.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PERFORMANCE · THE SCIENTIFIC HALF</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Where scale stops buying yield</a:t>
            </a:r>
            <a:endParaRPr lang="en-US" sz="2800" dirty="0"/>
          </a:p>
        </p:txBody>
      </p:sp>
      <p:sp>
        <p:nvSpPr>
          <p:cNvPr id="4" name="Text 2"/>
          <p:cNvSpPr txBox="1"/>
          <p:nvPr/>
        </p:nvSpPr>
        <p:spPr>
          <a:xfrm>
            <a:off x="457200" y="1298448"/>
            <a:ext cx="5486400" cy="256032"/>
          </a:xfrm>
          <a:prstGeom prst="rect">
            <a:avLst/>
          </a:prstGeom>
          <a:noFill/>
          <a:ln/>
        </p:spPr>
        <p:txBody>
          <a:bodyPr wrap="square" lIns="0" tIns="0" rIns="0" bIns="0" rtlCol="0" anchor="t"/>
          <a:lstStyle/>
          <a:p>
            <a:pPr indent="0" marL="0">
              <a:buNone/>
            </a:pPr>
            <a:r>
              <a:rPr lang="en-US" sz="1250" b="1" dirty="0">
                <a:solidFill>
                  <a:srgbClr val="16222B"/>
                </a:solidFill>
                <a:latin typeface="Calibri" pitchFamily="34" charset="0"/>
                <a:ea typeface="Calibri" pitchFamily="34" charset="-122"/>
                <a:cs typeface="Calibri" pitchFamily="34" charset="-120"/>
              </a:rPr>
              <a:t>Its search improves, then plateaus — by the middle third</a:t>
            </a:r>
            <a:endParaRPr lang="en-US" sz="1250" dirty="0"/>
          </a:p>
        </p:txBody>
      </p:sp>
      <p:sp>
        <p:nvSpPr>
          <p:cNvPr id="5" name="Shape 3"/>
          <p:cNvSpPr/>
          <p:nvPr/>
        </p:nvSpPr>
        <p:spPr>
          <a:xfrm>
            <a:off x="457200" y="1627632"/>
            <a:ext cx="1463040" cy="566928"/>
          </a:xfrm>
          <a:prstGeom prst="roundRect">
            <a:avLst>
              <a:gd name="adj" fmla="val 12903"/>
            </a:avLst>
          </a:prstGeom>
          <a:solidFill>
            <a:srgbClr val="F5EEE2"/>
          </a:solidFill>
          <a:ln w="19050">
            <a:solidFill>
              <a:srgbClr val="8A6A3B"/>
            </a:solidFill>
            <a:prstDash val="solid"/>
          </a:ln>
        </p:spPr>
      </p:sp>
      <p:sp>
        <p:nvSpPr>
          <p:cNvPr id="6" name="Text 4"/>
          <p:cNvSpPr txBox="1"/>
          <p:nvPr/>
        </p:nvSpPr>
        <p:spPr>
          <a:xfrm>
            <a:off x="530352" y="1673352"/>
            <a:ext cx="1316736" cy="475488"/>
          </a:xfrm>
          <a:prstGeom prst="rect">
            <a:avLst/>
          </a:prstGeom>
          <a:noFill/>
          <a:ln/>
        </p:spPr>
        <p:txBody>
          <a:bodyPr wrap="square" lIns="0" tIns="0" rIns="0" bIns="0" rtlCol="0" anchor="ctr"/>
          <a:lstStyle/>
          <a:p>
            <a:pPr algn="ctr" indent="0" marL="0">
              <a:buNone/>
            </a:pPr>
            <a:r>
              <a:rPr lang="en-US" sz="1700" b="1" dirty="0">
                <a:solidFill>
                  <a:srgbClr val="8A6A3B"/>
                </a:solidFill>
                <a:latin typeface="Calibri" pitchFamily="34" charset="0"/>
                <a:ea typeface="Calibri" pitchFamily="34" charset="-122"/>
                <a:cs typeface="Calibri" pitchFamily="34" charset="-120"/>
              </a:rPr>
              <a:t>90.7</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first third</a:t>
            </a:r>
            <a:endParaRPr lang="en-US" sz="1400" dirty="0"/>
          </a:p>
        </p:txBody>
      </p:sp>
      <p:sp>
        <p:nvSpPr>
          <p:cNvPr id="7" name="Shape 5"/>
          <p:cNvSpPr/>
          <p:nvPr/>
        </p:nvSpPr>
        <p:spPr>
          <a:xfrm>
            <a:off x="1956816" y="1911096"/>
            <a:ext cx="338328" cy="91"/>
          </a:xfrm>
          <a:prstGeom prst="line">
            <a:avLst/>
          </a:prstGeom>
          <a:noFill/>
          <a:ln w="19050">
            <a:solidFill>
              <a:srgbClr val="2E7D4F"/>
            </a:solidFill>
            <a:prstDash val="solid"/>
            <a:tailEnd type="triangle"/>
          </a:ln>
        </p:spPr>
      </p:sp>
      <p:sp>
        <p:nvSpPr>
          <p:cNvPr id="8" name="Text 6"/>
          <p:cNvSpPr txBox="1"/>
          <p:nvPr/>
        </p:nvSpPr>
        <p:spPr>
          <a:xfrm>
            <a:off x="1828800" y="1938528"/>
            <a:ext cx="640080" cy="237744"/>
          </a:xfrm>
          <a:prstGeom prst="rect">
            <a:avLst/>
          </a:prstGeom>
          <a:noFill/>
          <a:ln/>
        </p:spPr>
        <p:txBody>
          <a:bodyPr wrap="square" lIns="0" tIns="0" rIns="0" bIns="0" rtlCol="0" anchor="t"/>
          <a:lstStyle/>
          <a:p>
            <a:pPr algn="ctr" indent="0" marL="0">
              <a:buNone/>
            </a:pPr>
            <a:r>
              <a:rPr lang="en-US" sz="1000" b="1" dirty="0">
                <a:solidFill>
                  <a:srgbClr val="2E7D4F"/>
                </a:solidFill>
                <a:latin typeface="Calibri" pitchFamily="34" charset="0"/>
                <a:ea typeface="Calibri" pitchFamily="34" charset="-122"/>
                <a:cs typeface="Calibri" pitchFamily="34" charset="-120"/>
              </a:rPr>
              <a:t>+4.5</a:t>
            </a:r>
            <a:endParaRPr lang="en-US" sz="1000" dirty="0"/>
          </a:p>
        </p:txBody>
      </p:sp>
      <p:sp>
        <p:nvSpPr>
          <p:cNvPr id="9" name="Shape 7"/>
          <p:cNvSpPr/>
          <p:nvPr/>
        </p:nvSpPr>
        <p:spPr>
          <a:xfrm>
            <a:off x="2331720" y="1627632"/>
            <a:ext cx="1463040" cy="566928"/>
          </a:xfrm>
          <a:prstGeom prst="roundRect">
            <a:avLst>
              <a:gd name="adj" fmla="val 12903"/>
            </a:avLst>
          </a:prstGeom>
          <a:solidFill>
            <a:srgbClr val="F5EEE2"/>
          </a:solidFill>
          <a:ln w="19050">
            <a:solidFill>
              <a:srgbClr val="8A6A3B"/>
            </a:solidFill>
            <a:prstDash val="solid"/>
          </a:ln>
        </p:spPr>
      </p:sp>
      <p:sp>
        <p:nvSpPr>
          <p:cNvPr id="10" name="Text 8"/>
          <p:cNvSpPr txBox="1"/>
          <p:nvPr/>
        </p:nvSpPr>
        <p:spPr>
          <a:xfrm>
            <a:off x="2404872" y="1673352"/>
            <a:ext cx="1316736" cy="475488"/>
          </a:xfrm>
          <a:prstGeom prst="rect">
            <a:avLst/>
          </a:prstGeom>
          <a:noFill/>
          <a:ln/>
        </p:spPr>
        <p:txBody>
          <a:bodyPr wrap="square" lIns="0" tIns="0" rIns="0" bIns="0" rtlCol="0" anchor="ctr"/>
          <a:lstStyle/>
          <a:p>
            <a:pPr algn="ctr" indent="0" marL="0">
              <a:buNone/>
            </a:pPr>
            <a:r>
              <a:rPr lang="en-US" sz="1700" b="1" dirty="0">
                <a:solidFill>
                  <a:srgbClr val="8A6A3B"/>
                </a:solidFill>
                <a:latin typeface="Calibri" pitchFamily="34" charset="0"/>
                <a:ea typeface="Calibri" pitchFamily="34" charset="-122"/>
                <a:cs typeface="Calibri" pitchFamily="34" charset="-120"/>
              </a:rPr>
              <a:t>95.2</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middle</a:t>
            </a:r>
            <a:endParaRPr lang="en-US" sz="1400" dirty="0"/>
          </a:p>
        </p:txBody>
      </p:sp>
      <p:sp>
        <p:nvSpPr>
          <p:cNvPr id="11" name="Shape 9"/>
          <p:cNvSpPr/>
          <p:nvPr/>
        </p:nvSpPr>
        <p:spPr>
          <a:xfrm>
            <a:off x="3831336" y="1911096"/>
            <a:ext cx="338328" cy="91"/>
          </a:xfrm>
          <a:prstGeom prst="line">
            <a:avLst/>
          </a:prstGeom>
          <a:noFill/>
          <a:ln w="19050">
            <a:solidFill>
              <a:srgbClr val="5E6B75"/>
            </a:solidFill>
            <a:prstDash val="solid"/>
            <a:tailEnd type="triangle"/>
          </a:ln>
        </p:spPr>
      </p:sp>
      <p:sp>
        <p:nvSpPr>
          <p:cNvPr id="12" name="Text 10"/>
          <p:cNvSpPr txBox="1"/>
          <p:nvPr/>
        </p:nvSpPr>
        <p:spPr>
          <a:xfrm>
            <a:off x="3703320" y="1938528"/>
            <a:ext cx="640080" cy="237744"/>
          </a:xfrm>
          <a:prstGeom prst="rect">
            <a:avLst/>
          </a:prstGeom>
          <a:noFill/>
          <a:ln/>
        </p:spPr>
        <p:txBody>
          <a:bodyPr wrap="square" lIns="0" tIns="0" rIns="0" bIns="0" rtlCol="0" anchor="t"/>
          <a:lstStyle/>
          <a:p>
            <a:pPr algn="ctr" indent="0" marL="0">
              <a:buNone/>
            </a:pPr>
            <a:r>
              <a:rPr lang="en-US" sz="1000" b="1" dirty="0">
                <a:solidFill>
                  <a:srgbClr val="5E6B75"/>
                </a:solidFill>
                <a:latin typeface="Calibri" pitchFamily="34" charset="0"/>
                <a:ea typeface="Calibri" pitchFamily="34" charset="-122"/>
                <a:cs typeface="Calibri" pitchFamily="34" charset="-120"/>
              </a:rPr>
              <a:t>-0.2</a:t>
            </a:r>
            <a:endParaRPr lang="en-US" sz="1000" dirty="0"/>
          </a:p>
        </p:txBody>
      </p:sp>
      <p:sp>
        <p:nvSpPr>
          <p:cNvPr id="13" name="Shape 11"/>
          <p:cNvSpPr/>
          <p:nvPr/>
        </p:nvSpPr>
        <p:spPr>
          <a:xfrm>
            <a:off x="4206240" y="1627632"/>
            <a:ext cx="1463040" cy="566928"/>
          </a:xfrm>
          <a:prstGeom prst="roundRect">
            <a:avLst>
              <a:gd name="adj" fmla="val 12903"/>
            </a:avLst>
          </a:prstGeom>
          <a:solidFill>
            <a:srgbClr val="F5EEE2"/>
          </a:solidFill>
          <a:ln w="19050">
            <a:solidFill>
              <a:srgbClr val="8A6A3B"/>
            </a:solidFill>
            <a:prstDash val="solid"/>
          </a:ln>
        </p:spPr>
      </p:sp>
      <p:sp>
        <p:nvSpPr>
          <p:cNvPr id="14" name="Text 12"/>
          <p:cNvSpPr txBox="1"/>
          <p:nvPr/>
        </p:nvSpPr>
        <p:spPr>
          <a:xfrm>
            <a:off x="4279392" y="1673352"/>
            <a:ext cx="1316736" cy="475488"/>
          </a:xfrm>
          <a:prstGeom prst="rect">
            <a:avLst/>
          </a:prstGeom>
          <a:noFill/>
          <a:ln/>
        </p:spPr>
        <p:txBody>
          <a:bodyPr wrap="square" lIns="0" tIns="0" rIns="0" bIns="0" rtlCol="0" anchor="ctr"/>
          <a:lstStyle/>
          <a:p>
            <a:pPr algn="ctr" indent="0" marL="0">
              <a:buNone/>
            </a:pPr>
            <a:r>
              <a:rPr lang="en-US" sz="1700" b="1" dirty="0">
                <a:solidFill>
                  <a:srgbClr val="8A6A3B"/>
                </a:solidFill>
                <a:latin typeface="Calibri" pitchFamily="34" charset="0"/>
                <a:ea typeface="Calibri" pitchFamily="34" charset="-122"/>
                <a:cs typeface="Calibri" pitchFamily="34" charset="-120"/>
              </a:rPr>
              <a:t>95.0</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last third</a:t>
            </a:r>
            <a:endParaRPr lang="en-US" sz="1400" dirty="0"/>
          </a:p>
        </p:txBody>
      </p:sp>
      <p:sp>
        <p:nvSpPr>
          <p:cNvPr id="15" name="Text 13"/>
          <p:cNvSpPr txBox="1"/>
          <p:nvPr/>
        </p:nvSpPr>
        <p:spPr>
          <a:xfrm>
            <a:off x="457200" y="2249424"/>
            <a:ext cx="5486400" cy="365760"/>
          </a:xfrm>
          <a:prstGeom prst="rect">
            <a:avLst/>
          </a:prstGeom>
          <a:noFill/>
          <a:ln/>
        </p:spPr>
        <p:txBody>
          <a:bodyPr wrap="square" lIns="0" tIns="0" rIns="0" bIns="0" rtlCol="0" anchor="ctr"/>
          <a:lstStyle/>
          <a:p>
            <a:pPr algn="l" indent="0" marL="0">
              <a:buNone/>
            </a:pPr>
            <a:r>
              <a:rPr lang="en-US" sz="950" dirty="0">
                <a:solidFill>
                  <a:srgbClr val="5E6B75"/>
                </a:solidFill>
                <a:latin typeface="Calibri" pitchFamily="34" charset="0"/>
                <a:ea typeface="Calibri" pitchFamily="34" charset="-122"/>
                <a:cs typeface="Calibri" pitchFamily="34" charset="-120"/>
              </a:rPr>
              <a:t>median complex pLDDT by episode tercile, pooled over its clean runs — and median ligand_iptm does the same: 0.845 → 0.889 → 0.896</a:t>
            </a:r>
            <a:endParaRPr lang="en-US" sz="950" dirty="0"/>
          </a:p>
        </p:txBody>
      </p:sp>
      <p:sp>
        <p:nvSpPr>
          <p:cNvPr id="16" name="Text 14"/>
          <p:cNvSpPr txBox="1"/>
          <p:nvPr/>
        </p:nvSpPr>
        <p:spPr>
          <a:xfrm>
            <a:off x="457200" y="2706624"/>
            <a:ext cx="5486400" cy="256032"/>
          </a:xfrm>
          <a:prstGeom prst="rect">
            <a:avLst/>
          </a:prstGeom>
          <a:noFill/>
          <a:ln/>
        </p:spPr>
        <p:txBody>
          <a:bodyPr wrap="square" lIns="0" tIns="0" rIns="0" bIns="0" rtlCol="0" anchor="t"/>
          <a:lstStyle/>
          <a:p>
            <a:pPr indent="0" marL="0">
              <a:buNone/>
            </a:pPr>
            <a:r>
              <a:rPr lang="en-US" sz="1250" b="1" dirty="0">
                <a:solidFill>
                  <a:srgbClr val="16222B"/>
                </a:solidFill>
                <a:latin typeface="Calibri" pitchFamily="34" charset="0"/>
                <a:ea typeface="Calibri" pitchFamily="34" charset="-122"/>
                <a:cs typeface="Calibri" pitchFamily="34" charset="-120"/>
              </a:rPr>
              <a:t>And the headline count is not the yield</a:t>
            </a:r>
            <a:endParaRPr lang="en-US" sz="1250" dirty="0"/>
          </a:p>
        </p:txBody>
      </p:sp>
      <p:sp>
        <p:nvSpPr>
          <p:cNvPr id="17" name="Text 15"/>
          <p:cNvSpPr txBox="1"/>
          <p:nvPr/>
        </p:nvSpPr>
        <p:spPr>
          <a:xfrm>
            <a:off x="457200" y="3035808"/>
            <a:ext cx="2176272" cy="274320"/>
          </a:xfrm>
          <a:prstGeom prst="rect">
            <a:avLst/>
          </a:prstGeom>
          <a:noFill/>
          <a:ln/>
        </p:spPr>
        <p:txBody>
          <a:bodyPr wrap="square" lIns="0" tIns="0" rIns="0" bIns="0" rtlCol="0" anchor="ctr"/>
          <a:lstStyle/>
          <a:p>
            <a:pPr algn="r" indent="0" marL="0">
              <a:buNone/>
            </a:pPr>
            <a:r>
              <a:rPr lang="en-US" sz="1000" dirty="0">
                <a:solidFill>
                  <a:srgbClr val="22303C"/>
                </a:solidFill>
                <a:latin typeface="Calibri" pitchFamily="34" charset="0"/>
                <a:ea typeface="Calibri" pitchFamily="34" charset="-122"/>
                <a:cs typeface="Calibri" pitchFamily="34" charset="-120"/>
              </a:rPr>
              <a:t>IMPRESS, 804 passing folds</a:t>
            </a:r>
            <a:endParaRPr lang="en-US" sz="1000" dirty="0"/>
          </a:p>
        </p:txBody>
      </p:sp>
      <p:sp>
        <p:nvSpPr>
          <p:cNvPr id="18" name="Shape 16"/>
          <p:cNvSpPr/>
          <p:nvPr/>
        </p:nvSpPr>
        <p:spPr>
          <a:xfrm>
            <a:off x="2743200" y="3054096"/>
            <a:ext cx="2834640" cy="237744"/>
          </a:xfrm>
          <a:prstGeom prst="rect">
            <a:avLst/>
          </a:prstGeom>
          <a:solidFill>
            <a:srgbClr val="C9D1D8"/>
          </a:solidFill>
          <a:ln w="12700">
            <a:solidFill>
              <a:srgbClr val="C9D1D8"/>
            </a:solidFill>
            <a:prstDash val="solid"/>
          </a:ln>
        </p:spPr>
      </p:sp>
      <p:sp>
        <p:nvSpPr>
          <p:cNvPr id="19" name="Shape 17"/>
          <p:cNvSpPr/>
          <p:nvPr/>
        </p:nvSpPr>
        <p:spPr>
          <a:xfrm>
            <a:off x="2743200" y="3054096"/>
            <a:ext cx="2101300" cy="237744"/>
          </a:xfrm>
          <a:prstGeom prst="rect">
            <a:avLst/>
          </a:prstGeom>
          <a:solidFill>
            <a:srgbClr val="8A6A3B"/>
          </a:solidFill>
          <a:ln w="12700">
            <a:solidFill>
              <a:srgbClr val="8A6A3B"/>
            </a:solidFill>
            <a:prstDash val="solid"/>
          </a:ln>
        </p:spPr>
      </p:sp>
      <p:sp>
        <p:nvSpPr>
          <p:cNvPr id="20" name="Text 18"/>
          <p:cNvSpPr txBox="1"/>
          <p:nvPr/>
        </p:nvSpPr>
        <p:spPr>
          <a:xfrm>
            <a:off x="5650992" y="3017520"/>
            <a:ext cx="548640" cy="310896"/>
          </a:xfrm>
          <a:prstGeom prst="rect">
            <a:avLst/>
          </a:prstGeom>
          <a:noFill/>
          <a:ln/>
        </p:spPr>
        <p:txBody>
          <a:bodyPr wrap="square" lIns="0" tIns="0" rIns="0" bIns="0" rtlCol="0" anchor="ctr"/>
          <a:lstStyle/>
          <a:p>
            <a:pPr indent="0" marL="0">
              <a:buNone/>
            </a:pPr>
            <a:r>
              <a:rPr lang="en-US" sz="1050" b="1" dirty="0">
                <a:solidFill>
                  <a:srgbClr val="8A6A3B"/>
                </a:solidFill>
                <a:latin typeface="Calibri" pitchFamily="34" charset="0"/>
                <a:ea typeface="Calibri" pitchFamily="34" charset="-122"/>
                <a:cs typeface="Calibri" pitchFamily="34" charset="-120"/>
              </a:rPr>
              <a:t>74%</a:t>
            </a:r>
            <a:endParaRPr lang="en-US" sz="1050" dirty="0"/>
          </a:p>
        </p:txBody>
      </p:sp>
      <p:sp>
        <p:nvSpPr>
          <p:cNvPr id="21" name="Text 19"/>
          <p:cNvSpPr txBox="1"/>
          <p:nvPr/>
        </p:nvSpPr>
        <p:spPr>
          <a:xfrm>
            <a:off x="2743200" y="3310128"/>
            <a:ext cx="3474720" cy="237744"/>
          </a:xfrm>
          <a:prstGeom prst="rect">
            <a:avLst/>
          </a:prstGeom>
          <a:noFill/>
          <a:ln/>
        </p:spPr>
        <p:txBody>
          <a:bodyPr wrap="square" lIns="0" tIns="0" rIns="0" bIns="0" rtlCol="0" anchor="t"/>
          <a:lstStyle/>
          <a:p>
            <a:pPr indent="0" marL="0">
              <a:buNone/>
            </a:pPr>
            <a:r>
              <a:rPr lang="en-US" sz="900" dirty="0">
                <a:solidFill>
                  <a:srgbClr val="5E6B75"/>
                </a:solidFill>
                <a:latin typeface="Calibri" pitchFamily="34" charset="0"/>
                <a:ea typeface="Calibri" pitchFamily="34" charset="-122"/>
                <a:cs typeface="Calibri" pitchFamily="34" charset="-120"/>
              </a:rPr>
              <a:t>596 clusters at ≥90% identity</a:t>
            </a:r>
            <a:endParaRPr lang="en-US" sz="900" dirty="0"/>
          </a:p>
        </p:txBody>
      </p:sp>
      <p:sp>
        <p:nvSpPr>
          <p:cNvPr id="22" name="Text 20"/>
          <p:cNvSpPr txBox="1"/>
          <p:nvPr/>
        </p:nvSpPr>
        <p:spPr>
          <a:xfrm>
            <a:off x="457200" y="3712464"/>
            <a:ext cx="2176272" cy="274320"/>
          </a:xfrm>
          <a:prstGeom prst="rect">
            <a:avLst/>
          </a:prstGeom>
          <a:noFill/>
          <a:ln/>
        </p:spPr>
        <p:txBody>
          <a:bodyPr wrap="square" lIns="0" tIns="0" rIns="0" bIns="0" rtlCol="0" anchor="ctr"/>
          <a:lstStyle/>
          <a:p>
            <a:pPr algn="r" indent="0" marL="0">
              <a:buNone/>
            </a:pPr>
            <a:r>
              <a:rPr lang="en-US" sz="1000" dirty="0">
                <a:solidFill>
                  <a:srgbClr val="22303C"/>
                </a:solidFill>
                <a:latin typeface="Calibri" pitchFamily="34" charset="0"/>
                <a:ea typeface="Calibri" pitchFamily="34" charset="-122"/>
                <a:cs typeface="Calibri" pitchFamily="34" charset="-120"/>
              </a:rPr>
              <a:t>IMPRESS-A, 17 designs</a:t>
            </a:r>
            <a:endParaRPr lang="en-US" sz="1000" dirty="0"/>
          </a:p>
        </p:txBody>
      </p:sp>
      <p:sp>
        <p:nvSpPr>
          <p:cNvPr id="23" name="Shape 21"/>
          <p:cNvSpPr/>
          <p:nvPr/>
        </p:nvSpPr>
        <p:spPr>
          <a:xfrm>
            <a:off x="2743200" y="3730752"/>
            <a:ext cx="2834640" cy="237744"/>
          </a:xfrm>
          <a:prstGeom prst="rect">
            <a:avLst/>
          </a:prstGeom>
          <a:solidFill>
            <a:srgbClr val="C9D1D8"/>
          </a:solidFill>
          <a:ln w="12700">
            <a:solidFill>
              <a:srgbClr val="C9D1D8"/>
            </a:solidFill>
            <a:prstDash val="solid"/>
          </a:ln>
        </p:spPr>
      </p:sp>
      <p:sp>
        <p:nvSpPr>
          <p:cNvPr id="24" name="Shape 22"/>
          <p:cNvSpPr/>
          <p:nvPr/>
        </p:nvSpPr>
        <p:spPr>
          <a:xfrm>
            <a:off x="2743200" y="3730752"/>
            <a:ext cx="833718" cy="237744"/>
          </a:xfrm>
          <a:prstGeom prst="rect">
            <a:avLst/>
          </a:prstGeom>
          <a:solidFill>
            <a:srgbClr val="1E6470"/>
          </a:solidFill>
          <a:ln w="12700">
            <a:solidFill>
              <a:srgbClr val="1E6470"/>
            </a:solidFill>
            <a:prstDash val="solid"/>
          </a:ln>
        </p:spPr>
      </p:sp>
      <p:sp>
        <p:nvSpPr>
          <p:cNvPr id="25" name="Text 23"/>
          <p:cNvSpPr txBox="1"/>
          <p:nvPr/>
        </p:nvSpPr>
        <p:spPr>
          <a:xfrm>
            <a:off x="5650992" y="3694176"/>
            <a:ext cx="548640" cy="310896"/>
          </a:xfrm>
          <a:prstGeom prst="rect">
            <a:avLst/>
          </a:prstGeom>
          <a:noFill/>
          <a:ln/>
        </p:spPr>
        <p:txBody>
          <a:bodyPr wrap="square" lIns="0" tIns="0" rIns="0" bIns="0" rtlCol="0" anchor="ctr"/>
          <a:lstStyle/>
          <a:p>
            <a:pPr indent="0" marL="0">
              <a:buNone/>
            </a:pPr>
            <a:r>
              <a:rPr lang="en-US" sz="1050" b="1" dirty="0">
                <a:solidFill>
                  <a:srgbClr val="1E6470"/>
                </a:solidFill>
                <a:latin typeface="Calibri" pitchFamily="34" charset="0"/>
                <a:ea typeface="Calibri" pitchFamily="34" charset="-122"/>
                <a:cs typeface="Calibri" pitchFamily="34" charset="-120"/>
              </a:rPr>
              <a:t>29%</a:t>
            </a:r>
            <a:endParaRPr lang="en-US" sz="1050" dirty="0"/>
          </a:p>
        </p:txBody>
      </p:sp>
      <p:sp>
        <p:nvSpPr>
          <p:cNvPr id="26" name="Text 24"/>
          <p:cNvSpPr txBox="1"/>
          <p:nvPr/>
        </p:nvSpPr>
        <p:spPr>
          <a:xfrm>
            <a:off x="2743200" y="3986784"/>
            <a:ext cx="3474720" cy="237744"/>
          </a:xfrm>
          <a:prstGeom prst="rect">
            <a:avLst/>
          </a:prstGeom>
          <a:noFill/>
          <a:ln/>
        </p:spPr>
        <p:txBody>
          <a:bodyPr wrap="square" lIns="0" tIns="0" rIns="0" bIns="0" rtlCol="0" anchor="t"/>
          <a:lstStyle/>
          <a:p>
            <a:pPr indent="0" marL="0">
              <a:buNone/>
            </a:pPr>
            <a:r>
              <a:rPr lang="en-US" sz="900" dirty="0">
                <a:solidFill>
                  <a:srgbClr val="5E6B75"/>
                </a:solidFill>
                <a:latin typeface="Calibri" pitchFamily="34" charset="0"/>
                <a:ea typeface="Calibri" pitchFamily="34" charset="-122"/>
                <a:cs typeface="Calibri" pitchFamily="34" charset="-120"/>
              </a:rPr>
              <a:t>5 structural groups (median TM 0.82 within, 0.28 across)</a:t>
            </a:r>
            <a:endParaRPr lang="en-US" sz="900" dirty="0"/>
          </a:p>
        </p:txBody>
      </p:sp>
      <p:sp>
        <p:nvSpPr>
          <p:cNvPr id="27" name="Text 25"/>
          <p:cNvSpPr txBox="1"/>
          <p:nvPr/>
        </p:nvSpPr>
        <p:spPr>
          <a:xfrm>
            <a:off x="457200" y="4443984"/>
            <a:ext cx="5486400" cy="384048"/>
          </a:xfrm>
          <a:prstGeom prst="rect">
            <a:avLst/>
          </a:prstGeom>
          <a:noFill/>
          <a:ln/>
        </p:spPr>
        <p:txBody>
          <a:bodyPr wrap="square" lIns="0" tIns="0" rIns="0" bIns="0" rtlCol="0" anchor="ctr"/>
          <a:lstStyle/>
          <a:p>
            <a:pPr algn="l" indent="0" marL="0">
              <a:buNone/>
            </a:pPr>
            <a:r>
              <a:rPr lang="en-US" sz="950" dirty="0">
                <a:solidFill>
                  <a:srgbClr val="5E6B75"/>
                </a:solidFill>
                <a:latin typeface="Calibri" pitchFamily="34" charset="0"/>
                <a:ea typeface="Calibri" pitchFamily="34" charset="-122"/>
                <a:cs typeface="Calibri" pitchFamily="34" charset="-120"/>
              </a:rPr>
              <a:t>independent samples as a share of the headline count, 0–100%. Both analyses overcount their own yield, and both say the same thing: width, not depth.</a:t>
            </a:r>
            <a:endParaRPr lang="en-US" sz="950" dirty="0"/>
          </a:p>
        </p:txBody>
      </p:sp>
      <p:sp>
        <p:nvSpPr>
          <p:cNvPr id="28" name="Shape 26"/>
          <p:cNvSpPr/>
          <p:nvPr/>
        </p:nvSpPr>
        <p:spPr>
          <a:xfrm>
            <a:off x="6245352" y="1298448"/>
            <a:ext cx="5486400" cy="1188720"/>
          </a:xfrm>
          <a:prstGeom prst="rect">
            <a:avLst/>
          </a:prstGeom>
          <a:solidFill>
            <a:srgbClr val="E3F0F1"/>
          </a:solidFill>
          <a:ln w="12700">
            <a:solidFill>
              <a:srgbClr val="E3F0F1"/>
            </a:solidFill>
            <a:prstDash val="solid"/>
          </a:ln>
        </p:spPr>
      </p:sp>
      <p:sp>
        <p:nvSpPr>
          <p:cNvPr id="29" name="Text 27"/>
          <p:cNvSpPr txBox="1"/>
          <p:nvPr/>
        </p:nvSpPr>
        <p:spPr>
          <a:xfrm>
            <a:off x="6373368" y="1380744"/>
            <a:ext cx="5230368" cy="274320"/>
          </a:xfrm>
          <a:prstGeom prst="rect">
            <a:avLst/>
          </a:prstGeom>
          <a:noFill/>
          <a:ln/>
        </p:spPr>
        <p:txBody>
          <a:bodyPr wrap="square" lIns="0" tIns="0" rIns="0" bIns="0" rtlCol="0" anchor="t"/>
          <a:lstStyle/>
          <a:p>
            <a:pPr indent="0" marL="0">
              <a:buNone/>
            </a:pPr>
            <a:r>
              <a:rPr lang="en-US" sz="1300" b="1" dirty="0">
                <a:solidFill>
                  <a:srgbClr val="1E6470"/>
                </a:solidFill>
                <a:latin typeface="Calibri" pitchFamily="34" charset="0"/>
                <a:ea typeface="Calibri" pitchFamily="34" charset="-122"/>
                <a:cs typeface="Calibri" pitchFamily="34" charset="-120"/>
              </a:rPr>
              <a:t>What this project does about it</a:t>
            </a:r>
            <a:endParaRPr lang="en-US" sz="1300" dirty="0"/>
          </a:p>
        </p:txBody>
      </p:sp>
      <p:sp>
        <p:nvSpPr>
          <p:cNvPr id="30" name="Text 28"/>
          <p:cNvSpPr txBox="1"/>
          <p:nvPr/>
        </p:nvSpPr>
        <p:spPr>
          <a:xfrm>
            <a:off x="6373368" y="1691640"/>
            <a:ext cx="5230368" cy="713232"/>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replicas: N means N INDEPENDENT lineages, one DesignNode each — the composer fans out and the executor's _absorb never funnels them back into one candidate.</a:t>
            </a:r>
            <a:endParaRPr lang="en-US" sz="1000" dirty="0"/>
          </a:p>
        </p:txBody>
      </p:sp>
      <p:sp>
        <p:nvSpPr>
          <p:cNvPr id="31" name="Shape 29"/>
          <p:cNvSpPr/>
          <p:nvPr/>
        </p:nvSpPr>
        <p:spPr>
          <a:xfrm>
            <a:off x="6245352" y="2615184"/>
            <a:ext cx="5486400" cy="566928"/>
          </a:xfrm>
          <a:prstGeom prst="roundRect">
            <a:avLst>
              <a:gd name="adj" fmla="val 9677"/>
            </a:avLst>
          </a:prstGeom>
          <a:solidFill>
            <a:srgbClr val="EEF2F5"/>
          </a:solidFill>
          <a:ln w="15875">
            <a:solidFill>
              <a:srgbClr val="1E6470"/>
            </a:solidFill>
            <a:prstDash val="sysDot"/>
          </a:ln>
        </p:spPr>
      </p:sp>
      <p:sp>
        <p:nvSpPr>
          <p:cNvPr id="32" name="Text 30"/>
          <p:cNvSpPr txBox="1"/>
          <p:nvPr/>
        </p:nvSpPr>
        <p:spPr>
          <a:xfrm>
            <a:off x="6355080" y="2660904"/>
            <a:ext cx="5266944" cy="292608"/>
          </a:xfrm>
          <a:prstGeom prst="rect">
            <a:avLst/>
          </a:prstGeom>
          <a:noFill/>
          <a:ln/>
        </p:spPr>
        <p:txBody>
          <a:bodyPr wrap="square" lIns="0" tIns="0" rIns="0" bIns="0" rtlCol="0" anchor="t"/>
          <a:lstStyle/>
          <a:p>
            <a:pPr indent="0" marL="0">
              <a:buNone/>
            </a:pPr>
            <a:r>
              <a:rPr lang="en-US" sz="1000" dirty="0">
                <a:solidFill>
                  <a:srgbClr val="22303C"/>
                </a:solidFill>
                <a:latin typeface="Calibri" pitchFamily="34" charset="0"/>
                <a:ea typeface="Calibri" pitchFamily="34" charset="-122"/>
                <a:cs typeface="Calibri" pitchFamily="34" charset="-120"/>
              </a:rPr>
              <a:t>N lineages, N nodes</a:t>
            </a:r>
            <a:endParaRPr lang="en-US" sz="1000" dirty="0"/>
          </a:p>
        </p:txBody>
      </p:sp>
      <p:sp>
        <p:nvSpPr>
          <p:cNvPr id="33" name="Text 31"/>
          <p:cNvSpPr txBox="1"/>
          <p:nvPr/>
        </p:nvSpPr>
        <p:spPr>
          <a:xfrm>
            <a:off x="6355080" y="2944368"/>
            <a:ext cx="5266944" cy="201168"/>
          </a:xfrm>
          <a:prstGeom prst="rect">
            <a:avLst/>
          </a:prstGeom>
          <a:noFill/>
          <a:ln/>
        </p:spPr>
        <p:txBody>
          <a:bodyPr wrap="square" lIns="0" tIns="0" rIns="0" bIns="0" rtlCol="0" anchor="t"/>
          <a:lstStyle/>
          <a:p>
            <a:pPr indent="0" marL="0">
              <a:buNone/>
            </a:pPr>
            <a:r>
              <a:rPr lang="en-US" sz="850" dirty="0">
                <a:solidFill>
                  <a:srgbClr val="5E6B75"/>
                </a:solidFill>
                <a:latin typeface="Consolas" pitchFamily="34" charset="0"/>
                <a:ea typeface="Consolas" pitchFamily="34" charset="-122"/>
                <a:cs typeface="Consolas" pitchFamily="34" charset="-120"/>
              </a:rPr>
              <a:t>compose/composer.py · executor._absorb</a:t>
            </a:r>
            <a:endParaRPr lang="en-US" sz="850" dirty="0"/>
          </a:p>
        </p:txBody>
      </p:sp>
      <p:sp>
        <p:nvSpPr>
          <p:cNvPr id="34" name="Shape 32"/>
          <p:cNvSpPr/>
          <p:nvPr/>
        </p:nvSpPr>
        <p:spPr>
          <a:xfrm>
            <a:off x="6245352" y="3273552"/>
            <a:ext cx="5486400" cy="786384"/>
          </a:xfrm>
          <a:prstGeom prst="roundRect">
            <a:avLst>
              <a:gd name="adj" fmla="val 6977"/>
            </a:avLst>
          </a:prstGeom>
          <a:solidFill>
            <a:srgbClr val="FFFFFF"/>
          </a:solidFill>
          <a:ln w="15875">
            <a:solidFill>
              <a:srgbClr val="1E6470"/>
            </a:solidFill>
            <a:prstDash val="sysDot"/>
          </a:ln>
        </p:spPr>
      </p:sp>
      <p:sp>
        <p:nvSpPr>
          <p:cNvPr id="35" name="Text 33"/>
          <p:cNvSpPr txBox="1"/>
          <p:nvPr/>
        </p:nvSpPr>
        <p:spPr>
          <a:xfrm>
            <a:off x="6355080" y="3319272"/>
            <a:ext cx="5266944" cy="512064"/>
          </a:xfrm>
          <a:prstGeom prst="rect">
            <a:avLst/>
          </a:prstGeom>
          <a:noFill/>
          <a:ln/>
        </p:spPr>
        <p:txBody>
          <a:bodyPr wrap="square" lIns="0" tIns="0" rIns="0" bIns="0" rtlCol="0" anchor="t"/>
          <a:lstStyle/>
          <a:p>
            <a:pPr indent="0" marL="0">
              <a:buNone/>
            </a:pPr>
            <a:r>
              <a:rPr lang="en-US" sz="1000" dirty="0">
                <a:solidFill>
                  <a:srgbClr val="22303C"/>
                </a:solidFill>
                <a:latin typeface="Calibri" pitchFamily="34" charset="0"/>
                <a:ea typeface="Calibri" pitchFamily="34" charset="-122"/>
                <a:cs typeface="Calibri" pitchFamily="34" charset="-120"/>
              </a:rPr>
              <a:t>A front that is not monotonic: a measurement supersedes but never deletes a prediction, so a node promoted on an optimistic guess can be demoted by its own assay</a:t>
            </a:r>
            <a:endParaRPr lang="en-US" sz="1000" dirty="0"/>
          </a:p>
        </p:txBody>
      </p:sp>
      <p:sp>
        <p:nvSpPr>
          <p:cNvPr id="36" name="Text 34"/>
          <p:cNvSpPr txBox="1"/>
          <p:nvPr/>
        </p:nvSpPr>
        <p:spPr>
          <a:xfrm>
            <a:off x="6355080" y="3822192"/>
            <a:ext cx="5266944" cy="201168"/>
          </a:xfrm>
          <a:prstGeom prst="rect">
            <a:avLst/>
          </a:prstGeom>
          <a:noFill/>
          <a:ln/>
        </p:spPr>
        <p:txBody>
          <a:bodyPr wrap="square" lIns="0" tIns="0" rIns="0" bIns="0" rtlCol="0" anchor="t"/>
          <a:lstStyle/>
          <a:p>
            <a:pPr indent="0" marL="0">
              <a:buNone/>
            </a:pPr>
            <a:r>
              <a:rPr lang="en-US" sz="850" dirty="0">
                <a:solidFill>
                  <a:srgbClr val="5E6B75"/>
                </a:solidFill>
                <a:latin typeface="Consolas" pitchFamily="34" charset="0"/>
                <a:ea typeface="Consolas" pitchFamily="34" charset="-122"/>
                <a:cs typeface="Consolas" pitchFamily="34" charset="-120"/>
              </a:rPr>
              <a:t>core/tree.ingest_measurement · core/pareto.py</a:t>
            </a:r>
            <a:endParaRPr lang="en-US" sz="850" dirty="0"/>
          </a:p>
        </p:txBody>
      </p:sp>
      <p:sp>
        <p:nvSpPr>
          <p:cNvPr id="37" name="Shape 35"/>
          <p:cNvSpPr/>
          <p:nvPr/>
        </p:nvSpPr>
        <p:spPr>
          <a:xfrm>
            <a:off x="6245352" y="4151376"/>
            <a:ext cx="5486400" cy="566928"/>
          </a:xfrm>
          <a:prstGeom prst="roundRect">
            <a:avLst>
              <a:gd name="adj" fmla="val 9677"/>
            </a:avLst>
          </a:prstGeom>
          <a:solidFill>
            <a:srgbClr val="EEF2F5"/>
          </a:solidFill>
          <a:ln w="15875">
            <a:solidFill>
              <a:srgbClr val="1E6470"/>
            </a:solidFill>
            <a:prstDash val="solid"/>
          </a:ln>
        </p:spPr>
      </p:sp>
      <p:sp>
        <p:nvSpPr>
          <p:cNvPr id="38" name="Text 36"/>
          <p:cNvSpPr txBox="1"/>
          <p:nvPr/>
        </p:nvSpPr>
        <p:spPr>
          <a:xfrm>
            <a:off x="6355080" y="4197096"/>
            <a:ext cx="5266944" cy="292608"/>
          </a:xfrm>
          <a:prstGeom prst="rect">
            <a:avLst/>
          </a:prstGeom>
          <a:noFill/>
          <a:ln/>
        </p:spPr>
        <p:txBody>
          <a:bodyPr wrap="square" lIns="0" tIns="0" rIns="0" bIns="0" rtlCol="0" anchor="t"/>
          <a:lstStyle/>
          <a:p>
            <a:pPr indent="0" marL="0">
              <a:buNone/>
            </a:pPr>
            <a:r>
              <a:rPr lang="en-US" sz="1000" dirty="0">
                <a:solidFill>
                  <a:srgbClr val="22303C"/>
                </a:solidFill>
                <a:latin typeface="Calibri" pitchFamily="34" charset="0"/>
                <a:ea typeface="Calibri" pitchFamily="34" charset="-122"/>
                <a:cs typeface="Calibri" pitchFamily="34" charset="-120"/>
              </a:rPr>
              <a:t>Trust scored on graph SHAPE, so breadth has an identity of its own and cannot inherit credit earned at width 1</a:t>
            </a:r>
            <a:endParaRPr lang="en-US" sz="1000" dirty="0"/>
          </a:p>
        </p:txBody>
      </p:sp>
      <p:sp>
        <p:nvSpPr>
          <p:cNvPr id="39" name="Text 37"/>
          <p:cNvSpPr txBox="1"/>
          <p:nvPr/>
        </p:nvSpPr>
        <p:spPr>
          <a:xfrm>
            <a:off x="6355080" y="4480560"/>
            <a:ext cx="5266944" cy="201168"/>
          </a:xfrm>
          <a:prstGeom prst="rect">
            <a:avLst/>
          </a:prstGeom>
          <a:noFill/>
          <a:ln/>
        </p:spPr>
        <p:txBody>
          <a:bodyPr wrap="square" lIns="0" tIns="0" rIns="0" bIns="0" rtlCol="0" anchor="t"/>
          <a:lstStyle/>
          <a:p>
            <a:pPr indent="0" marL="0">
              <a:buNone/>
            </a:pPr>
            <a:r>
              <a:rPr lang="en-US" sz="850" dirty="0">
                <a:solidFill>
                  <a:srgbClr val="5E6B75"/>
                </a:solidFill>
                <a:latin typeface="Consolas" pitchFamily="34" charset="0"/>
                <a:ea typeface="Consolas" pitchFamily="34" charset="-122"/>
                <a:cs typeface="Consolas" pitchFamily="34" charset="-120"/>
              </a:rPr>
              <a:t>compose/graph.py:51</a:t>
            </a:r>
            <a:endParaRPr lang="en-US" sz="850" dirty="0"/>
          </a:p>
        </p:txBody>
      </p:sp>
      <p:sp>
        <p:nvSpPr>
          <p:cNvPr id="40" name="Shape 38"/>
          <p:cNvSpPr/>
          <p:nvPr/>
        </p:nvSpPr>
        <p:spPr>
          <a:xfrm>
            <a:off x="6309360" y="5138928"/>
            <a:ext cx="384048" cy="0"/>
          </a:xfrm>
          <a:prstGeom prst="line">
            <a:avLst/>
          </a:prstGeom>
          <a:noFill/>
          <a:ln w="22225">
            <a:solidFill>
              <a:srgbClr val="22303C"/>
            </a:solidFill>
            <a:prstDash val="solid"/>
          </a:ln>
        </p:spPr>
      </p:sp>
      <p:sp>
        <p:nvSpPr>
          <p:cNvPr id="41" name="Text 39"/>
          <p:cNvSpPr txBox="1"/>
          <p:nvPr/>
        </p:nvSpPr>
        <p:spPr>
          <a:xfrm>
            <a:off x="6784848" y="5029200"/>
            <a:ext cx="3108960" cy="228600"/>
          </a:xfrm>
          <a:prstGeom prst="rect">
            <a:avLst/>
          </a:prstGeom>
          <a:noFill/>
          <a:ln/>
        </p:spPr>
        <p:txBody>
          <a:bodyPr wrap="square" lIns="0" tIns="0" rIns="0" bIns="0" rtlCol="0" anchor="ctr"/>
          <a:lstStyle/>
          <a:p>
            <a:pPr indent="0" marL="0">
              <a:buNone/>
            </a:pPr>
            <a:r>
              <a:rPr lang="en-US" sz="950" dirty="0">
                <a:solidFill>
                  <a:srgbClr val="5E6B75"/>
                </a:solidFill>
                <a:latin typeface="Calibri" pitchFamily="34" charset="0"/>
                <a:ea typeface="Calibri" pitchFamily="34" charset="-122"/>
                <a:cs typeface="Calibri" pitchFamily="34" charset="-120"/>
              </a:rPr>
              <a:t>built, runs for real</a:t>
            </a:r>
            <a:endParaRPr lang="en-US" sz="950" dirty="0"/>
          </a:p>
        </p:txBody>
      </p:sp>
      <p:sp>
        <p:nvSpPr>
          <p:cNvPr id="42" name="Shape 40"/>
          <p:cNvSpPr/>
          <p:nvPr/>
        </p:nvSpPr>
        <p:spPr>
          <a:xfrm>
            <a:off x="6309360" y="5367528"/>
            <a:ext cx="384048" cy="0"/>
          </a:xfrm>
          <a:prstGeom prst="line">
            <a:avLst/>
          </a:prstGeom>
          <a:noFill/>
          <a:ln w="22225">
            <a:solidFill>
              <a:srgbClr val="22303C"/>
            </a:solidFill>
            <a:prstDash val="sysDot"/>
          </a:ln>
        </p:spPr>
      </p:sp>
      <p:sp>
        <p:nvSpPr>
          <p:cNvPr id="43" name="Text 41"/>
          <p:cNvSpPr txBox="1"/>
          <p:nvPr/>
        </p:nvSpPr>
        <p:spPr>
          <a:xfrm>
            <a:off x="6784848" y="5257800"/>
            <a:ext cx="3108960" cy="228600"/>
          </a:xfrm>
          <a:prstGeom prst="rect">
            <a:avLst/>
          </a:prstGeom>
          <a:noFill/>
          <a:ln/>
        </p:spPr>
        <p:txBody>
          <a:bodyPr wrap="square" lIns="0" tIns="0" rIns="0" bIns="0" rtlCol="0" anchor="ctr"/>
          <a:lstStyle/>
          <a:p>
            <a:pPr indent="0" marL="0">
              <a:buNone/>
            </a:pPr>
            <a:r>
              <a:rPr lang="en-US" sz="950" dirty="0">
                <a:solidFill>
                  <a:srgbClr val="5E6B75"/>
                </a:solidFill>
                <a:latin typeface="Calibri" pitchFamily="34" charset="0"/>
                <a:ea typeface="Calibri" pitchFamily="34" charset="-122"/>
                <a:cs typeface="Calibri" pitchFamily="34" charset="-120"/>
              </a:rPr>
              <a:t>built and tested, never run for real</a:t>
            </a:r>
            <a:endParaRPr lang="en-US" sz="950" dirty="0"/>
          </a:p>
        </p:txBody>
      </p:sp>
      <p:sp>
        <p:nvSpPr>
          <p:cNvPr id="44" name="Text 42"/>
          <p:cNvSpPr txBox="1"/>
          <p:nvPr/>
        </p:nvSpPr>
        <p:spPr>
          <a:xfrm>
            <a:off x="6245352" y="5559552"/>
            <a:ext cx="5486400" cy="548640"/>
          </a:xfrm>
          <a:prstGeom prst="rect">
            <a:avLst/>
          </a:prstGeom>
          <a:noFill/>
          <a:ln/>
        </p:spPr>
        <p:txBody>
          <a:bodyPr wrap="square" lIns="0" tIns="0" rIns="0" bIns="0" rtlCol="0" anchor="t"/>
          <a:lstStyle/>
          <a:p>
            <a:pPr indent="0" marL="0">
              <a:buNone/>
            </a:pPr>
            <a:r>
              <a:rPr lang="en-US" sz="950" dirty="0">
                <a:solidFill>
                  <a:srgbClr val="5E6B75"/>
                </a:solidFill>
                <a:latin typeface="Calibri" pitchFamily="34" charset="0"/>
                <a:ea typeface="Calibri" pitchFamily="34" charset="-122"/>
                <a:cs typeface="Calibri" pitchFamily="34" charset="-120"/>
              </a:rPr>
              <a:t>Our own 17 designs: 0 byte-identical backbones, median Cα RMSD 2.39 Å. The seed plumbing does something — but at one lineage per run, the seeds come from the run label, so breadth and reproducibility are the same unexercised question.</a:t>
            </a:r>
            <a:endParaRPr lang="en-US" sz="950" dirty="0"/>
          </a:p>
        </p:txBody>
      </p:sp>
      <p:sp>
        <p:nvSpPr>
          <p:cNvPr id="45" name="Shape 43"/>
          <p:cNvSpPr/>
          <p:nvPr/>
        </p:nvSpPr>
        <p:spPr>
          <a:xfrm>
            <a:off x="457200" y="4974336"/>
            <a:ext cx="5486400" cy="1188720"/>
          </a:xfrm>
          <a:prstGeom prst="rect">
            <a:avLst/>
          </a:prstGeom>
          <a:solidFill>
            <a:srgbClr val="16222B"/>
          </a:solidFill>
          <a:ln w="12700">
            <a:solidFill>
              <a:srgbClr val="16222B"/>
            </a:solidFill>
            <a:prstDash val="solid"/>
          </a:ln>
        </p:spPr>
      </p:sp>
      <p:sp>
        <p:nvSpPr>
          <p:cNvPr id="46" name="Text 44"/>
          <p:cNvSpPr txBox="1"/>
          <p:nvPr/>
        </p:nvSpPr>
        <p:spPr>
          <a:xfrm>
            <a:off x="621792" y="5047488"/>
            <a:ext cx="5175504" cy="1060704"/>
          </a:xfrm>
          <a:prstGeom prst="rect">
            <a:avLst/>
          </a:prstGeom>
          <a:noFill/>
          <a:ln/>
        </p:spPr>
        <p:txBody>
          <a:bodyPr wrap="square" lIns="0" tIns="0" rIns="0" bIns="0" rtlCol="0" anchor="t"/>
          <a:lstStyle/>
          <a:p>
            <a:pPr indent="0" marL="0">
              <a:buNone/>
            </a:pPr>
            <a:r>
              <a:rPr lang="en-US" sz="1050" b="1" dirty="0">
                <a:solidFill>
                  <a:srgbClr val="F09A8C"/>
                </a:solidFill>
                <a:latin typeface="Calibri" pitchFamily="34" charset="0"/>
                <a:ea typeface="Calibri" pitchFamily="34" charset="-122"/>
                <a:cs typeface="Calibri" pitchFamily="34" charset="-120"/>
              </a:rPr>
              <a:t>The honest state of this slide:  </a:t>
            </a:r>
            <a:pPr indent="0" marL="0">
              <a:buNone/>
            </a:pPr>
            <a:r>
              <a:rPr lang="en-US" sz="1050" dirty="0">
                <a:solidFill>
                  <a:srgbClr val="DCE5EC"/>
                </a:solidFill>
                <a:latin typeface="Calibri" pitchFamily="34" charset="0"/>
                <a:ea typeface="Calibri" pitchFamily="34" charset="-122"/>
                <a:cs typeface="Calibri" pitchFamily="34" charset="-120"/>
              </a:rPr>
              <a:t>the machinery for width is written, typed and unit-tested, and replicas &gt; 1 has run against mocks only, never on the real chain. Worse, the cheap route to it is closed: the pattern signature includes replica multiplicity, so the trust earned at one lineage does not transfer to four — a four-lineage graph starts untrusted, under a cap it already exceeds. That is backlog A10 and it is ask 5.</a:t>
            </a:r>
            <a:endParaRPr lang="en-US" sz="1050" dirty="0"/>
          </a:p>
        </p:txBody>
      </p:sp>
      <p:sp>
        <p:nvSpPr>
          <p:cNvPr id="47" name="Text 45"/>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source: IMPRESS small-molecule performance report (impress-smallmol-performance/report.md), over impress_runs_export_nvme_2026-10-08.tar.gz  ·  source: performance_analysis report 2026-10-09 over impress_a_runs_2026-10-08.tar.gz (22702568, 22726105, 22728140 trust; 22684607, 22692304 smoke), code at d3c20ca</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WHAT A DRY RUN CANNOT SEE</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Four defects that reached real hardware</a:t>
            </a:r>
            <a:endParaRPr lang="en-US" sz="2800" dirty="0"/>
          </a:p>
        </p:txBody>
      </p:sp>
      <p:sp>
        <p:nvSpPr>
          <p:cNvPr id="4" name="Shape 2"/>
          <p:cNvSpPr/>
          <p:nvPr/>
        </p:nvSpPr>
        <p:spPr>
          <a:xfrm>
            <a:off x="457200" y="1371600"/>
            <a:ext cx="11274552" cy="1078992"/>
          </a:xfrm>
          <a:prstGeom prst="rect">
            <a:avLst/>
          </a:prstGeom>
          <a:solidFill>
            <a:srgbClr val="EEF2F5"/>
          </a:solidFill>
          <a:ln w="12700">
            <a:solidFill>
              <a:srgbClr val="C9D1D8"/>
            </a:solidFill>
            <a:prstDash val="solid"/>
          </a:ln>
        </p:spPr>
      </p:sp>
      <p:sp>
        <p:nvSpPr>
          <p:cNvPr id="5" name="Text 3"/>
          <p:cNvSpPr txBox="1"/>
          <p:nvPr/>
        </p:nvSpPr>
        <p:spPr>
          <a:xfrm>
            <a:off x="548640" y="1444752"/>
            <a:ext cx="320040" cy="365760"/>
          </a:xfrm>
          <a:prstGeom prst="rect">
            <a:avLst/>
          </a:prstGeom>
          <a:noFill/>
          <a:ln/>
        </p:spPr>
        <p:txBody>
          <a:bodyPr wrap="square" lIns="0" tIns="0" rIns="0" bIns="0" rtlCol="0" anchor="t"/>
          <a:lstStyle/>
          <a:p>
            <a:pPr algn="ctr" indent="0" marL="0">
              <a:buNone/>
            </a:pPr>
            <a:r>
              <a:rPr lang="en-US" sz="1800" b="1" dirty="0">
                <a:solidFill>
                  <a:srgbClr val="C0392B"/>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914400" y="1463040"/>
            <a:ext cx="2286000" cy="411480"/>
          </a:xfrm>
          <a:prstGeom prst="rect">
            <a:avLst/>
          </a:prstGeom>
          <a:noFill/>
          <a:ln/>
        </p:spPr>
        <p:txBody>
          <a:bodyPr wrap="square" lIns="0" tIns="0" rIns="0" bIns="0" rtlCol="0" anchor="t"/>
          <a:lstStyle/>
          <a:p>
            <a:pPr indent="0" marL="0">
              <a:buNone/>
            </a:pPr>
            <a:r>
              <a:rPr lang="en-US" sz="1250" b="1" dirty="0">
                <a:solidFill>
                  <a:srgbClr val="16222B"/>
                </a:solidFill>
                <a:latin typeface="Calibri" pitchFamily="34" charset="0"/>
                <a:ea typeface="Calibri" pitchFamily="34" charset="-122"/>
                <a:cs typeface="Calibri" pitchFamily="34" charset="-120"/>
              </a:rPr>
              <a:t>What a tool writes</a:t>
            </a:r>
            <a:endParaRPr lang="en-US" sz="1250" dirty="0"/>
          </a:p>
        </p:txBody>
      </p:sp>
      <p:sp>
        <p:nvSpPr>
          <p:cNvPr id="7" name="Text 5"/>
          <p:cNvSpPr txBox="1"/>
          <p:nvPr/>
        </p:nvSpPr>
        <p:spPr>
          <a:xfrm>
            <a:off x="3291840" y="1444752"/>
            <a:ext cx="5120640" cy="932688"/>
          </a:xfrm>
          <a:prstGeom prst="rect">
            <a:avLst/>
          </a:prstGeom>
          <a:noFill/>
          <a:ln/>
        </p:spPr>
        <p:txBody>
          <a:bodyPr wrap="square" lIns="0" tIns="0" rIns="0" bIns="0" rtlCol="0" anchor="t"/>
          <a:lstStyle/>
          <a:p>
            <a:pPr indent="0" marL="0">
              <a:buNone/>
            </a:pPr>
            <a:r>
              <a:rPr lang="en-US" sz="950" dirty="0">
                <a:solidFill>
                  <a:srgbClr val="22303C"/>
                </a:solidFill>
                <a:latin typeface="Calibri" pitchFamily="34" charset="0"/>
                <a:ea typeface="Calibri" pitchFamily="34" charset="-122"/>
                <a:cs typeface="Calibri" pitchFamily="34" charset="-120"/>
              </a:rPr>
              <a:t>The *.cif.gz glob selected a diffusion TRAJECTORY, not the design — same extension, and `denoised` sorts first. A 5.7 MB multi-frame stack went downstream as the backbone, against a 19 KB design.</a:t>
            </a:r>
            <a:endParaRPr lang="en-US" sz="950" dirty="0"/>
          </a:p>
        </p:txBody>
      </p:sp>
      <p:sp>
        <p:nvSpPr>
          <p:cNvPr id="8" name="Text 6"/>
          <p:cNvSpPr txBox="1"/>
          <p:nvPr/>
        </p:nvSpPr>
        <p:spPr>
          <a:xfrm>
            <a:off x="8549640" y="1444752"/>
            <a:ext cx="3063240" cy="932688"/>
          </a:xfrm>
          <a:prstGeom prst="rect">
            <a:avLst/>
          </a:prstGeom>
          <a:noFill/>
          <a:ln/>
        </p:spPr>
        <p:txBody>
          <a:bodyPr wrap="square" lIns="0" tIns="0" rIns="0" bIns="0" rtlCol="0" anchor="t"/>
          <a:lstStyle/>
          <a:p>
            <a:pPr indent="0" marL="0">
              <a:buNone/>
            </a:pPr>
            <a:r>
              <a:rPr lang="en-US" sz="950" b="1" dirty="0">
                <a:solidFill>
                  <a:srgbClr val="2E7D4F"/>
                </a:solidFill>
                <a:latin typeface="Calibri" pitchFamily="34" charset="0"/>
                <a:ea typeface="Calibri" pitchFamily="34" charset="-122"/>
                <a:cs typeface="Calibri" pitchFamily="34" charset="-120"/>
              </a:rPr>
              <a:t>now:  </a:t>
            </a:r>
            <a:pPr indent="0" marL="0">
              <a:buNone/>
            </a:pPr>
            <a:r>
              <a:rPr lang="en-US" sz="950" dirty="0">
                <a:solidFill>
                  <a:srgbClr val="22303C"/>
                </a:solidFill>
                <a:latin typeface="Calibri" pitchFamily="34" charset="0"/>
                <a:ea typeface="Calibri" pitchFamily="34" charset="-122"/>
                <a:cs typeface="Calibri" pitchFamily="34" charset="-120"/>
              </a:rPr>
              <a:t>Discovery goes through the sidecar *_model_*.json now, and an out_dir it cannot identify a design in raises rather than guessing.</a:t>
            </a:r>
            <a:endParaRPr lang="en-US" sz="950" dirty="0"/>
          </a:p>
        </p:txBody>
      </p:sp>
      <p:sp>
        <p:nvSpPr>
          <p:cNvPr id="9" name="Shape 7"/>
          <p:cNvSpPr/>
          <p:nvPr/>
        </p:nvSpPr>
        <p:spPr>
          <a:xfrm>
            <a:off x="457200" y="2487168"/>
            <a:ext cx="11274552" cy="1078992"/>
          </a:xfrm>
          <a:prstGeom prst="rect">
            <a:avLst/>
          </a:prstGeom>
          <a:solidFill>
            <a:srgbClr val="FFFFFF"/>
          </a:solidFill>
          <a:ln w="12700">
            <a:solidFill>
              <a:srgbClr val="C9D1D8"/>
            </a:solidFill>
            <a:prstDash val="solid"/>
          </a:ln>
        </p:spPr>
      </p:sp>
      <p:sp>
        <p:nvSpPr>
          <p:cNvPr id="10" name="Text 8"/>
          <p:cNvSpPr txBox="1"/>
          <p:nvPr/>
        </p:nvSpPr>
        <p:spPr>
          <a:xfrm>
            <a:off x="548640" y="2560320"/>
            <a:ext cx="320040" cy="365760"/>
          </a:xfrm>
          <a:prstGeom prst="rect">
            <a:avLst/>
          </a:prstGeom>
          <a:noFill/>
          <a:ln/>
        </p:spPr>
        <p:txBody>
          <a:bodyPr wrap="square" lIns="0" tIns="0" rIns="0" bIns="0" rtlCol="0" anchor="t"/>
          <a:lstStyle/>
          <a:p>
            <a:pPr algn="ctr" indent="0" marL="0">
              <a:buNone/>
            </a:pPr>
            <a:r>
              <a:rPr lang="en-US" sz="1800" b="1" dirty="0">
                <a:solidFill>
                  <a:srgbClr val="C0392B"/>
                </a:solidFill>
                <a:latin typeface="Cambria" pitchFamily="34" charset="0"/>
                <a:ea typeface="Cambria" pitchFamily="34" charset="-122"/>
                <a:cs typeface="Cambria" pitchFamily="34" charset="-120"/>
              </a:rPr>
              <a:t>2</a:t>
            </a:r>
            <a:endParaRPr lang="en-US" sz="1800" dirty="0"/>
          </a:p>
        </p:txBody>
      </p:sp>
      <p:sp>
        <p:nvSpPr>
          <p:cNvPr id="11" name="Text 9"/>
          <p:cNvSpPr txBox="1"/>
          <p:nvPr/>
        </p:nvSpPr>
        <p:spPr>
          <a:xfrm>
            <a:off x="914400" y="2578608"/>
            <a:ext cx="2286000" cy="411480"/>
          </a:xfrm>
          <a:prstGeom prst="rect">
            <a:avLst/>
          </a:prstGeom>
          <a:noFill/>
          <a:ln/>
        </p:spPr>
        <p:txBody>
          <a:bodyPr wrap="square" lIns="0" tIns="0" rIns="0" bIns="0" rtlCol="0" anchor="t"/>
          <a:lstStyle/>
          <a:p>
            <a:pPr indent="0" marL="0">
              <a:buNone/>
            </a:pPr>
            <a:r>
              <a:rPr lang="en-US" sz="1250" b="1" dirty="0">
                <a:solidFill>
                  <a:srgbClr val="16222B"/>
                </a:solidFill>
                <a:latin typeface="Calibri" pitchFamily="34" charset="0"/>
                <a:ea typeface="Calibri" pitchFamily="34" charset="-122"/>
                <a:cs typeface="Calibri" pitchFamily="34" charset="-120"/>
              </a:rPr>
              <a:t>Whether a tool can import</a:t>
            </a:r>
            <a:endParaRPr lang="en-US" sz="1250" dirty="0"/>
          </a:p>
        </p:txBody>
      </p:sp>
      <p:sp>
        <p:nvSpPr>
          <p:cNvPr id="12" name="Text 10"/>
          <p:cNvSpPr txBox="1"/>
          <p:nvPr/>
        </p:nvSpPr>
        <p:spPr>
          <a:xfrm>
            <a:off x="3291840" y="2560320"/>
            <a:ext cx="5120640" cy="932688"/>
          </a:xfrm>
          <a:prstGeom prst="rect">
            <a:avLst/>
          </a:prstGeom>
          <a:noFill/>
          <a:ln/>
        </p:spPr>
        <p:txBody>
          <a:bodyPr wrap="square" lIns="0" tIns="0" rIns="0" bIns="0" rtlCol="0" anchor="t"/>
          <a:lstStyle/>
          <a:p>
            <a:pPr indent="0" marL="0">
              <a:buNone/>
            </a:pPr>
            <a:r>
              <a:rPr lang="en-US" sz="950" dirty="0">
                <a:solidFill>
                  <a:srgbClr val="22303C"/>
                </a:solidFill>
                <a:latin typeface="Calibri" pitchFamily="34" charset="0"/>
                <a:ea typeface="Calibri" pitchFamily="34" charset="-122"/>
                <a:cs typeface="Calibri" pitchFamily="34" charset="-120"/>
              </a:rPr>
              <a:t>LigandMPNN died in run.py's MODULE-LEVEL imports, before parsing an argument: a missing ml_collections, then np.int, removed in numpy 1.24 and still used by its vendored openfold.</a:t>
            </a:r>
            <a:endParaRPr lang="en-US" sz="950" dirty="0"/>
          </a:p>
        </p:txBody>
      </p:sp>
      <p:sp>
        <p:nvSpPr>
          <p:cNvPr id="13" name="Text 11"/>
          <p:cNvSpPr txBox="1"/>
          <p:nvPr/>
        </p:nvSpPr>
        <p:spPr>
          <a:xfrm>
            <a:off x="8549640" y="2560320"/>
            <a:ext cx="3063240" cy="932688"/>
          </a:xfrm>
          <a:prstGeom prst="rect">
            <a:avLst/>
          </a:prstGeom>
          <a:noFill/>
          <a:ln/>
        </p:spPr>
        <p:txBody>
          <a:bodyPr wrap="square" lIns="0" tIns="0" rIns="0" bIns="0" rtlCol="0" anchor="t"/>
          <a:lstStyle/>
          <a:p>
            <a:pPr indent="0" marL="0">
              <a:buNone/>
            </a:pPr>
            <a:r>
              <a:rPr lang="en-US" sz="950" b="1" dirty="0">
                <a:solidFill>
                  <a:srgbClr val="2E7D4F"/>
                </a:solidFill>
                <a:latin typeface="Calibri" pitchFamily="34" charset="0"/>
                <a:ea typeface="Calibri" pitchFamily="34" charset="-122"/>
                <a:cs typeface="Calibri" pitchFamily="34" charset="-120"/>
              </a:rPr>
              <a:t>now:  </a:t>
            </a:r>
            <a:pPr indent="0" marL="0">
              <a:buNone/>
            </a:pPr>
            <a:r>
              <a:rPr lang="en-US" sz="950" dirty="0">
                <a:solidFill>
                  <a:srgbClr val="22303C"/>
                </a:solidFill>
                <a:latin typeface="Calibri" pitchFamily="34" charset="0"/>
                <a:ea typeface="Calibri" pitchFamily="34" charset="-122"/>
                <a:cs typeface="Calibri" pitchFamily="34" charset="-120"/>
              </a:rPr>
              <a:t>It runs through MPNN_SHIM now — the shim restores the aliases and hands off via runpy — never run.py directly.</a:t>
            </a:r>
            <a:endParaRPr lang="en-US" sz="950" dirty="0"/>
          </a:p>
        </p:txBody>
      </p:sp>
      <p:sp>
        <p:nvSpPr>
          <p:cNvPr id="14" name="Shape 12"/>
          <p:cNvSpPr/>
          <p:nvPr/>
        </p:nvSpPr>
        <p:spPr>
          <a:xfrm>
            <a:off x="457200" y="3602736"/>
            <a:ext cx="11274552" cy="1078992"/>
          </a:xfrm>
          <a:prstGeom prst="rect">
            <a:avLst/>
          </a:prstGeom>
          <a:solidFill>
            <a:srgbClr val="EEF2F5"/>
          </a:solidFill>
          <a:ln w="12700">
            <a:solidFill>
              <a:srgbClr val="C9D1D8"/>
            </a:solidFill>
            <a:prstDash val="solid"/>
          </a:ln>
        </p:spPr>
      </p:sp>
      <p:sp>
        <p:nvSpPr>
          <p:cNvPr id="15" name="Text 13"/>
          <p:cNvSpPr txBox="1"/>
          <p:nvPr/>
        </p:nvSpPr>
        <p:spPr>
          <a:xfrm>
            <a:off x="548640" y="3675888"/>
            <a:ext cx="320040" cy="365760"/>
          </a:xfrm>
          <a:prstGeom prst="rect">
            <a:avLst/>
          </a:prstGeom>
          <a:noFill/>
          <a:ln/>
        </p:spPr>
        <p:txBody>
          <a:bodyPr wrap="square" lIns="0" tIns="0" rIns="0" bIns="0" rtlCol="0" anchor="t"/>
          <a:lstStyle/>
          <a:p>
            <a:pPr algn="ctr" indent="0" marL="0">
              <a:buNone/>
            </a:pPr>
            <a:r>
              <a:rPr lang="en-US" sz="1800" b="1" dirty="0">
                <a:solidFill>
                  <a:srgbClr val="C0392B"/>
                </a:solidFill>
                <a:latin typeface="Cambria" pitchFamily="34" charset="0"/>
                <a:ea typeface="Cambria" pitchFamily="34" charset="-122"/>
                <a:cs typeface="Cambria" pitchFamily="34" charset="-120"/>
              </a:rPr>
              <a:t>3</a:t>
            </a:r>
            <a:endParaRPr lang="en-US" sz="1800" dirty="0"/>
          </a:p>
        </p:txBody>
      </p:sp>
      <p:sp>
        <p:nvSpPr>
          <p:cNvPr id="16" name="Text 14"/>
          <p:cNvSpPr txBox="1"/>
          <p:nvPr/>
        </p:nvSpPr>
        <p:spPr>
          <a:xfrm>
            <a:off x="914400" y="3694176"/>
            <a:ext cx="2286000" cy="411480"/>
          </a:xfrm>
          <a:prstGeom prst="rect">
            <a:avLst/>
          </a:prstGeom>
          <a:noFill/>
          <a:ln/>
        </p:spPr>
        <p:txBody>
          <a:bodyPr wrap="square" lIns="0" tIns="0" rIns="0" bIns="0" rtlCol="0" anchor="t"/>
          <a:lstStyle/>
          <a:p>
            <a:pPr indent="0" marL="0">
              <a:buNone/>
            </a:pPr>
            <a:r>
              <a:rPr lang="en-US" sz="1250" b="1" dirty="0">
                <a:solidFill>
                  <a:srgbClr val="16222B"/>
                </a:solidFill>
                <a:latin typeface="Calibri" pitchFamily="34" charset="0"/>
                <a:ea typeface="Calibri" pitchFamily="34" charset="-122"/>
                <a:cs typeface="Calibri" pitchFamily="34" charset="-120"/>
              </a:rPr>
              <a:t>Where the bytes live</a:t>
            </a:r>
            <a:endParaRPr lang="en-US" sz="1250" dirty="0"/>
          </a:p>
        </p:txBody>
      </p:sp>
      <p:sp>
        <p:nvSpPr>
          <p:cNvPr id="17" name="Text 15"/>
          <p:cNvSpPr txBox="1"/>
          <p:nvPr/>
        </p:nvSpPr>
        <p:spPr>
          <a:xfrm>
            <a:off x="3291840" y="3675888"/>
            <a:ext cx="5120640" cy="932688"/>
          </a:xfrm>
          <a:prstGeom prst="rect">
            <a:avLst/>
          </a:prstGeom>
          <a:noFill/>
          <a:ln/>
        </p:spPr>
        <p:txBody>
          <a:bodyPr wrap="square" lIns="0" tIns="0" rIns="0" bIns="0" rtlCol="0" anchor="t"/>
          <a:lstStyle/>
          <a:p>
            <a:pPr indent="0" marL="0">
              <a:buNone/>
            </a:pPr>
            <a:r>
              <a:rPr lang="en-US" sz="950" dirty="0">
                <a:solidFill>
                  <a:srgbClr val="22303C"/>
                </a:solidFill>
                <a:latin typeface="Calibri" pitchFamily="34" charset="0"/>
                <a:ea typeface="Calibri" pitchFamily="34" charset="-122"/>
                <a:cs typeface="Calibri" pitchFamily="34" charset="-120"/>
              </a:rPr>
              <a:t>import pyrosetta cost 471 s off HDD, so packmin could not finish starting inside its 300 s budget. The queued fix was to raise three walltimes 6×, which would have hidden the real cost.</a:t>
            </a:r>
            <a:endParaRPr lang="en-US" sz="950" dirty="0"/>
          </a:p>
        </p:txBody>
      </p:sp>
      <p:sp>
        <p:nvSpPr>
          <p:cNvPr id="18" name="Text 16"/>
          <p:cNvSpPr txBox="1"/>
          <p:nvPr/>
        </p:nvSpPr>
        <p:spPr>
          <a:xfrm>
            <a:off x="8549640" y="3675888"/>
            <a:ext cx="3063240" cy="932688"/>
          </a:xfrm>
          <a:prstGeom prst="rect">
            <a:avLst/>
          </a:prstGeom>
          <a:noFill/>
          <a:ln/>
        </p:spPr>
        <p:txBody>
          <a:bodyPr wrap="square" lIns="0" tIns="0" rIns="0" bIns="0" rtlCol="0" anchor="t"/>
          <a:lstStyle/>
          <a:p>
            <a:pPr indent="0" marL="0">
              <a:buNone/>
            </a:pPr>
            <a:r>
              <a:rPr lang="en-US" sz="950" b="1" dirty="0">
                <a:solidFill>
                  <a:srgbClr val="2E7D4F"/>
                </a:solidFill>
                <a:latin typeface="Calibri" pitchFamily="34" charset="0"/>
                <a:ea typeface="Calibri" pitchFamily="34" charset="-122"/>
                <a:cs typeface="Calibri" pitchFamily="34" charset="-120"/>
              </a:rPr>
              <a:t>now:  </a:t>
            </a:r>
            <a:pPr indent="0" marL="0">
              <a:buNone/>
            </a:pPr>
            <a:r>
              <a:rPr lang="en-US" sz="950" dirty="0">
                <a:solidFill>
                  <a:srgbClr val="22303C"/>
                </a:solidFill>
                <a:latin typeface="Calibri" pitchFamily="34" charset="0"/>
                <a:ea typeface="Calibri" pitchFamily="34" charset="-122"/>
                <a:cs typeface="Calibri" pitchFamily="34" charset="-120"/>
              </a:rPr>
              <a:t>WORK_DIR on NVMe; `impress-a preflight` now flags a venv still on slow storage.</a:t>
            </a:r>
            <a:endParaRPr lang="en-US" sz="950" dirty="0"/>
          </a:p>
        </p:txBody>
      </p:sp>
      <p:sp>
        <p:nvSpPr>
          <p:cNvPr id="19" name="Shape 17"/>
          <p:cNvSpPr/>
          <p:nvPr/>
        </p:nvSpPr>
        <p:spPr>
          <a:xfrm>
            <a:off x="457200" y="4718304"/>
            <a:ext cx="11274552" cy="1078992"/>
          </a:xfrm>
          <a:prstGeom prst="rect">
            <a:avLst/>
          </a:prstGeom>
          <a:solidFill>
            <a:srgbClr val="FFFFFF"/>
          </a:solidFill>
          <a:ln w="12700">
            <a:solidFill>
              <a:srgbClr val="C9D1D8"/>
            </a:solidFill>
            <a:prstDash val="solid"/>
          </a:ln>
        </p:spPr>
      </p:sp>
      <p:sp>
        <p:nvSpPr>
          <p:cNvPr id="20" name="Text 18"/>
          <p:cNvSpPr txBox="1"/>
          <p:nvPr/>
        </p:nvSpPr>
        <p:spPr>
          <a:xfrm>
            <a:off x="548640" y="4791456"/>
            <a:ext cx="320040" cy="365760"/>
          </a:xfrm>
          <a:prstGeom prst="rect">
            <a:avLst/>
          </a:prstGeom>
          <a:noFill/>
          <a:ln/>
        </p:spPr>
        <p:txBody>
          <a:bodyPr wrap="square" lIns="0" tIns="0" rIns="0" bIns="0" rtlCol="0" anchor="t"/>
          <a:lstStyle/>
          <a:p>
            <a:pPr algn="ctr" indent="0" marL="0">
              <a:buNone/>
            </a:pPr>
            <a:r>
              <a:rPr lang="en-US" sz="1800" b="1" dirty="0">
                <a:solidFill>
                  <a:srgbClr val="C0392B"/>
                </a:solidFill>
                <a:latin typeface="Cambria" pitchFamily="34" charset="0"/>
                <a:ea typeface="Cambria" pitchFamily="34" charset="-122"/>
                <a:cs typeface="Cambria" pitchFamily="34" charset="-120"/>
              </a:rPr>
              <a:t>4</a:t>
            </a:r>
            <a:endParaRPr lang="en-US" sz="1800" dirty="0"/>
          </a:p>
        </p:txBody>
      </p:sp>
      <p:sp>
        <p:nvSpPr>
          <p:cNvPr id="21" name="Text 19"/>
          <p:cNvSpPr txBox="1"/>
          <p:nvPr/>
        </p:nvSpPr>
        <p:spPr>
          <a:xfrm>
            <a:off x="914400" y="4809744"/>
            <a:ext cx="2286000" cy="411480"/>
          </a:xfrm>
          <a:prstGeom prst="rect">
            <a:avLst/>
          </a:prstGeom>
          <a:noFill/>
          <a:ln/>
        </p:spPr>
        <p:txBody>
          <a:bodyPr wrap="square" lIns="0" tIns="0" rIns="0" bIns="0" rtlCol="0" anchor="t"/>
          <a:lstStyle/>
          <a:p>
            <a:pPr indent="0" marL="0">
              <a:buNone/>
            </a:pPr>
            <a:r>
              <a:rPr lang="en-US" sz="1250" b="1" dirty="0">
                <a:solidFill>
                  <a:srgbClr val="16222B"/>
                </a:solidFill>
                <a:latin typeface="Calibri" pitchFamily="34" charset="0"/>
                <a:ea typeface="Calibri" pitchFamily="34" charset="-122"/>
                <a:cs typeface="Calibri" pitchFamily="34" charset="-120"/>
              </a:rPr>
              <a:t>An estimate that refuses work</a:t>
            </a:r>
            <a:endParaRPr lang="en-US" sz="1250" dirty="0"/>
          </a:p>
        </p:txBody>
      </p:sp>
      <p:sp>
        <p:nvSpPr>
          <p:cNvPr id="22" name="Text 20"/>
          <p:cNvSpPr txBox="1"/>
          <p:nvPr/>
        </p:nvSpPr>
        <p:spPr>
          <a:xfrm>
            <a:off x="3291840" y="4791456"/>
            <a:ext cx="5120640" cy="932688"/>
          </a:xfrm>
          <a:prstGeom prst="rect">
            <a:avLst/>
          </a:prstGeom>
          <a:noFill/>
          <a:ln/>
        </p:spPr>
        <p:txBody>
          <a:bodyPr wrap="square" lIns="0" tIns="0" rIns="0" bIns="0" rtlCol="0" anchor="t"/>
          <a:lstStyle/>
          <a:p>
            <a:pPr indent="0" marL="0">
              <a:buNone/>
            </a:pPr>
            <a:r>
              <a:rPr lang="en-US" sz="950" dirty="0">
                <a:solidFill>
                  <a:srgbClr val="22303C"/>
                </a:solidFill>
                <a:latin typeface="Calibri" pitchFamily="34" charset="0"/>
                <a:ea typeface="Calibri" pitchFamily="34" charset="-122"/>
                <a:cs typeface="Calibri" pitchFamily="34" charset="-120"/>
              </a:rPr>
              <a:t>cost_model figures were literature guesses 6–69× over measurement. The inflated GPU side summed past the untrusted cap, the chain was refused, and the policy truncated boltz_predict off the end — silently.</a:t>
            </a:r>
            <a:endParaRPr lang="en-US" sz="950" dirty="0"/>
          </a:p>
        </p:txBody>
      </p:sp>
      <p:sp>
        <p:nvSpPr>
          <p:cNvPr id="23" name="Text 21"/>
          <p:cNvSpPr txBox="1"/>
          <p:nvPr/>
        </p:nvSpPr>
        <p:spPr>
          <a:xfrm>
            <a:off x="8549640" y="4791456"/>
            <a:ext cx="3063240" cy="932688"/>
          </a:xfrm>
          <a:prstGeom prst="rect">
            <a:avLst/>
          </a:prstGeom>
          <a:noFill/>
          <a:ln/>
        </p:spPr>
        <p:txBody>
          <a:bodyPr wrap="square" lIns="0" tIns="0" rIns="0" bIns="0" rtlCol="0" anchor="t"/>
          <a:lstStyle/>
          <a:p>
            <a:pPr indent="0" marL="0">
              <a:buNone/>
            </a:pPr>
            <a:r>
              <a:rPr lang="en-US" sz="950" b="1" dirty="0">
                <a:solidFill>
                  <a:srgbClr val="2E7D4F"/>
                </a:solidFill>
                <a:latin typeface="Calibri" pitchFamily="34" charset="0"/>
                <a:ea typeface="Calibri" pitchFamily="34" charset="-122"/>
                <a:cs typeface="Calibri" pitchFamily="34" charset="-120"/>
              </a:rPr>
              <a:t>now:  </a:t>
            </a:r>
            <a:pPr indent="0" marL="0">
              <a:buNone/>
            </a:pPr>
            <a:r>
              <a:rPr lang="en-US" sz="950" dirty="0">
                <a:solidFill>
                  <a:srgbClr val="22303C"/>
                </a:solidFill>
                <a:latin typeface="Calibri" pitchFamily="34" charset="0"/>
                <a:ea typeface="Calibri" pitchFamily="34" charset="-122"/>
                <a:cs typeface="Calibri" pitchFamily="34" charset="-120"/>
              </a:rPr>
              <a:t>Costs corrected from measurement, and _objectives_without_a_producer now WARNs. It is a heuristic, not a gate.</a:t>
            </a:r>
            <a:endParaRPr lang="en-US" sz="950" dirty="0"/>
          </a:p>
        </p:txBody>
      </p:sp>
      <p:sp>
        <p:nvSpPr>
          <p:cNvPr id="24" name="Shape 22"/>
          <p:cNvSpPr/>
          <p:nvPr/>
        </p:nvSpPr>
        <p:spPr>
          <a:xfrm>
            <a:off x="457200" y="5797296"/>
            <a:ext cx="11274552" cy="694944"/>
          </a:xfrm>
          <a:prstGeom prst="rect">
            <a:avLst/>
          </a:prstGeom>
          <a:solidFill>
            <a:srgbClr val="16222B"/>
          </a:solidFill>
          <a:ln w="12700">
            <a:solidFill>
              <a:srgbClr val="16222B"/>
            </a:solidFill>
            <a:prstDash val="solid"/>
          </a:ln>
        </p:spPr>
      </p:sp>
      <p:sp>
        <p:nvSpPr>
          <p:cNvPr id="25" name="Text 23"/>
          <p:cNvSpPr txBox="1"/>
          <p:nvPr/>
        </p:nvSpPr>
        <p:spPr>
          <a:xfrm>
            <a:off x="640080" y="5870448"/>
            <a:ext cx="10927080" cy="566928"/>
          </a:xfrm>
          <a:prstGeom prst="rect">
            <a:avLst/>
          </a:prstGeom>
          <a:noFill/>
          <a:ln/>
        </p:spPr>
        <p:txBody>
          <a:bodyPr wrap="square" lIns="0" tIns="0" rIns="0" bIns="0" rtlCol="0" anchor="t"/>
          <a:lstStyle/>
          <a:p>
            <a:pPr indent="0" marL="0">
              <a:buNone/>
            </a:pPr>
            <a:r>
              <a:rPr lang="en-US" sz="1200" b="1" dirty="0">
                <a:solidFill>
                  <a:srgbClr val="F0C898"/>
                </a:solidFill>
                <a:latin typeface="Calibri" pitchFamily="34" charset="0"/>
                <a:ea typeface="Calibri" pitchFamily="34" charset="-122"/>
                <a:cs typeface="Calibri" pitchFamily="34" charset="-120"/>
              </a:rPr>
              <a:t>Two things to carry away.  </a:t>
            </a:r>
            <a:pPr indent="0" marL="0">
              <a:buNone/>
            </a:pPr>
            <a:r>
              <a:rPr lang="en-US" sz="1200" dirty="0">
                <a:solidFill>
                  <a:srgbClr val="DCE5EC"/>
                </a:solidFill>
                <a:latin typeface="Calibri" pitchFamily="34" charset="0"/>
                <a:ea typeface="Calibri" pitchFamily="34" charset="-122"/>
                <a:cs typeface="Calibri" pitchFamily="34" charset="-120"/>
              </a:rPr>
              <a:t>"Checked against the binary" is not "executed" — numbers 1 and 2 were both invisible to every contract check we had. And a plausible explanation is not a diagnosis: the trajectory bug was a convincing cause for a LigandMPNN failure it had nothing to do with.</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TRUST</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The ledger that forgot — and what it still forgets</a:t>
            </a:r>
            <a:endParaRPr lang="en-US" sz="2800" dirty="0"/>
          </a:p>
        </p:txBody>
      </p:sp>
      <p:sp>
        <p:nvSpPr>
          <p:cNvPr id="4" name="Shape 2"/>
          <p:cNvSpPr/>
          <p:nvPr/>
        </p:nvSpPr>
        <p:spPr>
          <a:xfrm>
            <a:off x="457200" y="1325880"/>
            <a:ext cx="11274552" cy="347472"/>
          </a:xfrm>
          <a:prstGeom prst="rect">
            <a:avLst/>
          </a:prstGeom>
          <a:solidFill>
            <a:srgbClr val="1E6470"/>
          </a:solidFill>
          <a:ln w="12700">
            <a:solidFill>
              <a:srgbClr val="1E6470"/>
            </a:solidFill>
            <a:prstDash val="solid"/>
          </a:ln>
        </p:spPr>
      </p:sp>
      <p:sp>
        <p:nvSpPr>
          <p:cNvPr id="5" name="Text 3"/>
          <p:cNvSpPr txBox="1"/>
          <p:nvPr/>
        </p:nvSpPr>
        <p:spPr>
          <a:xfrm>
            <a:off x="566928" y="1325880"/>
            <a:ext cx="11064240" cy="34747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1 · Promotion was structurally unreachable on Delta, and it looked exactly like "not enough runs yet"</a:t>
            </a:r>
            <a:endParaRPr lang="en-US" sz="1250" dirty="0"/>
          </a:p>
        </p:txBody>
      </p:sp>
      <p:sp>
        <p:nvSpPr>
          <p:cNvPr id="6" name="Shape 4"/>
          <p:cNvSpPr/>
          <p:nvPr/>
        </p:nvSpPr>
        <p:spPr>
          <a:xfrm>
            <a:off x="457200" y="1783080"/>
            <a:ext cx="5760720" cy="1005840"/>
          </a:xfrm>
          <a:prstGeom prst="rect">
            <a:avLst/>
          </a:prstGeom>
          <a:solidFill>
            <a:srgbClr val="16222B"/>
          </a:solidFill>
          <a:ln w="12700">
            <a:solidFill>
              <a:srgbClr val="16222B"/>
            </a:solidFill>
            <a:prstDash val="solid"/>
          </a:ln>
        </p:spPr>
      </p:sp>
      <p:sp>
        <p:nvSpPr>
          <p:cNvPr id="7" name="Text 5"/>
          <p:cNvSpPr txBox="1"/>
          <p:nvPr/>
        </p:nvSpPr>
        <p:spPr>
          <a:xfrm>
            <a:off x="557784" y="1874520"/>
            <a:ext cx="5559552" cy="822960"/>
          </a:xfrm>
          <a:prstGeom prst="rect">
            <a:avLst/>
          </a:prstGeom>
          <a:noFill/>
          <a:ln/>
        </p:spPr>
        <p:txBody>
          <a:bodyPr wrap="square" lIns="0" tIns="0" rIns="0" bIns="0" rtlCol="0" anchor="t"/>
          <a:lstStyle/>
          <a:p>
            <a:pPr indent="0" marL="0">
              <a:lnSpc>
                <a:spcPts val="1080"/>
              </a:lnSpc>
              <a:buNone/>
            </a:pPr>
            <a:r>
              <a:rPr lang="en-US" sz="864" dirty="0">
                <a:solidFill>
                  <a:srgbClr val="DCE5EC"/>
                </a:solidFill>
                <a:latin typeface="Consolas" pitchFamily="34" charset="0"/>
                <a:ea typeface="Consolas" pitchFamily="34" charset="-122"/>
                <a:cs typeface="Consolas" pitchFamily="34" charset="-120"/>
              </a:rPr>
              <a:t># executor.py loaded the ledger from Path(spec.root) / "_trust",</a:t>
            </a:r>
            <a:endParaRPr lang="en-US" sz="864" dirty="0"/>
          </a:p>
          <a:p>
            <a:pPr indent="0" marL="0">
              <a:lnSpc>
                <a:spcPts val="1080"/>
              </a:lnSpc>
              <a:buNone/>
            </a:pPr>
            <a:r>
              <a:rPr lang="en-US" sz="864" dirty="0">
                <a:solidFill>
                  <a:srgbClr val="DCE5EC"/>
                </a:solidFill>
                <a:latin typeface="Consolas" pitchFamily="34" charset="0"/>
                <a:ea typeface="Consolas" pitchFamily="34" charset="-122"/>
                <a:cs typeface="Consolas" pitchFamily="34" charset="-120"/>
              </a:rPr>
              <a:t># and spec.root defaults to the RELATIVE "campaigns/_runs".</a:t>
            </a:r>
            <a:endParaRPr lang="en-US" sz="864" dirty="0"/>
          </a:p>
          <a:p>
            <a:pPr indent="0" marL="0">
              <a:lnSpc>
                <a:spcPts val="1080"/>
              </a:lnSpc>
              <a:buNone/>
            </a:pPr>
            <a:r>
              <a:rPr lang="en-US" sz="864" dirty="0">
                <a:solidFill>
                  <a:srgbClr val="DCE5EC"/>
                </a:solidFill>
                <a:latin typeface="Consolas" pitchFamily="34" charset="0"/>
                <a:ea typeface="Consolas" pitchFamily="34" charset="-122"/>
                <a:cs typeface="Consolas" pitchFamily="34" charset="-120"/>
              </a:rPr>
              <a:t># delta_gpu_run.sh cds into $WORK_DIR/impress_a_runs/$SLURM_JOB_ID:</a:t>
            </a:r>
            <a:endParaRPr lang="en-US" sz="864" dirty="0"/>
          </a:p>
          <a:p>
            <a:pPr indent="0" marL="0">
              <a:lnSpc>
                <a:spcPts val="1080"/>
              </a:lnSpc>
              <a:buNone/>
            </a:pPr>
            <a:endParaRPr lang="en-US" sz="864" dirty="0"/>
          </a:p>
          <a:p>
            <a:pPr indent="0" marL="0">
              <a:lnSpc>
                <a:spcPts val="1080"/>
              </a:lnSpc>
              <a:buNone/>
            </a:pPr>
            <a:r>
              <a:rPr lang="en-US" sz="864" dirty="0">
                <a:solidFill>
                  <a:srgbClr val="DCE5EC"/>
                </a:solidFill>
                <a:latin typeface="Consolas" pitchFamily="34" charset="0"/>
                <a:ea typeface="Consolas" pitchFamily="34" charset="-122"/>
                <a:cs typeface="Consolas" pitchFamily="34" charset="-120"/>
              </a:rPr>
              <a:t>  22684607/campaigns/_runs/_trust/cuda.jsonl    0 clean</a:t>
            </a:r>
            <a:endParaRPr lang="en-US" sz="864" dirty="0"/>
          </a:p>
          <a:p>
            <a:pPr indent="0" marL="0">
              <a:lnSpc>
                <a:spcPts val="1080"/>
              </a:lnSpc>
              <a:buNone/>
            </a:pPr>
            <a:r>
              <a:rPr lang="en-US" sz="864" dirty="0">
                <a:solidFill>
                  <a:srgbClr val="DCE5EC"/>
                </a:solidFill>
                <a:latin typeface="Consolas" pitchFamily="34" charset="0"/>
                <a:ea typeface="Consolas" pitchFamily="34" charset="-122"/>
                <a:cs typeface="Consolas" pitchFamily="34" charset="-120"/>
              </a:rPr>
              <a:t>  22692304/campaigns/_runs/_trust/cuda.jsonl    1 clean</a:t>
            </a:r>
            <a:endParaRPr lang="en-US" sz="864" dirty="0"/>
          </a:p>
        </p:txBody>
      </p:sp>
      <p:sp>
        <p:nvSpPr>
          <p:cNvPr id="8" name="Text 6"/>
          <p:cNvSpPr txBox="1"/>
          <p:nvPr/>
        </p:nvSpPr>
        <p:spPr>
          <a:xfrm>
            <a:off x="457200" y="2807208"/>
            <a:ext cx="5760720" cy="182880"/>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fixed in 52332c6 — CampaignSpec.trust_root</a:t>
            </a:r>
            <a:endParaRPr lang="en-US" sz="850" dirty="0"/>
          </a:p>
        </p:txBody>
      </p:sp>
      <p:sp>
        <p:nvSpPr>
          <p:cNvPr id="9" name="Shape 7"/>
          <p:cNvSpPr/>
          <p:nvPr/>
        </p:nvSpPr>
        <p:spPr>
          <a:xfrm>
            <a:off x="6492240" y="1783080"/>
            <a:ext cx="5696712" cy="1005840"/>
          </a:xfrm>
          <a:prstGeom prst="rect">
            <a:avLst/>
          </a:prstGeom>
          <a:solidFill>
            <a:srgbClr val="E4F1EA"/>
          </a:solidFill>
          <a:ln w="12700">
            <a:solidFill>
              <a:srgbClr val="E4F1EA"/>
            </a:solidFill>
            <a:prstDash val="solid"/>
          </a:ln>
        </p:spPr>
      </p:sp>
      <p:sp>
        <p:nvSpPr>
          <p:cNvPr id="10" name="Text 8"/>
          <p:cNvSpPr txBox="1"/>
          <p:nvPr/>
        </p:nvSpPr>
        <p:spPr>
          <a:xfrm>
            <a:off x="6620256" y="1865376"/>
            <a:ext cx="5440680" cy="274320"/>
          </a:xfrm>
          <a:prstGeom prst="rect">
            <a:avLst/>
          </a:prstGeom>
          <a:noFill/>
          <a:ln/>
        </p:spPr>
        <p:txBody>
          <a:bodyPr wrap="square" lIns="0" tIns="0" rIns="0" bIns="0" rtlCol="0" anchor="t"/>
          <a:lstStyle/>
          <a:p>
            <a:pPr indent="0" marL="0">
              <a:buNone/>
            </a:pPr>
            <a:r>
              <a:rPr lang="en-US" sz="1300" b="1" dirty="0">
                <a:solidFill>
                  <a:srgbClr val="2E7D5B"/>
                </a:solidFill>
                <a:latin typeface="Calibri" pitchFamily="34" charset="0"/>
                <a:ea typeface="Calibri" pitchFamily="34" charset="-122"/>
                <a:cs typeface="Calibri" pitchFamily="34" charset="-120"/>
              </a:rPr>
              <a:t>…and then it remembered</a:t>
            </a:r>
            <a:endParaRPr lang="en-US" sz="1300" dirty="0"/>
          </a:p>
        </p:txBody>
      </p:sp>
      <p:sp>
        <p:nvSpPr>
          <p:cNvPr id="11" name="Text 9"/>
          <p:cNvSpPr txBox="1"/>
          <p:nvPr/>
        </p:nvSpPr>
        <p:spPr>
          <a:xfrm>
            <a:off x="6620256" y="2176272"/>
            <a:ext cx="5440680" cy="530352"/>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2303C"/>
                </a:solidFill>
                <a:latin typeface="Calibri" pitchFamily="34" charset="0"/>
                <a:ea typeface="Calibri" pitchFamily="34" charset="-122"/>
                <a:cs typeface="Calibri" pitchFamily="34" charset="-120"/>
              </a:rPr>
              <a:t>trust_root is absolute now, so evidence accumulates ACROSS jobs: 22702568's last event was clean, so 22726105 promoted a run early.</a:t>
            </a:r>
            <a:endParaRPr lang="en-US" sz="950" dirty="0"/>
          </a:p>
          <a:p>
            <a:pPr marL="342900" indent="-342900">
              <a:spcAft>
                <a:spcPts val="400"/>
              </a:spcAft>
              <a:buSzPct val="100000"/>
              <a:buChar char="•"/>
            </a:pPr>
            <a:r>
              <a:rPr lang="en-US" sz="950" dirty="0">
                <a:solidFill>
                  <a:srgbClr val="22303C"/>
                </a:solidFill>
                <a:latin typeface="Calibri" pitchFamily="34" charset="0"/>
                <a:ea typeface="Calibri" pitchFamily="34" charset="-122"/>
                <a:cs typeface="Calibri" pitchFamily="34" charset="-120"/>
              </a:rPr>
              <a:t>22728140 then ran 3 consecutive trusted cycles — 0 demotions, 0 integrity failures.</a:t>
            </a:r>
            <a:endParaRPr lang="en-US" sz="950" dirty="0"/>
          </a:p>
        </p:txBody>
      </p:sp>
      <p:sp>
        <p:nvSpPr>
          <p:cNvPr id="12" name="Text 10"/>
          <p:cNvSpPr txBox="1"/>
          <p:nvPr/>
        </p:nvSpPr>
        <p:spPr>
          <a:xfrm>
            <a:off x="457200" y="2926080"/>
            <a:ext cx="11274552" cy="685800"/>
          </a:xfrm>
          <a:prstGeom prst="rect">
            <a:avLst/>
          </a:prstGeom>
          <a:noFill/>
          <a:ln/>
        </p:spPr>
        <p:txBody>
          <a:bodyPr wrap="square" lIns="0" tIns="0" rIns="0" bIns="0" rtlCol="0" anchor="t"/>
          <a:lstStyle/>
          <a:p>
            <a:pPr indent="0" marL="0">
              <a:buNone/>
            </a:pPr>
            <a:r>
              <a:rPr lang="en-US" sz="1150" b="1" dirty="0">
                <a:solidFill>
                  <a:srgbClr val="16222B"/>
                </a:solidFill>
                <a:latin typeface="Calibri" pitchFamily="34" charset="0"/>
                <a:ea typeface="Calibri" pitchFamily="34" charset="-122"/>
                <a:cs typeface="Calibri" pitchFamily="34" charset="-120"/>
              </a:rPr>
              <a:t>How it hid: </a:t>
            </a:r>
            <a:pPr indent="0" marL="0">
              <a:buNone/>
            </a:pPr>
            <a:r>
              <a:rPr lang="en-US" sz="1150" dirty="0">
                <a:solidFill>
                  <a:srgbClr val="22303C"/>
                </a:solidFill>
                <a:latin typeface="Calibri" pitchFamily="34" charset="0"/>
                <a:ea typeface="Calibri" pitchFamily="34" charset="-122"/>
                <a:cs typeface="Calibri" pitchFamily="34" charset="-120"/>
              </a:rPr>
              <a:t>nothing ever logged where the ledger was, so a file that silently reset looked identical to one that had not earned promotion yet — and it was reported that way. Campaign start now prints the absolute path with a pattern and trusted count. It had been true since the first Delta job, so </a:t>
            </a:r>
            <a:pPr indent="0" marL="0">
              <a:buNone/>
            </a:pPr>
            <a:r>
              <a:rPr lang="en-US" sz="1150" b="1" dirty="0">
                <a:solidFill>
                  <a:srgbClr val="2E7D5B"/>
                </a:solidFill>
                <a:latin typeface="Calibri" pitchFamily="34" charset="0"/>
                <a:ea typeface="Calibri" pitchFamily="34" charset="-122"/>
                <a:cs typeface="Calibri" pitchFamily="34" charset="-120"/>
              </a:rPr>
              <a:t>the trusted path did not execute until job 22726105</a:t>
            </a:r>
            <a:pPr indent="0" marL="0">
              <a:buNone/>
            </a:pPr>
            <a:r>
              <a:rPr lang="en-US" sz="1150" dirty="0">
                <a:solidFill>
                  <a:srgbClr val="22303C"/>
                </a:solidFill>
                <a:latin typeface="Calibri" pitchFamily="34" charset="0"/>
                <a:ea typeface="Calibri" pitchFamily="34" charset="-122"/>
                <a:cs typeface="Calibri" pitchFamily="34" charset="-120"/>
              </a:rPr>
              <a:t>: every graph composed on real hardware before it ran under the forced dry-run and the 10% cap — and that cap is what truncated boltz_predict off the chain twice.</a:t>
            </a:r>
            <a:endParaRPr lang="en-US" sz="1150" dirty="0"/>
          </a:p>
        </p:txBody>
      </p:sp>
      <p:sp>
        <p:nvSpPr>
          <p:cNvPr id="13" name="Shape 11"/>
          <p:cNvSpPr/>
          <p:nvPr/>
        </p:nvSpPr>
        <p:spPr>
          <a:xfrm>
            <a:off x="457200" y="3639312"/>
            <a:ext cx="11274552" cy="347472"/>
          </a:xfrm>
          <a:prstGeom prst="rect">
            <a:avLst/>
          </a:prstGeom>
          <a:solidFill>
            <a:srgbClr val="C0392B"/>
          </a:solidFill>
          <a:ln w="12700">
            <a:solidFill>
              <a:srgbClr val="C0392B"/>
            </a:solidFill>
            <a:prstDash val="solid"/>
          </a:ln>
        </p:spPr>
      </p:sp>
      <p:sp>
        <p:nvSpPr>
          <p:cNvPr id="14" name="Text 12"/>
          <p:cNvSpPr txBox="1"/>
          <p:nvPr/>
        </p:nvSpPr>
        <p:spPr>
          <a:xfrm>
            <a:off x="566928" y="3639312"/>
            <a:ext cx="11064240" cy="34747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2 · And a pattern's identity includes its BREADTH — found while building this deck</a:t>
            </a:r>
            <a:endParaRPr lang="en-US" sz="1250" dirty="0"/>
          </a:p>
        </p:txBody>
      </p:sp>
      <p:sp>
        <p:nvSpPr>
          <p:cNvPr id="15" name="Shape 13"/>
          <p:cNvSpPr/>
          <p:nvPr/>
        </p:nvSpPr>
        <p:spPr>
          <a:xfrm>
            <a:off x="457200" y="4069080"/>
            <a:ext cx="5760720" cy="868680"/>
          </a:xfrm>
          <a:prstGeom prst="rect">
            <a:avLst/>
          </a:prstGeom>
          <a:solidFill>
            <a:srgbClr val="16222B"/>
          </a:solidFill>
          <a:ln w="12700">
            <a:solidFill>
              <a:srgbClr val="16222B"/>
            </a:solidFill>
            <a:prstDash val="solid"/>
          </a:ln>
        </p:spPr>
      </p:sp>
      <p:sp>
        <p:nvSpPr>
          <p:cNvPr id="16" name="Text 14"/>
          <p:cNvSpPr txBox="1"/>
          <p:nvPr/>
        </p:nvSpPr>
        <p:spPr>
          <a:xfrm>
            <a:off x="557784" y="4160520"/>
            <a:ext cx="5559552" cy="685800"/>
          </a:xfrm>
          <a:prstGeom prst="rect">
            <a:avLst/>
          </a:prstGeom>
          <a:noFill/>
          <a:ln/>
        </p:spPr>
        <p:txBody>
          <a:bodyPr wrap="square" lIns="0" tIns="0" rIns="0" bIns="0" rtlCol="0" anchor="t"/>
          <a:lstStyle/>
          <a:p>
            <a:pPr indent="0" marL="0">
              <a:lnSpc>
                <a:spcPts val="1080"/>
              </a:lnSpc>
              <a:buNone/>
            </a:pPr>
            <a:r>
              <a:rPr lang="en-US" sz="864" dirty="0">
                <a:solidFill>
                  <a:srgbClr val="DCE5EC"/>
                </a:solidFill>
                <a:latin typeface="Consolas" pitchFamily="34" charset="0"/>
                <a:ea typeface="Consolas" pitchFamily="34" charset="-122"/>
                <a:cs typeface="Consolas" pitchFamily="34" charset="-120"/>
              </a:rPr>
              <a:t>parts = sorted(                       # ONE string per NODE</a:t>
            </a:r>
            <a:endParaRPr lang="en-US" sz="864" dirty="0"/>
          </a:p>
          <a:p>
            <a:pPr indent="0" marL="0">
              <a:lnSpc>
                <a:spcPts val="1080"/>
              </a:lnSpc>
              <a:buNone/>
            </a:pPr>
            <a:r>
              <a:rPr lang="en-US" sz="864" dirty="0">
                <a:solidFill>
                  <a:srgbClr val="DCE5EC"/>
                </a:solidFill>
                <a:latin typeface="Consolas" pitchFamily="34" charset="0"/>
                <a:ea typeface="Consolas" pitchFamily="34" charset="-122"/>
                <a:cs typeface="Consolas" pitchFamily="34" charset="-120"/>
              </a:rPr>
              <a:t>    f"{n.tool}&lt;-{','.join(sorted(self.nodes[d].tool for d in n.deps))}"</a:t>
            </a:r>
            <a:endParaRPr lang="en-US" sz="864" dirty="0"/>
          </a:p>
          <a:p>
            <a:pPr indent="0" marL="0">
              <a:lnSpc>
                <a:spcPts val="1080"/>
              </a:lnSpc>
              <a:buNone/>
            </a:pPr>
            <a:r>
              <a:rPr lang="en-US" sz="864" dirty="0">
                <a:solidFill>
                  <a:srgbClr val="DCE5EC"/>
                </a:solidFill>
                <a:latin typeface="Consolas" pitchFamily="34" charset="0"/>
                <a:ea typeface="Consolas" pitchFamily="34" charset="-122"/>
                <a:cs typeface="Consolas" pitchFamily="34" charset="-120"/>
              </a:rPr>
              <a:t>    for n in self.nodes.values()</a:t>
            </a:r>
            <a:endParaRPr lang="en-US" sz="864" dirty="0"/>
          </a:p>
          <a:p>
            <a:pPr indent="0" marL="0">
              <a:lnSpc>
                <a:spcPts val="1080"/>
              </a:lnSpc>
              <a:buNone/>
            </a:pPr>
            <a:r>
              <a:rPr lang="en-US" sz="864" dirty="0">
                <a:solidFill>
                  <a:srgbClr val="DCE5EC"/>
                </a:solidFill>
                <a:latin typeface="Consolas" pitchFamily="34" charset="0"/>
                <a:ea typeface="Consolas" pitchFamily="34" charset="-122"/>
                <a:cs typeface="Consolas" pitchFamily="34" charset="-120"/>
              </a:rPr>
              <a:t>)</a:t>
            </a:r>
            <a:endParaRPr lang="en-US" sz="864" dirty="0"/>
          </a:p>
          <a:p>
            <a:pPr indent="0" marL="0">
              <a:lnSpc>
                <a:spcPts val="1080"/>
              </a:lnSpc>
              <a:buNone/>
            </a:pPr>
            <a:r>
              <a:rPr lang="en-US" sz="864" dirty="0">
                <a:solidFill>
                  <a:srgbClr val="DCE5EC"/>
                </a:solidFill>
                <a:latin typeface="Consolas" pitchFamily="34" charset="0"/>
                <a:ea typeface="Consolas" pitchFamily="34" charset="-122"/>
                <a:cs typeface="Consolas" pitchFamily="34" charset="-120"/>
              </a:rPr>
              <a:t>return hashlib.sha256("|".join(parts).encode()).hexdigest()[:16]</a:t>
            </a:r>
            <a:endParaRPr lang="en-US" sz="864" dirty="0"/>
          </a:p>
        </p:txBody>
      </p:sp>
      <p:sp>
        <p:nvSpPr>
          <p:cNvPr id="17" name="Text 15"/>
          <p:cNvSpPr txBox="1"/>
          <p:nvPr/>
        </p:nvSpPr>
        <p:spPr>
          <a:xfrm>
            <a:off x="457200" y="4956048"/>
            <a:ext cx="5760720" cy="182880"/>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compose/graph.py:51  ·  VERBATIM + one added comment</a:t>
            </a:r>
            <a:endParaRPr lang="en-US" sz="850" dirty="0"/>
          </a:p>
        </p:txBody>
      </p:sp>
      <p:sp>
        <p:nvSpPr>
          <p:cNvPr id="18" name="Text 16"/>
          <p:cNvSpPr txBox="1"/>
          <p:nvPr/>
        </p:nvSpPr>
        <p:spPr>
          <a:xfrm>
            <a:off x="457200" y="5084064"/>
            <a:ext cx="5760720" cy="402336"/>
          </a:xfrm>
          <a:prstGeom prst="rect">
            <a:avLst/>
          </a:prstGeom>
          <a:noFill/>
          <a:ln/>
        </p:spPr>
        <p:txBody>
          <a:bodyPr wrap="square" lIns="0" tIns="0" rIns="0" bIns="0" rtlCol="0" anchor="t"/>
          <a:lstStyle/>
          <a:p>
            <a:pPr indent="0" marL="0">
              <a:buNone/>
            </a:pPr>
            <a:r>
              <a:rPr lang="en-US" sz="1000" dirty="0">
                <a:solidFill>
                  <a:srgbClr val="22303C"/>
                </a:solidFill>
                <a:latin typeface="Calibri" pitchFamily="34" charset="0"/>
                <a:ea typeface="Calibri" pitchFamily="34" charset="-122"/>
                <a:cs typeface="Calibri" pitchFamily="34" charset="-120"/>
              </a:rPr>
              <a:t>N lineages give N duplicate parts, so the hash changes with the replica count — the way it deliberately does not change with a parameter:</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92240" y="4069080"/>
          <a:ext cx="5696712" cy="914400"/>
        </p:xfrm>
        <a:graphic>
          <a:graphicData uri="http://schemas.openxmlformats.org/drawingml/2006/table">
            <a:tbl>
              <a:tblPr/>
              <a:tblGrid>
                <a:gridCol w="2377440"/>
                <a:gridCol w="640080"/>
                <a:gridCol w="2679192"/>
              </a:tblGrid>
              <a:tr h="2743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the real six-stage chain</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C0392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nodes</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C0392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signature</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C0392B"/>
                    </a:solidFill>
                  </a:tcPr>
                </a:tc>
              </a:tr>
              <a:tr h="274320">
                <a:tc>
                  <a:txBody>
                    <a:bodyPr/>
                    <a:lstStyle/>
                    <a:p>
                      <a:pPr algn="l" indent="0" marL="0">
                        <a:buNone/>
                      </a:pPr>
                      <a:r>
                        <a:rPr lang="en-US" sz="1050" b="1" dirty="0">
                          <a:solidFill>
                            <a:srgbClr val="22303C"/>
                          </a:solidFill>
                          <a:latin typeface="Calibri" pitchFamily="34" charset="0"/>
                          <a:ea typeface="Calibri" pitchFamily="34" charset="-122"/>
                          <a:cs typeface="Calibri" pitchFamily="34" charset="-120"/>
                        </a:rPr>
                        <a:t>replicas: 1</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ctr" indent="0" marL="0">
                        <a:buNone/>
                      </a:pPr>
                      <a:r>
                        <a:rPr lang="en-US" sz="1050" dirty="0">
                          <a:solidFill>
                            <a:srgbClr val="22303C"/>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f5b21d82924fbcd0</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274320">
                <a:tc>
                  <a:txBody>
                    <a:bodyPr/>
                    <a:lstStyle/>
                    <a:p>
                      <a:pPr algn="l" indent="0" marL="0">
                        <a:buNone/>
                      </a:pPr>
                      <a:r>
                        <a:rPr lang="en-US" sz="1050" b="1" dirty="0">
                          <a:solidFill>
                            <a:srgbClr val="22303C"/>
                          </a:solidFill>
                          <a:latin typeface="Calibri" pitchFamily="34" charset="0"/>
                          <a:ea typeface="Calibri" pitchFamily="34" charset="-122"/>
                          <a:cs typeface="Calibri" pitchFamily="34" charset="-120"/>
                        </a:rPr>
                        <a:t>replicas: 2</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2303C"/>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f8bcefed63c493ae</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274320">
                <a:tc>
                  <a:txBody>
                    <a:bodyPr/>
                    <a:lstStyle/>
                    <a:p>
                      <a:pPr algn="l" indent="0" marL="0">
                        <a:buNone/>
                      </a:pPr>
                      <a:r>
                        <a:rPr lang="en-US" sz="1050" b="1" dirty="0">
                          <a:solidFill>
                            <a:srgbClr val="22303C"/>
                          </a:solidFill>
                          <a:latin typeface="Calibri" pitchFamily="34" charset="0"/>
                          <a:ea typeface="Calibri" pitchFamily="34" charset="-122"/>
                          <a:cs typeface="Calibri" pitchFamily="34" charset="-120"/>
                        </a:rPr>
                        <a:t>replicas: 4</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ctr" indent="0" marL="0">
                        <a:buNone/>
                      </a:pPr>
                      <a:r>
                        <a:rPr lang="en-US" sz="1050" dirty="0">
                          <a:solidFill>
                            <a:srgbClr val="22303C"/>
                          </a:solidFill>
                          <a:latin typeface="Calibri" pitchFamily="34" charset="0"/>
                          <a:ea typeface="Calibri" pitchFamily="34" charset="-122"/>
                          <a:cs typeface="Calibri" pitchFamily="34" charset="-120"/>
                        </a:rPr>
                        <a:t>24</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78e730c67750a361</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274320">
                <a:tc>
                  <a:txBody>
                    <a:bodyPr/>
                    <a:lstStyle/>
                    <a:p>
                      <a:pPr algn="l" indent="0" marL="0">
                        <a:buNone/>
                      </a:pPr>
                      <a:r>
                        <a:rPr lang="en-US" sz="1050" b="1" dirty="0">
                          <a:solidFill>
                            <a:srgbClr val="22303C"/>
                          </a:solidFill>
                          <a:latin typeface="Calibri" pitchFamily="34" charset="0"/>
                          <a:ea typeface="Calibri" pitchFamily="34" charset="-122"/>
                          <a:cs typeface="Calibri" pitchFamily="34" charset="-120"/>
                        </a:rPr>
                        <a:t>replicas: 1, num_designs: 3</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2303C"/>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900" b="1" dirty="0">
                          <a:solidFill>
                            <a:srgbClr val="2E7D4F"/>
                          </a:solidFill>
                          <a:latin typeface="Consolas" pitchFamily="34" charset="0"/>
                          <a:ea typeface="Consolas" pitchFamily="34" charset="-122"/>
                          <a:cs typeface="Consolas" pitchFamily="34" charset="-120"/>
                        </a:rPr>
                        <a:t>f5b21d82924fbcd0  ← unchanged</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bl>
          </a:graphicData>
        </a:graphic>
      </p:graphicFrame>
      <p:sp>
        <p:nvSpPr>
          <p:cNvPr id="20" name="Shape 17"/>
          <p:cNvSpPr/>
          <p:nvPr/>
        </p:nvSpPr>
        <p:spPr>
          <a:xfrm>
            <a:off x="457200" y="5559552"/>
            <a:ext cx="7040880" cy="868680"/>
          </a:xfrm>
          <a:prstGeom prst="rect">
            <a:avLst/>
          </a:prstGeom>
          <a:solidFill>
            <a:srgbClr val="F9E0DD"/>
          </a:solidFill>
          <a:ln w="12700">
            <a:solidFill>
              <a:srgbClr val="F9E0DD"/>
            </a:solidFill>
            <a:prstDash val="solid"/>
          </a:ln>
        </p:spPr>
      </p:sp>
      <p:sp>
        <p:nvSpPr>
          <p:cNvPr id="21" name="Text 18"/>
          <p:cNvSpPr txBox="1"/>
          <p:nvPr/>
        </p:nvSpPr>
        <p:spPr>
          <a:xfrm>
            <a:off x="585216" y="5641848"/>
            <a:ext cx="6784848" cy="274320"/>
          </a:xfrm>
          <a:prstGeom prst="rect">
            <a:avLst/>
          </a:prstGeom>
          <a:noFill/>
          <a:ln/>
        </p:spPr>
        <p:txBody>
          <a:bodyPr wrap="square" lIns="0" tIns="0" rIns="0" bIns="0" rtlCol="0" anchor="t"/>
          <a:lstStyle/>
          <a:p>
            <a:pPr indent="0" marL="0">
              <a:buNone/>
            </a:pPr>
            <a:r>
              <a:rPr lang="en-US" sz="1300" b="1" dirty="0">
                <a:solidFill>
                  <a:srgbClr val="C0392B"/>
                </a:solidFill>
                <a:latin typeface="Calibri" pitchFamily="34" charset="0"/>
                <a:ea typeface="Calibri" pitchFamily="34" charset="-122"/>
                <a:cs typeface="Calibri" pitchFamily="34" charset="-120"/>
              </a:rPr>
              <a:t>What that costs, concretely</a:t>
            </a:r>
            <a:endParaRPr lang="en-US" sz="1300" dirty="0"/>
          </a:p>
        </p:txBody>
      </p:sp>
      <p:sp>
        <p:nvSpPr>
          <p:cNvPr id="22" name="Text 19"/>
          <p:cNvSpPr txBox="1"/>
          <p:nvPr/>
        </p:nvSpPr>
        <p:spPr>
          <a:xfrm>
            <a:off x="585216" y="5952744"/>
            <a:ext cx="6784848" cy="393192"/>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Backlog A10's cheapest route — promote at replicas: 1, then run replicas: 4 — does not work. That is a different, untrusted pattern: still capped, refused at 0.68 vs 0.6 gpu-h, and on_rejected would silently shrink it to three lineages.</a:t>
            </a:r>
            <a:endParaRPr lang="en-US" sz="1000" dirty="0"/>
          </a:p>
        </p:txBody>
      </p:sp>
      <p:sp>
        <p:nvSpPr>
          <p:cNvPr id="23" name="Shape 20"/>
          <p:cNvSpPr/>
          <p:nvPr/>
        </p:nvSpPr>
        <p:spPr>
          <a:xfrm>
            <a:off x="7772400" y="5559552"/>
            <a:ext cx="4416552" cy="868680"/>
          </a:xfrm>
          <a:prstGeom prst="rect">
            <a:avLst/>
          </a:prstGeom>
          <a:solidFill>
            <a:srgbClr val="EEF2F5"/>
          </a:solidFill>
          <a:ln w="12700">
            <a:solidFill>
              <a:srgbClr val="EEF2F5"/>
            </a:solidFill>
            <a:prstDash val="solid"/>
          </a:ln>
        </p:spPr>
      </p:sp>
      <p:sp>
        <p:nvSpPr>
          <p:cNvPr id="24" name="Text 21"/>
          <p:cNvSpPr txBox="1"/>
          <p:nvPr/>
        </p:nvSpPr>
        <p:spPr>
          <a:xfrm>
            <a:off x="7900416" y="5641848"/>
            <a:ext cx="4160520"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The question for the room</a:t>
            </a:r>
            <a:endParaRPr lang="en-US" sz="1300" dirty="0"/>
          </a:p>
        </p:txBody>
      </p:sp>
      <p:sp>
        <p:nvSpPr>
          <p:cNvPr id="25" name="Text 22"/>
          <p:cNvSpPr txBox="1"/>
          <p:nvPr/>
        </p:nvSpPr>
        <p:spPr>
          <a:xfrm>
            <a:off x="7900416" y="5952744"/>
            <a:ext cx="4160520" cy="393192"/>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Is trust earned at one lineage evidence about four, when the cap it would lift exists to bound blast radius?</a:t>
            </a:r>
            <a:endParaRPr lang="en-US" sz="1000" dirty="0"/>
          </a:p>
        </p:txBody>
      </p:sp>
      <p:sp>
        <p:nvSpPr>
          <p:cNvPr id="26" name="Text 23"/>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Signatures computed live by slides/run_model.py against this checkout — the mock run on backup B1 shows the same shape, the shrink from 3 lineages to 2 producing a new pattern.</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222B"/>
        </a:solidFill>
      </p:bgPr>
    </p:bg>
    <p:spTree>
      <p:nvGrpSpPr>
        <p:cNvPr id="1" name=""/>
        <p:cNvGrpSpPr/>
        <p:nvPr/>
      </p:nvGrpSpPr>
      <p:grpSpPr>
        <a:xfrm>
          <a:off x="0" y="0"/>
          <a:ext cx="0" cy="0"/>
          <a:chOff x="0" y="0"/>
          <a:chExt cx="0" cy="0"/>
        </a:xfrm>
      </p:grpSpPr>
      <p:sp>
        <p:nvSpPr>
          <p:cNvPr id="2" name="Text 0"/>
          <p:cNvSpPr txBox="1"/>
          <p:nvPr/>
        </p:nvSpPr>
        <p:spPr>
          <a:xfrm>
            <a:off x="457200" y="777240"/>
            <a:ext cx="3657600" cy="274320"/>
          </a:xfrm>
          <a:prstGeom prst="rect">
            <a:avLst/>
          </a:prstGeom>
          <a:noFill/>
          <a:ln/>
        </p:spPr>
        <p:txBody>
          <a:bodyPr wrap="square" lIns="0" tIns="0" rIns="0" bIns="0" rtlCol="0" anchor="t"/>
          <a:lstStyle/>
          <a:p>
            <a:pPr indent="0" marL="0">
              <a:buNone/>
            </a:pPr>
            <a:r>
              <a:rPr lang="en-US" sz="1300" b="1" spc="300" kern="0" dirty="0">
                <a:solidFill>
                  <a:srgbClr val="5E6B75"/>
                </a:solidFill>
                <a:latin typeface="Calibri" pitchFamily="34" charset="0"/>
                <a:ea typeface="Calibri" pitchFamily="34" charset="-122"/>
                <a:cs typeface="Calibri" pitchFamily="34" charset="-120"/>
              </a:rPr>
              <a:t>ACT 3 OF 3</a:t>
            </a:r>
            <a:endParaRPr lang="en-US" sz="1300" dirty="0"/>
          </a:p>
        </p:txBody>
      </p:sp>
      <p:sp>
        <p:nvSpPr>
          <p:cNvPr id="3" name="Text 1"/>
          <p:cNvSpPr txBox="1"/>
          <p:nvPr/>
        </p:nvSpPr>
        <p:spPr>
          <a:xfrm>
            <a:off x="457200" y="1097280"/>
            <a:ext cx="8686800" cy="868680"/>
          </a:xfrm>
          <a:prstGeom prst="rect">
            <a:avLst/>
          </a:prstGeom>
          <a:noFill/>
          <a:ln/>
        </p:spPr>
        <p:txBody>
          <a:bodyPr wrap="square" lIns="0" tIns="0" rIns="0" bIns="0" rtlCol="0" anchor="t"/>
          <a:lstStyle/>
          <a:p>
            <a:pPr indent="0" marL="0">
              <a:buNone/>
            </a:pPr>
            <a:r>
              <a:rPr lang="en-US" sz="4600" b="1" spc="100" kern="0" dirty="0">
                <a:solidFill>
                  <a:srgbClr val="FFFFFF"/>
                </a:solidFill>
                <a:latin typeface="Cambria" pitchFamily="34" charset="0"/>
                <a:ea typeface="Cambria" pitchFamily="34" charset="-122"/>
                <a:cs typeface="Cambria" pitchFamily="34" charset="-120"/>
              </a:rPr>
              <a:t>USABILITY</a:t>
            </a:r>
            <a:endParaRPr lang="en-US" sz="4600" dirty="0"/>
          </a:p>
        </p:txBody>
      </p:sp>
      <p:sp>
        <p:nvSpPr>
          <p:cNvPr id="4" name="Text 2"/>
          <p:cNvSpPr txBox="1"/>
          <p:nvPr/>
        </p:nvSpPr>
        <p:spPr>
          <a:xfrm>
            <a:off x="457200" y="2103120"/>
            <a:ext cx="11094415" cy="548640"/>
          </a:xfrm>
          <a:prstGeom prst="rect">
            <a:avLst/>
          </a:prstGeom>
          <a:noFill/>
          <a:ln/>
        </p:spPr>
        <p:txBody>
          <a:bodyPr wrap="square" lIns="0" tIns="0" rIns="0" bIns="0" rtlCol="0" anchor="t"/>
          <a:lstStyle/>
          <a:p>
            <a:pPr indent="0" marL="0">
              <a:buNone/>
            </a:pPr>
            <a:r>
              <a:rPr lang="en-US" sz="1600" i="1" dirty="0">
                <a:solidFill>
                  <a:srgbClr val="C8D4DD"/>
                </a:solidFill>
                <a:latin typeface="Calibri" pitchFamily="34" charset="0"/>
                <a:ea typeface="Calibri" pitchFamily="34" charset="-122"/>
                <a:cs typeface="Calibri" pitchFamily="34" charset="-120"/>
              </a:rPr>
              <a:t>Not the interface - the use cases. Is it an application, a platform, or a component in something larger?</a:t>
            </a:r>
            <a:endParaRPr lang="en-US" sz="1600" dirty="0"/>
          </a:p>
        </p:txBody>
      </p:sp>
      <p:sp>
        <p:nvSpPr>
          <p:cNvPr id="5" name="Shape 3"/>
          <p:cNvSpPr/>
          <p:nvPr/>
        </p:nvSpPr>
        <p:spPr>
          <a:xfrm>
            <a:off x="457200" y="2962656"/>
            <a:ext cx="54864" cy="548640"/>
          </a:xfrm>
          <a:prstGeom prst="rect">
            <a:avLst/>
          </a:prstGeom>
          <a:solidFill>
            <a:srgbClr val="D9731A"/>
          </a:solidFill>
          <a:ln w="12700">
            <a:solidFill>
              <a:srgbClr val="D9731A"/>
            </a:solidFill>
            <a:prstDash val="solid"/>
          </a:ln>
        </p:spPr>
      </p:sp>
      <p:sp>
        <p:nvSpPr>
          <p:cNvPr id="6" name="Text 4"/>
          <p:cNvSpPr txBox="1"/>
          <p:nvPr/>
        </p:nvSpPr>
        <p:spPr>
          <a:xfrm>
            <a:off x="676656" y="2926080"/>
            <a:ext cx="11057839" cy="274320"/>
          </a:xfrm>
          <a:prstGeom prst="rect">
            <a:avLst/>
          </a:prstGeom>
          <a:noFill/>
          <a:ln/>
        </p:spPr>
        <p:txBody>
          <a:bodyPr wrap="square" lIns="0" tIns="0" rIns="0" bIns="0" rtlCol="0" anchor="t"/>
          <a:lstStyle/>
          <a:p>
            <a:pPr indent="0" marL="0">
              <a:buNone/>
            </a:pPr>
            <a:r>
              <a:rPr lang="en-US" sz="1500" b="1" dirty="0">
                <a:solidFill>
                  <a:srgbClr val="F0C898"/>
                </a:solidFill>
                <a:latin typeface="Calibri" pitchFamily="34" charset="0"/>
                <a:ea typeface="Calibri" pitchFamily="34" charset="-122"/>
                <a:cs typeface="Calibri" pitchFamily="34" charset="-120"/>
              </a:rPr>
              <a:t>As an application: yes, and without an allocation</a:t>
            </a:r>
            <a:endParaRPr lang="en-US" sz="1500" dirty="0"/>
          </a:p>
        </p:txBody>
      </p:sp>
      <p:sp>
        <p:nvSpPr>
          <p:cNvPr id="7" name="Text 5"/>
          <p:cNvSpPr txBox="1"/>
          <p:nvPr/>
        </p:nvSpPr>
        <p:spPr>
          <a:xfrm>
            <a:off x="676656" y="3200400"/>
            <a:ext cx="11057839" cy="292608"/>
          </a:xfrm>
          <a:prstGeom prst="rect">
            <a:avLst/>
          </a:prstGeom>
          <a:noFill/>
          <a:ln/>
        </p:spPr>
        <p:txBody>
          <a:bodyPr wrap="square" lIns="0" tIns="0" rIns="0" bIns="0" rtlCol="0" anchor="t"/>
          <a:lstStyle/>
          <a:p>
            <a:pPr indent="0" marL="0">
              <a:buNone/>
            </a:pPr>
            <a:r>
              <a:rPr lang="en-US" sz="1200" dirty="0">
                <a:solidFill>
                  <a:srgbClr val="C8D4DD"/>
                </a:solidFill>
                <a:latin typeface="Calibri" pitchFamily="34" charset="0"/>
                <a:ea typeface="Calibri" pitchFamily="34" charset="-122"/>
                <a:cs typeface="Calibri" pitchFamily="34" charset="-120"/>
              </a:rPr>
              <a:t>A campaign is one YAML and one command. The whole local tier - 168 tests over 3,855 lines - runs on a laptop with no scheduler, no GPU and no cluster.</a:t>
            </a:r>
            <a:endParaRPr lang="en-US" sz="1200" dirty="0"/>
          </a:p>
        </p:txBody>
      </p:sp>
      <p:sp>
        <p:nvSpPr>
          <p:cNvPr id="8" name="Shape 6"/>
          <p:cNvSpPr/>
          <p:nvPr/>
        </p:nvSpPr>
        <p:spPr>
          <a:xfrm>
            <a:off x="457200" y="3749040"/>
            <a:ext cx="54864" cy="548640"/>
          </a:xfrm>
          <a:prstGeom prst="rect">
            <a:avLst/>
          </a:prstGeom>
          <a:solidFill>
            <a:srgbClr val="D9731A"/>
          </a:solidFill>
          <a:ln w="12700">
            <a:solidFill>
              <a:srgbClr val="D9731A"/>
            </a:solidFill>
            <a:prstDash val="solid"/>
          </a:ln>
        </p:spPr>
      </p:sp>
      <p:sp>
        <p:nvSpPr>
          <p:cNvPr id="9" name="Text 7"/>
          <p:cNvSpPr txBox="1"/>
          <p:nvPr/>
        </p:nvSpPr>
        <p:spPr>
          <a:xfrm>
            <a:off x="676656" y="3712464"/>
            <a:ext cx="11057839" cy="274320"/>
          </a:xfrm>
          <a:prstGeom prst="rect">
            <a:avLst/>
          </a:prstGeom>
          <a:noFill/>
          <a:ln/>
        </p:spPr>
        <p:txBody>
          <a:bodyPr wrap="square" lIns="0" tIns="0" rIns="0" bIns="0" rtlCol="0" anchor="t"/>
          <a:lstStyle/>
          <a:p>
            <a:pPr indent="0" marL="0">
              <a:buNone/>
            </a:pPr>
            <a:r>
              <a:rPr lang="en-US" sz="1500" b="1" dirty="0">
                <a:solidFill>
                  <a:srgbClr val="F0C898"/>
                </a:solidFill>
                <a:latin typeface="Calibri" pitchFamily="34" charset="0"/>
                <a:ea typeface="Calibri" pitchFamily="34" charset="-122"/>
                <a:cs typeface="Calibri" pitchFamily="34" charset="-120"/>
              </a:rPr>
              <a:t>As a platform: yes, with a seam that is not the CLI</a:t>
            </a:r>
            <a:endParaRPr lang="en-US" sz="1500" dirty="0"/>
          </a:p>
        </p:txBody>
      </p:sp>
      <p:sp>
        <p:nvSpPr>
          <p:cNvPr id="10" name="Text 8"/>
          <p:cNvSpPr txBox="1"/>
          <p:nvPr/>
        </p:nvSpPr>
        <p:spPr>
          <a:xfrm>
            <a:off x="676656" y="3986784"/>
            <a:ext cx="11057839" cy="292608"/>
          </a:xfrm>
          <a:prstGeom prst="rect">
            <a:avLst/>
          </a:prstGeom>
          <a:noFill/>
          <a:ln/>
        </p:spPr>
        <p:txBody>
          <a:bodyPr wrap="square" lIns="0" tIns="0" rIns="0" bIns="0" rtlCol="0" anchor="t"/>
          <a:lstStyle/>
          <a:p>
            <a:pPr indent="0" marL="0">
              <a:buNone/>
            </a:pPr>
            <a:r>
              <a:rPr lang="en-US" sz="1200" dirty="0">
                <a:solidFill>
                  <a:srgbClr val="C8D4DD"/>
                </a:solidFill>
                <a:latin typeface="Calibri" pitchFamily="34" charset="0"/>
                <a:ea typeface="Calibri" pitchFamily="34" charset="-122"/>
                <a:cs typeface="Calibri" pitchFamily="34" charset="-120"/>
              </a:rPr>
              <a:t>Toolkits are discovered at runtime, not packaged: 11 tools declared in spec.yaml with a SKILL.md beside them. The control plane ships in two transports, and a reasoner in another process has driven a campaign over HTTP + SSE.</a:t>
            </a:r>
            <a:endParaRPr lang="en-US" sz="1200" dirty="0"/>
          </a:p>
        </p:txBody>
      </p:sp>
      <p:sp>
        <p:nvSpPr>
          <p:cNvPr id="11" name="Shape 9"/>
          <p:cNvSpPr/>
          <p:nvPr/>
        </p:nvSpPr>
        <p:spPr>
          <a:xfrm>
            <a:off x="457200" y="4535424"/>
            <a:ext cx="54864" cy="548640"/>
          </a:xfrm>
          <a:prstGeom prst="rect">
            <a:avLst/>
          </a:prstGeom>
          <a:solidFill>
            <a:srgbClr val="D9731A"/>
          </a:solidFill>
          <a:ln w="12700">
            <a:solidFill>
              <a:srgbClr val="D9731A"/>
            </a:solidFill>
            <a:prstDash val="solid"/>
          </a:ln>
        </p:spPr>
      </p:sp>
      <p:sp>
        <p:nvSpPr>
          <p:cNvPr id="12" name="Text 10"/>
          <p:cNvSpPr txBox="1"/>
          <p:nvPr/>
        </p:nvSpPr>
        <p:spPr>
          <a:xfrm>
            <a:off x="676656" y="4498848"/>
            <a:ext cx="11057839" cy="274320"/>
          </a:xfrm>
          <a:prstGeom prst="rect">
            <a:avLst/>
          </a:prstGeom>
          <a:noFill/>
          <a:ln/>
        </p:spPr>
        <p:txBody>
          <a:bodyPr wrap="square" lIns="0" tIns="0" rIns="0" bIns="0" rtlCol="0" anchor="t"/>
          <a:lstStyle/>
          <a:p>
            <a:pPr indent="0" marL="0">
              <a:buNone/>
            </a:pPr>
            <a:r>
              <a:rPr lang="en-US" sz="1500" b="1" dirty="0">
                <a:solidFill>
                  <a:srgbClr val="F0C898"/>
                </a:solidFill>
                <a:latin typeface="Calibri" pitchFamily="34" charset="0"/>
                <a:ea typeface="Calibri" pitchFamily="34" charset="-122"/>
                <a:cs typeface="Calibri" pitchFamily="34" charset="-120"/>
              </a:rPr>
              <a:t>As a component: no evidence, and that is the honest answer</a:t>
            </a:r>
            <a:endParaRPr lang="en-US" sz="1500" dirty="0"/>
          </a:p>
        </p:txBody>
      </p:sp>
      <p:sp>
        <p:nvSpPr>
          <p:cNvPr id="13" name="Text 11"/>
          <p:cNvSpPr txBox="1"/>
          <p:nvPr/>
        </p:nvSpPr>
        <p:spPr>
          <a:xfrm>
            <a:off x="676656" y="4773168"/>
            <a:ext cx="11057839" cy="292608"/>
          </a:xfrm>
          <a:prstGeom prst="rect">
            <a:avLst/>
          </a:prstGeom>
          <a:noFill/>
          <a:ln/>
        </p:spPr>
        <p:txBody>
          <a:bodyPr wrap="square" lIns="0" tIns="0" rIns="0" bIns="0" rtlCol="0" anchor="t"/>
          <a:lstStyle/>
          <a:p>
            <a:pPr indent="0" marL="0">
              <a:buNone/>
            </a:pPr>
            <a:r>
              <a:rPr lang="en-US" sz="1200" dirty="0">
                <a:solidFill>
                  <a:srgbClr val="C8D4DD"/>
                </a:solidFill>
                <a:latin typeface="Calibri" pitchFamily="34" charset="0"/>
                <a:ea typeface="Calibri" pitchFamily="34" charset="-122"/>
                <a:cs typeface="Calibri" pitchFamily="34" charset="-120"/>
              </a:rPr>
              <a:t>Nothing else has ever driven it. There is no resume, no serve, no reason command, and sites/*.yaml is read by no code at all.</a:t>
            </a:r>
            <a:endParaRPr lang="en-US" sz="1200" dirty="0"/>
          </a:p>
        </p:txBody>
      </p:sp>
      <p:sp>
        <p:nvSpPr>
          <p:cNvPr id="14" name="Shape 12"/>
          <p:cNvSpPr/>
          <p:nvPr/>
        </p:nvSpPr>
        <p:spPr>
          <a:xfrm>
            <a:off x="457200" y="5577840"/>
            <a:ext cx="11277295" cy="768096"/>
          </a:xfrm>
          <a:prstGeom prst="rect">
            <a:avLst/>
          </a:prstGeom>
          <a:solidFill>
            <a:srgbClr val="3A2222"/>
          </a:solidFill>
          <a:ln w="25400">
            <a:solidFill>
              <a:srgbClr val="C0392B"/>
            </a:solidFill>
            <a:prstDash val="solid"/>
          </a:ln>
        </p:spPr>
      </p:sp>
      <p:sp>
        <p:nvSpPr>
          <p:cNvPr id="15" name="Text 13"/>
          <p:cNvSpPr txBox="1"/>
          <p:nvPr/>
        </p:nvSpPr>
        <p:spPr>
          <a:xfrm>
            <a:off x="621792" y="5687568"/>
            <a:ext cx="10948111" cy="585216"/>
          </a:xfrm>
          <a:prstGeom prst="rect">
            <a:avLst/>
          </a:prstGeom>
          <a:noFill/>
          <a:ln/>
        </p:spPr>
        <p:txBody>
          <a:bodyPr wrap="square" lIns="0" tIns="0" rIns="0" bIns="0" rtlCol="0" anchor="t"/>
          <a:lstStyle/>
          <a:p>
            <a:pPr indent="0" marL="0">
              <a:buNone/>
            </a:pPr>
            <a:r>
              <a:rPr lang="en-US" sz="1300" b="1" dirty="0">
                <a:solidFill>
                  <a:srgbClr val="E8A0A0"/>
                </a:solidFill>
                <a:latin typeface="Calibri" pitchFamily="34" charset="0"/>
                <a:ea typeface="Calibri" pitchFamily="34" charset="-122"/>
                <a:cs typeface="Calibri" pitchFamily="34" charset="-120"/>
              </a:rPr>
              <a:t>The weakest claim in this act:  </a:t>
            </a:r>
            <a:pPr indent="0" marL="0">
              <a:buNone/>
            </a:pPr>
            <a:r>
              <a:rPr lang="en-US" sz="1300" dirty="0">
                <a:solidFill>
                  <a:srgbClr val="FFFFFF"/>
                </a:solidFill>
                <a:latin typeface="Calibri" pitchFamily="34" charset="0"/>
                <a:ea typeface="Calibri" pitchFamily="34" charset="-122"/>
                <a:cs typeface="Calibri" pitchFamily="34" charset="-120"/>
              </a:rPr>
              <a:t>the component claim is empty - and because serve and reason do not exist, --model C fails open and reports a model-D campaign as model C.</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USABILITY · AS AN APPLICATION</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As an application: one YAML, one command</a:t>
            </a:r>
            <a:endParaRPr lang="en-US" sz="2800" dirty="0"/>
          </a:p>
        </p:txBody>
      </p:sp>
      <p:sp>
        <p:nvSpPr>
          <p:cNvPr id="4" name="Shape 2"/>
          <p:cNvSpPr/>
          <p:nvPr/>
        </p:nvSpPr>
        <p:spPr>
          <a:xfrm>
            <a:off x="457200" y="1371600"/>
            <a:ext cx="6492240" cy="1463040"/>
          </a:xfrm>
          <a:prstGeom prst="rect">
            <a:avLst/>
          </a:prstGeom>
          <a:solidFill>
            <a:srgbClr val="16222B"/>
          </a:solidFill>
          <a:ln w="12700">
            <a:solidFill>
              <a:srgbClr val="16222B"/>
            </a:solidFill>
            <a:prstDash val="solid"/>
          </a:ln>
        </p:spPr>
      </p:sp>
      <p:sp>
        <p:nvSpPr>
          <p:cNvPr id="5" name="Text 3"/>
          <p:cNvSpPr txBox="1"/>
          <p:nvPr/>
        </p:nvSpPr>
        <p:spPr>
          <a:xfrm>
            <a:off x="557784" y="1463040"/>
            <a:ext cx="6291072" cy="1280160"/>
          </a:xfrm>
          <a:prstGeom prst="rect">
            <a:avLst/>
          </a:prstGeom>
          <a:noFill/>
          <a:ln/>
        </p:spPr>
        <p:txBody>
          <a:bodyPr wrap="square" lIns="0" tIns="0" rIns="0" bIns="0" rtlCol="0" anchor="t"/>
          <a:lstStyle/>
          <a:p>
            <a:pPr indent="0" marL="0">
              <a:lnSpc>
                <a:spcPts val="1260"/>
              </a:lnSpc>
              <a:buNone/>
            </a:pPr>
            <a:r>
              <a:rPr lang="en-US" sz="1000" dirty="0">
                <a:solidFill>
                  <a:srgbClr val="DCE5EC"/>
                </a:solidFill>
                <a:latin typeface="Consolas" pitchFamily="34" charset="0"/>
                <a:ea typeface="Consolas" pitchFamily="34" charset="-122"/>
                <a:cs typeface="Consolas" pitchFamily="34" charset="-120"/>
              </a:rPr>
              <a:t>source .venv/bin/activate          # NOT system python — see CLAUDE.md</a:t>
            </a:r>
            <a:endParaRPr lang="en-US" sz="1000" dirty="0"/>
          </a:p>
          <a:p>
            <a:pPr indent="0" marL="0">
              <a:lnSpc>
                <a:spcPts val="1260"/>
              </a:lnSpc>
              <a:buNone/>
            </a:pPr>
            <a:r>
              <a:rPr lang="en-US" sz="1000" dirty="0">
                <a:solidFill>
                  <a:srgbClr val="DCE5EC"/>
                </a:solidFill>
                <a:latin typeface="Consolas" pitchFamily="34" charset="0"/>
                <a:ea typeface="Consolas" pitchFamily="34" charset="-122"/>
                <a:cs typeface="Consolas" pitchFamily="34" charset="-120"/>
              </a:rPr>
              <a:t>pip install -e ".[dev]"</a:t>
            </a:r>
            <a:endParaRPr lang="en-US" sz="1000" dirty="0"/>
          </a:p>
          <a:p>
            <a:pPr indent="0" marL="0">
              <a:lnSpc>
                <a:spcPts val="1260"/>
              </a:lnSpc>
              <a:buNone/>
            </a:pPr>
            <a:endParaRPr lang="en-US" sz="1000" dirty="0"/>
          </a:p>
          <a:p>
            <a:pPr indent="0" marL="0">
              <a:lnSpc>
                <a:spcPts val="1260"/>
              </a:lnSpc>
              <a:buNone/>
            </a:pPr>
            <a:r>
              <a:rPr lang="en-US" sz="1000" dirty="0">
                <a:solidFill>
                  <a:srgbClr val="DCE5EC"/>
                </a:solidFill>
                <a:latin typeface="Consolas" pitchFamily="34" charset="0"/>
                <a:ea typeface="Consolas" pitchFamily="34" charset="-122"/>
                <a:cs typeface="Consolas" pitchFamily="34" charset="-120"/>
              </a:rPr>
              <a:t>pytest tests -q                    # 168 tests, no allocation</a:t>
            </a:r>
            <a:endParaRPr lang="en-US" sz="1000" dirty="0"/>
          </a:p>
          <a:p>
            <a:pPr indent="0" marL="0">
              <a:lnSpc>
                <a:spcPts val="1260"/>
              </a:lnSpc>
              <a:buNone/>
            </a:pPr>
            <a:r>
              <a:rPr lang="en-US" sz="1000" dirty="0">
                <a:solidFill>
                  <a:srgbClr val="DCE5EC"/>
                </a:solidFill>
                <a:latin typeface="Consolas" pitchFamily="34" charset="0"/>
                <a:ea typeface="Consolas" pitchFamily="34" charset="-122"/>
                <a:cs typeface="Consolas" pitchFamily="34" charset="-120"/>
              </a:rPr>
              <a:t>impress-a tools                    # list the registered tools</a:t>
            </a:r>
            <a:endParaRPr lang="en-US" sz="1000" dirty="0"/>
          </a:p>
          <a:p>
            <a:pPr indent="0" marL="0">
              <a:lnSpc>
                <a:spcPts val="1260"/>
              </a:lnSpc>
              <a:buNone/>
            </a:pPr>
            <a:r>
              <a:rPr lang="en-US" sz="1000" dirty="0">
                <a:solidFill>
                  <a:srgbClr val="DCE5EC"/>
                </a:solidFill>
                <a:latin typeface="Consolas" pitchFamily="34" charset="0"/>
                <a:ea typeface="Consolas" pitchFamily="34" charset="-122"/>
                <a:cs typeface="Consolas" pitchFamily="34" charset="-120"/>
              </a:rPr>
              <a:t>impress-a preflight campaigns/&lt;spec&gt;.yaml      # BEFORE sbatch</a:t>
            </a:r>
            <a:endParaRPr lang="en-US" sz="1000" dirty="0"/>
          </a:p>
          <a:p>
            <a:pPr indent="0" marL="0">
              <a:lnSpc>
                <a:spcPts val="1260"/>
              </a:lnSpc>
              <a:buNone/>
            </a:pPr>
            <a:r>
              <a:rPr lang="en-US" sz="1000" dirty="0">
                <a:solidFill>
                  <a:srgbClr val="DCE5EC"/>
                </a:solidFill>
                <a:latin typeface="Consolas" pitchFamily="34" charset="0"/>
                <a:ea typeface="Consolas" pitchFamily="34" charset="-122"/>
                <a:cs typeface="Consolas" pitchFamily="34" charset="-120"/>
              </a:rPr>
              <a:t>impress-a run campaigns/mock-stabilize.yaml --model D</a:t>
            </a:r>
            <a:endParaRPr lang="en-US" sz="1000" dirty="0"/>
          </a:p>
          <a:p>
            <a:pPr indent="0" marL="0">
              <a:lnSpc>
                <a:spcPts val="1260"/>
              </a:lnSpc>
              <a:buNone/>
            </a:pPr>
            <a:r>
              <a:rPr lang="en-US" sz="1000" dirty="0">
                <a:solidFill>
                  <a:srgbClr val="DCE5EC"/>
                </a:solidFill>
                <a:latin typeface="Consolas" pitchFamily="34" charset="0"/>
                <a:ea typeface="Consolas" pitchFamily="34" charset="-122"/>
                <a:cs typeface="Consolas" pitchFamily="34" charset="-120"/>
              </a:rPr>
              <a:t>#   --model A|B|C|D|null|replay    --no-guard  drops the correction wrapper</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3063240"/>
          <a:ext cx="6492240" cy="914400"/>
        </p:xfrm>
        <a:graphic>
          <a:graphicData uri="http://schemas.openxmlformats.org/drawingml/2006/table">
            <a:tbl>
              <a:tblPr/>
              <a:tblGrid>
                <a:gridCol w="2148840"/>
                <a:gridCol w="4343400"/>
              </a:tblGrid>
              <a:tr h="2743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file</a:t>
                      </a:r>
                      <a:endParaRPr lang="en-US" sz="100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it covers</a:t>
                      </a:r>
                      <a:endParaRPr lang="en-US" sz="100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r>
              <a:tr h="274320">
                <a:tc>
                  <a:txBody>
                    <a:bodyPr/>
                    <a:lstStyle/>
                    <a:p>
                      <a:pPr algn="l" indent="0" marL="0">
                        <a:buNone/>
                      </a:pPr>
                      <a:r>
                        <a:rPr lang="en-US" sz="900" b="1" dirty="0">
                          <a:solidFill>
                            <a:srgbClr val="5E6B75"/>
                          </a:solidFill>
                          <a:latin typeface="Consolas" pitchFamily="34" charset="0"/>
                          <a:ea typeface="Consolas" pitchFamily="34" charset="-122"/>
                          <a:cs typeface="Consolas" pitchFamily="34" charset="-120"/>
                        </a:rPr>
                        <a:t>test_core.py</a:t>
                      </a:r>
                      <a:endParaRPr lang="en-US" sz="900" dirty="0">
                        <a:latin typeface="Consolas" charset="0"/>
                        <a:ea typeface="Consolas" charset="0"/>
                        <a:cs typeface="Consolas"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50" dirty="0">
                          <a:solidFill>
                            <a:srgbClr val="22303C"/>
                          </a:solidFill>
                          <a:latin typeface="Calibri" pitchFamily="34" charset="0"/>
                          <a:ea typeface="Calibri" pitchFamily="34" charset="-122"/>
                          <a:cs typeface="Calibri" pitchFamily="34" charset="-120"/>
                        </a:rPr>
                        <a:t>pure logic — tree, Pareto, budget, QC</a:t>
                      </a:r>
                      <a:endParaRPr lang="en-US" sz="9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274320">
                <a:tc>
                  <a:txBody>
                    <a:bodyPr/>
                    <a:lstStyle/>
                    <a:p>
                      <a:pPr algn="l" indent="0" marL="0">
                        <a:buNone/>
                      </a:pPr>
                      <a:r>
                        <a:rPr lang="en-US" sz="900" b="1" dirty="0">
                          <a:solidFill>
                            <a:srgbClr val="5E6B75"/>
                          </a:solidFill>
                          <a:latin typeface="Consolas" pitchFamily="34" charset="0"/>
                          <a:ea typeface="Consolas" pitchFamily="34" charset="-122"/>
                          <a:cs typeface="Consolas" pitchFamily="34" charset="-120"/>
                        </a:rPr>
                        <a:t>test_validation.py</a:t>
                      </a:r>
                      <a:endParaRPr lang="en-US" sz="900" dirty="0">
                        <a:latin typeface="Consolas" charset="0"/>
                        <a:ea typeface="Consolas" charset="0"/>
                        <a:cs typeface="Consolas"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303C"/>
                          </a:solidFill>
                          <a:latin typeface="Calibri" pitchFamily="34" charset="0"/>
                          <a:ea typeface="Calibri" pitchFamily="34" charset="-122"/>
                          <a:cs typeface="Calibri" pitchFamily="34" charset="-120"/>
                        </a:rPr>
                        <a:t>the five gates, the interlock, the trust ledger</a:t>
                      </a:r>
                      <a:endParaRPr lang="en-US" sz="9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274320">
                <a:tc>
                  <a:txBody>
                    <a:bodyPr/>
                    <a:lstStyle/>
                    <a:p>
                      <a:pPr algn="l" indent="0" marL="0">
                        <a:buNone/>
                      </a:pPr>
                      <a:r>
                        <a:rPr lang="en-US" sz="900" b="1" dirty="0">
                          <a:solidFill>
                            <a:srgbClr val="5E6B75"/>
                          </a:solidFill>
                          <a:latin typeface="Consolas" pitchFamily="34" charset="0"/>
                          <a:ea typeface="Consolas" pitchFamily="34" charset="-122"/>
                          <a:cs typeface="Consolas" pitchFamily="34" charset="-120"/>
                        </a:rPr>
                        <a:t>test_campaign.py</a:t>
                      </a:r>
                      <a:endParaRPr lang="en-US" sz="900" dirty="0">
                        <a:latin typeface="Consolas" charset="0"/>
                        <a:ea typeface="Consolas" charset="0"/>
                        <a:cs typeface="Consolas"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50" dirty="0">
                          <a:solidFill>
                            <a:srgbClr val="22303C"/>
                          </a:solidFill>
                          <a:latin typeface="Calibri" pitchFamily="34" charset="0"/>
                          <a:ea typeface="Calibri" pitchFamily="34" charset="-122"/>
                          <a:cs typeface="Calibri" pitchFamily="34" charset="-120"/>
                        </a:rPr>
                        <a:t>full campaigns on a concurrent backend with mock tools</a:t>
                      </a:r>
                      <a:endParaRPr lang="en-US" sz="9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274320">
                <a:tc>
                  <a:txBody>
                    <a:bodyPr/>
                    <a:lstStyle/>
                    <a:p>
                      <a:pPr algn="l" indent="0" marL="0">
                        <a:buNone/>
                      </a:pPr>
                      <a:r>
                        <a:rPr lang="en-US" sz="900" b="1" dirty="0">
                          <a:solidFill>
                            <a:srgbClr val="5E6B75"/>
                          </a:solidFill>
                          <a:latin typeface="Consolas" pitchFamily="34" charset="0"/>
                          <a:ea typeface="Consolas" pitchFamily="34" charset="-122"/>
                          <a:cs typeface="Consolas" pitchFamily="34" charset="-120"/>
                        </a:rPr>
                        <a:t>test_real_toolkits.py</a:t>
                      </a:r>
                      <a:endParaRPr lang="en-US" sz="900" dirty="0">
                        <a:latin typeface="Consolas" charset="0"/>
                        <a:ea typeface="Consolas" charset="0"/>
                        <a:cs typeface="Consolas"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303C"/>
                          </a:solidFill>
                          <a:latin typeface="Calibri" pitchFamily="34" charset="0"/>
                          <a:ea typeface="Calibri" pitchFamily="34" charset="-122"/>
                          <a:cs typeface="Calibri" pitchFamily="34" charset="-120"/>
                        </a:rPr>
                        <a:t>the real specs, without executing any real binary</a:t>
                      </a:r>
                      <a:endParaRPr lang="en-US" sz="9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274320">
                <a:tc>
                  <a:txBody>
                    <a:bodyPr/>
                    <a:lstStyle/>
                    <a:p>
                      <a:pPr algn="l" indent="0" marL="0">
                        <a:buNone/>
                      </a:pPr>
                      <a:r>
                        <a:rPr lang="en-US" sz="900" b="1" dirty="0">
                          <a:solidFill>
                            <a:srgbClr val="5E6B75"/>
                          </a:solidFill>
                          <a:latin typeface="Consolas" pitchFamily="34" charset="0"/>
                          <a:ea typeface="Consolas" pitchFamily="34" charset="-122"/>
                          <a:cs typeface="Consolas" pitchFamily="34" charset="-120"/>
                        </a:rPr>
                        <a:t>test_backend_bound.py</a:t>
                      </a:r>
                      <a:endParaRPr lang="en-US" sz="900" dirty="0">
                        <a:latin typeface="Consolas" charset="0"/>
                        <a:ea typeface="Consolas" charset="0"/>
                        <a:cs typeface="Consolas"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50" dirty="0">
                          <a:solidFill>
                            <a:srgbClr val="22303C"/>
                          </a:solidFill>
                          <a:latin typeface="Calibri" pitchFamily="34" charset="0"/>
                          <a:ea typeface="Calibri" pitchFamily="34" charset="-122"/>
                          <a:cs typeface="Calibri" pitchFamily="34" charset="-120"/>
                        </a:rPr>
                        <a:t>startup timeout/heartbeat against a fake backend that blocks its own thread's loop the way Dragon's Batch() does</a:t>
                      </a:r>
                      <a:endParaRPr lang="en-US" sz="9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274320">
                <a:tc>
                  <a:txBody>
                    <a:bodyPr/>
                    <a:lstStyle/>
                    <a:p>
                      <a:pPr algn="l" indent="0" marL="0">
                        <a:buNone/>
                      </a:pPr>
                      <a:r>
                        <a:rPr lang="en-US" sz="900" b="1" dirty="0">
                          <a:solidFill>
                            <a:srgbClr val="5E6B75"/>
                          </a:solidFill>
                          <a:latin typeface="Consolas" pitchFamily="34" charset="0"/>
                          <a:ea typeface="Consolas" pitchFamily="34" charset="-122"/>
                          <a:cs typeface="Consolas" pitchFamily="34" charset="-120"/>
                        </a:rPr>
                        <a:t>test_http_adapter.py</a:t>
                      </a:r>
                      <a:endParaRPr lang="en-US" sz="900" dirty="0">
                        <a:latin typeface="Consolas" charset="0"/>
                        <a:ea typeface="Consolas" charset="0"/>
                        <a:cs typeface="Consolas"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303C"/>
                          </a:solidFill>
                          <a:latin typeface="Calibri" pitchFamily="34" charset="0"/>
                          <a:ea typeface="Calibri" pitchFamily="34" charset="-122"/>
                          <a:cs typeface="Calibri" pitchFamily="34" charset="-120"/>
                        </a:rPr>
                        <a:t>a campaign driven end to end over a loopback socket</a:t>
                      </a:r>
                      <a:endParaRPr lang="en-US" sz="9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274320">
                <a:tc>
                  <a:txBody>
                    <a:bodyPr/>
                    <a:lstStyle/>
                    <a:p>
                      <a:pPr algn="l" indent="0" marL="0">
                        <a:buNone/>
                      </a:pPr>
                      <a:r>
                        <a:rPr lang="en-US" sz="900" b="1" dirty="0">
                          <a:solidFill>
                            <a:srgbClr val="5E6B75"/>
                          </a:solidFill>
                          <a:latin typeface="Consolas" pitchFamily="34" charset="0"/>
                          <a:ea typeface="Consolas" pitchFamily="34" charset="-122"/>
                          <a:cs typeface="Consolas" pitchFamily="34" charset="-120"/>
                        </a:rPr>
                        <a:t>test_remote_session.py</a:t>
                      </a:r>
                      <a:endParaRPr lang="en-US" sz="900" dirty="0">
                        <a:latin typeface="Consolas" charset="0"/>
                        <a:ea typeface="Consolas" charset="0"/>
                        <a:cs typeface="Consolas"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50" dirty="0">
                          <a:solidFill>
                            <a:srgbClr val="22303C"/>
                          </a:solidFill>
                          <a:latin typeface="Calibri" pitchFamily="34" charset="0"/>
                          <a:ea typeface="Calibri" pitchFamily="34" charset="-122"/>
                          <a:cs typeface="Calibri" pitchFamily="34" charset="-120"/>
                        </a:rPr>
                        <a:t>a reasoner in another process, over the control plane</a:t>
                      </a:r>
                      <a:endParaRPr lang="en-US" sz="9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274320">
                <a:tc>
                  <a:txBody>
                    <a:bodyPr/>
                    <a:lstStyle/>
                    <a:p>
                      <a:pPr algn="l" indent="0" marL="0">
                        <a:buNone/>
                      </a:pPr>
                      <a:r>
                        <a:rPr lang="en-US" sz="900" b="1" dirty="0">
                          <a:solidFill>
                            <a:srgbClr val="5E6B75"/>
                          </a:solidFill>
                          <a:latin typeface="Consolas" pitchFamily="34" charset="0"/>
                          <a:ea typeface="Consolas" pitchFamily="34" charset="-122"/>
                          <a:cs typeface="Consolas" pitchFamily="34" charset="-120"/>
                        </a:rPr>
                        <a:t>test_layering.py</a:t>
                      </a:r>
                      <a:endParaRPr lang="en-US" sz="900" dirty="0">
                        <a:latin typeface="Consolas" charset="0"/>
                        <a:ea typeface="Consolas" charset="0"/>
                        <a:cs typeface="Consolas"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303C"/>
                          </a:solidFill>
                          <a:latin typeface="Calibri" pitchFamily="34" charset="0"/>
                          <a:ea typeface="Calibri" pitchFamily="34" charset="-122"/>
                          <a:cs typeface="Calibri" pitchFamily="34" charset="-120"/>
                        </a:rPr>
                        <a:t>the import contract, walked with ast rather than trusted to review</a:t>
                      </a:r>
                      <a:endParaRPr lang="en-US" sz="9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274320">
                <a:tc>
                  <a:txBody>
                    <a:bodyPr/>
                    <a:lstStyle/>
                    <a:p>
                      <a:pPr algn="l" indent="0" marL="0">
                        <a:buNone/>
                      </a:pPr>
                      <a:r>
                        <a:rPr lang="en-US" sz="900" b="1" dirty="0">
                          <a:solidFill>
                            <a:srgbClr val="5E6B75"/>
                          </a:solidFill>
                          <a:latin typeface="Consolas" pitchFamily="34" charset="0"/>
                          <a:ea typeface="Consolas" pitchFamily="34" charset="-122"/>
                          <a:cs typeface="Consolas" pitchFamily="34" charset="-120"/>
                        </a:rPr>
                        <a:t>test_gate_fixtures.py</a:t>
                      </a:r>
                      <a:endParaRPr lang="en-US" sz="900" dirty="0">
                        <a:latin typeface="Consolas" charset="0"/>
                        <a:ea typeface="Consolas" charset="0"/>
                        <a:cs typeface="Consolas"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50" dirty="0">
                          <a:solidFill>
                            <a:srgbClr val="22303C"/>
                          </a:solidFill>
                          <a:latin typeface="Calibri" pitchFamily="34" charset="0"/>
                          <a:ea typeface="Calibri" pitchFamily="34" charset="-122"/>
                          <a:cs typeface="Calibri" pitchFamily="34" charset="-120"/>
                        </a:rPr>
                        <a:t>each real tool's gates against its known-bad fixtures, and the registry against the directories on disk</a:t>
                      </a:r>
                      <a:endParaRPr lang="en-US" sz="9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bl>
          </a:graphicData>
        </a:graphic>
      </p:graphicFrame>
      <p:sp>
        <p:nvSpPr>
          <p:cNvPr id="7" name="Shape 4"/>
          <p:cNvSpPr/>
          <p:nvPr/>
        </p:nvSpPr>
        <p:spPr>
          <a:xfrm>
            <a:off x="7223760" y="1371600"/>
            <a:ext cx="4510735" cy="1463040"/>
          </a:xfrm>
          <a:prstGeom prst="rect">
            <a:avLst/>
          </a:prstGeom>
          <a:solidFill>
            <a:srgbClr val="E3F0F1"/>
          </a:solidFill>
          <a:ln w="12700">
            <a:solidFill>
              <a:srgbClr val="E3F0F1"/>
            </a:solidFill>
            <a:prstDash val="solid"/>
          </a:ln>
        </p:spPr>
      </p:sp>
      <p:sp>
        <p:nvSpPr>
          <p:cNvPr id="8" name="Text 5"/>
          <p:cNvSpPr txBox="1"/>
          <p:nvPr/>
        </p:nvSpPr>
        <p:spPr>
          <a:xfrm>
            <a:off x="7351776" y="1453896"/>
            <a:ext cx="4254703" cy="274320"/>
          </a:xfrm>
          <a:prstGeom prst="rect">
            <a:avLst/>
          </a:prstGeom>
          <a:noFill/>
          <a:ln/>
        </p:spPr>
        <p:txBody>
          <a:bodyPr wrap="square" lIns="0" tIns="0" rIns="0" bIns="0" rtlCol="0" anchor="t"/>
          <a:lstStyle/>
          <a:p>
            <a:pPr indent="0" marL="0">
              <a:buNone/>
            </a:pPr>
            <a:r>
              <a:rPr lang="en-US" sz="1300" b="1" dirty="0">
                <a:solidFill>
                  <a:srgbClr val="1E6470"/>
                </a:solidFill>
                <a:latin typeface="Calibri" pitchFamily="34" charset="0"/>
                <a:ea typeface="Calibri" pitchFamily="34" charset="-122"/>
                <a:cs typeface="Calibri" pitchFamily="34" charset="-120"/>
              </a:rPr>
              <a:t>The whole local tier runs on a laptop</a:t>
            </a:r>
            <a:endParaRPr lang="en-US" sz="1300" dirty="0"/>
          </a:p>
        </p:txBody>
      </p:sp>
      <p:sp>
        <p:nvSpPr>
          <p:cNvPr id="9" name="Text 6"/>
          <p:cNvSpPr txBox="1"/>
          <p:nvPr/>
        </p:nvSpPr>
        <p:spPr>
          <a:xfrm>
            <a:off x="7351776" y="1764792"/>
            <a:ext cx="4254703" cy="98755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A complete campaign — real manager, real policies, real composer and validator, stubbed science. HPC iteration is slow and expensive, so almost everything is verifiable locally.</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The corollary: everything only verifiable on HPC is unverified. That is the honest price of a tier that needs no scheduler.</a:t>
            </a:r>
            <a:endParaRPr lang="en-US" sz="1050" dirty="0"/>
          </a:p>
        </p:txBody>
      </p:sp>
      <p:sp>
        <p:nvSpPr>
          <p:cNvPr id="10" name="Shape 7"/>
          <p:cNvSpPr/>
          <p:nvPr/>
        </p:nvSpPr>
        <p:spPr>
          <a:xfrm>
            <a:off x="7223760" y="2971800"/>
            <a:ext cx="4510735" cy="1600200"/>
          </a:xfrm>
          <a:prstGeom prst="rect">
            <a:avLst/>
          </a:prstGeom>
          <a:solidFill>
            <a:srgbClr val="EEF2F5"/>
          </a:solidFill>
          <a:ln w="12700">
            <a:solidFill>
              <a:srgbClr val="EEF2F5"/>
            </a:solidFill>
            <a:prstDash val="solid"/>
          </a:ln>
        </p:spPr>
      </p:sp>
      <p:sp>
        <p:nvSpPr>
          <p:cNvPr id="11" name="Text 8"/>
          <p:cNvSpPr txBox="1"/>
          <p:nvPr/>
        </p:nvSpPr>
        <p:spPr>
          <a:xfrm>
            <a:off x="7351776" y="3054096"/>
            <a:ext cx="4254703"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Two conventions worth stealing</a:t>
            </a:r>
            <a:endParaRPr lang="en-US" sz="1300" dirty="0"/>
          </a:p>
        </p:txBody>
      </p:sp>
      <p:sp>
        <p:nvSpPr>
          <p:cNvPr id="12" name="Text 9"/>
          <p:cNvSpPr txBox="1"/>
          <p:nvPr/>
        </p:nvSpPr>
        <p:spPr>
          <a:xfrm>
            <a:off x="7351776" y="3364992"/>
            <a:ext cx="4254703" cy="112471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Counts are not restated in prose. test_gate_fixtures derives the tool count from the directories rather than asserting a number.</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A magic number in a test is often a bug report: stagnation_limit = 10_000 appeared in three tests before anyone noticed the defect was in the executor, not the setup.</a:t>
            </a:r>
            <a:endParaRPr lang="en-US" sz="1050" dirty="0"/>
          </a:p>
        </p:txBody>
      </p:sp>
      <p:sp>
        <p:nvSpPr>
          <p:cNvPr id="13" name="Shape 10"/>
          <p:cNvSpPr/>
          <p:nvPr/>
        </p:nvSpPr>
        <p:spPr>
          <a:xfrm>
            <a:off x="7223760" y="4709160"/>
            <a:ext cx="4510735" cy="1645920"/>
          </a:xfrm>
          <a:prstGeom prst="rect">
            <a:avLst/>
          </a:prstGeom>
          <a:solidFill>
            <a:srgbClr val="E4F1EA"/>
          </a:solidFill>
          <a:ln w="12700">
            <a:solidFill>
              <a:srgbClr val="E4F1EA"/>
            </a:solidFill>
            <a:prstDash val="solid"/>
          </a:ln>
        </p:spPr>
      </p:sp>
      <p:sp>
        <p:nvSpPr>
          <p:cNvPr id="14" name="Text 11"/>
          <p:cNvSpPr txBox="1"/>
          <p:nvPr/>
        </p:nvSpPr>
        <p:spPr>
          <a:xfrm>
            <a:off x="7351776" y="4791456"/>
            <a:ext cx="4254703" cy="274320"/>
          </a:xfrm>
          <a:prstGeom prst="rect">
            <a:avLst/>
          </a:prstGeom>
          <a:noFill/>
          <a:ln/>
        </p:spPr>
        <p:txBody>
          <a:bodyPr wrap="square" lIns="0" tIns="0" rIns="0" bIns="0" rtlCol="0" anchor="t"/>
          <a:lstStyle/>
          <a:p>
            <a:pPr indent="0" marL="0">
              <a:buNone/>
            </a:pPr>
            <a:r>
              <a:rPr lang="en-US" sz="1300" b="1" dirty="0">
                <a:solidFill>
                  <a:srgbClr val="2E7D5B"/>
                </a:solidFill>
                <a:latin typeface="Calibri" pitchFamily="34" charset="0"/>
                <a:ea typeface="Calibri" pitchFamily="34" charset="-122"/>
                <a:cs typeface="Calibri" pitchFamily="34" charset="-120"/>
              </a:rPr>
              <a:t>A 20-second demo, if the room wants it</a:t>
            </a:r>
            <a:endParaRPr lang="en-US" sz="1300" dirty="0"/>
          </a:p>
        </p:txBody>
      </p:sp>
      <p:sp>
        <p:nvSpPr>
          <p:cNvPr id="15" name="Text 12"/>
          <p:cNvSpPr txBox="1"/>
          <p:nvPr/>
        </p:nvSpPr>
        <p:spPr>
          <a:xfrm>
            <a:off x="7351776" y="5102352"/>
            <a:ext cx="4254703" cy="117043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pytest tests -q -k lying — the bundled tool that succeeds, reports 0.91 designability, and is failed by QC anyway.</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impress-a run campaigns/delta-small-molecule-smoke.yaml --model D must compose rfd3_design…, never mock_… — that confusion is the bug that made the smoke campaign necessary.</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USABILITY · AS A PLATFORM</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As a platform: the seam is the control plane, not the CLI</a:t>
            </a:r>
            <a:endParaRPr lang="en-US" sz="2800" dirty="0"/>
          </a:p>
        </p:txBody>
      </p:sp>
      <p:sp>
        <p:nvSpPr>
          <p:cNvPr id="4" name="Shape 2"/>
          <p:cNvSpPr/>
          <p:nvPr/>
        </p:nvSpPr>
        <p:spPr>
          <a:xfrm>
            <a:off x="457200" y="1371600"/>
            <a:ext cx="11274552" cy="749808"/>
          </a:xfrm>
          <a:prstGeom prst="roundRect">
            <a:avLst>
              <a:gd name="adj" fmla="val 9756"/>
            </a:avLst>
          </a:prstGeom>
          <a:solidFill>
            <a:srgbClr val="E3F0F1"/>
          </a:solidFill>
          <a:ln w="19050">
            <a:solidFill>
              <a:srgbClr val="1E6470"/>
            </a:solidFill>
            <a:prstDash val="solid"/>
          </a:ln>
        </p:spPr>
      </p:sp>
      <p:sp>
        <p:nvSpPr>
          <p:cNvPr id="5" name="Text 3"/>
          <p:cNvSpPr txBox="1"/>
          <p:nvPr/>
        </p:nvSpPr>
        <p:spPr>
          <a:xfrm>
            <a:off x="530352" y="1417320"/>
            <a:ext cx="11128248" cy="658368"/>
          </a:xfrm>
          <a:prstGeom prst="rect">
            <a:avLst/>
          </a:prstGeom>
          <a:noFill/>
          <a:ln/>
        </p:spPr>
        <p:txBody>
          <a:bodyPr wrap="square" lIns="0" tIns="0" rIns="0" bIns="0" rtlCol="0" anchor="ctr"/>
          <a:lstStyle/>
          <a:p>
            <a:pPr algn="l" indent="0" marL="0">
              <a:buNone/>
            </a:pPr>
            <a:r>
              <a:rPr lang="en-US" sz="1250" b="1" dirty="0">
                <a:solidFill>
                  <a:srgbClr val="16222B"/>
                </a:solidFill>
                <a:latin typeface="Calibri" pitchFamily="34" charset="0"/>
                <a:ea typeface="Calibri" pitchFamily="34" charset="-122"/>
                <a:cs typeface="Calibri" pitchFamily="34" charset="-120"/>
              </a:rPr>
              <a:t>CampaignControlPlane — one protocol, adapters translate transport only</a:t>
            </a:r>
            <a:endParaRPr lang="en-US" sz="1400" dirty="0"/>
          </a:p>
          <a:p>
            <a:pPr algn="l" indent="0" marL="0">
              <a:buNone/>
            </a:pPr>
            <a:endParaRPr lang="en-US" sz="1400" dirty="0"/>
          </a:p>
          <a:p>
            <a:pPr algn="l" indent="0" marL="0">
              <a:buNone/>
            </a:pPr>
            <a:r>
              <a:rPr lang="en-US" sz="900" dirty="0">
                <a:solidFill>
                  <a:srgbClr val="5E6B75"/>
                </a:solidFill>
                <a:latin typeface="Calibri" pitchFamily="34" charset="0"/>
                <a:ea typeface="Calibri" pitchFamily="34" charset="-122"/>
                <a:cs typeface="Calibri" pitchFamily="34" charset="-120"/>
              </a:rPr>
              <a:t>observe · events · steer · pause · resume · stop · artifacts · provenance · ingest_measurement · status · inflight · backtrack · request_human · submit_run · list_runs · run_result · await_run_result · cancel_run</a:t>
            </a:r>
            <a:endParaRPr lang="en-US" sz="1400" dirty="0"/>
          </a:p>
        </p:txBody>
      </p:sp>
      <p:sp>
        <p:nvSpPr>
          <p:cNvPr id="6" name="Shape 4"/>
          <p:cNvSpPr/>
          <p:nvPr/>
        </p:nvSpPr>
        <p:spPr>
          <a:xfrm>
            <a:off x="457200" y="2267712"/>
            <a:ext cx="3648456" cy="658368"/>
          </a:xfrm>
          <a:prstGeom prst="roundRect">
            <a:avLst>
              <a:gd name="adj" fmla="val 11111"/>
            </a:avLst>
          </a:prstGeom>
          <a:solidFill>
            <a:srgbClr val="FFFFFF"/>
          </a:solidFill>
          <a:ln w="19050">
            <a:solidFill>
              <a:srgbClr val="1E6470"/>
            </a:solidFill>
            <a:prstDash val="solid"/>
          </a:ln>
        </p:spPr>
      </p:sp>
      <p:sp>
        <p:nvSpPr>
          <p:cNvPr id="7" name="Text 5"/>
          <p:cNvSpPr txBox="1"/>
          <p:nvPr/>
        </p:nvSpPr>
        <p:spPr>
          <a:xfrm>
            <a:off x="530352" y="2313432"/>
            <a:ext cx="3502152" cy="566928"/>
          </a:xfrm>
          <a:prstGeom prst="rect">
            <a:avLst/>
          </a:prstGeom>
          <a:noFill/>
          <a:ln/>
        </p:spPr>
        <p:txBody>
          <a:bodyPr wrap="square" lIns="0" tIns="0" rIns="0" bIns="0" rtlCol="0" anchor="ctr"/>
          <a:lstStyle/>
          <a:p>
            <a:pPr algn="ctr" indent="0" marL="0">
              <a:buNone/>
            </a:pPr>
            <a:r>
              <a:rPr lang="en-US" sz="1200" b="1" dirty="0">
                <a:solidFill>
                  <a:srgbClr val="16222B"/>
                </a:solidFill>
                <a:latin typeface="Calibri" pitchFamily="34" charset="0"/>
                <a:ea typeface="Calibri" pitchFamily="34" charset="-122"/>
                <a:cs typeface="Calibri" pitchFamily="34" charset="-120"/>
              </a:rPr>
              <a:t>in-process</a:t>
            </a:r>
            <a:endParaRPr lang="en-US" sz="1400" dirty="0"/>
          </a:p>
          <a:p>
            <a:pPr algn="ctr" indent="0" marL="0">
              <a:buNone/>
            </a:pPr>
            <a:endParaRPr lang="en-US" sz="1400" dirty="0"/>
          </a:p>
          <a:p>
            <a:pPr algn="ctr" indent="0" marL="0">
              <a:buNone/>
            </a:pPr>
            <a:r>
              <a:rPr lang="en-US" sz="900" dirty="0">
                <a:solidFill>
                  <a:srgbClr val="5E6B75"/>
                </a:solidFill>
                <a:latin typeface="Consolas" pitchFamily="34" charset="0"/>
                <a:ea typeface="Consolas" pitchFamily="34" charset="-122"/>
                <a:cs typeface="Consolas" pitchFamily="34" charset="-120"/>
              </a:rPr>
              <a:t>control/plane.py::InProcessControlPlane</a:t>
            </a:r>
            <a:endParaRPr lang="en-US" sz="1400" dirty="0"/>
          </a:p>
        </p:txBody>
      </p:sp>
      <p:sp>
        <p:nvSpPr>
          <p:cNvPr id="8" name="Shape 6"/>
          <p:cNvSpPr/>
          <p:nvPr/>
        </p:nvSpPr>
        <p:spPr>
          <a:xfrm>
            <a:off x="4270248" y="2267712"/>
            <a:ext cx="3648456" cy="658368"/>
          </a:xfrm>
          <a:prstGeom prst="roundRect">
            <a:avLst>
              <a:gd name="adj" fmla="val 11111"/>
            </a:avLst>
          </a:prstGeom>
          <a:solidFill>
            <a:srgbClr val="FFFFFF"/>
          </a:solidFill>
          <a:ln w="19050">
            <a:solidFill>
              <a:srgbClr val="1E6470"/>
            </a:solidFill>
            <a:prstDash val="solid"/>
          </a:ln>
        </p:spPr>
      </p:sp>
      <p:sp>
        <p:nvSpPr>
          <p:cNvPr id="9" name="Text 7"/>
          <p:cNvSpPr txBox="1"/>
          <p:nvPr/>
        </p:nvSpPr>
        <p:spPr>
          <a:xfrm>
            <a:off x="4343400" y="2313432"/>
            <a:ext cx="3502152" cy="566928"/>
          </a:xfrm>
          <a:prstGeom prst="rect">
            <a:avLst/>
          </a:prstGeom>
          <a:noFill/>
          <a:ln/>
        </p:spPr>
        <p:txBody>
          <a:bodyPr wrap="square" lIns="0" tIns="0" rIns="0" bIns="0" rtlCol="0" anchor="ctr"/>
          <a:lstStyle/>
          <a:p>
            <a:pPr algn="ctr" indent="0" marL="0">
              <a:buNone/>
            </a:pPr>
            <a:r>
              <a:rPr lang="en-US" sz="1200" b="1" dirty="0">
                <a:solidFill>
                  <a:srgbClr val="16222B"/>
                </a:solidFill>
                <a:latin typeface="Calibri" pitchFamily="34" charset="0"/>
                <a:ea typeface="Calibri" pitchFamily="34" charset="-122"/>
                <a:cs typeface="Calibri" pitchFamily="34" charset="-120"/>
              </a:rPr>
              <a:t>HTTP + SSE</a:t>
            </a:r>
            <a:endParaRPr lang="en-US" sz="1400" dirty="0"/>
          </a:p>
          <a:p>
            <a:pPr algn="ctr" indent="0" marL="0">
              <a:buNone/>
            </a:pPr>
            <a:endParaRPr lang="en-US" sz="1400" dirty="0"/>
          </a:p>
          <a:p>
            <a:pPr algn="ctr" indent="0" marL="0">
              <a:buNone/>
            </a:pPr>
            <a:r>
              <a:rPr lang="en-US" sz="900" dirty="0">
                <a:solidFill>
                  <a:srgbClr val="5E6B75"/>
                </a:solidFill>
                <a:latin typeface="Consolas" pitchFamily="34" charset="0"/>
                <a:ea typeface="Consolas" pitchFamily="34" charset="-122"/>
                <a:cs typeface="Consolas" pitchFamily="34" charset="-120"/>
              </a:rPr>
              <a:t>control/http.py::ControlPlaneServer</a:t>
            </a:r>
            <a:endParaRPr lang="en-US" sz="1400" dirty="0"/>
          </a:p>
        </p:txBody>
      </p:sp>
      <p:sp>
        <p:nvSpPr>
          <p:cNvPr id="10" name="Shape 8"/>
          <p:cNvSpPr/>
          <p:nvPr/>
        </p:nvSpPr>
        <p:spPr>
          <a:xfrm>
            <a:off x="8083296" y="2267712"/>
            <a:ext cx="3648456" cy="658368"/>
          </a:xfrm>
          <a:prstGeom prst="roundRect">
            <a:avLst>
              <a:gd name="adj" fmla="val 11111"/>
            </a:avLst>
          </a:prstGeom>
          <a:solidFill>
            <a:srgbClr val="FFFFFF"/>
          </a:solidFill>
          <a:ln w="19050">
            <a:solidFill>
              <a:srgbClr val="5E6B75"/>
            </a:solidFill>
            <a:prstDash val="dash"/>
          </a:ln>
        </p:spPr>
      </p:sp>
      <p:sp>
        <p:nvSpPr>
          <p:cNvPr id="11" name="Text 9"/>
          <p:cNvSpPr txBox="1"/>
          <p:nvPr/>
        </p:nvSpPr>
        <p:spPr>
          <a:xfrm>
            <a:off x="8156448" y="2313432"/>
            <a:ext cx="3502152" cy="566928"/>
          </a:xfrm>
          <a:prstGeom prst="rect">
            <a:avLst/>
          </a:prstGeom>
          <a:noFill/>
          <a:ln/>
        </p:spPr>
        <p:txBody>
          <a:bodyPr wrap="square" lIns="0" tIns="0" rIns="0" bIns="0" rtlCol="0" anchor="ctr"/>
          <a:lstStyle/>
          <a:p>
            <a:pPr algn="ctr" indent="0" marL="0">
              <a:buNone/>
            </a:pPr>
            <a:r>
              <a:rPr lang="en-US" sz="1200" b="1" dirty="0">
                <a:solidFill>
                  <a:srgbClr val="16222B"/>
                </a:solidFill>
                <a:latin typeface="Calibri" pitchFamily="34" charset="0"/>
                <a:ea typeface="Calibri" pitchFamily="34" charset="-122"/>
                <a:cs typeface="Calibri" pitchFamily="34" charset="-120"/>
              </a:rPr>
              <a:t>MCP</a:t>
            </a:r>
            <a:endParaRPr lang="en-US" sz="1400" dirty="0"/>
          </a:p>
          <a:p>
            <a:pPr algn="ctr" indent="0" marL="0">
              <a:buNone/>
            </a:pPr>
            <a:endParaRPr lang="en-US" sz="1400" dirty="0"/>
          </a:p>
          <a:p>
            <a:pPr algn="ctr" indent="0" marL="0">
              <a:buNone/>
            </a:pPr>
            <a:r>
              <a:rPr lang="en-US" sz="900" dirty="0">
                <a:solidFill>
                  <a:srgbClr val="5E6B75"/>
                </a:solidFill>
                <a:latin typeface="Consolas" pitchFamily="34" charset="0"/>
                <a:ea typeface="Consolas" pitchFamily="34" charset="-122"/>
                <a:cs typeface="Consolas" pitchFamily="34" charset="-120"/>
              </a:rPr>
              <a:t>the same protocol, a third transport</a:t>
            </a:r>
            <a:endParaRPr lang="en-US" sz="1400" dirty="0"/>
          </a:p>
        </p:txBody>
      </p:sp>
      <p:sp>
        <p:nvSpPr>
          <p:cNvPr id="12" name="Shape 10"/>
          <p:cNvSpPr/>
          <p:nvPr/>
        </p:nvSpPr>
        <p:spPr>
          <a:xfrm>
            <a:off x="457200" y="3108960"/>
            <a:ext cx="5577840" cy="1554480"/>
          </a:xfrm>
          <a:prstGeom prst="rect">
            <a:avLst/>
          </a:prstGeom>
          <a:solidFill>
            <a:srgbClr val="E3F0F1"/>
          </a:solidFill>
          <a:ln w="12700">
            <a:solidFill>
              <a:srgbClr val="E3F0F1"/>
            </a:solidFill>
            <a:prstDash val="solid"/>
          </a:ln>
        </p:spPr>
      </p:sp>
      <p:sp>
        <p:nvSpPr>
          <p:cNvPr id="13" name="Text 11"/>
          <p:cNvSpPr txBox="1"/>
          <p:nvPr/>
        </p:nvSpPr>
        <p:spPr>
          <a:xfrm>
            <a:off x="585216" y="3191256"/>
            <a:ext cx="5321808" cy="274320"/>
          </a:xfrm>
          <a:prstGeom prst="rect">
            <a:avLst/>
          </a:prstGeom>
          <a:noFill/>
          <a:ln/>
        </p:spPr>
        <p:txBody>
          <a:bodyPr wrap="square" lIns="0" tIns="0" rIns="0" bIns="0" rtlCol="0" anchor="t"/>
          <a:lstStyle/>
          <a:p>
            <a:pPr indent="0" marL="0">
              <a:buNone/>
            </a:pPr>
            <a:r>
              <a:rPr lang="en-US" sz="1300" b="1" dirty="0">
                <a:solidFill>
                  <a:srgbClr val="1E6470"/>
                </a:solidFill>
                <a:latin typeface="Calibri" pitchFamily="34" charset="0"/>
                <a:ea typeface="Calibri" pitchFamily="34" charset="-122"/>
                <a:cs typeface="Calibri" pitchFamily="34" charset="-120"/>
              </a:rPr>
              <a:t>observe() returns what a policy sees</a:t>
            </a:r>
            <a:endParaRPr lang="en-US" sz="1300" dirty="0"/>
          </a:p>
        </p:txBody>
      </p:sp>
      <p:sp>
        <p:nvSpPr>
          <p:cNvPr id="14" name="Text 12"/>
          <p:cNvSpPr txBox="1"/>
          <p:nvPr/>
        </p:nvSpPr>
        <p:spPr>
          <a:xfrm>
            <a:off x="585216" y="3502152"/>
            <a:ext cx="5321808" cy="107899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The same CampaignObservation object a policy's decide() receives — informed monitoring means parity of evidence, not a progress bar.</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Admission is synchronous even over HTTP: 202 with a run id, or 409 with the gate and the reason that refused it.</a:t>
            </a:r>
            <a:endParaRPr lang="en-US" sz="1050" dirty="0"/>
          </a:p>
        </p:txBody>
      </p:sp>
      <p:sp>
        <p:nvSpPr>
          <p:cNvPr id="15" name="Shape 13"/>
          <p:cNvSpPr/>
          <p:nvPr/>
        </p:nvSpPr>
        <p:spPr>
          <a:xfrm>
            <a:off x="6245352" y="3108960"/>
            <a:ext cx="5486400" cy="1554480"/>
          </a:xfrm>
          <a:prstGeom prst="rect">
            <a:avLst/>
          </a:prstGeom>
          <a:solidFill>
            <a:srgbClr val="EEF2F5"/>
          </a:solidFill>
          <a:ln w="12700">
            <a:solidFill>
              <a:srgbClr val="EEF2F5"/>
            </a:solidFill>
            <a:prstDash val="solid"/>
          </a:ln>
        </p:spPr>
      </p:sp>
      <p:sp>
        <p:nvSpPr>
          <p:cNvPr id="16" name="Text 14"/>
          <p:cNvSpPr txBox="1"/>
          <p:nvPr/>
        </p:nvSpPr>
        <p:spPr>
          <a:xfrm>
            <a:off x="6373368" y="3191256"/>
            <a:ext cx="5230368"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Why admission cannot be deferred</a:t>
            </a:r>
            <a:endParaRPr lang="en-US" sz="1300" dirty="0"/>
          </a:p>
        </p:txBody>
      </p:sp>
      <p:sp>
        <p:nvSpPr>
          <p:cNvPr id="17" name="Text 15"/>
          <p:cNvSpPr txBox="1"/>
          <p:nvPr/>
        </p:nvSpPr>
        <p:spPr>
          <a:xfrm>
            <a:off x="6373368" y="3502152"/>
            <a:ext cx="5230368" cy="107899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Accept-then-reject-later would sever a rejection from the request that caused it.</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And it cannot work anyway: the dry-run instantiates task agents, so admission has to happen where the toolkit is installed.</a:t>
            </a:r>
            <a:endParaRPr lang="en-US" sz="1050" dirty="0"/>
          </a:p>
        </p:txBody>
      </p:sp>
      <p:sp>
        <p:nvSpPr>
          <p:cNvPr id="18" name="Shape 16"/>
          <p:cNvSpPr/>
          <p:nvPr/>
        </p:nvSpPr>
        <p:spPr>
          <a:xfrm>
            <a:off x="457200" y="4800600"/>
            <a:ext cx="11274552" cy="1600200"/>
          </a:xfrm>
          <a:prstGeom prst="rect">
            <a:avLst/>
          </a:prstGeom>
          <a:solidFill>
            <a:srgbClr val="F9E0DD"/>
          </a:solidFill>
          <a:ln w="12700">
            <a:solidFill>
              <a:srgbClr val="F9E0DD"/>
            </a:solidFill>
            <a:prstDash val="solid"/>
          </a:ln>
        </p:spPr>
      </p:sp>
      <p:sp>
        <p:nvSpPr>
          <p:cNvPr id="19" name="Text 17"/>
          <p:cNvSpPr txBox="1"/>
          <p:nvPr/>
        </p:nvSpPr>
        <p:spPr>
          <a:xfrm>
            <a:off x="585216" y="4882896"/>
            <a:ext cx="11018520" cy="274320"/>
          </a:xfrm>
          <a:prstGeom prst="rect">
            <a:avLst/>
          </a:prstGeom>
          <a:noFill/>
          <a:ln/>
        </p:spPr>
        <p:txBody>
          <a:bodyPr wrap="square" lIns="0" tIns="0" rIns="0" bIns="0" rtlCol="0" anchor="t"/>
          <a:lstStyle/>
          <a:p>
            <a:pPr indent="0" marL="0">
              <a:buNone/>
            </a:pPr>
            <a:r>
              <a:rPr lang="en-US" sz="1300" b="1" dirty="0">
                <a:solidFill>
                  <a:srgbClr val="C0392B"/>
                </a:solidFill>
                <a:latin typeface="Calibri" pitchFamily="34" charset="0"/>
                <a:ea typeface="Calibri" pitchFamily="34" charset="-122"/>
                <a:cs typeface="Calibri" pitchFamily="34" charset="-120"/>
              </a:rPr>
              <a:t>What is still missing — backlog C5, C6, C7</a:t>
            </a:r>
            <a:endParaRPr lang="en-US" sz="1300" dirty="0"/>
          </a:p>
        </p:txBody>
      </p:sp>
      <p:sp>
        <p:nvSpPr>
          <p:cNvPr id="20" name="Text 18"/>
          <p:cNvSpPr txBox="1"/>
          <p:nvPr/>
        </p:nvSpPr>
        <p:spPr>
          <a:xfrm>
            <a:off x="585216" y="5193792"/>
            <a:ext cx="11018520" cy="112471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RemoteSession and the routes it needs are covered end to end, but only tests/ ever constructs a server. There is no impress-a serve and no impress-a reason, so the split is reachable from the suite and not from a shell.</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Because of that, --model C builds an ExternalPolicy whose inbox can never be filled: it times out every 5 s and silently runs the model-D policy instead, while reporting itself as model C. It should refuse.</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And where the plane should live relative to the allocation is undecided — http.py is loopback, single trusted client, no auth, no TLS.</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STATUS</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What is real, and what is not — by dimension</a:t>
            </a:r>
            <a:endParaRPr lang="en-US" sz="2800" dirty="0"/>
          </a:p>
        </p:txBody>
      </p:sp>
      <p:sp>
        <p:nvSpPr>
          <p:cNvPr id="4" name="Shape 2"/>
          <p:cNvSpPr/>
          <p:nvPr/>
        </p:nvSpPr>
        <p:spPr>
          <a:xfrm>
            <a:off x="457200" y="1298448"/>
            <a:ext cx="3657600" cy="329184"/>
          </a:xfrm>
          <a:prstGeom prst="rect">
            <a:avLst/>
          </a:prstGeom>
          <a:solidFill>
            <a:srgbClr val="2E7D5B"/>
          </a:solidFill>
          <a:ln w="12700">
            <a:solidFill>
              <a:srgbClr val="2E7D5B"/>
            </a:solidFill>
            <a:prstDash val="solid"/>
          </a:ln>
        </p:spPr>
      </p:sp>
      <p:sp>
        <p:nvSpPr>
          <p:cNvPr id="5" name="Text 3"/>
          <p:cNvSpPr txBox="1"/>
          <p:nvPr/>
        </p:nvSpPr>
        <p:spPr>
          <a:xfrm>
            <a:off x="566928" y="1298448"/>
            <a:ext cx="3438144" cy="329184"/>
          </a:xfrm>
          <a:prstGeom prst="rect">
            <a:avLst/>
          </a:prstGeom>
          <a:noFill/>
          <a:ln/>
        </p:spPr>
        <p:txBody>
          <a:bodyPr wrap="square" lIns="0" tIns="0" rIns="0" bIns="0" rtlCol="0" anchor="ctr"/>
          <a:lstStyle/>
          <a:p>
            <a:pPr indent="0" marL="0">
              <a:buNone/>
            </a:pPr>
            <a:r>
              <a:rPr lang="en-US" sz="1150" b="1" spc="100" kern="0" dirty="0">
                <a:solidFill>
                  <a:srgbClr val="FFFFFF"/>
                </a:solidFill>
                <a:latin typeface="Calibri" pitchFamily="34" charset="0"/>
                <a:ea typeface="Calibri" pitchFamily="34" charset="-122"/>
                <a:cs typeface="Calibri" pitchFamily="34" charset="-120"/>
              </a:rPr>
              <a:t>FUNCTIONALITY</a:t>
            </a:r>
            <a:endParaRPr lang="en-US" sz="1150" dirty="0"/>
          </a:p>
        </p:txBody>
      </p:sp>
      <p:sp>
        <p:nvSpPr>
          <p:cNvPr id="6" name="Shape 4"/>
          <p:cNvSpPr/>
          <p:nvPr/>
        </p:nvSpPr>
        <p:spPr>
          <a:xfrm>
            <a:off x="457200" y="1700784"/>
            <a:ext cx="3657600" cy="274320"/>
          </a:xfrm>
          <a:prstGeom prst="rect">
            <a:avLst/>
          </a:prstGeom>
          <a:solidFill>
            <a:srgbClr val="2E7D4F"/>
          </a:solidFill>
          <a:ln w="12700">
            <a:solidFill>
              <a:srgbClr val="2E7D4F"/>
            </a:solidFill>
            <a:prstDash val="solid"/>
          </a:ln>
        </p:spPr>
      </p:sp>
      <p:sp>
        <p:nvSpPr>
          <p:cNvPr id="7" name="Text 5"/>
          <p:cNvSpPr txBox="1"/>
          <p:nvPr/>
        </p:nvSpPr>
        <p:spPr>
          <a:xfrm>
            <a:off x="566928" y="1700784"/>
            <a:ext cx="3438144"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Runs, for real</a:t>
            </a:r>
            <a:endParaRPr lang="en-US" sz="1000" dirty="0"/>
          </a:p>
        </p:txBody>
      </p:sp>
      <p:sp>
        <p:nvSpPr>
          <p:cNvPr id="8" name="Shape 6"/>
          <p:cNvSpPr/>
          <p:nvPr/>
        </p:nvSpPr>
        <p:spPr>
          <a:xfrm>
            <a:off x="457200" y="2011680"/>
            <a:ext cx="3657600" cy="621792"/>
          </a:xfrm>
          <a:prstGeom prst="rect">
            <a:avLst/>
          </a:prstGeom>
          <a:solidFill>
            <a:srgbClr val="F0F6F2"/>
          </a:solidFill>
          <a:ln w="12700">
            <a:solidFill>
              <a:srgbClr val="C9D1D8"/>
            </a:solidFill>
            <a:prstDash val="solid"/>
          </a:ln>
        </p:spPr>
      </p:sp>
      <p:sp>
        <p:nvSpPr>
          <p:cNvPr id="9" name="Text 7"/>
          <p:cNvSpPr txBox="1"/>
          <p:nvPr/>
        </p:nvSpPr>
        <p:spPr>
          <a:xfrm>
            <a:off x="548640" y="2039112"/>
            <a:ext cx="3474720" cy="566928"/>
          </a:xfrm>
          <a:prstGeom prst="rect">
            <a:avLst/>
          </a:prstGeom>
          <a:noFill/>
          <a:ln/>
        </p:spPr>
        <p:txBody>
          <a:bodyPr wrap="square" lIns="0" tIns="0" rIns="0" bIns="0" rtlCol="0" anchor="t"/>
          <a:lstStyle/>
          <a:p>
            <a:pPr indent="0" marL="0">
              <a:buNone/>
            </a:pPr>
            <a:r>
              <a:rPr lang="en-US" sz="850" dirty="0">
                <a:solidFill>
                  <a:srgbClr val="22303C"/>
                </a:solidFill>
                <a:latin typeface="Calibri" pitchFamily="34" charset="0"/>
                <a:ea typeface="Calibri" pitchFamily="34" charset="-122"/>
                <a:cs typeface="Calibri" pitchFamily="34" charset="-120"/>
              </a:rPr>
              <a:t>A six-stage real-toolkit campaign, end to end on Delta: 6/6 tasks, four objectives, a front.</a:t>
            </a:r>
            <a:endParaRPr lang="en-US" sz="850" dirty="0"/>
          </a:p>
        </p:txBody>
      </p:sp>
      <p:sp>
        <p:nvSpPr>
          <p:cNvPr id="10" name="Shape 8"/>
          <p:cNvSpPr/>
          <p:nvPr/>
        </p:nvSpPr>
        <p:spPr>
          <a:xfrm>
            <a:off x="457200" y="2670048"/>
            <a:ext cx="3657600" cy="621792"/>
          </a:xfrm>
          <a:prstGeom prst="rect">
            <a:avLst/>
          </a:prstGeom>
          <a:solidFill>
            <a:srgbClr val="FFFFFF"/>
          </a:solidFill>
          <a:ln w="12700">
            <a:solidFill>
              <a:srgbClr val="C9D1D8"/>
            </a:solidFill>
            <a:prstDash val="solid"/>
          </a:ln>
        </p:spPr>
      </p:sp>
      <p:sp>
        <p:nvSpPr>
          <p:cNvPr id="11" name="Text 9"/>
          <p:cNvSpPr txBox="1"/>
          <p:nvPr/>
        </p:nvSpPr>
        <p:spPr>
          <a:xfrm>
            <a:off x="548640" y="2697480"/>
            <a:ext cx="3474720" cy="566928"/>
          </a:xfrm>
          <a:prstGeom prst="rect">
            <a:avLst/>
          </a:prstGeom>
          <a:noFill/>
          <a:ln/>
        </p:spPr>
        <p:txBody>
          <a:bodyPr wrap="square" lIns="0" tIns="0" rIns="0" bIns="0" rtlCol="0" anchor="t"/>
          <a:lstStyle/>
          <a:p>
            <a:pPr indent="0" marL="0">
              <a:buNone/>
            </a:pPr>
            <a:r>
              <a:rPr lang="en-US" sz="850" dirty="0">
                <a:solidFill>
                  <a:srgbClr val="22303C"/>
                </a:solidFill>
                <a:latin typeface="Calibri" pitchFamily="34" charset="0"/>
                <a:ea typeface="Calibri" pitchFamily="34" charset="-122"/>
                <a:cs typeface="Calibri" pitchFamily="34" charset="-120"/>
              </a:rPr>
              <a:t>The engine: compose, five gates, interlock, dry-run, Pareto tree, provenance, durable ledger.</a:t>
            </a:r>
            <a:endParaRPr lang="en-US" sz="850" dirty="0"/>
          </a:p>
        </p:txBody>
      </p:sp>
      <p:sp>
        <p:nvSpPr>
          <p:cNvPr id="12" name="Shape 10"/>
          <p:cNvSpPr/>
          <p:nvPr/>
        </p:nvSpPr>
        <p:spPr>
          <a:xfrm>
            <a:off x="457200" y="3328416"/>
            <a:ext cx="3657600" cy="621792"/>
          </a:xfrm>
          <a:prstGeom prst="rect">
            <a:avLst/>
          </a:prstGeom>
          <a:solidFill>
            <a:srgbClr val="F0F6F2"/>
          </a:solidFill>
          <a:ln w="12700">
            <a:solidFill>
              <a:srgbClr val="C9D1D8"/>
            </a:solidFill>
            <a:prstDash val="solid"/>
          </a:ln>
        </p:spPr>
      </p:sp>
      <p:sp>
        <p:nvSpPr>
          <p:cNvPr id="13" name="Text 11"/>
          <p:cNvSpPr txBox="1"/>
          <p:nvPr/>
        </p:nvSpPr>
        <p:spPr>
          <a:xfrm>
            <a:off x="548640" y="3355848"/>
            <a:ext cx="3474720" cy="566928"/>
          </a:xfrm>
          <a:prstGeom prst="rect">
            <a:avLst/>
          </a:prstGeom>
          <a:noFill/>
          <a:ln/>
        </p:spPr>
        <p:txBody>
          <a:bodyPr wrap="square" lIns="0" tIns="0" rIns="0" bIns="0" rtlCol="0" anchor="t"/>
          <a:lstStyle/>
          <a:p>
            <a:pPr indent="0" marL="0">
              <a:buNone/>
            </a:pPr>
            <a:r>
              <a:rPr lang="en-US" sz="850" dirty="0">
                <a:solidFill>
                  <a:srgbClr val="22303C"/>
                </a:solidFill>
                <a:latin typeface="Calibri" pitchFamily="34" charset="0"/>
                <a:ea typeface="Calibri" pitchFamily="34" charset="-122"/>
                <a:cs typeface="Calibri" pitchFamily="34" charset="-120"/>
              </a:rPr>
              <a:t>Four control models plus conduct() reasoners over one executor — 11 tools, and adding one has never touched the composer.</a:t>
            </a:r>
            <a:endParaRPr lang="en-US" sz="850" dirty="0"/>
          </a:p>
        </p:txBody>
      </p:sp>
      <p:sp>
        <p:nvSpPr>
          <p:cNvPr id="14" name="Shape 12"/>
          <p:cNvSpPr/>
          <p:nvPr/>
        </p:nvSpPr>
        <p:spPr>
          <a:xfrm>
            <a:off x="457200" y="4041648"/>
            <a:ext cx="3657600" cy="274320"/>
          </a:xfrm>
          <a:prstGeom prst="rect">
            <a:avLst/>
          </a:prstGeom>
          <a:solidFill>
            <a:srgbClr val="C0392B"/>
          </a:solidFill>
          <a:ln w="12700">
            <a:solidFill>
              <a:srgbClr val="C0392B"/>
            </a:solidFill>
            <a:prstDash val="solid"/>
          </a:ln>
        </p:spPr>
      </p:sp>
      <p:sp>
        <p:nvSpPr>
          <p:cNvPr id="15" name="Text 13"/>
          <p:cNvSpPr txBox="1"/>
          <p:nvPr/>
        </p:nvSpPr>
        <p:spPr>
          <a:xfrm>
            <a:off x="566928" y="4041648"/>
            <a:ext cx="3438144"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Has never run</a:t>
            </a:r>
            <a:endParaRPr lang="en-US" sz="1000" dirty="0"/>
          </a:p>
        </p:txBody>
      </p:sp>
      <p:sp>
        <p:nvSpPr>
          <p:cNvPr id="16" name="Shape 14"/>
          <p:cNvSpPr/>
          <p:nvPr/>
        </p:nvSpPr>
        <p:spPr>
          <a:xfrm>
            <a:off x="457200" y="4352544"/>
            <a:ext cx="3657600" cy="621792"/>
          </a:xfrm>
          <a:prstGeom prst="rect">
            <a:avLst/>
          </a:prstGeom>
          <a:solidFill>
            <a:srgbClr val="F9E0DD"/>
          </a:solidFill>
          <a:ln w="12700">
            <a:solidFill>
              <a:srgbClr val="C9D1D8"/>
            </a:solidFill>
            <a:prstDash val="solid"/>
          </a:ln>
        </p:spPr>
      </p:sp>
      <p:sp>
        <p:nvSpPr>
          <p:cNvPr id="17" name="Text 15"/>
          <p:cNvSpPr txBox="1"/>
          <p:nvPr/>
        </p:nvSpPr>
        <p:spPr>
          <a:xfrm>
            <a:off x="548640" y="4379976"/>
            <a:ext cx="3474720" cy="566928"/>
          </a:xfrm>
          <a:prstGeom prst="rect">
            <a:avLst/>
          </a:prstGeom>
          <a:noFill/>
          <a:ln/>
        </p:spPr>
        <p:txBody>
          <a:bodyPr wrap="square" lIns="0" tIns="0" rIns="0" bIns="0" rtlCol="0" anchor="t"/>
          <a:lstStyle/>
          <a:p>
            <a:pPr indent="0" marL="0">
              <a:buNone/>
            </a:pPr>
            <a:r>
              <a:rPr lang="en-US" sz="850" dirty="0">
                <a:solidFill>
                  <a:srgbClr val="22303C"/>
                </a:solidFill>
                <a:latin typeface="Calibri" pitchFamily="34" charset="0"/>
                <a:ea typeface="Calibri" pitchFamily="34" charset="-122"/>
                <a:cs typeface="Calibri" pitchFamily="34" charset="-120"/>
              </a:rPr>
              <a:t>replicas &gt; 1 has NEVER executed on real tools, only against mocks. N independent lineages is the invariant most likely to be silently wrong.</a:t>
            </a:r>
            <a:endParaRPr lang="en-US" sz="850" dirty="0"/>
          </a:p>
        </p:txBody>
      </p:sp>
      <p:sp>
        <p:nvSpPr>
          <p:cNvPr id="18" name="Shape 16"/>
          <p:cNvSpPr/>
          <p:nvPr/>
        </p:nvSpPr>
        <p:spPr>
          <a:xfrm>
            <a:off x="457200" y="5010912"/>
            <a:ext cx="3657600" cy="621792"/>
          </a:xfrm>
          <a:prstGeom prst="rect">
            <a:avLst/>
          </a:prstGeom>
          <a:solidFill>
            <a:srgbClr val="FFFFFF"/>
          </a:solidFill>
          <a:ln w="12700">
            <a:solidFill>
              <a:srgbClr val="C9D1D8"/>
            </a:solidFill>
            <a:prstDash val="solid"/>
          </a:ln>
        </p:spPr>
      </p:sp>
      <p:sp>
        <p:nvSpPr>
          <p:cNvPr id="19" name="Text 17"/>
          <p:cNvSpPr txBox="1"/>
          <p:nvPr/>
        </p:nvSpPr>
        <p:spPr>
          <a:xfrm>
            <a:off x="548640" y="5038344"/>
            <a:ext cx="3474720" cy="566928"/>
          </a:xfrm>
          <a:prstGeom prst="rect">
            <a:avLst/>
          </a:prstGeom>
          <a:noFill/>
          <a:ln/>
        </p:spPr>
        <p:txBody>
          <a:bodyPr wrap="square" lIns="0" tIns="0" rIns="0" bIns="0" rtlCol="0" anchor="t"/>
          <a:lstStyle/>
          <a:p>
            <a:pPr indent="0" marL="0">
              <a:buNone/>
            </a:pPr>
            <a:r>
              <a:rPr lang="en-US" sz="850" dirty="0">
                <a:solidFill>
                  <a:srgbClr val="22303C"/>
                </a:solidFill>
                <a:latin typeface="Calibri" pitchFamily="34" charset="0"/>
                <a:ea typeface="Calibri" pitchFamily="34" charset="-122"/>
                <a:cs typeface="Calibri" pitchFamily="34" charset="-120"/>
              </a:rPr>
              <a:t>No measurement has superseded a prediction, so calibration is untested — and that is the capability a composed graph has and a fixed one does not.</a:t>
            </a:r>
            <a:endParaRPr lang="en-US" sz="850" dirty="0"/>
          </a:p>
        </p:txBody>
      </p:sp>
      <p:sp>
        <p:nvSpPr>
          <p:cNvPr id="20" name="Shape 18"/>
          <p:cNvSpPr/>
          <p:nvPr/>
        </p:nvSpPr>
        <p:spPr>
          <a:xfrm>
            <a:off x="457200" y="5669280"/>
            <a:ext cx="3657600" cy="621792"/>
          </a:xfrm>
          <a:prstGeom prst="rect">
            <a:avLst/>
          </a:prstGeom>
          <a:solidFill>
            <a:srgbClr val="F9E0DD"/>
          </a:solidFill>
          <a:ln w="12700">
            <a:solidFill>
              <a:srgbClr val="C9D1D8"/>
            </a:solidFill>
            <a:prstDash val="solid"/>
          </a:ln>
        </p:spPr>
      </p:sp>
      <p:sp>
        <p:nvSpPr>
          <p:cNvPr id="21" name="Text 19"/>
          <p:cNvSpPr txBox="1"/>
          <p:nvPr/>
        </p:nvSpPr>
        <p:spPr>
          <a:xfrm>
            <a:off x="548640" y="5696712"/>
            <a:ext cx="3474720" cy="566928"/>
          </a:xfrm>
          <a:prstGeom prst="rect">
            <a:avLst/>
          </a:prstGeom>
          <a:noFill/>
          <a:ln/>
        </p:spPr>
        <p:txBody>
          <a:bodyPr wrap="square" lIns="0" tIns="0" rIns="0" bIns="0" rtlCol="0" anchor="t"/>
          <a:lstStyle/>
          <a:p>
            <a:pPr indent="0" marL="0">
              <a:buNone/>
            </a:pPr>
            <a:r>
              <a:rPr lang="en-US" sz="850" dirty="0">
                <a:solidFill>
                  <a:srgbClr val="22303C"/>
                </a:solidFill>
                <a:latin typeface="Calibri" pitchFamily="34" charset="0"/>
                <a:ea typeface="Calibri" pitchFamily="34" charset="-122"/>
                <a:cs typeface="Calibri" pitchFamily="34" charset="-120"/>
              </a:rPr>
              <a:t>6 of the 8 compute patterns have no member, P7 (an IMPRESS pipeline as one tool) among them.</a:t>
            </a:r>
            <a:endParaRPr lang="en-US" sz="850" dirty="0"/>
          </a:p>
        </p:txBody>
      </p:sp>
      <p:sp>
        <p:nvSpPr>
          <p:cNvPr id="22" name="Shape 20"/>
          <p:cNvSpPr/>
          <p:nvPr/>
        </p:nvSpPr>
        <p:spPr>
          <a:xfrm>
            <a:off x="4370832" y="1298448"/>
            <a:ext cx="3657600" cy="329184"/>
          </a:xfrm>
          <a:prstGeom prst="rect">
            <a:avLst/>
          </a:prstGeom>
          <a:solidFill>
            <a:srgbClr val="1E6470"/>
          </a:solidFill>
          <a:ln w="12700">
            <a:solidFill>
              <a:srgbClr val="1E6470"/>
            </a:solidFill>
            <a:prstDash val="solid"/>
          </a:ln>
        </p:spPr>
      </p:sp>
      <p:sp>
        <p:nvSpPr>
          <p:cNvPr id="23" name="Text 21"/>
          <p:cNvSpPr txBox="1"/>
          <p:nvPr/>
        </p:nvSpPr>
        <p:spPr>
          <a:xfrm>
            <a:off x="4480560" y="1298448"/>
            <a:ext cx="3438144" cy="329184"/>
          </a:xfrm>
          <a:prstGeom prst="rect">
            <a:avLst/>
          </a:prstGeom>
          <a:noFill/>
          <a:ln/>
        </p:spPr>
        <p:txBody>
          <a:bodyPr wrap="square" lIns="0" tIns="0" rIns="0" bIns="0" rtlCol="0" anchor="ctr"/>
          <a:lstStyle/>
          <a:p>
            <a:pPr indent="0" marL="0">
              <a:buNone/>
            </a:pPr>
            <a:r>
              <a:rPr lang="en-US" sz="1150" b="1" spc="100" kern="0" dirty="0">
                <a:solidFill>
                  <a:srgbClr val="FFFFFF"/>
                </a:solidFill>
                <a:latin typeface="Calibri" pitchFamily="34" charset="0"/>
                <a:ea typeface="Calibri" pitchFamily="34" charset="-122"/>
                <a:cs typeface="Calibri" pitchFamily="34" charset="-120"/>
              </a:rPr>
              <a:t>PERFORMANCE</a:t>
            </a:r>
            <a:endParaRPr lang="en-US" sz="1150" dirty="0"/>
          </a:p>
        </p:txBody>
      </p:sp>
      <p:sp>
        <p:nvSpPr>
          <p:cNvPr id="24" name="Shape 22"/>
          <p:cNvSpPr/>
          <p:nvPr/>
        </p:nvSpPr>
        <p:spPr>
          <a:xfrm>
            <a:off x="4370832" y="1700784"/>
            <a:ext cx="3657600" cy="274320"/>
          </a:xfrm>
          <a:prstGeom prst="rect">
            <a:avLst/>
          </a:prstGeom>
          <a:solidFill>
            <a:srgbClr val="2E7D4F"/>
          </a:solidFill>
          <a:ln w="12700">
            <a:solidFill>
              <a:srgbClr val="2E7D4F"/>
            </a:solidFill>
            <a:prstDash val="solid"/>
          </a:ln>
        </p:spPr>
      </p:sp>
      <p:sp>
        <p:nvSpPr>
          <p:cNvPr id="25" name="Text 23"/>
          <p:cNvSpPr txBox="1"/>
          <p:nvPr/>
        </p:nvSpPr>
        <p:spPr>
          <a:xfrm>
            <a:off x="4480560" y="1700784"/>
            <a:ext cx="3438144"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Runs, for real</a:t>
            </a:r>
            <a:endParaRPr lang="en-US" sz="1000" dirty="0"/>
          </a:p>
        </p:txBody>
      </p:sp>
      <p:sp>
        <p:nvSpPr>
          <p:cNvPr id="26" name="Shape 24"/>
          <p:cNvSpPr/>
          <p:nvPr/>
        </p:nvSpPr>
        <p:spPr>
          <a:xfrm>
            <a:off x="4370832" y="2011680"/>
            <a:ext cx="3657600" cy="621792"/>
          </a:xfrm>
          <a:prstGeom prst="rect">
            <a:avLst/>
          </a:prstGeom>
          <a:solidFill>
            <a:srgbClr val="F0F6F2"/>
          </a:solidFill>
          <a:ln w="12700">
            <a:solidFill>
              <a:srgbClr val="C9D1D8"/>
            </a:solidFill>
            <a:prstDash val="solid"/>
          </a:ln>
        </p:spPr>
      </p:sp>
      <p:sp>
        <p:nvSpPr>
          <p:cNvPr id="27" name="Text 25"/>
          <p:cNvSpPr txBox="1"/>
          <p:nvPr/>
        </p:nvSpPr>
        <p:spPr>
          <a:xfrm>
            <a:off x="4462272" y="2039112"/>
            <a:ext cx="3474720" cy="566928"/>
          </a:xfrm>
          <a:prstGeom prst="rect">
            <a:avLst/>
          </a:prstGeom>
          <a:noFill/>
          <a:ln/>
        </p:spPr>
        <p:txBody>
          <a:bodyPr wrap="square" lIns="0" tIns="0" rIns="0" bIns="0" rtlCol="0" anchor="t"/>
          <a:lstStyle/>
          <a:p>
            <a:pPr indent="0" marL="0">
              <a:buNone/>
            </a:pPr>
            <a:r>
              <a:rPr lang="en-US" sz="850" dirty="0">
                <a:solidFill>
                  <a:srgbClr val="22303C"/>
                </a:solidFill>
                <a:latin typeface="Calibri" pitchFamily="34" charset="0"/>
                <a:ea typeface="Calibri" pitchFamily="34" charset="-122"/>
                <a:cs typeface="Calibri" pitchFamily="34" charset="-120"/>
              </a:rPr>
              <a:t>The TRUSTED path: promoted after r0002, then 3 consecutive trusted cycles — no forced dry-run, no cost cap, no demotion.</a:t>
            </a:r>
            <a:endParaRPr lang="en-US" sz="850" dirty="0"/>
          </a:p>
        </p:txBody>
      </p:sp>
      <p:sp>
        <p:nvSpPr>
          <p:cNvPr id="28" name="Shape 26"/>
          <p:cNvSpPr/>
          <p:nvPr/>
        </p:nvSpPr>
        <p:spPr>
          <a:xfrm>
            <a:off x="4370832" y="2670048"/>
            <a:ext cx="3657600" cy="621792"/>
          </a:xfrm>
          <a:prstGeom prst="rect">
            <a:avLst/>
          </a:prstGeom>
          <a:solidFill>
            <a:srgbClr val="FFFFFF"/>
          </a:solidFill>
          <a:ln w="12700">
            <a:solidFill>
              <a:srgbClr val="C9D1D8"/>
            </a:solidFill>
            <a:prstDash val="solid"/>
          </a:ln>
        </p:spPr>
      </p:sp>
      <p:sp>
        <p:nvSpPr>
          <p:cNvPr id="29" name="Text 27"/>
          <p:cNvSpPr txBox="1"/>
          <p:nvPr/>
        </p:nvSpPr>
        <p:spPr>
          <a:xfrm>
            <a:off x="4462272" y="2697480"/>
            <a:ext cx="3474720" cy="566928"/>
          </a:xfrm>
          <a:prstGeom prst="rect">
            <a:avLst/>
          </a:prstGeom>
          <a:noFill/>
          <a:ln/>
        </p:spPr>
        <p:txBody>
          <a:bodyPr wrap="square" lIns="0" tIns="0" rIns="0" bIns="0" rtlCol="0" anchor="t"/>
          <a:lstStyle/>
          <a:p>
            <a:pPr indent="0" marL="0">
              <a:buNone/>
            </a:pPr>
            <a:r>
              <a:rPr lang="en-US" sz="850" dirty="0">
                <a:solidFill>
                  <a:srgbClr val="22303C"/>
                </a:solidFill>
                <a:latin typeface="Calibri" pitchFamily="34" charset="0"/>
                <a:ea typeface="Calibri" pitchFamily="34" charset="-122"/>
                <a:cs typeface="Calibri" pitchFamily="34" charset="-120"/>
              </a:rPr>
              <a:t>Scrutiny measured and free: 2.8s of overhead per run, untrusted costs 0.0s [-0.9, 1.2].</a:t>
            </a:r>
            <a:endParaRPr lang="en-US" sz="850" dirty="0"/>
          </a:p>
        </p:txBody>
      </p:sp>
      <p:sp>
        <p:nvSpPr>
          <p:cNvPr id="30" name="Shape 28"/>
          <p:cNvSpPr/>
          <p:nvPr/>
        </p:nvSpPr>
        <p:spPr>
          <a:xfrm>
            <a:off x="4370832" y="3328416"/>
            <a:ext cx="3657600" cy="621792"/>
          </a:xfrm>
          <a:prstGeom prst="rect">
            <a:avLst/>
          </a:prstGeom>
          <a:solidFill>
            <a:srgbClr val="F0F6F2"/>
          </a:solidFill>
          <a:ln w="12700">
            <a:solidFill>
              <a:srgbClr val="C9D1D8"/>
            </a:solidFill>
            <a:prstDash val="solid"/>
          </a:ln>
        </p:spPr>
      </p:sp>
      <p:sp>
        <p:nvSpPr>
          <p:cNvPr id="31" name="Text 29"/>
          <p:cNvSpPr txBox="1"/>
          <p:nvPr/>
        </p:nvSpPr>
        <p:spPr>
          <a:xfrm>
            <a:off x="4462272" y="3355848"/>
            <a:ext cx="3474720" cy="566928"/>
          </a:xfrm>
          <a:prstGeom prst="rect">
            <a:avLst/>
          </a:prstGeom>
          <a:noFill/>
          <a:ln/>
        </p:spPr>
        <p:txBody>
          <a:bodyPr wrap="square" lIns="0" tIns="0" rIns="0" bIns="0" rtlCol="0" anchor="t"/>
          <a:lstStyle/>
          <a:p>
            <a:pPr indent="0" marL="0">
              <a:buNone/>
            </a:pPr>
            <a:r>
              <a:rPr lang="en-US" sz="850" dirty="0">
                <a:solidFill>
                  <a:srgbClr val="22303C"/>
                </a:solidFill>
                <a:latin typeface="Calibri" pitchFamily="34" charset="0"/>
                <a:ea typeface="Calibri" pitchFamily="34" charset="-122"/>
                <a:cs typeface="Calibri" pitchFamily="34" charset="-120"/>
              </a:rPr>
              <a:t>Dragon startup AND teardown bounded; per-tool cost measured for all six real tools and the specs corrected from it.</a:t>
            </a:r>
            <a:endParaRPr lang="en-US" sz="850" dirty="0"/>
          </a:p>
        </p:txBody>
      </p:sp>
      <p:sp>
        <p:nvSpPr>
          <p:cNvPr id="32" name="Shape 30"/>
          <p:cNvSpPr/>
          <p:nvPr/>
        </p:nvSpPr>
        <p:spPr>
          <a:xfrm>
            <a:off x="4370832" y="4041648"/>
            <a:ext cx="3657600" cy="274320"/>
          </a:xfrm>
          <a:prstGeom prst="rect">
            <a:avLst/>
          </a:prstGeom>
          <a:solidFill>
            <a:srgbClr val="C0392B"/>
          </a:solidFill>
          <a:ln w="12700">
            <a:solidFill>
              <a:srgbClr val="C0392B"/>
            </a:solidFill>
            <a:prstDash val="solid"/>
          </a:ln>
        </p:spPr>
      </p:sp>
      <p:sp>
        <p:nvSpPr>
          <p:cNvPr id="33" name="Text 31"/>
          <p:cNvSpPr txBox="1"/>
          <p:nvPr/>
        </p:nvSpPr>
        <p:spPr>
          <a:xfrm>
            <a:off x="4480560" y="4041648"/>
            <a:ext cx="3438144"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Has never run</a:t>
            </a:r>
            <a:endParaRPr lang="en-US" sz="1000" dirty="0"/>
          </a:p>
        </p:txBody>
      </p:sp>
      <p:sp>
        <p:nvSpPr>
          <p:cNvPr id="34" name="Shape 32"/>
          <p:cNvSpPr/>
          <p:nvPr/>
        </p:nvSpPr>
        <p:spPr>
          <a:xfrm>
            <a:off x="4370832" y="4352544"/>
            <a:ext cx="3657600" cy="621792"/>
          </a:xfrm>
          <a:prstGeom prst="rect">
            <a:avLst/>
          </a:prstGeom>
          <a:solidFill>
            <a:srgbClr val="F9E0DD"/>
          </a:solidFill>
          <a:ln w="12700">
            <a:solidFill>
              <a:srgbClr val="C9D1D8"/>
            </a:solidFill>
            <a:prstDash val="solid"/>
          </a:ln>
        </p:spPr>
      </p:sp>
      <p:sp>
        <p:nvSpPr>
          <p:cNvPr id="35" name="Text 33"/>
          <p:cNvSpPr txBox="1"/>
          <p:nvPr/>
        </p:nvSpPr>
        <p:spPr>
          <a:xfrm>
            <a:off x="4462272" y="4379976"/>
            <a:ext cx="3474720" cy="566928"/>
          </a:xfrm>
          <a:prstGeom prst="rect">
            <a:avLst/>
          </a:prstGeom>
          <a:noFill/>
          <a:ln/>
        </p:spPr>
        <p:txBody>
          <a:bodyPr wrap="square" lIns="0" tIns="0" rIns="0" bIns="0" rtlCol="0" anchor="t"/>
          <a:lstStyle/>
          <a:p>
            <a:pPr indent="0" marL="0">
              <a:buNone/>
            </a:pPr>
            <a:r>
              <a:rPr lang="en-US" sz="850" dirty="0">
                <a:solidFill>
                  <a:srgbClr val="22303C"/>
                </a:solidFill>
                <a:latin typeface="Calibri" pitchFamily="34" charset="0"/>
                <a:ea typeface="Calibri" pitchFamily="34" charset="-122"/>
                <a:cs typeface="Calibri" pitchFamily="34" charset="-120"/>
              </a:rPr>
              <a:t>No serial baseline and no head-to-head, so nothing in act 2 is a speedup.</a:t>
            </a:r>
            <a:endParaRPr lang="en-US" sz="850" dirty="0"/>
          </a:p>
        </p:txBody>
      </p:sp>
      <p:sp>
        <p:nvSpPr>
          <p:cNvPr id="36" name="Shape 34"/>
          <p:cNvSpPr/>
          <p:nvPr/>
        </p:nvSpPr>
        <p:spPr>
          <a:xfrm>
            <a:off x="4370832" y="5010912"/>
            <a:ext cx="3657600" cy="621792"/>
          </a:xfrm>
          <a:prstGeom prst="rect">
            <a:avLst/>
          </a:prstGeom>
          <a:solidFill>
            <a:srgbClr val="FFFFFF"/>
          </a:solidFill>
          <a:ln w="12700">
            <a:solidFill>
              <a:srgbClr val="C9D1D8"/>
            </a:solidFill>
            <a:prstDash val="solid"/>
          </a:ln>
        </p:spPr>
      </p:sp>
      <p:sp>
        <p:nvSpPr>
          <p:cNvPr id="37" name="Text 35"/>
          <p:cNvSpPr txBox="1"/>
          <p:nvPr/>
        </p:nvSpPr>
        <p:spPr>
          <a:xfrm>
            <a:off x="4462272" y="5038344"/>
            <a:ext cx="3474720" cy="566928"/>
          </a:xfrm>
          <a:prstGeom prst="rect">
            <a:avLst/>
          </a:prstGeom>
          <a:noFill/>
          <a:ln/>
        </p:spPr>
        <p:txBody>
          <a:bodyPr wrap="square" lIns="0" tIns="0" rIns="0" bIns="0" rtlCol="0" anchor="t"/>
          <a:lstStyle/>
          <a:p>
            <a:pPr indent="0" marL="0">
              <a:buNone/>
            </a:pPr>
            <a:r>
              <a:rPr lang="en-US" sz="850" dirty="0">
                <a:solidFill>
                  <a:srgbClr val="22303C"/>
                </a:solidFill>
                <a:latin typeface="Calibri" pitchFamily="34" charset="0"/>
                <a:ea typeface="Calibri" pitchFamily="34" charset="-122"/>
                <a:cs typeface="Calibri" pitchFamily="34" charset="-120"/>
              </a:rPr>
              <a:t>One GPU of four ever works: GPU-busy ≤17% as an upper bound, and packing has never been attempted.</a:t>
            </a:r>
            <a:endParaRPr lang="en-US" sz="850" dirty="0"/>
          </a:p>
        </p:txBody>
      </p:sp>
      <p:sp>
        <p:nvSpPr>
          <p:cNvPr id="38" name="Shape 36"/>
          <p:cNvSpPr/>
          <p:nvPr/>
        </p:nvSpPr>
        <p:spPr>
          <a:xfrm>
            <a:off x="4370832" y="5669280"/>
            <a:ext cx="3657600" cy="621792"/>
          </a:xfrm>
          <a:prstGeom prst="rect">
            <a:avLst/>
          </a:prstGeom>
          <a:solidFill>
            <a:srgbClr val="F9E0DD"/>
          </a:solidFill>
          <a:ln w="12700">
            <a:solidFill>
              <a:srgbClr val="C9D1D8"/>
            </a:solidFill>
            <a:prstDash val="solid"/>
          </a:ln>
        </p:spPr>
      </p:sp>
      <p:sp>
        <p:nvSpPr>
          <p:cNvPr id="39" name="Text 37"/>
          <p:cNvSpPr txBox="1"/>
          <p:nvPr/>
        </p:nvSpPr>
        <p:spPr>
          <a:xfrm>
            <a:off x="4462272" y="5696712"/>
            <a:ext cx="3474720" cy="566928"/>
          </a:xfrm>
          <a:prstGeom prst="rect">
            <a:avLst/>
          </a:prstGeom>
          <a:noFill/>
          <a:ln/>
        </p:spPr>
        <p:txBody>
          <a:bodyPr wrap="square" lIns="0" tIns="0" rIns="0" bIns="0" rtlCol="0" anchor="t"/>
          <a:lstStyle/>
          <a:p>
            <a:pPr indent="0" marL="0">
              <a:buNone/>
            </a:pPr>
            <a:r>
              <a:rPr lang="en-US" sz="850" dirty="0">
                <a:solidFill>
                  <a:srgbClr val="22303C"/>
                </a:solidFill>
                <a:latin typeface="Calibri" pitchFamily="34" charset="0"/>
                <a:ea typeface="Calibri" pitchFamily="34" charset="-122"/>
                <a:cs typeface="Calibri" pitchFamily="34" charset="-120"/>
              </a:rPr>
              <a:t>No node has reached plain pass — all 5 trusted nodes missed an acceptance threshold, 31% over 16 runs. More draws, not code.</a:t>
            </a:r>
            <a:endParaRPr lang="en-US" sz="850" dirty="0"/>
          </a:p>
        </p:txBody>
      </p:sp>
      <p:sp>
        <p:nvSpPr>
          <p:cNvPr id="40" name="Shape 38"/>
          <p:cNvSpPr/>
          <p:nvPr/>
        </p:nvSpPr>
        <p:spPr>
          <a:xfrm>
            <a:off x="8284464" y="1298448"/>
            <a:ext cx="3657600" cy="329184"/>
          </a:xfrm>
          <a:prstGeom prst="rect">
            <a:avLst/>
          </a:prstGeom>
          <a:solidFill>
            <a:srgbClr val="7A4A8C"/>
          </a:solidFill>
          <a:ln w="12700">
            <a:solidFill>
              <a:srgbClr val="7A4A8C"/>
            </a:solidFill>
            <a:prstDash val="solid"/>
          </a:ln>
        </p:spPr>
      </p:sp>
      <p:sp>
        <p:nvSpPr>
          <p:cNvPr id="41" name="Text 39"/>
          <p:cNvSpPr txBox="1"/>
          <p:nvPr/>
        </p:nvSpPr>
        <p:spPr>
          <a:xfrm>
            <a:off x="8394192" y="1298448"/>
            <a:ext cx="3438144" cy="329184"/>
          </a:xfrm>
          <a:prstGeom prst="rect">
            <a:avLst/>
          </a:prstGeom>
          <a:noFill/>
          <a:ln/>
        </p:spPr>
        <p:txBody>
          <a:bodyPr wrap="square" lIns="0" tIns="0" rIns="0" bIns="0" rtlCol="0" anchor="ctr"/>
          <a:lstStyle/>
          <a:p>
            <a:pPr indent="0" marL="0">
              <a:buNone/>
            </a:pPr>
            <a:r>
              <a:rPr lang="en-US" sz="1150" b="1" spc="100" kern="0" dirty="0">
                <a:solidFill>
                  <a:srgbClr val="FFFFFF"/>
                </a:solidFill>
                <a:latin typeface="Calibri" pitchFamily="34" charset="0"/>
                <a:ea typeface="Calibri" pitchFamily="34" charset="-122"/>
                <a:cs typeface="Calibri" pitchFamily="34" charset="-120"/>
              </a:rPr>
              <a:t>USABILITY</a:t>
            </a:r>
            <a:endParaRPr lang="en-US" sz="1150" dirty="0"/>
          </a:p>
        </p:txBody>
      </p:sp>
      <p:sp>
        <p:nvSpPr>
          <p:cNvPr id="42" name="Shape 40"/>
          <p:cNvSpPr/>
          <p:nvPr/>
        </p:nvSpPr>
        <p:spPr>
          <a:xfrm>
            <a:off x="8284464" y="1700784"/>
            <a:ext cx="3657600" cy="274320"/>
          </a:xfrm>
          <a:prstGeom prst="rect">
            <a:avLst/>
          </a:prstGeom>
          <a:solidFill>
            <a:srgbClr val="2E7D4F"/>
          </a:solidFill>
          <a:ln w="12700">
            <a:solidFill>
              <a:srgbClr val="2E7D4F"/>
            </a:solidFill>
            <a:prstDash val="solid"/>
          </a:ln>
        </p:spPr>
      </p:sp>
      <p:sp>
        <p:nvSpPr>
          <p:cNvPr id="43" name="Text 41"/>
          <p:cNvSpPr txBox="1"/>
          <p:nvPr/>
        </p:nvSpPr>
        <p:spPr>
          <a:xfrm>
            <a:off x="8394192" y="1700784"/>
            <a:ext cx="3438144"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Runs, for real</a:t>
            </a:r>
            <a:endParaRPr lang="en-US" sz="1000" dirty="0"/>
          </a:p>
        </p:txBody>
      </p:sp>
      <p:sp>
        <p:nvSpPr>
          <p:cNvPr id="44" name="Shape 42"/>
          <p:cNvSpPr/>
          <p:nvPr/>
        </p:nvSpPr>
        <p:spPr>
          <a:xfrm>
            <a:off x="8284464" y="2011680"/>
            <a:ext cx="3657600" cy="621792"/>
          </a:xfrm>
          <a:prstGeom prst="rect">
            <a:avLst/>
          </a:prstGeom>
          <a:solidFill>
            <a:srgbClr val="F0F6F2"/>
          </a:solidFill>
          <a:ln w="12700">
            <a:solidFill>
              <a:srgbClr val="C9D1D8"/>
            </a:solidFill>
            <a:prstDash val="solid"/>
          </a:ln>
        </p:spPr>
      </p:sp>
      <p:sp>
        <p:nvSpPr>
          <p:cNvPr id="45" name="Text 43"/>
          <p:cNvSpPr txBox="1"/>
          <p:nvPr/>
        </p:nvSpPr>
        <p:spPr>
          <a:xfrm>
            <a:off x="8375904" y="2039112"/>
            <a:ext cx="3474720" cy="566928"/>
          </a:xfrm>
          <a:prstGeom prst="rect">
            <a:avLst/>
          </a:prstGeom>
          <a:noFill/>
          <a:ln/>
        </p:spPr>
        <p:txBody>
          <a:bodyPr wrap="square" lIns="0" tIns="0" rIns="0" bIns="0" rtlCol="0" anchor="t"/>
          <a:lstStyle/>
          <a:p>
            <a:pPr indent="0" marL="0">
              <a:buNone/>
            </a:pPr>
            <a:r>
              <a:rPr lang="en-US" sz="850" dirty="0">
                <a:solidFill>
                  <a:srgbClr val="22303C"/>
                </a:solidFill>
                <a:latin typeface="Calibri" pitchFamily="34" charset="0"/>
                <a:ea typeface="Calibri" pitchFamily="34" charset="-122"/>
                <a:cs typeface="Calibri" pitchFamily="34" charset="-120"/>
              </a:rPr>
              <a:t>A campaign is one YAML and one command; the whole local tier runs with no allocation.</a:t>
            </a:r>
            <a:endParaRPr lang="en-US" sz="850" dirty="0"/>
          </a:p>
        </p:txBody>
      </p:sp>
      <p:sp>
        <p:nvSpPr>
          <p:cNvPr id="46" name="Shape 44"/>
          <p:cNvSpPr/>
          <p:nvPr/>
        </p:nvSpPr>
        <p:spPr>
          <a:xfrm>
            <a:off x="8284464" y="2670048"/>
            <a:ext cx="3657600" cy="621792"/>
          </a:xfrm>
          <a:prstGeom prst="rect">
            <a:avLst/>
          </a:prstGeom>
          <a:solidFill>
            <a:srgbClr val="FFFFFF"/>
          </a:solidFill>
          <a:ln w="12700">
            <a:solidFill>
              <a:srgbClr val="C9D1D8"/>
            </a:solidFill>
            <a:prstDash val="solid"/>
          </a:ln>
        </p:spPr>
      </p:sp>
      <p:sp>
        <p:nvSpPr>
          <p:cNvPr id="47" name="Text 45"/>
          <p:cNvSpPr txBox="1"/>
          <p:nvPr/>
        </p:nvSpPr>
        <p:spPr>
          <a:xfrm>
            <a:off x="8375904" y="2697480"/>
            <a:ext cx="3474720" cy="566928"/>
          </a:xfrm>
          <a:prstGeom prst="rect">
            <a:avLst/>
          </a:prstGeom>
          <a:noFill/>
          <a:ln/>
        </p:spPr>
        <p:txBody>
          <a:bodyPr wrap="square" lIns="0" tIns="0" rIns="0" bIns="0" rtlCol="0" anchor="t"/>
          <a:lstStyle/>
          <a:p>
            <a:pPr indent="0" marL="0">
              <a:buNone/>
            </a:pPr>
            <a:r>
              <a:rPr lang="en-US" sz="850" dirty="0">
                <a:solidFill>
                  <a:srgbClr val="22303C"/>
                </a:solidFill>
                <a:latin typeface="Calibri" pitchFamily="34" charset="0"/>
                <a:ea typeface="Calibri" pitchFamily="34" charset="-122"/>
                <a:cs typeface="Calibri" pitchFamily="34" charset="-120"/>
              </a:rPr>
              <a:t>Toolkits discovered at runtime: 5 of them, declarative specs plus a SKILL.md, validated at load.</a:t>
            </a:r>
            <a:endParaRPr lang="en-US" sz="850" dirty="0"/>
          </a:p>
        </p:txBody>
      </p:sp>
      <p:sp>
        <p:nvSpPr>
          <p:cNvPr id="48" name="Shape 46"/>
          <p:cNvSpPr/>
          <p:nvPr/>
        </p:nvSpPr>
        <p:spPr>
          <a:xfrm>
            <a:off x="8284464" y="3328416"/>
            <a:ext cx="3657600" cy="621792"/>
          </a:xfrm>
          <a:prstGeom prst="rect">
            <a:avLst/>
          </a:prstGeom>
          <a:solidFill>
            <a:srgbClr val="F0F6F2"/>
          </a:solidFill>
          <a:ln w="12700">
            <a:solidFill>
              <a:srgbClr val="C9D1D8"/>
            </a:solidFill>
            <a:prstDash val="solid"/>
          </a:ln>
        </p:spPr>
      </p:sp>
      <p:sp>
        <p:nvSpPr>
          <p:cNvPr id="49" name="Text 47"/>
          <p:cNvSpPr txBox="1"/>
          <p:nvPr/>
        </p:nvSpPr>
        <p:spPr>
          <a:xfrm>
            <a:off x="8375904" y="3355848"/>
            <a:ext cx="3474720" cy="566928"/>
          </a:xfrm>
          <a:prstGeom prst="rect">
            <a:avLst/>
          </a:prstGeom>
          <a:noFill/>
          <a:ln/>
        </p:spPr>
        <p:txBody>
          <a:bodyPr wrap="square" lIns="0" tIns="0" rIns="0" bIns="0" rtlCol="0" anchor="t"/>
          <a:lstStyle/>
          <a:p>
            <a:pPr indent="0" marL="0">
              <a:buNone/>
            </a:pPr>
            <a:r>
              <a:rPr lang="en-US" sz="850" dirty="0">
                <a:solidFill>
                  <a:srgbClr val="22303C"/>
                </a:solidFill>
                <a:latin typeface="Calibri" pitchFamily="34" charset="0"/>
                <a:ea typeface="Calibri" pitchFamily="34" charset="-122"/>
                <a:cs typeface="Calibri" pitchFamily="34" charset="-120"/>
              </a:rPr>
              <a:t>Control plane in two transports, including a reasoner in another process driving a campaign over HTTP + SSE.</a:t>
            </a:r>
            <a:endParaRPr lang="en-US" sz="850" dirty="0"/>
          </a:p>
        </p:txBody>
      </p:sp>
      <p:sp>
        <p:nvSpPr>
          <p:cNvPr id="50" name="Shape 48"/>
          <p:cNvSpPr/>
          <p:nvPr/>
        </p:nvSpPr>
        <p:spPr>
          <a:xfrm>
            <a:off x="8284464" y="4041648"/>
            <a:ext cx="3657600" cy="274320"/>
          </a:xfrm>
          <a:prstGeom prst="rect">
            <a:avLst/>
          </a:prstGeom>
          <a:solidFill>
            <a:srgbClr val="C0392B"/>
          </a:solidFill>
          <a:ln w="12700">
            <a:solidFill>
              <a:srgbClr val="C0392B"/>
            </a:solidFill>
            <a:prstDash val="solid"/>
          </a:ln>
        </p:spPr>
      </p:sp>
      <p:sp>
        <p:nvSpPr>
          <p:cNvPr id="51" name="Text 49"/>
          <p:cNvSpPr txBox="1"/>
          <p:nvPr/>
        </p:nvSpPr>
        <p:spPr>
          <a:xfrm>
            <a:off x="8394192" y="4041648"/>
            <a:ext cx="3438144"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Has never run</a:t>
            </a:r>
            <a:endParaRPr lang="en-US" sz="1000" dirty="0"/>
          </a:p>
        </p:txBody>
      </p:sp>
      <p:sp>
        <p:nvSpPr>
          <p:cNvPr id="52" name="Shape 50"/>
          <p:cNvSpPr/>
          <p:nvPr/>
        </p:nvSpPr>
        <p:spPr>
          <a:xfrm>
            <a:off x="8284464" y="4352544"/>
            <a:ext cx="3657600" cy="621792"/>
          </a:xfrm>
          <a:prstGeom prst="rect">
            <a:avLst/>
          </a:prstGeom>
          <a:solidFill>
            <a:srgbClr val="F9E0DD"/>
          </a:solidFill>
          <a:ln w="12700">
            <a:solidFill>
              <a:srgbClr val="C9D1D8"/>
            </a:solidFill>
            <a:prstDash val="solid"/>
          </a:ln>
        </p:spPr>
      </p:sp>
      <p:sp>
        <p:nvSpPr>
          <p:cNvPr id="53" name="Text 51"/>
          <p:cNvSpPr txBox="1"/>
          <p:nvPr/>
        </p:nvSpPr>
        <p:spPr>
          <a:xfrm>
            <a:off x="8375904" y="4379976"/>
            <a:ext cx="3474720" cy="566928"/>
          </a:xfrm>
          <a:prstGeom prst="rect">
            <a:avLst/>
          </a:prstGeom>
          <a:noFill/>
          <a:ln/>
        </p:spPr>
        <p:txBody>
          <a:bodyPr wrap="square" lIns="0" tIns="0" rIns="0" bIns="0" rtlCol="0" anchor="t"/>
          <a:lstStyle/>
          <a:p>
            <a:pPr indent="0" marL="0">
              <a:buNone/>
            </a:pPr>
            <a:r>
              <a:rPr lang="en-US" sz="850" dirty="0">
                <a:solidFill>
                  <a:srgbClr val="22303C"/>
                </a:solidFill>
                <a:latin typeface="Calibri" pitchFamily="34" charset="0"/>
                <a:ea typeface="Calibri" pitchFamily="34" charset="-122"/>
                <a:cs typeface="Calibri" pitchFamily="34" charset="-120"/>
              </a:rPr>
              <a:t>No resume: the ledger and reattach() exist, nothing resumes from them.</a:t>
            </a:r>
            <a:endParaRPr lang="en-US" sz="850" dirty="0"/>
          </a:p>
        </p:txBody>
      </p:sp>
      <p:sp>
        <p:nvSpPr>
          <p:cNvPr id="54" name="Shape 52"/>
          <p:cNvSpPr/>
          <p:nvPr/>
        </p:nvSpPr>
        <p:spPr>
          <a:xfrm>
            <a:off x="8284464" y="5010912"/>
            <a:ext cx="3657600" cy="621792"/>
          </a:xfrm>
          <a:prstGeom prst="rect">
            <a:avLst/>
          </a:prstGeom>
          <a:solidFill>
            <a:srgbClr val="FFFFFF"/>
          </a:solidFill>
          <a:ln w="12700">
            <a:solidFill>
              <a:srgbClr val="C9D1D8"/>
            </a:solidFill>
            <a:prstDash val="solid"/>
          </a:ln>
        </p:spPr>
      </p:sp>
      <p:sp>
        <p:nvSpPr>
          <p:cNvPr id="55" name="Text 53"/>
          <p:cNvSpPr txBox="1"/>
          <p:nvPr/>
        </p:nvSpPr>
        <p:spPr>
          <a:xfrm>
            <a:off x="8375904" y="5038344"/>
            <a:ext cx="3474720" cy="566928"/>
          </a:xfrm>
          <a:prstGeom prst="rect">
            <a:avLst/>
          </a:prstGeom>
          <a:noFill/>
          <a:ln/>
        </p:spPr>
        <p:txBody>
          <a:bodyPr wrap="square" lIns="0" tIns="0" rIns="0" bIns="0" rtlCol="0" anchor="t"/>
          <a:lstStyle/>
          <a:p>
            <a:pPr indent="0" marL="0">
              <a:buNone/>
            </a:pPr>
            <a:r>
              <a:rPr lang="en-US" sz="850" dirty="0">
                <a:solidFill>
                  <a:srgbClr val="22303C"/>
                </a:solidFill>
                <a:latin typeface="Calibri" pitchFamily="34" charset="0"/>
                <a:ea typeface="Calibri" pitchFamily="34" charset="-122"/>
                <a:cs typeface="Calibri" pitchFamily="34" charset="-120"/>
              </a:rPr>
              <a:t>impress-a serve / reason do not exist, so --model C fails open and reports a model-D campaign as model C.</a:t>
            </a:r>
            <a:endParaRPr lang="en-US" sz="850" dirty="0"/>
          </a:p>
        </p:txBody>
      </p:sp>
      <p:sp>
        <p:nvSpPr>
          <p:cNvPr id="56" name="Shape 54"/>
          <p:cNvSpPr/>
          <p:nvPr/>
        </p:nvSpPr>
        <p:spPr>
          <a:xfrm>
            <a:off x="8284464" y="5669280"/>
            <a:ext cx="3657600" cy="621792"/>
          </a:xfrm>
          <a:prstGeom prst="rect">
            <a:avLst/>
          </a:prstGeom>
          <a:solidFill>
            <a:srgbClr val="F9E0DD"/>
          </a:solidFill>
          <a:ln w="12700">
            <a:solidFill>
              <a:srgbClr val="C9D1D8"/>
            </a:solidFill>
            <a:prstDash val="solid"/>
          </a:ln>
        </p:spPr>
      </p:sp>
      <p:sp>
        <p:nvSpPr>
          <p:cNvPr id="57" name="Text 55"/>
          <p:cNvSpPr txBox="1"/>
          <p:nvPr/>
        </p:nvSpPr>
        <p:spPr>
          <a:xfrm>
            <a:off x="8375904" y="5696712"/>
            <a:ext cx="3474720" cy="566928"/>
          </a:xfrm>
          <a:prstGeom prst="rect">
            <a:avLst/>
          </a:prstGeom>
          <a:noFill/>
          <a:ln/>
        </p:spPr>
        <p:txBody>
          <a:bodyPr wrap="square" lIns="0" tIns="0" rIns="0" bIns="0" rtlCol="0" anchor="t"/>
          <a:lstStyle/>
          <a:p>
            <a:pPr indent="0" marL="0">
              <a:buNone/>
            </a:pPr>
            <a:r>
              <a:rPr lang="en-US" sz="850" dirty="0">
                <a:solidFill>
                  <a:srgbClr val="22303C"/>
                </a:solidFill>
                <a:latin typeface="Calibri" pitchFamily="34" charset="0"/>
                <a:ea typeface="Calibri" pitchFamily="34" charset="-122"/>
                <a:cs typeface="Calibri" pitchFamily="34" charset="-120"/>
              </a:rPr>
              <a:t>sites/*.yaml is read by no code. MCP is designed, not built. Nothing external has ever driven a campaign outside tests/.</a:t>
            </a:r>
            <a:endParaRPr lang="en-US" sz="850" dirty="0"/>
          </a:p>
        </p:txBody>
      </p:sp>
      <p:sp>
        <p:nvSpPr>
          <p:cNvPr id="58" name="Text 56"/>
          <p:cNvSpPr txBox="1"/>
          <p:nvPr/>
        </p:nvSpPr>
        <p:spPr>
          <a:xfrm>
            <a:off x="457200" y="6382512"/>
            <a:ext cx="11274552" cy="310896"/>
          </a:xfrm>
          <a:prstGeom prst="rect">
            <a:avLst/>
          </a:prstGeom>
          <a:noFill/>
          <a:ln/>
        </p:spPr>
        <p:txBody>
          <a:bodyPr wrap="square" lIns="0" tIns="0" rIns="0" bIns="0" rtlCol="0" anchor="t"/>
          <a:lstStyle/>
          <a:p>
            <a:pPr indent="0" marL="0">
              <a:buNone/>
            </a:pPr>
            <a:r>
              <a:rPr lang="en-US" sz="1150" b="1" dirty="0">
                <a:solidFill>
                  <a:srgbClr val="16222B"/>
                </a:solidFill>
                <a:latin typeface="Calibri" pitchFamily="34" charset="0"/>
                <a:ea typeface="Calibri" pitchFamily="34" charset="-122"/>
                <a:cs typeface="Calibri" pitchFamily="34" charset="-120"/>
              </a:rPr>
              <a:t>Count the red column: it is the same length as the green one in all three. </a:t>
            </a:r>
            <a:pPr indent="0" marL="0">
              <a:buNone/>
            </a:pPr>
            <a:r>
              <a:rPr lang="en-US" sz="1150" dirty="0">
                <a:solidFill>
                  <a:srgbClr val="22303C"/>
                </a:solidFill>
                <a:latin typeface="Calibri" pitchFamily="34" charset="0"/>
                <a:ea typeface="Calibri" pitchFamily="34" charset="-122"/>
                <a:cs typeface="Calibri" pitchFamily="34" charset="-120"/>
              </a:rPr>
              <a:t>16 complete six-stage runs and the trusted path held — every one of them a single lineage, on a system built for width.</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6222B"/>
        </a:solidFill>
      </p:bgPr>
    </p:bg>
    <p:spTree>
      <p:nvGrpSpPr>
        <p:cNvPr id="1" name=""/>
        <p:cNvGrpSpPr/>
        <p:nvPr/>
      </p:nvGrpSpPr>
      <p:grpSpPr>
        <a:xfrm>
          <a:off x="0" y="0"/>
          <a:ext cx="0" cy="0"/>
          <a:chOff x="0" y="0"/>
          <a:chExt cx="0" cy="0"/>
        </a:xfrm>
      </p:grpSpPr>
      <p:sp>
        <p:nvSpPr>
          <p:cNvPr id="2" name="Text 0"/>
          <p:cNvSpPr txBox="1"/>
          <p:nvPr/>
        </p:nvSpPr>
        <p:spPr>
          <a:xfrm>
            <a:off x="457200" y="411480"/>
            <a:ext cx="5486400" cy="292608"/>
          </a:xfrm>
          <a:prstGeom prst="rect">
            <a:avLst/>
          </a:prstGeom>
          <a:noFill/>
          <a:ln/>
        </p:spPr>
        <p:txBody>
          <a:bodyPr wrap="square" lIns="0" tIns="0" rIns="0" bIns="0" rtlCol="0" anchor="t"/>
          <a:lstStyle/>
          <a:p>
            <a:pPr indent="0" marL="0">
              <a:buNone/>
            </a:pPr>
            <a:r>
              <a:rPr lang="en-US" sz="1300" b="1" spc="300" kern="0" dirty="0">
                <a:solidFill>
                  <a:srgbClr val="8FB8C9"/>
                </a:solidFill>
                <a:latin typeface="Calibri" pitchFamily="34" charset="0"/>
                <a:ea typeface="Calibri" pitchFamily="34" charset="-122"/>
                <a:cs typeface="Calibri" pitchFamily="34" charset="-120"/>
              </a:rPr>
              <a:t>DISCUSSION</a:t>
            </a:r>
            <a:endParaRPr lang="en-US" sz="1300" dirty="0"/>
          </a:p>
        </p:txBody>
      </p:sp>
      <p:sp>
        <p:nvSpPr>
          <p:cNvPr id="3" name="Text 1"/>
          <p:cNvSpPr txBox="1"/>
          <p:nvPr/>
        </p:nvSpPr>
        <p:spPr>
          <a:xfrm>
            <a:off x="457200" y="713232"/>
            <a:ext cx="11274552" cy="566928"/>
          </a:xfrm>
          <a:prstGeom prst="rect">
            <a:avLst/>
          </a:prstGeom>
          <a:noFill/>
          <a:ln/>
        </p:spPr>
        <p:txBody>
          <a:bodyPr wrap="square" lIns="0" tIns="0" rIns="0" bIns="0" rtlCol="0" anchor="t"/>
          <a:lstStyle/>
          <a:p>
            <a:pPr indent="0" marL="0">
              <a:buNone/>
            </a:pPr>
            <a:r>
              <a:rPr lang="en-US" sz="2700" b="1" dirty="0">
                <a:solidFill>
                  <a:srgbClr val="FFFFFF"/>
                </a:solidFill>
                <a:latin typeface="Cambria" pitchFamily="34" charset="0"/>
                <a:ea typeface="Cambria" pitchFamily="34" charset="-122"/>
                <a:cs typeface="Cambria" pitchFamily="34" charset="-120"/>
              </a:rPr>
              <a:t>Seven things I would like this room's opinion on</a:t>
            </a:r>
            <a:endParaRPr lang="en-US" sz="2700" dirty="0"/>
          </a:p>
        </p:txBody>
      </p:sp>
      <p:sp>
        <p:nvSpPr>
          <p:cNvPr id="4" name="Text 2"/>
          <p:cNvSpPr txBox="1"/>
          <p:nvPr/>
        </p:nvSpPr>
        <p:spPr>
          <a:xfrm>
            <a:off x="457200" y="1298448"/>
            <a:ext cx="11274552" cy="256032"/>
          </a:xfrm>
          <a:prstGeom prst="rect">
            <a:avLst/>
          </a:prstGeom>
          <a:noFill/>
          <a:ln/>
        </p:spPr>
        <p:txBody>
          <a:bodyPr wrap="square" lIns="0" tIns="0" rIns="0" bIns="0" rtlCol="0" anchor="t"/>
          <a:lstStyle/>
          <a:p>
            <a:pPr indent="0" marL="0">
              <a:buNone/>
            </a:pPr>
            <a:r>
              <a:rPr lang="en-US" sz="1100" i="1" dirty="0">
                <a:solidFill>
                  <a:srgbClr val="7E8F9C"/>
                </a:solidFill>
                <a:latin typeface="Calibri" pitchFamily="34" charset="0"/>
                <a:ea typeface="Calibri" pitchFamily="34" charset="-122"/>
                <a:cs typeface="Calibri" pitchFamily="34" charset="-120"/>
              </a:rPr>
              <a:t>Grouped by what each one costs, not by who owns it — the numbering is the one the companion files use.</a:t>
            </a:r>
            <a:endParaRPr lang="en-US" sz="1100" dirty="0"/>
          </a:p>
        </p:txBody>
      </p:sp>
      <p:sp>
        <p:nvSpPr>
          <p:cNvPr id="5" name="Shape 3"/>
          <p:cNvSpPr/>
          <p:nvPr/>
        </p:nvSpPr>
        <p:spPr>
          <a:xfrm>
            <a:off x="457200" y="1627632"/>
            <a:ext cx="5486400" cy="274320"/>
          </a:xfrm>
          <a:prstGeom prst="rect">
            <a:avLst/>
          </a:prstGeom>
          <a:solidFill>
            <a:srgbClr val="243240"/>
          </a:solidFill>
          <a:ln w="12700">
            <a:solidFill>
              <a:srgbClr val="3B5062"/>
            </a:solidFill>
            <a:prstDash val="solid"/>
          </a:ln>
        </p:spPr>
      </p:sp>
      <p:sp>
        <p:nvSpPr>
          <p:cNvPr id="6" name="Text 4"/>
          <p:cNvSpPr txBox="1"/>
          <p:nvPr/>
        </p:nvSpPr>
        <p:spPr>
          <a:xfrm>
            <a:off x="585216" y="1627632"/>
            <a:ext cx="5230368" cy="274320"/>
          </a:xfrm>
          <a:prstGeom prst="rect">
            <a:avLst/>
          </a:prstGeom>
          <a:noFill/>
          <a:ln/>
        </p:spPr>
        <p:txBody>
          <a:bodyPr wrap="square" lIns="0" tIns="0" rIns="0" bIns="0" rtlCol="0" anchor="ctr"/>
          <a:lstStyle/>
          <a:p>
            <a:pPr indent="0" marL="0">
              <a:buNone/>
            </a:pPr>
            <a:r>
              <a:rPr lang="en-US" sz="950" b="1" spc="100" kern="0" dirty="0">
                <a:solidFill>
                  <a:srgbClr val="B8C6D1"/>
                </a:solidFill>
                <a:latin typeface="Calibri" pitchFamily="34" charset="0"/>
                <a:ea typeface="Calibri" pitchFamily="34" charset="-122"/>
                <a:cs typeface="Calibri" pitchFamily="34" charset="-120"/>
              </a:rPr>
              <a:t>COSTS A WRONG ANSWER, OR REAL ALLOCATION TIME</a:t>
            </a:r>
            <a:endParaRPr lang="en-US" sz="950" dirty="0"/>
          </a:p>
        </p:txBody>
      </p:sp>
      <p:sp>
        <p:nvSpPr>
          <p:cNvPr id="7" name="Shape 5"/>
          <p:cNvSpPr/>
          <p:nvPr/>
        </p:nvSpPr>
        <p:spPr>
          <a:xfrm>
            <a:off x="457200" y="2011680"/>
            <a:ext cx="5486400" cy="996696"/>
          </a:xfrm>
          <a:prstGeom prst="rect">
            <a:avLst/>
          </a:prstGeom>
          <a:solidFill>
            <a:srgbClr val="1E2C36"/>
          </a:solidFill>
          <a:ln w="12700">
            <a:solidFill>
              <a:srgbClr val="2E414F"/>
            </a:solidFill>
            <a:prstDash val="solid"/>
          </a:ln>
        </p:spPr>
      </p:sp>
      <p:sp>
        <p:nvSpPr>
          <p:cNvPr id="8" name="Shape 6"/>
          <p:cNvSpPr/>
          <p:nvPr/>
        </p:nvSpPr>
        <p:spPr>
          <a:xfrm>
            <a:off x="457200" y="2011680"/>
            <a:ext cx="54864" cy="996696"/>
          </a:xfrm>
          <a:prstGeom prst="rect">
            <a:avLst/>
          </a:prstGeom>
          <a:solidFill>
            <a:srgbClr val="D9731A"/>
          </a:solidFill>
          <a:ln w="12700">
            <a:solidFill>
              <a:srgbClr val="D9731A"/>
            </a:solidFill>
            <a:prstDash val="solid"/>
          </a:ln>
        </p:spPr>
      </p:sp>
      <p:sp>
        <p:nvSpPr>
          <p:cNvPr id="9" name="Text 7"/>
          <p:cNvSpPr txBox="1"/>
          <p:nvPr/>
        </p:nvSpPr>
        <p:spPr>
          <a:xfrm>
            <a:off x="603504" y="2057400"/>
            <a:ext cx="274320" cy="274320"/>
          </a:xfrm>
          <a:prstGeom prst="rect">
            <a:avLst/>
          </a:prstGeom>
          <a:noFill/>
          <a:ln/>
        </p:spPr>
        <p:txBody>
          <a:bodyPr wrap="square" lIns="0" tIns="0" rIns="0" bIns="0" rtlCol="0" anchor="t"/>
          <a:lstStyle/>
          <a:p>
            <a:pPr indent="0" marL="0">
              <a:buNone/>
            </a:pPr>
            <a:r>
              <a:rPr lang="en-US" sz="1400" b="1" dirty="0">
                <a:solidFill>
                  <a:srgbClr val="D9731A"/>
                </a:solidFill>
                <a:latin typeface="Cambria" pitchFamily="34" charset="0"/>
                <a:ea typeface="Cambria" pitchFamily="34" charset="-122"/>
                <a:cs typeface="Cambria" pitchFamily="34" charset="-120"/>
              </a:rPr>
              <a:t>1</a:t>
            </a:r>
            <a:endParaRPr lang="en-US" sz="1400" dirty="0"/>
          </a:p>
        </p:txBody>
      </p:sp>
      <p:sp>
        <p:nvSpPr>
          <p:cNvPr id="10" name="Text 8"/>
          <p:cNvSpPr txBox="1"/>
          <p:nvPr/>
        </p:nvSpPr>
        <p:spPr>
          <a:xfrm>
            <a:off x="914400" y="2066544"/>
            <a:ext cx="4023360" cy="256032"/>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rhapsody's monitor loop drops a whole sweep</a:t>
            </a:r>
            <a:endParaRPr lang="en-US" sz="1150" dirty="0"/>
          </a:p>
        </p:txBody>
      </p:sp>
      <p:sp>
        <p:nvSpPr>
          <p:cNvPr id="11" name="Text 9"/>
          <p:cNvSpPr txBox="1"/>
          <p:nvPr/>
        </p:nvSpPr>
        <p:spPr>
          <a:xfrm>
            <a:off x="4983480" y="2075688"/>
            <a:ext cx="868680" cy="219456"/>
          </a:xfrm>
          <a:prstGeom prst="rect">
            <a:avLst/>
          </a:prstGeom>
          <a:noFill/>
          <a:ln/>
        </p:spPr>
        <p:txBody>
          <a:bodyPr wrap="square" lIns="0" tIns="0" rIns="0" bIns="0" rtlCol="0" anchor="t"/>
          <a:lstStyle/>
          <a:p>
            <a:pPr algn="r" indent="0" marL="0">
              <a:buNone/>
            </a:pPr>
            <a:r>
              <a:rPr lang="en-US" sz="800" i="1" dirty="0">
                <a:solidFill>
                  <a:srgbClr val="D9731A"/>
                </a:solidFill>
                <a:latin typeface="Calibri" pitchFamily="34" charset="0"/>
                <a:ea typeface="Calibri" pitchFamily="34" charset="-122"/>
                <a:cs typeface="Calibri" pitchFamily="34" charset="-120"/>
              </a:rPr>
              <a:t>performance</a:t>
            </a:r>
            <a:endParaRPr lang="en-US" sz="800" dirty="0"/>
          </a:p>
        </p:txBody>
      </p:sp>
      <p:sp>
        <p:nvSpPr>
          <p:cNvPr id="12" name="Text 10"/>
          <p:cNvSpPr txBox="1"/>
          <p:nvPr/>
        </p:nvSpPr>
        <p:spPr>
          <a:xfrm>
            <a:off x="914400" y="2340864"/>
            <a:ext cx="4919472" cy="621792"/>
          </a:xfrm>
          <a:prstGeom prst="rect">
            <a:avLst/>
          </a:prstGeom>
          <a:noFill/>
          <a:ln/>
        </p:spPr>
        <p:txBody>
          <a:bodyPr wrap="square" lIns="0" tIns="0" rIns="0" bIns="0" rtlCol="0" anchor="t"/>
          <a:lstStyle/>
          <a:p>
            <a:pPr indent="0" marL="0">
              <a:buNone/>
            </a:pPr>
            <a:r>
              <a:rPr lang="en-US" sz="850" dirty="0">
                <a:solidFill>
                  <a:srgbClr val="B8C6D1"/>
                </a:solidFill>
                <a:latin typeface="Calibri" pitchFamily="34" charset="0"/>
                <a:ea typeface="Calibri" pitchFamily="34" charset="-122"/>
                <a:cs typeface="Calibri" pitchFamily="34" charset="-120"/>
              </a:rPr>
              <a:t>A worker exception that cannot be unpickled takes out every completion in that sweep, so a failing run reaches no terminal state. batch_task.get() is guarded; the follow-up get_stdout(block=False) re-reads the same entry and catches only OSError. Should it catch Exception and fail the ONE task?</a:t>
            </a:r>
            <a:endParaRPr lang="en-US" sz="850" dirty="0"/>
          </a:p>
        </p:txBody>
      </p:sp>
      <p:sp>
        <p:nvSpPr>
          <p:cNvPr id="13" name="Shape 11"/>
          <p:cNvSpPr/>
          <p:nvPr/>
        </p:nvSpPr>
        <p:spPr>
          <a:xfrm>
            <a:off x="457200" y="3099816"/>
            <a:ext cx="5486400" cy="996696"/>
          </a:xfrm>
          <a:prstGeom prst="rect">
            <a:avLst/>
          </a:prstGeom>
          <a:solidFill>
            <a:srgbClr val="1E2C36"/>
          </a:solidFill>
          <a:ln w="12700">
            <a:solidFill>
              <a:srgbClr val="2E414F"/>
            </a:solidFill>
            <a:prstDash val="solid"/>
          </a:ln>
        </p:spPr>
      </p:sp>
      <p:sp>
        <p:nvSpPr>
          <p:cNvPr id="14" name="Shape 12"/>
          <p:cNvSpPr/>
          <p:nvPr/>
        </p:nvSpPr>
        <p:spPr>
          <a:xfrm>
            <a:off x="457200" y="3099816"/>
            <a:ext cx="54864" cy="996696"/>
          </a:xfrm>
          <a:prstGeom prst="rect">
            <a:avLst/>
          </a:prstGeom>
          <a:solidFill>
            <a:srgbClr val="D9731A"/>
          </a:solidFill>
          <a:ln w="12700">
            <a:solidFill>
              <a:srgbClr val="D9731A"/>
            </a:solidFill>
            <a:prstDash val="solid"/>
          </a:ln>
        </p:spPr>
      </p:sp>
      <p:sp>
        <p:nvSpPr>
          <p:cNvPr id="15" name="Text 13"/>
          <p:cNvSpPr txBox="1"/>
          <p:nvPr/>
        </p:nvSpPr>
        <p:spPr>
          <a:xfrm>
            <a:off x="603504" y="3145536"/>
            <a:ext cx="274320" cy="274320"/>
          </a:xfrm>
          <a:prstGeom prst="rect">
            <a:avLst/>
          </a:prstGeom>
          <a:noFill/>
          <a:ln/>
        </p:spPr>
        <p:txBody>
          <a:bodyPr wrap="square" lIns="0" tIns="0" rIns="0" bIns="0" rtlCol="0" anchor="t"/>
          <a:lstStyle/>
          <a:p>
            <a:pPr indent="0" marL="0">
              <a:buNone/>
            </a:pPr>
            <a:r>
              <a:rPr lang="en-US" sz="1400" b="1" dirty="0">
                <a:solidFill>
                  <a:srgbClr val="D9731A"/>
                </a:solidFill>
                <a:latin typeface="Cambria" pitchFamily="34" charset="0"/>
                <a:ea typeface="Cambria" pitchFamily="34" charset="-122"/>
                <a:cs typeface="Cambria" pitchFamily="34" charset="-120"/>
              </a:rPr>
              <a:t>2</a:t>
            </a:r>
            <a:endParaRPr lang="en-US" sz="1400" dirty="0"/>
          </a:p>
        </p:txBody>
      </p:sp>
      <p:sp>
        <p:nvSpPr>
          <p:cNvPr id="16" name="Text 14"/>
          <p:cNvSpPr txBox="1"/>
          <p:nvPr/>
        </p:nvSpPr>
        <p:spPr>
          <a:xfrm>
            <a:off x="914400" y="3154680"/>
            <a:ext cx="4023360" cy="256032"/>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Why does Dragon's Batch() stall?</a:t>
            </a:r>
            <a:endParaRPr lang="en-US" sz="1150" dirty="0"/>
          </a:p>
        </p:txBody>
      </p:sp>
      <p:sp>
        <p:nvSpPr>
          <p:cNvPr id="17" name="Text 15"/>
          <p:cNvSpPr txBox="1"/>
          <p:nvPr/>
        </p:nvSpPr>
        <p:spPr>
          <a:xfrm>
            <a:off x="4983480" y="3163824"/>
            <a:ext cx="868680" cy="219456"/>
          </a:xfrm>
          <a:prstGeom prst="rect">
            <a:avLst/>
          </a:prstGeom>
          <a:noFill/>
          <a:ln/>
        </p:spPr>
        <p:txBody>
          <a:bodyPr wrap="square" lIns="0" tIns="0" rIns="0" bIns="0" rtlCol="0" anchor="t"/>
          <a:lstStyle/>
          <a:p>
            <a:pPr algn="r" indent="0" marL="0">
              <a:buNone/>
            </a:pPr>
            <a:r>
              <a:rPr lang="en-US" sz="800" i="1" dirty="0">
                <a:solidFill>
                  <a:srgbClr val="D9731A"/>
                </a:solidFill>
                <a:latin typeface="Calibri" pitchFamily="34" charset="0"/>
                <a:ea typeface="Calibri" pitchFamily="34" charset="-122"/>
                <a:cs typeface="Calibri" pitchFamily="34" charset="-120"/>
              </a:rPr>
              <a:t>performance</a:t>
            </a:r>
            <a:endParaRPr lang="en-US" sz="800" dirty="0"/>
          </a:p>
        </p:txBody>
      </p:sp>
      <p:sp>
        <p:nvSpPr>
          <p:cNvPr id="18" name="Text 16"/>
          <p:cNvSpPr txBox="1"/>
          <p:nvPr/>
        </p:nvSpPr>
        <p:spPr>
          <a:xfrm>
            <a:off x="914400" y="3429000"/>
            <a:ext cx="4919472" cy="621792"/>
          </a:xfrm>
          <a:prstGeom prst="rect">
            <a:avLst/>
          </a:prstGeom>
          <a:noFill/>
          <a:ln/>
        </p:spPr>
        <p:txBody>
          <a:bodyPr wrap="square" lIns="0" tIns="0" rIns="0" bIns="0" rtlCol="0" anchor="t"/>
          <a:lstStyle/>
          <a:p>
            <a:pPr indent="0" marL="0">
              <a:buNone/>
            </a:pPr>
            <a:r>
              <a:rPr lang="en-US" sz="850" dirty="0">
                <a:solidFill>
                  <a:srgbClr val="B8C6D1"/>
                </a:solidFill>
                <a:latin typeface="Calibri" pitchFamily="34" charset="0"/>
                <a:ea typeface="Calibri" pitchFamily="34" charset="-122"/>
                <a:cs typeface="Calibri" pitchFamily="34" charset="-120"/>
              </a:rPr>
              <a:t>Bounded now, not diagnosed. Job 22318678 produced only infra-connect lines for two hours. Best guess: GPU-affinity worker rendezvous, or OFI negotiation under single-node mode. We fail fast enough to iterate — what should we instrument?</a:t>
            </a:r>
            <a:endParaRPr lang="en-US" sz="850" dirty="0"/>
          </a:p>
        </p:txBody>
      </p:sp>
      <p:sp>
        <p:nvSpPr>
          <p:cNvPr id="19" name="Shape 17"/>
          <p:cNvSpPr/>
          <p:nvPr/>
        </p:nvSpPr>
        <p:spPr>
          <a:xfrm>
            <a:off x="457200" y="4187952"/>
            <a:ext cx="5486400" cy="996696"/>
          </a:xfrm>
          <a:prstGeom prst="rect">
            <a:avLst/>
          </a:prstGeom>
          <a:solidFill>
            <a:srgbClr val="1E2C36"/>
          </a:solidFill>
          <a:ln w="12700">
            <a:solidFill>
              <a:srgbClr val="2E414F"/>
            </a:solidFill>
            <a:prstDash val="solid"/>
          </a:ln>
        </p:spPr>
      </p:sp>
      <p:sp>
        <p:nvSpPr>
          <p:cNvPr id="20" name="Shape 18"/>
          <p:cNvSpPr/>
          <p:nvPr/>
        </p:nvSpPr>
        <p:spPr>
          <a:xfrm>
            <a:off x="457200" y="4187952"/>
            <a:ext cx="54864" cy="996696"/>
          </a:xfrm>
          <a:prstGeom prst="rect">
            <a:avLst/>
          </a:prstGeom>
          <a:solidFill>
            <a:srgbClr val="D9731A"/>
          </a:solidFill>
          <a:ln w="12700">
            <a:solidFill>
              <a:srgbClr val="D9731A"/>
            </a:solidFill>
            <a:prstDash val="solid"/>
          </a:ln>
        </p:spPr>
      </p:sp>
      <p:sp>
        <p:nvSpPr>
          <p:cNvPr id="21" name="Text 19"/>
          <p:cNvSpPr txBox="1"/>
          <p:nvPr/>
        </p:nvSpPr>
        <p:spPr>
          <a:xfrm>
            <a:off x="603504" y="4233672"/>
            <a:ext cx="274320" cy="274320"/>
          </a:xfrm>
          <a:prstGeom prst="rect">
            <a:avLst/>
          </a:prstGeom>
          <a:noFill/>
          <a:ln/>
        </p:spPr>
        <p:txBody>
          <a:bodyPr wrap="square" lIns="0" tIns="0" rIns="0" bIns="0" rtlCol="0" anchor="t"/>
          <a:lstStyle/>
          <a:p>
            <a:pPr indent="0" marL="0">
              <a:buNone/>
            </a:pPr>
            <a:r>
              <a:rPr lang="en-US" sz="1400" b="1" dirty="0">
                <a:solidFill>
                  <a:srgbClr val="D9731A"/>
                </a:solidFill>
                <a:latin typeface="Cambria" pitchFamily="34" charset="0"/>
                <a:ea typeface="Cambria" pitchFamily="34" charset="-122"/>
                <a:cs typeface="Cambria" pitchFamily="34" charset="-120"/>
              </a:rPr>
              <a:t>3</a:t>
            </a:r>
            <a:endParaRPr lang="en-US" sz="1400" dirty="0"/>
          </a:p>
        </p:txBody>
      </p:sp>
      <p:sp>
        <p:nvSpPr>
          <p:cNvPr id="22" name="Text 20"/>
          <p:cNvSpPr txBox="1"/>
          <p:nvPr/>
        </p:nvSpPr>
        <p:spPr>
          <a:xfrm>
            <a:off x="914400" y="4242816"/>
            <a:ext cx="4023360" cy="256032"/>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Can a running task's GPU ever be reclaimed?</a:t>
            </a:r>
            <a:endParaRPr lang="en-US" sz="1150" dirty="0"/>
          </a:p>
        </p:txBody>
      </p:sp>
      <p:sp>
        <p:nvSpPr>
          <p:cNvPr id="23" name="Text 21"/>
          <p:cNvSpPr txBox="1"/>
          <p:nvPr/>
        </p:nvSpPr>
        <p:spPr>
          <a:xfrm>
            <a:off x="4983480" y="4251960"/>
            <a:ext cx="868680" cy="219456"/>
          </a:xfrm>
          <a:prstGeom prst="rect">
            <a:avLst/>
          </a:prstGeom>
          <a:noFill/>
          <a:ln/>
        </p:spPr>
        <p:txBody>
          <a:bodyPr wrap="square" lIns="0" tIns="0" rIns="0" bIns="0" rtlCol="0" anchor="t"/>
          <a:lstStyle/>
          <a:p>
            <a:pPr algn="r" indent="0" marL="0">
              <a:buNone/>
            </a:pPr>
            <a:r>
              <a:rPr lang="en-US" sz="800" i="1" dirty="0">
                <a:solidFill>
                  <a:srgbClr val="D9731A"/>
                </a:solidFill>
                <a:latin typeface="Calibri" pitchFamily="34" charset="0"/>
                <a:ea typeface="Calibri" pitchFamily="34" charset="-122"/>
                <a:cs typeface="Calibri" pitchFamily="34" charset="-120"/>
              </a:rPr>
              <a:t>performance</a:t>
            </a:r>
            <a:endParaRPr lang="en-US" sz="800" dirty="0"/>
          </a:p>
        </p:txBody>
      </p:sp>
      <p:sp>
        <p:nvSpPr>
          <p:cNvPr id="24" name="Text 22"/>
          <p:cNvSpPr txBox="1"/>
          <p:nvPr/>
        </p:nvSpPr>
        <p:spPr>
          <a:xfrm>
            <a:off x="914400" y="4517136"/>
            <a:ext cx="4919472" cy="621792"/>
          </a:xfrm>
          <a:prstGeom prst="rect">
            <a:avLst/>
          </a:prstGeom>
          <a:noFill/>
          <a:ln/>
        </p:spPr>
        <p:txBody>
          <a:bodyPr wrap="square" lIns="0" tIns="0" rIns="0" bIns="0" rtlCol="0" anchor="t"/>
          <a:lstStyle/>
          <a:p>
            <a:pPr indent="0" marL="0">
              <a:buNone/>
            </a:pPr>
            <a:r>
              <a:rPr lang="en-US" sz="850" dirty="0">
                <a:solidFill>
                  <a:srgbClr val="B8C6D1"/>
                </a:solidFill>
                <a:latin typeface="Calibri" pitchFamily="34" charset="0"/>
                <a:ea typeface="Calibri" pitchFamily="34" charset="-122"/>
                <a:cs typeface="Calibri" pitchFamily="34" charset="-120"/>
              </a:rPr>
              <a:t>Future.cancel() returns False once started and asyncflow discards the answer, so we cannot even learn which happened. Is cooperative cancellation inside the task the only route, or is there a backend-level kill we should be using?</a:t>
            </a:r>
            <a:endParaRPr lang="en-US" sz="850" dirty="0"/>
          </a:p>
        </p:txBody>
      </p:sp>
      <p:sp>
        <p:nvSpPr>
          <p:cNvPr id="25" name="Shape 23"/>
          <p:cNvSpPr/>
          <p:nvPr/>
        </p:nvSpPr>
        <p:spPr>
          <a:xfrm>
            <a:off x="457200" y="5276088"/>
            <a:ext cx="5486400" cy="996696"/>
          </a:xfrm>
          <a:prstGeom prst="rect">
            <a:avLst/>
          </a:prstGeom>
          <a:solidFill>
            <a:srgbClr val="1E2C36"/>
          </a:solidFill>
          <a:ln w="12700">
            <a:solidFill>
              <a:srgbClr val="2E414F"/>
            </a:solidFill>
            <a:prstDash val="solid"/>
          </a:ln>
        </p:spPr>
      </p:sp>
      <p:sp>
        <p:nvSpPr>
          <p:cNvPr id="26" name="Shape 24"/>
          <p:cNvSpPr/>
          <p:nvPr/>
        </p:nvSpPr>
        <p:spPr>
          <a:xfrm>
            <a:off x="457200" y="5276088"/>
            <a:ext cx="54864" cy="996696"/>
          </a:xfrm>
          <a:prstGeom prst="rect">
            <a:avLst/>
          </a:prstGeom>
          <a:solidFill>
            <a:srgbClr val="D9731A"/>
          </a:solidFill>
          <a:ln w="12700">
            <a:solidFill>
              <a:srgbClr val="D9731A"/>
            </a:solidFill>
            <a:prstDash val="solid"/>
          </a:ln>
        </p:spPr>
      </p:sp>
      <p:sp>
        <p:nvSpPr>
          <p:cNvPr id="27" name="Text 25"/>
          <p:cNvSpPr txBox="1"/>
          <p:nvPr/>
        </p:nvSpPr>
        <p:spPr>
          <a:xfrm>
            <a:off x="603504" y="5321808"/>
            <a:ext cx="274320" cy="274320"/>
          </a:xfrm>
          <a:prstGeom prst="rect">
            <a:avLst/>
          </a:prstGeom>
          <a:noFill/>
          <a:ln/>
        </p:spPr>
        <p:txBody>
          <a:bodyPr wrap="square" lIns="0" tIns="0" rIns="0" bIns="0" rtlCol="0" anchor="t"/>
          <a:lstStyle/>
          <a:p>
            <a:pPr indent="0" marL="0">
              <a:buNone/>
            </a:pPr>
            <a:r>
              <a:rPr lang="en-US" sz="1400" b="1" dirty="0">
                <a:solidFill>
                  <a:srgbClr val="D9731A"/>
                </a:solidFill>
                <a:latin typeface="Cambria" pitchFamily="34" charset="0"/>
                <a:ea typeface="Cambria" pitchFamily="34" charset="-122"/>
                <a:cs typeface="Cambria" pitchFamily="34" charset="-120"/>
              </a:rPr>
              <a:t>7</a:t>
            </a:r>
            <a:endParaRPr lang="en-US" sz="1400" dirty="0"/>
          </a:p>
        </p:txBody>
      </p:sp>
      <p:sp>
        <p:nvSpPr>
          <p:cNvPr id="28" name="Text 26"/>
          <p:cNvSpPr txBox="1"/>
          <p:nvPr/>
        </p:nvSpPr>
        <p:spPr>
          <a:xfrm>
            <a:off x="914400" y="5330952"/>
            <a:ext cx="4023360" cy="256032"/>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Is per-GPU packing reachable for us?</a:t>
            </a:r>
            <a:endParaRPr lang="en-US" sz="1150" dirty="0"/>
          </a:p>
        </p:txBody>
      </p:sp>
      <p:sp>
        <p:nvSpPr>
          <p:cNvPr id="29" name="Text 27"/>
          <p:cNvSpPr txBox="1"/>
          <p:nvPr/>
        </p:nvSpPr>
        <p:spPr>
          <a:xfrm>
            <a:off x="4983480" y="5340096"/>
            <a:ext cx="868680" cy="219456"/>
          </a:xfrm>
          <a:prstGeom prst="rect">
            <a:avLst/>
          </a:prstGeom>
          <a:noFill/>
          <a:ln/>
        </p:spPr>
        <p:txBody>
          <a:bodyPr wrap="square" lIns="0" tIns="0" rIns="0" bIns="0" rtlCol="0" anchor="t"/>
          <a:lstStyle/>
          <a:p>
            <a:pPr algn="r" indent="0" marL="0">
              <a:buNone/>
            </a:pPr>
            <a:r>
              <a:rPr lang="en-US" sz="800" i="1" dirty="0">
                <a:solidFill>
                  <a:srgbClr val="D9731A"/>
                </a:solidFill>
                <a:latin typeface="Calibri" pitchFamily="34" charset="0"/>
                <a:ea typeface="Calibri" pitchFamily="34" charset="-122"/>
                <a:cs typeface="Calibri" pitchFamily="34" charset="-120"/>
              </a:rPr>
              <a:t>performance</a:t>
            </a:r>
            <a:endParaRPr lang="en-US" sz="800" dirty="0"/>
          </a:p>
        </p:txBody>
      </p:sp>
      <p:sp>
        <p:nvSpPr>
          <p:cNvPr id="30" name="Text 28"/>
          <p:cNvSpPr txBox="1"/>
          <p:nvPr/>
        </p:nvSpPr>
        <p:spPr>
          <a:xfrm>
            <a:off x="914400" y="5605272"/>
            <a:ext cx="4919472" cy="621792"/>
          </a:xfrm>
          <a:prstGeom prst="rect">
            <a:avLst/>
          </a:prstGeom>
          <a:noFill/>
          <a:ln/>
        </p:spPr>
        <p:txBody>
          <a:bodyPr wrap="square" lIns="0" tIns="0" rIns="0" bIns="0" rtlCol="0" anchor="t"/>
          <a:lstStyle/>
          <a:p>
            <a:pPr indent="0" marL="0">
              <a:buNone/>
            </a:pPr>
            <a:r>
              <a:rPr lang="en-US" sz="850" dirty="0">
                <a:solidFill>
                  <a:srgbClr val="B8C6D1"/>
                </a:solidFill>
                <a:latin typeface="Calibri" pitchFamily="34" charset="0"/>
                <a:ea typeface="Calibri" pitchFamily="34" charset="-122"/>
                <a:cs typeface="Calibri" pitchFamily="34" charset="-120"/>
              </a:rPr>
              <a:t>Your own runs take GPU utilisation from 12% to 71% by putting 8 pipelines on a GPU. We are at ≤17% with three idle. Is that expressible in a rhapsody resource shape, or does it need Dragon placement we do not control?</a:t>
            </a:r>
            <a:endParaRPr lang="en-US" sz="850" dirty="0"/>
          </a:p>
        </p:txBody>
      </p:sp>
      <p:sp>
        <p:nvSpPr>
          <p:cNvPr id="31" name="Shape 29"/>
          <p:cNvSpPr/>
          <p:nvPr/>
        </p:nvSpPr>
        <p:spPr>
          <a:xfrm>
            <a:off x="6245352" y="1627632"/>
            <a:ext cx="5486400" cy="274320"/>
          </a:xfrm>
          <a:prstGeom prst="rect">
            <a:avLst/>
          </a:prstGeom>
          <a:solidFill>
            <a:srgbClr val="243240"/>
          </a:solidFill>
          <a:ln w="12700">
            <a:solidFill>
              <a:srgbClr val="3B5062"/>
            </a:solidFill>
            <a:prstDash val="solid"/>
          </a:ln>
        </p:spPr>
      </p:sp>
      <p:sp>
        <p:nvSpPr>
          <p:cNvPr id="32" name="Text 30"/>
          <p:cNvSpPr txBox="1"/>
          <p:nvPr/>
        </p:nvSpPr>
        <p:spPr>
          <a:xfrm>
            <a:off x="6373368" y="1627632"/>
            <a:ext cx="5230368" cy="274320"/>
          </a:xfrm>
          <a:prstGeom prst="rect">
            <a:avLst/>
          </a:prstGeom>
          <a:noFill/>
          <a:ln/>
        </p:spPr>
        <p:txBody>
          <a:bodyPr wrap="square" lIns="0" tIns="0" rIns="0" bIns="0" rtlCol="0" anchor="ctr"/>
          <a:lstStyle/>
          <a:p>
            <a:pPr indent="0" marL="0">
              <a:buNone/>
            </a:pPr>
            <a:r>
              <a:rPr lang="en-US" sz="950" b="1" spc="100" kern="0" dirty="0">
                <a:solidFill>
                  <a:srgbClr val="B8C6D1"/>
                </a:solidFill>
                <a:latin typeface="Calibri" pitchFamily="34" charset="0"/>
                <a:ea typeface="Calibri" pitchFamily="34" charset="-122"/>
                <a:cs typeface="Calibri" pitchFamily="34" charset="-120"/>
              </a:rPr>
              <a:t>COSTS WHOEVER PICKS THIS STACK UP NEXT</a:t>
            </a:r>
            <a:endParaRPr lang="en-US" sz="950" dirty="0"/>
          </a:p>
        </p:txBody>
      </p:sp>
      <p:sp>
        <p:nvSpPr>
          <p:cNvPr id="33" name="Shape 31"/>
          <p:cNvSpPr/>
          <p:nvPr/>
        </p:nvSpPr>
        <p:spPr>
          <a:xfrm>
            <a:off x="6245352" y="2011680"/>
            <a:ext cx="5486400" cy="996696"/>
          </a:xfrm>
          <a:prstGeom prst="rect">
            <a:avLst/>
          </a:prstGeom>
          <a:solidFill>
            <a:srgbClr val="1E2C36"/>
          </a:solidFill>
          <a:ln w="12700">
            <a:solidFill>
              <a:srgbClr val="2E414F"/>
            </a:solidFill>
            <a:prstDash val="solid"/>
          </a:ln>
        </p:spPr>
      </p:sp>
      <p:sp>
        <p:nvSpPr>
          <p:cNvPr id="34" name="Shape 32"/>
          <p:cNvSpPr/>
          <p:nvPr/>
        </p:nvSpPr>
        <p:spPr>
          <a:xfrm>
            <a:off x="6245352" y="2011680"/>
            <a:ext cx="54864" cy="996696"/>
          </a:xfrm>
          <a:prstGeom prst="rect">
            <a:avLst/>
          </a:prstGeom>
          <a:solidFill>
            <a:srgbClr val="D9731A"/>
          </a:solidFill>
          <a:ln w="12700">
            <a:solidFill>
              <a:srgbClr val="D9731A"/>
            </a:solidFill>
            <a:prstDash val="solid"/>
          </a:ln>
        </p:spPr>
      </p:sp>
      <p:sp>
        <p:nvSpPr>
          <p:cNvPr id="35" name="Text 33"/>
          <p:cNvSpPr txBox="1"/>
          <p:nvPr/>
        </p:nvSpPr>
        <p:spPr>
          <a:xfrm>
            <a:off x="6391656" y="2057400"/>
            <a:ext cx="274320" cy="274320"/>
          </a:xfrm>
          <a:prstGeom prst="rect">
            <a:avLst/>
          </a:prstGeom>
          <a:noFill/>
          <a:ln/>
        </p:spPr>
        <p:txBody>
          <a:bodyPr wrap="square" lIns="0" tIns="0" rIns="0" bIns="0" rtlCol="0" anchor="t"/>
          <a:lstStyle/>
          <a:p>
            <a:pPr indent="0" marL="0">
              <a:buNone/>
            </a:pPr>
            <a:r>
              <a:rPr lang="en-US" sz="1400" b="1" dirty="0">
                <a:solidFill>
                  <a:srgbClr val="D9731A"/>
                </a:solidFill>
                <a:latin typeface="Cambria" pitchFamily="34" charset="0"/>
                <a:ea typeface="Cambria" pitchFamily="34" charset="-122"/>
                <a:cs typeface="Cambria" pitchFamily="34" charset="-120"/>
              </a:rPr>
              <a:t>4</a:t>
            </a:r>
            <a:endParaRPr lang="en-US" sz="1400" dirty="0"/>
          </a:p>
        </p:txBody>
      </p:sp>
      <p:sp>
        <p:nvSpPr>
          <p:cNvPr id="36" name="Text 34"/>
          <p:cNvSpPr txBox="1"/>
          <p:nvPr/>
        </p:nvSpPr>
        <p:spPr>
          <a:xfrm>
            <a:off x="6702552" y="2066544"/>
            <a:ext cx="4023360" cy="256032"/>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Nothing looks tasks up by workflow_id</a:t>
            </a:r>
            <a:endParaRPr lang="en-US" sz="1150" dirty="0"/>
          </a:p>
        </p:txBody>
      </p:sp>
      <p:sp>
        <p:nvSpPr>
          <p:cNvPr id="37" name="Text 35"/>
          <p:cNvSpPr txBox="1"/>
          <p:nvPr/>
        </p:nvSpPr>
        <p:spPr>
          <a:xfrm>
            <a:off x="10771632" y="2075688"/>
            <a:ext cx="868680" cy="219456"/>
          </a:xfrm>
          <a:prstGeom prst="rect">
            <a:avLst/>
          </a:prstGeom>
          <a:noFill/>
          <a:ln/>
        </p:spPr>
        <p:txBody>
          <a:bodyPr wrap="square" lIns="0" tIns="0" rIns="0" bIns="0" rtlCol="0" anchor="t"/>
          <a:lstStyle/>
          <a:p>
            <a:pPr algn="r" indent="0" marL="0">
              <a:buNone/>
            </a:pPr>
            <a:r>
              <a:rPr lang="en-US" sz="800" i="1" dirty="0">
                <a:solidFill>
                  <a:srgbClr val="D9731A"/>
                </a:solidFill>
                <a:latin typeface="Calibri" pitchFamily="34" charset="0"/>
                <a:ea typeface="Calibri" pitchFamily="34" charset="-122"/>
                <a:cs typeface="Calibri" pitchFamily="34" charset="-120"/>
              </a:rPr>
              <a:t>usability</a:t>
            </a:r>
            <a:endParaRPr lang="en-US" sz="800" dirty="0"/>
          </a:p>
        </p:txBody>
      </p:sp>
      <p:sp>
        <p:nvSpPr>
          <p:cNvPr id="38" name="Text 36"/>
          <p:cNvSpPr txBox="1"/>
          <p:nvPr/>
        </p:nvSpPr>
        <p:spPr>
          <a:xfrm>
            <a:off x="6702552" y="2340864"/>
            <a:ext cx="4919472" cy="621792"/>
          </a:xfrm>
          <a:prstGeom prst="rect">
            <a:avLst/>
          </a:prstGeom>
          <a:noFill/>
          <a:ln/>
        </p:spPr>
        <p:txBody>
          <a:bodyPr wrap="square" lIns="0" tIns="0" rIns="0" bIns="0" rtlCol="0" anchor="t"/>
          <a:lstStyle/>
          <a:p>
            <a:pPr indent="0" marL="0">
              <a:buNone/>
            </a:pPr>
            <a:r>
              <a:rPr lang="en-US" sz="850" dirty="0">
                <a:solidFill>
                  <a:srgbClr val="B8C6D1"/>
                </a:solidFill>
                <a:latin typeface="Calibri" pitchFamily="34" charset="0"/>
                <a:ea typeface="Calibri" pitchFamily="34" charset="-122"/>
                <a:cs typeface="Calibri" pitchFamily="34" charset="-120"/>
              </a:rPr>
              <a:t>So "which tasks belong to run R" is answered by our own handle, which cancellation and draining both need. Is a lookup API wanted upstream, or is the tag meant to stay a label?</a:t>
            </a:r>
            <a:endParaRPr lang="en-US" sz="850" dirty="0"/>
          </a:p>
        </p:txBody>
      </p:sp>
      <p:sp>
        <p:nvSpPr>
          <p:cNvPr id="39" name="Shape 37"/>
          <p:cNvSpPr/>
          <p:nvPr/>
        </p:nvSpPr>
        <p:spPr>
          <a:xfrm>
            <a:off x="6245352" y="3099816"/>
            <a:ext cx="5486400" cy="996696"/>
          </a:xfrm>
          <a:prstGeom prst="rect">
            <a:avLst/>
          </a:prstGeom>
          <a:solidFill>
            <a:srgbClr val="1E2C36"/>
          </a:solidFill>
          <a:ln w="12700">
            <a:solidFill>
              <a:srgbClr val="2E414F"/>
            </a:solidFill>
            <a:prstDash val="solid"/>
          </a:ln>
        </p:spPr>
      </p:sp>
      <p:sp>
        <p:nvSpPr>
          <p:cNvPr id="40" name="Shape 38"/>
          <p:cNvSpPr/>
          <p:nvPr/>
        </p:nvSpPr>
        <p:spPr>
          <a:xfrm>
            <a:off x="6245352" y="3099816"/>
            <a:ext cx="54864" cy="996696"/>
          </a:xfrm>
          <a:prstGeom prst="rect">
            <a:avLst/>
          </a:prstGeom>
          <a:solidFill>
            <a:srgbClr val="2E7D5B"/>
          </a:solidFill>
          <a:ln w="12700">
            <a:solidFill>
              <a:srgbClr val="2E7D5B"/>
            </a:solidFill>
            <a:prstDash val="solid"/>
          </a:ln>
        </p:spPr>
      </p:sp>
      <p:sp>
        <p:nvSpPr>
          <p:cNvPr id="41" name="Text 39"/>
          <p:cNvSpPr txBox="1"/>
          <p:nvPr/>
        </p:nvSpPr>
        <p:spPr>
          <a:xfrm>
            <a:off x="6391656" y="3145536"/>
            <a:ext cx="274320" cy="274320"/>
          </a:xfrm>
          <a:prstGeom prst="rect">
            <a:avLst/>
          </a:prstGeom>
          <a:noFill/>
          <a:ln/>
        </p:spPr>
        <p:txBody>
          <a:bodyPr wrap="square" lIns="0" tIns="0" rIns="0" bIns="0" rtlCol="0" anchor="t"/>
          <a:lstStyle/>
          <a:p>
            <a:pPr indent="0" marL="0">
              <a:buNone/>
            </a:pPr>
            <a:r>
              <a:rPr lang="en-US" sz="1400" b="1" dirty="0">
                <a:solidFill>
                  <a:srgbClr val="2E7D5B"/>
                </a:solidFill>
                <a:latin typeface="Cambria" pitchFamily="34" charset="0"/>
                <a:ea typeface="Cambria" pitchFamily="34" charset="-122"/>
                <a:cs typeface="Cambria" pitchFamily="34" charset="-120"/>
              </a:rPr>
              <a:t>5</a:t>
            </a:r>
            <a:endParaRPr lang="en-US" sz="1400" dirty="0"/>
          </a:p>
        </p:txBody>
      </p:sp>
      <p:sp>
        <p:nvSpPr>
          <p:cNvPr id="42" name="Text 40"/>
          <p:cNvSpPr txBox="1"/>
          <p:nvPr/>
        </p:nvSpPr>
        <p:spPr>
          <a:xfrm>
            <a:off x="6702552" y="3154680"/>
            <a:ext cx="4023360" cy="256032"/>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Does breadth belong in a pattern's identity?</a:t>
            </a:r>
            <a:endParaRPr lang="en-US" sz="1150" dirty="0"/>
          </a:p>
        </p:txBody>
      </p:sp>
      <p:sp>
        <p:nvSpPr>
          <p:cNvPr id="43" name="Text 41"/>
          <p:cNvSpPr txBox="1"/>
          <p:nvPr/>
        </p:nvSpPr>
        <p:spPr>
          <a:xfrm>
            <a:off x="10771632" y="3163824"/>
            <a:ext cx="868680" cy="219456"/>
          </a:xfrm>
          <a:prstGeom prst="rect">
            <a:avLst/>
          </a:prstGeom>
          <a:noFill/>
          <a:ln/>
        </p:spPr>
        <p:txBody>
          <a:bodyPr wrap="square" lIns="0" tIns="0" rIns="0" bIns="0" rtlCol="0" anchor="t"/>
          <a:lstStyle/>
          <a:p>
            <a:pPr algn="r" indent="0" marL="0">
              <a:buNone/>
            </a:pPr>
            <a:r>
              <a:rPr lang="en-US" sz="800" i="1" dirty="0">
                <a:solidFill>
                  <a:srgbClr val="2E7D5B"/>
                </a:solidFill>
                <a:latin typeface="Calibri" pitchFamily="34" charset="0"/>
                <a:ea typeface="Calibri" pitchFamily="34" charset="-122"/>
                <a:cs typeface="Calibri" pitchFamily="34" charset="-120"/>
              </a:rPr>
              <a:t>functionality</a:t>
            </a:r>
            <a:endParaRPr lang="en-US" sz="800" dirty="0"/>
          </a:p>
        </p:txBody>
      </p:sp>
      <p:sp>
        <p:nvSpPr>
          <p:cNvPr id="44" name="Text 42"/>
          <p:cNvSpPr txBox="1"/>
          <p:nvPr/>
        </p:nvSpPr>
        <p:spPr>
          <a:xfrm>
            <a:off x="6702552" y="3429000"/>
            <a:ext cx="4919472" cy="621792"/>
          </a:xfrm>
          <a:prstGeom prst="rect">
            <a:avLst/>
          </a:prstGeom>
          <a:noFill/>
          <a:ln/>
        </p:spPr>
        <p:txBody>
          <a:bodyPr wrap="square" lIns="0" tIns="0" rIns="0" bIns="0" rtlCol="0" anchor="t"/>
          <a:lstStyle/>
          <a:p>
            <a:pPr indent="0" marL="0">
              <a:buNone/>
            </a:pPr>
            <a:r>
              <a:rPr lang="en-US" sz="850" dirty="0">
                <a:solidFill>
                  <a:srgbClr val="B8C6D1"/>
                </a:solidFill>
                <a:latin typeface="Calibri" pitchFamily="34" charset="0"/>
                <a:ea typeface="Calibri" pitchFamily="34" charset="-122"/>
                <a:cs typeface="Calibri" pitchFamily="34" charset="-120"/>
              </a:rPr>
              <a:t>Slide 18. Parameters are deliberately excluded from the signature; replica count is not. Is trust earned at one lineage evidence about four, when the cap it would lift exists to bound blast radius?</a:t>
            </a:r>
            <a:endParaRPr lang="en-US" sz="850" dirty="0"/>
          </a:p>
        </p:txBody>
      </p:sp>
      <p:sp>
        <p:nvSpPr>
          <p:cNvPr id="45" name="Shape 43"/>
          <p:cNvSpPr/>
          <p:nvPr/>
        </p:nvSpPr>
        <p:spPr>
          <a:xfrm>
            <a:off x="6245352" y="4187952"/>
            <a:ext cx="5486400" cy="996696"/>
          </a:xfrm>
          <a:prstGeom prst="rect">
            <a:avLst/>
          </a:prstGeom>
          <a:solidFill>
            <a:srgbClr val="1E2C36"/>
          </a:solidFill>
          <a:ln w="12700">
            <a:solidFill>
              <a:srgbClr val="2E414F"/>
            </a:solidFill>
            <a:prstDash val="solid"/>
          </a:ln>
        </p:spPr>
      </p:sp>
      <p:sp>
        <p:nvSpPr>
          <p:cNvPr id="46" name="Shape 44"/>
          <p:cNvSpPr/>
          <p:nvPr/>
        </p:nvSpPr>
        <p:spPr>
          <a:xfrm>
            <a:off x="6245352" y="4187952"/>
            <a:ext cx="54864" cy="996696"/>
          </a:xfrm>
          <a:prstGeom prst="rect">
            <a:avLst/>
          </a:prstGeom>
          <a:solidFill>
            <a:srgbClr val="7A4A8C"/>
          </a:solidFill>
          <a:ln w="12700">
            <a:solidFill>
              <a:srgbClr val="7A4A8C"/>
            </a:solidFill>
            <a:prstDash val="solid"/>
          </a:ln>
        </p:spPr>
      </p:sp>
      <p:sp>
        <p:nvSpPr>
          <p:cNvPr id="47" name="Text 45"/>
          <p:cNvSpPr txBox="1"/>
          <p:nvPr/>
        </p:nvSpPr>
        <p:spPr>
          <a:xfrm>
            <a:off x="6391656" y="4233672"/>
            <a:ext cx="274320" cy="274320"/>
          </a:xfrm>
          <a:prstGeom prst="rect">
            <a:avLst/>
          </a:prstGeom>
          <a:noFill/>
          <a:ln/>
        </p:spPr>
        <p:txBody>
          <a:bodyPr wrap="square" lIns="0" tIns="0" rIns="0" bIns="0" rtlCol="0" anchor="t"/>
          <a:lstStyle/>
          <a:p>
            <a:pPr indent="0" marL="0">
              <a:buNone/>
            </a:pPr>
            <a:r>
              <a:rPr lang="en-US" sz="1400" b="1" dirty="0">
                <a:solidFill>
                  <a:srgbClr val="7A4A8C"/>
                </a:solidFill>
                <a:latin typeface="Cambria" pitchFamily="34" charset="0"/>
                <a:ea typeface="Cambria" pitchFamily="34" charset="-122"/>
                <a:cs typeface="Cambria" pitchFamily="34" charset="-120"/>
              </a:rPr>
              <a:t>6</a:t>
            </a:r>
            <a:endParaRPr lang="en-US" sz="1400" dirty="0"/>
          </a:p>
        </p:txBody>
      </p:sp>
      <p:sp>
        <p:nvSpPr>
          <p:cNvPr id="48" name="Text 46"/>
          <p:cNvSpPr txBox="1"/>
          <p:nvPr/>
        </p:nvSpPr>
        <p:spPr>
          <a:xfrm>
            <a:off x="6702552" y="4242816"/>
            <a:ext cx="4023360" cy="256032"/>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What is the cheapest real structural gate?</a:t>
            </a:r>
            <a:endParaRPr lang="en-US" sz="1150" dirty="0"/>
          </a:p>
        </p:txBody>
      </p:sp>
      <p:sp>
        <p:nvSpPr>
          <p:cNvPr id="49" name="Text 47"/>
          <p:cNvSpPr txBox="1"/>
          <p:nvPr/>
        </p:nvSpPr>
        <p:spPr>
          <a:xfrm>
            <a:off x="10771632" y="4251960"/>
            <a:ext cx="868680" cy="219456"/>
          </a:xfrm>
          <a:prstGeom prst="rect">
            <a:avLst/>
          </a:prstGeom>
          <a:noFill/>
          <a:ln/>
        </p:spPr>
        <p:txBody>
          <a:bodyPr wrap="square" lIns="0" tIns="0" rIns="0" bIns="0" rtlCol="0" anchor="t"/>
          <a:lstStyle/>
          <a:p>
            <a:pPr algn="r" indent="0" marL="0">
              <a:buNone/>
            </a:pPr>
            <a:r>
              <a:rPr lang="en-US" sz="800" i="1" dirty="0">
                <a:solidFill>
                  <a:srgbClr val="7A4A8C"/>
                </a:solidFill>
                <a:latin typeface="Calibri" pitchFamily="34" charset="0"/>
                <a:ea typeface="Calibri" pitchFamily="34" charset="-122"/>
                <a:cs typeface="Calibri" pitchFamily="34" charset="-120"/>
              </a:rPr>
              <a:t>functionality</a:t>
            </a:r>
            <a:endParaRPr lang="en-US" sz="800" dirty="0"/>
          </a:p>
        </p:txBody>
      </p:sp>
      <p:sp>
        <p:nvSpPr>
          <p:cNvPr id="50" name="Text 48"/>
          <p:cNvSpPr txBox="1"/>
          <p:nvPr/>
        </p:nvSpPr>
        <p:spPr>
          <a:xfrm>
            <a:off x="6702552" y="4517136"/>
            <a:ext cx="4919472" cy="621792"/>
          </a:xfrm>
          <a:prstGeom prst="rect">
            <a:avLst/>
          </a:prstGeom>
          <a:noFill/>
          <a:ln/>
        </p:spPr>
        <p:txBody>
          <a:bodyPr wrap="square" lIns="0" tIns="0" rIns="0" bIns="0" rtlCol="0" anchor="t"/>
          <a:lstStyle/>
          <a:p>
            <a:pPr indent="0" marL="0">
              <a:buNone/>
            </a:pPr>
            <a:r>
              <a:rPr lang="en-US" sz="850" dirty="0">
                <a:solidFill>
                  <a:srgbClr val="B8C6D1"/>
                </a:solidFill>
                <a:latin typeface="Calibri" pitchFamily="34" charset="0"/>
                <a:ea typeface="Calibri" pitchFamily="34" charset="-122"/>
                <a:cs typeface="Calibri" pitchFamily="34" charset="-120"/>
              </a:rPr>
              <a:t>Every real gate we have is a threshold on a number the tool reports about itself. RFD3 gives us ligand_clashes in a sidecar we already open; you gate on it and we do not. For Rosetta you gate interaction_energy, which we never compute. Where would you start?</a:t>
            </a:r>
            <a:endParaRPr lang="en-US" sz="850" dirty="0"/>
          </a:p>
        </p:txBody>
      </p:sp>
      <p:sp>
        <p:nvSpPr>
          <p:cNvPr id="51" name="Text 49"/>
          <p:cNvSpPr txBox="1"/>
          <p:nvPr/>
        </p:nvSpPr>
        <p:spPr>
          <a:xfrm>
            <a:off x="457200" y="6309360"/>
            <a:ext cx="11274552" cy="365760"/>
          </a:xfrm>
          <a:prstGeom prst="rect">
            <a:avLst/>
          </a:prstGeom>
          <a:noFill/>
          <a:ln/>
        </p:spPr>
        <p:txBody>
          <a:bodyPr wrap="square" lIns="0" tIns="0" rIns="0" bIns="0" rtlCol="0" anchor="t"/>
          <a:lstStyle/>
          <a:p>
            <a:pPr indent="0" marL="0">
              <a:buNone/>
            </a:pPr>
            <a:r>
              <a:rPr lang="en-US" sz="1050" i="1" dirty="0">
                <a:solidFill>
                  <a:srgbClr val="7E8F9C"/>
                </a:solidFill>
                <a:latin typeface="Calibri" pitchFamily="34" charset="0"/>
                <a:ea typeface="Calibri" pitchFamily="34" charset="-122"/>
                <a:cs typeface="Calibri" pitchFamily="34" charset="-120"/>
              </a:rPr>
              <a:t>Every claim behind these is reproducible from this checkout, and every file:line on these slides is greppable from your laptop while I talk — including the five that point into your code rather than mine.</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BACKUP · DATA FLOW</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Backup — one experiment, and the type at every hop</a:t>
            </a:r>
            <a:endParaRPr lang="en-US" sz="2800" dirty="0"/>
          </a:p>
        </p:txBody>
      </p:sp>
      <p:sp>
        <p:nvSpPr>
          <p:cNvPr id="4" name="Shape 2"/>
          <p:cNvSpPr/>
          <p:nvPr/>
        </p:nvSpPr>
        <p:spPr>
          <a:xfrm>
            <a:off x="457200" y="1371600"/>
            <a:ext cx="1783080" cy="1143000"/>
          </a:xfrm>
          <a:prstGeom prst="roundRect">
            <a:avLst>
              <a:gd name="adj" fmla="val 6400"/>
            </a:avLst>
          </a:prstGeom>
          <a:solidFill>
            <a:srgbClr val="FFFFFF"/>
          </a:solidFill>
          <a:ln w="25400">
            <a:solidFill>
              <a:srgbClr val="1E6470"/>
            </a:solidFill>
            <a:prstDash val="solid"/>
          </a:ln>
        </p:spPr>
      </p:sp>
      <p:sp>
        <p:nvSpPr>
          <p:cNvPr id="5" name="Text 3"/>
          <p:cNvSpPr txBox="1"/>
          <p:nvPr/>
        </p:nvSpPr>
        <p:spPr>
          <a:xfrm>
            <a:off x="530352" y="1417320"/>
            <a:ext cx="1636776" cy="1051560"/>
          </a:xfrm>
          <a:prstGeom prst="rect">
            <a:avLst/>
          </a:prstGeom>
          <a:noFill/>
          <a:ln/>
        </p:spPr>
        <p:txBody>
          <a:bodyPr wrap="square" lIns="0" tIns="0" rIns="0" bIns="0" rtlCol="0" anchor="ctr"/>
          <a:lstStyle/>
          <a:p>
            <a:pPr algn="ctr" indent="0" marL="0">
              <a:buNone/>
            </a:pPr>
            <a:r>
              <a:rPr lang="en-US" sz="1000" b="1" dirty="0">
                <a:solidFill>
                  <a:srgbClr val="16222B"/>
                </a:solidFill>
                <a:latin typeface="Calibri" pitchFamily="34" charset="0"/>
                <a:ea typeface="Calibri" pitchFamily="34" charset="-122"/>
                <a:cs typeface="Calibri" pitchFamily="34" charset="-120"/>
              </a:rPr>
              <a:t>CampaignObservation</a:t>
            </a:r>
            <a:endParaRPr lang="en-US" sz="1400" dirty="0"/>
          </a:p>
          <a:p>
            <a:pPr algn="ctr" indent="0" marL="0">
              <a:buNone/>
            </a:pP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front · population · budget</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tools · last rejection</a:t>
            </a:r>
            <a:endParaRPr lang="en-US" sz="1400" dirty="0"/>
          </a:p>
        </p:txBody>
      </p:sp>
      <p:sp>
        <p:nvSpPr>
          <p:cNvPr id="6" name="Text 4"/>
          <p:cNvSpPr txBox="1"/>
          <p:nvPr/>
        </p:nvSpPr>
        <p:spPr>
          <a:xfrm>
            <a:off x="457200" y="2542032"/>
            <a:ext cx="1783080" cy="237744"/>
          </a:xfrm>
          <a:prstGeom prst="rect">
            <a:avLst/>
          </a:prstGeom>
          <a:noFill/>
          <a:ln/>
        </p:spPr>
        <p:txBody>
          <a:bodyPr wrap="square" lIns="0" tIns="0" rIns="0" bIns="0" rtlCol="0" anchor="ctr"/>
          <a:lstStyle/>
          <a:p>
            <a:pPr algn="ctr" indent="0" marL="0">
              <a:buNone/>
            </a:pPr>
            <a:r>
              <a:rPr lang="en-US" sz="1050" dirty="0">
                <a:solidFill>
                  <a:srgbClr val="5E6B75"/>
                </a:solidFill>
                <a:latin typeface="Consolas" pitchFamily="34" charset="0"/>
                <a:ea typeface="Consolas" pitchFamily="34" charset="-122"/>
                <a:cs typeface="Consolas" pitchFamily="34" charset="-120"/>
              </a:rPr>
              <a:t>executor.py:215</a:t>
            </a:r>
            <a:endParaRPr lang="en-US" sz="1050" dirty="0"/>
          </a:p>
        </p:txBody>
      </p:sp>
      <p:sp>
        <p:nvSpPr>
          <p:cNvPr id="7" name="Shape 5"/>
          <p:cNvSpPr/>
          <p:nvPr/>
        </p:nvSpPr>
        <p:spPr>
          <a:xfrm>
            <a:off x="2249424" y="1938528"/>
            <a:ext cx="100584" cy="91"/>
          </a:xfrm>
          <a:prstGeom prst="line">
            <a:avLst/>
          </a:prstGeom>
          <a:noFill/>
          <a:ln w="15875">
            <a:solidFill>
              <a:srgbClr val="5E6B75"/>
            </a:solidFill>
            <a:prstDash val="solid"/>
            <a:tailEnd type="triangle"/>
          </a:ln>
        </p:spPr>
      </p:sp>
      <p:sp>
        <p:nvSpPr>
          <p:cNvPr id="8" name="Shape 6"/>
          <p:cNvSpPr/>
          <p:nvPr/>
        </p:nvSpPr>
        <p:spPr>
          <a:xfrm>
            <a:off x="2359152" y="1371600"/>
            <a:ext cx="1783080" cy="1143000"/>
          </a:xfrm>
          <a:prstGeom prst="roundRect">
            <a:avLst>
              <a:gd name="adj" fmla="val 6400"/>
            </a:avLst>
          </a:prstGeom>
          <a:solidFill>
            <a:srgbClr val="FFFFFF"/>
          </a:solidFill>
          <a:ln w="25400">
            <a:solidFill>
              <a:srgbClr val="3B4E8C"/>
            </a:solidFill>
            <a:prstDash val="solid"/>
          </a:ln>
        </p:spPr>
      </p:sp>
      <p:sp>
        <p:nvSpPr>
          <p:cNvPr id="9" name="Text 7"/>
          <p:cNvSpPr txBox="1"/>
          <p:nvPr/>
        </p:nvSpPr>
        <p:spPr>
          <a:xfrm>
            <a:off x="2432304" y="1417320"/>
            <a:ext cx="1636776" cy="1051560"/>
          </a:xfrm>
          <a:prstGeom prst="rect">
            <a:avLst/>
          </a:prstGeom>
          <a:noFill/>
          <a:ln/>
        </p:spPr>
        <p:txBody>
          <a:bodyPr wrap="square" lIns="0" tIns="0" rIns="0" bIns="0" rtlCol="0" anchor="ctr"/>
          <a:lstStyle/>
          <a:p>
            <a:pPr algn="ctr" indent="0" marL="0">
              <a:buNone/>
            </a:pPr>
            <a:r>
              <a:rPr lang="en-US" sz="1000" b="1" dirty="0">
                <a:solidFill>
                  <a:srgbClr val="16222B"/>
                </a:solidFill>
                <a:latin typeface="Calibri" pitchFamily="34" charset="0"/>
                <a:ea typeface="Calibri" pitchFamily="34" charset="-122"/>
                <a:cs typeface="Calibri" pitchFamily="34" charset="-120"/>
              </a:rPr>
              <a:t>Decision</a:t>
            </a:r>
            <a:endParaRPr lang="en-US" sz="1400" dirty="0"/>
          </a:p>
          <a:p>
            <a:pPr algn="ctr" indent="0" marL="0">
              <a:buNone/>
            </a:pP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ComposeAndRun | Backtrack</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RequestHuman | Stop</a:t>
            </a:r>
            <a:endParaRPr lang="en-US" sz="1400" dirty="0"/>
          </a:p>
        </p:txBody>
      </p:sp>
      <p:sp>
        <p:nvSpPr>
          <p:cNvPr id="10" name="Text 8"/>
          <p:cNvSpPr txBox="1"/>
          <p:nvPr/>
        </p:nvSpPr>
        <p:spPr>
          <a:xfrm>
            <a:off x="2359152" y="2542032"/>
            <a:ext cx="1783080" cy="237744"/>
          </a:xfrm>
          <a:prstGeom prst="rect">
            <a:avLst/>
          </a:prstGeom>
          <a:noFill/>
          <a:ln/>
        </p:spPr>
        <p:txBody>
          <a:bodyPr wrap="square" lIns="0" tIns="0" rIns="0" bIns="0" rtlCol="0" anchor="ctr"/>
          <a:lstStyle/>
          <a:p>
            <a:pPr algn="ctr" indent="0" marL="0">
              <a:buNone/>
            </a:pPr>
            <a:r>
              <a:rPr lang="en-US" sz="1050" dirty="0">
                <a:solidFill>
                  <a:srgbClr val="5E6B75"/>
                </a:solidFill>
                <a:latin typeface="Consolas" pitchFamily="34" charset="0"/>
                <a:ea typeface="Consolas" pitchFamily="34" charset="-122"/>
                <a:cs typeface="Consolas" pitchFamily="34" charset="-120"/>
              </a:rPr>
              <a:t>policy/*.py</a:t>
            </a:r>
            <a:endParaRPr lang="en-US" sz="1050" dirty="0"/>
          </a:p>
        </p:txBody>
      </p:sp>
      <p:sp>
        <p:nvSpPr>
          <p:cNvPr id="11" name="Shape 9"/>
          <p:cNvSpPr/>
          <p:nvPr/>
        </p:nvSpPr>
        <p:spPr>
          <a:xfrm>
            <a:off x="4151376" y="1938528"/>
            <a:ext cx="100584" cy="91"/>
          </a:xfrm>
          <a:prstGeom prst="line">
            <a:avLst/>
          </a:prstGeom>
          <a:noFill/>
          <a:ln w="15875">
            <a:solidFill>
              <a:srgbClr val="5E6B75"/>
            </a:solidFill>
            <a:prstDash val="solid"/>
            <a:tailEnd type="triangle"/>
          </a:ln>
        </p:spPr>
      </p:sp>
      <p:sp>
        <p:nvSpPr>
          <p:cNvPr id="12" name="Shape 10"/>
          <p:cNvSpPr/>
          <p:nvPr/>
        </p:nvSpPr>
        <p:spPr>
          <a:xfrm>
            <a:off x="4261104" y="1371600"/>
            <a:ext cx="1783080" cy="1143000"/>
          </a:xfrm>
          <a:prstGeom prst="roundRect">
            <a:avLst>
              <a:gd name="adj" fmla="val 6400"/>
            </a:avLst>
          </a:prstGeom>
          <a:solidFill>
            <a:srgbClr val="FFFFFF"/>
          </a:solidFill>
          <a:ln w="25400">
            <a:solidFill>
              <a:srgbClr val="3B4E8C"/>
            </a:solidFill>
            <a:prstDash val="solid"/>
          </a:ln>
        </p:spPr>
      </p:sp>
      <p:sp>
        <p:nvSpPr>
          <p:cNvPr id="13" name="Text 11"/>
          <p:cNvSpPr txBox="1"/>
          <p:nvPr/>
        </p:nvSpPr>
        <p:spPr>
          <a:xfrm>
            <a:off x="4334256" y="1417320"/>
            <a:ext cx="1636776" cy="1051560"/>
          </a:xfrm>
          <a:prstGeom prst="rect">
            <a:avLst/>
          </a:prstGeom>
          <a:noFill/>
          <a:ln/>
        </p:spPr>
        <p:txBody>
          <a:bodyPr wrap="square" lIns="0" tIns="0" rIns="0" bIns="0" rtlCol="0" anchor="ctr"/>
          <a:lstStyle/>
          <a:p>
            <a:pPr algn="ctr" indent="0" marL="0">
              <a:buNone/>
            </a:pPr>
            <a:r>
              <a:rPr lang="en-US" sz="1000" b="1" dirty="0">
                <a:solidFill>
                  <a:srgbClr val="16222B"/>
                </a:solidFill>
                <a:latin typeface="Calibri" pitchFamily="34" charset="0"/>
                <a:ea typeface="Calibri" pitchFamily="34" charset="-122"/>
                <a:cs typeface="Calibri" pitchFamily="34" charset="-120"/>
              </a:rPr>
              <a:t>ExperimentIntent</a:t>
            </a:r>
            <a:endParaRPr lang="en-US" sz="1400" dirty="0"/>
          </a:p>
          <a:p>
            <a:pPr algn="ctr" indent="0" marL="0">
              <a:buNone/>
            </a:pP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tool ids + params + replicas</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ABSTRACT — never a DAG</a:t>
            </a:r>
            <a:endParaRPr lang="en-US" sz="1400" dirty="0"/>
          </a:p>
        </p:txBody>
      </p:sp>
      <p:sp>
        <p:nvSpPr>
          <p:cNvPr id="14" name="Text 12"/>
          <p:cNvSpPr txBox="1"/>
          <p:nvPr/>
        </p:nvSpPr>
        <p:spPr>
          <a:xfrm>
            <a:off x="4261104" y="2542032"/>
            <a:ext cx="1783080" cy="237744"/>
          </a:xfrm>
          <a:prstGeom prst="rect">
            <a:avLst/>
          </a:prstGeom>
          <a:noFill/>
          <a:ln/>
        </p:spPr>
        <p:txBody>
          <a:bodyPr wrap="square" lIns="0" tIns="0" rIns="0" bIns="0" rtlCol="0" anchor="ctr"/>
          <a:lstStyle/>
          <a:p>
            <a:pPr algn="ctr" indent="0" marL="0">
              <a:buNone/>
            </a:pPr>
            <a:r>
              <a:rPr lang="en-US" sz="1050" dirty="0">
                <a:solidFill>
                  <a:srgbClr val="5E6B75"/>
                </a:solidFill>
                <a:latin typeface="Consolas" pitchFamily="34" charset="0"/>
                <a:ea typeface="Consolas" pitchFamily="34" charset="-122"/>
                <a:cs typeface="Consolas" pitchFamily="34" charset="-120"/>
              </a:rPr>
              <a:t>core/decision.py:21</a:t>
            </a:r>
            <a:endParaRPr lang="en-US" sz="1050" dirty="0"/>
          </a:p>
        </p:txBody>
      </p:sp>
      <p:sp>
        <p:nvSpPr>
          <p:cNvPr id="15" name="Shape 13"/>
          <p:cNvSpPr/>
          <p:nvPr/>
        </p:nvSpPr>
        <p:spPr>
          <a:xfrm>
            <a:off x="6053328" y="1938528"/>
            <a:ext cx="100584" cy="91"/>
          </a:xfrm>
          <a:prstGeom prst="line">
            <a:avLst/>
          </a:prstGeom>
          <a:noFill/>
          <a:ln w="15875">
            <a:solidFill>
              <a:srgbClr val="5E6B75"/>
            </a:solidFill>
            <a:prstDash val="solid"/>
            <a:tailEnd type="triangle"/>
          </a:ln>
        </p:spPr>
      </p:sp>
      <p:sp>
        <p:nvSpPr>
          <p:cNvPr id="16" name="Shape 14"/>
          <p:cNvSpPr/>
          <p:nvPr/>
        </p:nvSpPr>
        <p:spPr>
          <a:xfrm>
            <a:off x="6163056" y="1371600"/>
            <a:ext cx="1783080" cy="1143000"/>
          </a:xfrm>
          <a:prstGeom prst="roundRect">
            <a:avLst>
              <a:gd name="adj" fmla="val 6400"/>
            </a:avLst>
          </a:prstGeom>
          <a:solidFill>
            <a:srgbClr val="FFFFFF"/>
          </a:solidFill>
          <a:ln w="25400">
            <a:solidFill>
              <a:srgbClr val="2E7D5B"/>
            </a:solidFill>
            <a:prstDash val="solid"/>
          </a:ln>
        </p:spPr>
      </p:sp>
      <p:sp>
        <p:nvSpPr>
          <p:cNvPr id="17" name="Text 15"/>
          <p:cNvSpPr txBox="1"/>
          <p:nvPr/>
        </p:nvSpPr>
        <p:spPr>
          <a:xfrm>
            <a:off x="6236208" y="1417320"/>
            <a:ext cx="1636776" cy="1051560"/>
          </a:xfrm>
          <a:prstGeom prst="rect">
            <a:avLst/>
          </a:prstGeom>
          <a:noFill/>
          <a:ln/>
        </p:spPr>
        <p:txBody>
          <a:bodyPr wrap="square" lIns="0" tIns="0" rIns="0" bIns="0" rtlCol="0" anchor="ctr"/>
          <a:lstStyle/>
          <a:p>
            <a:pPr algn="ctr" indent="0" marL="0">
              <a:buNone/>
            </a:pPr>
            <a:r>
              <a:rPr lang="en-US" sz="1000" b="1" dirty="0">
                <a:solidFill>
                  <a:srgbClr val="16222B"/>
                </a:solidFill>
                <a:latin typeface="Calibri" pitchFamily="34" charset="0"/>
                <a:ea typeface="Calibri" pitchFamily="34" charset="-122"/>
                <a:cs typeface="Calibri" pitchFamily="34" charset="-120"/>
              </a:rPr>
              <a:t>TaskGraph</a:t>
            </a:r>
            <a:endParaRPr lang="en-US" sz="1400" dirty="0"/>
          </a:p>
          <a:p>
            <a:pPr algn="ctr" indent="0" marL="0">
              <a:buNone/>
            </a:pP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typed nodes, deps, per-lineage</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seed — plain data</a:t>
            </a:r>
            <a:endParaRPr lang="en-US" sz="1400" dirty="0"/>
          </a:p>
        </p:txBody>
      </p:sp>
      <p:sp>
        <p:nvSpPr>
          <p:cNvPr id="18" name="Text 16"/>
          <p:cNvSpPr txBox="1"/>
          <p:nvPr/>
        </p:nvSpPr>
        <p:spPr>
          <a:xfrm>
            <a:off x="6163056" y="2542032"/>
            <a:ext cx="1783080" cy="237744"/>
          </a:xfrm>
          <a:prstGeom prst="rect">
            <a:avLst/>
          </a:prstGeom>
          <a:noFill/>
          <a:ln/>
        </p:spPr>
        <p:txBody>
          <a:bodyPr wrap="square" lIns="0" tIns="0" rIns="0" bIns="0" rtlCol="0" anchor="ctr"/>
          <a:lstStyle/>
          <a:p>
            <a:pPr algn="ctr" indent="0" marL="0">
              <a:buNone/>
            </a:pPr>
            <a:r>
              <a:rPr lang="en-US" sz="1050" dirty="0">
                <a:solidFill>
                  <a:srgbClr val="5E6B75"/>
                </a:solidFill>
                <a:latin typeface="Consolas" pitchFamily="34" charset="0"/>
                <a:ea typeface="Consolas" pitchFamily="34" charset="-122"/>
                <a:cs typeface="Consolas" pitchFamily="34" charset="-120"/>
              </a:rPr>
              <a:t>composer.py:36</a:t>
            </a:r>
            <a:endParaRPr lang="en-US" sz="1050" dirty="0"/>
          </a:p>
        </p:txBody>
      </p:sp>
      <p:sp>
        <p:nvSpPr>
          <p:cNvPr id="19" name="Shape 17"/>
          <p:cNvSpPr/>
          <p:nvPr/>
        </p:nvSpPr>
        <p:spPr>
          <a:xfrm>
            <a:off x="7955280" y="1938528"/>
            <a:ext cx="100584" cy="91"/>
          </a:xfrm>
          <a:prstGeom prst="line">
            <a:avLst/>
          </a:prstGeom>
          <a:noFill/>
          <a:ln w="15875">
            <a:solidFill>
              <a:srgbClr val="5E6B75"/>
            </a:solidFill>
            <a:prstDash val="solid"/>
            <a:tailEnd type="triangle"/>
          </a:ln>
        </p:spPr>
      </p:sp>
      <p:sp>
        <p:nvSpPr>
          <p:cNvPr id="20" name="Shape 18"/>
          <p:cNvSpPr/>
          <p:nvPr/>
        </p:nvSpPr>
        <p:spPr>
          <a:xfrm>
            <a:off x="8065008" y="1371600"/>
            <a:ext cx="1783080" cy="1143000"/>
          </a:xfrm>
          <a:prstGeom prst="roundRect">
            <a:avLst>
              <a:gd name="adj" fmla="val 6400"/>
            </a:avLst>
          </a:prstGeom>
          <a:solidFill>
            <a:srgbClr val="FFFFFF"/>
          </a:solidFill>
          <a:ln w="25400">
            <a:solidFill>
              <a:srgbClr val="D9731A"/>
            </a:solidFill>
            <a:prstDash val="solid"/>
          </a:ln>
        </p:spPr>
      </p:sp>
      <p:sp>
        <p:nvSpPr>
          <p:cNvPr id="21" name="Text 19"/>
          <p:cNvSpPr txBox="1"/>
          <p:nvPr/>
        </p:nvSpPr>
        <p:spPr>
          <a:xfrm>
            <a:off x="8138160" y="1417320"/>
            <a:ext cx="1636776" cy="1051560"/>
          </a:xfrm>
          <a:prstGeom prst="rect">
            <a:avLst/>
          </a:prstGeom>
          <a:noFill/>
          <a:ln/>
        </p:spPr>
        <p:txBody>
          <a:bodyPr wrap="square" lIns="0" tIns="0" rIns="0" bIns="0" rtlCol="0" anchor="ctr"/>
          <a:lstStyle/>
          <a:p>
            <a:pPr algn="ctr" indent="0" marL="0">
              <a:buNone/>
            </a:pPr>
            <a:r>
              <a:rPr lang="en-US" sz="1000" b="1" dirty="0">
                <a:solidFill>
                  <a:srgbClr val="16222B"/>
                </a:solidFill>
                <a:latin typeface="Calibri" pitchFamily="34" charset="0"/>
                <a:ea typeface="Calibri" pitchFamily="34" charset="-122"/>
                <a:cs typeface="Calibri" pitchFamily="34" charset="-120"/>
              </a:rPr>
              <a:t>DispatchHandle</a:t>
            </a:r>
            <a:endParaRPr lang="en-US" sz="1400" dirty="0"/>
          </a:p>
          <a:p>
            <a:pPr algn="ctr" indent="0" marL="0">
              <a:buNone/>
            </a:pP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futures + gather,</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NOT awaited</a:t>
            </a:r>
            <a:endParaRPr lang="en-US" sz="1400" dirty="0"/>
          </a:p>
        </p:txBody>
      </p:sp>
      <p:sp>
        <p:nvSpPr>
          <p:cNvPr id="22" name="Text 20"/>
          <p:cNvSpPr txBox="1"/>
          <p:nvPr/>
        </p:nvSpPr>
        <p:spPr>
          <a:xfrm>
            <a:off x="8065008" y="2542032"/>
            <a:ext cx="1783080" cy="237744"/>
          </a:xfrm>
          <a:prstGeom prst="rect">
            <a:avLst/>
          </a:prstGeom>
          <a:noFill/>
          <a:ln/>
        </p:spPr>
        <p:txBody>
          <a:bodyPr wrap="square" lIns="0" tIns="0" rIns="0" bIns="0" rtlCol="0" anchor="ctr"/>
          <a:lstStyle/>
          <a:p>
            <a:pPr algn="ctr" indent="0" marL="0">
              <a:buNone/>
            </a:pPr>
            <a:r>
              <a:rPr lang="en-US" sz="1050" dirty="0">
                <a:solidFill>
                  <a:srgbClr val="5E6B75"/>
                </a:solidFill>
                <a:latin typeface="Consolas" pitchFamily="34" charset="0"/>
                <a:ea typeface="Consolas" pitchFamily="34" charset="-122"/>
                <a:cs typeface="Consolas" pitchFamily="34" charset="-120"/>
              </a:rPr>
              <a:t>dispatch.py:165</a:t>
            </a:r>
            <a:endParaRPr lang="en-US" sz="1050" dirty="0"/>
          </a:p>
        </p:txBody>
      </p:sp>
      <p:sp>
        <p:nvSpPr>
          <p:cNvPr id="23" name="Shape 21"/>
          <p:cNvSpPr/>
          <p:nvPr/>
        </p:nvSpPr>
        <p:spPr>
          <a:xfrm>
            <a:off x="9857232" y="1938528"/>
            <a:ext cx="100584" cy="91"/>
          </a:xfrm>
          <a:prstGeom prst="line">
            <a:avLst/>
          </a:prstGeom>
          <a:noFill/>
          <a:ln w="15875">
            <a:solidFill>
              <a:srgbClr val="5E6B75"/>
            </a:solidFill>
            <a:prstDash val="solid"/>
            <a:tailEnd type="triangle"/>
          </a:ln>
        </p:spPr>
      </p:sp>
      <p:sp>
        <p:nvSpPr>
          <p:cNvPr id="24" name="Shape 22"/>
          <p:cNvSpPr/>
          <p:nvPr/>
        </p:nvSpPr>
        <p:spPr>
          <a:xfrm>
            <a:off x="9966960" y="1371600"/>
            <a:ext cx="1783080" cy="1143000"/>
          </a:xfrm>
          <a:prstGeom prst="roundRect">
            <a:avLst>
              <a:gd name="adj" fmla="val 6400"/>
            </a:avLst>
          </a:prstGeom>
          <a:solidFill>
            <a:srgbClr val="FFFFFF"/>
          </a:solidFill>
          <a:ln w="25400">
            <a:solidFill>
              <a:srgbClr val="1E6470"/>
            </a:solidFill>
            <a:prstDash val="solid"/>
          </a:ln>
        </p:spPr>
      </p:sp>
      <p:sp>
        <p:nvSpPr>
          <p:cNvPr id="25" name="Text 23"/>
          <p:cNvSpPr txBox="1"/>
          <p:nvPr/>
        </p:nvSpPr>
        <p:spPr>
          <a:xfrm>
            <a:off x="10040112" y="1417320"/>
            <a:ext cx="1636776" cy="1051560"/>
          </a:xfrm>
          <a:prstGeom prst="rect">
            <a:avLst/>
          </a:prstGeom>
          <a:noFill/>
          <a:ln/>
        </p:spPr>
        <p:txBody>
          <a:bodyPr wrap="square" lIns="0" tIns="0" rIns="0" bIns="0" rtlCol="0" anchor="ctr"/>
          <a:lstStyle/>
          <a:p>
            <a:pPr algn="ctr" indent="0" marL="0">
              <a:buNone/>
            </a:pPr>
            <a:r>
              <a:rPr lang="en-US" sz="1000" b="1" dirty="0">
                <a:solidFill>
                  <a:srgbClr val="16222B"/>
                </a:solidFill>
                <a:latin typeface="Calibri" pitchFamily="34" charset="0"/>
                <a:ea typeface="Calibri" pitchFamily="34" charset="-122"/>
                <a:cs typeface="Calibri" pitchFamily="34" charset="-120"/>
              </a:rPr>
              <a:t>RunOutcome</a:t>
            </a:r>
            <a:endParaRPr lang="en-US" sz="1400" dirty="0"/>
          </a:p>
          <a:p>
            <a:pPr algn="ctr" indent="0" marL="0">
              <a:buNone/>
            </a:pP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serializable, core-typed,</a:t>
            </a: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written to the ledger</a:t>
            </a:r>
            <a:endParaRPr lang="en-US" sz="1400" dirty="0"/>
          </a:p>
        </p:txBody>
      </p:sp>
      <p:sp>
        <p:nvSpPr>
          <p:cNvPr id="26" name="Text 24"/>
          <p:cNvSpPr txBox="1"/>
          <p:nvPr/>
        </p:nvSpPr>
        <p:spPr>
          <a:xfrm>
            <a:off x="9966960" y="2542032"/>
            <a:ext cx="1783080" cy="237744"/>
          </a:xfrm>
          <a:prstGeom prst="rect">
            <a:avLst/>
          </a:prstGeom>
          <a:noFill/>
          <a:ln/>
        </p:spPr>
        <p:txBody>
          <a:bodyPr wrap="square" lIns="0" tIns="0" rIns="0" bIns="0" rtlCol="0" anchor="ctr"/>
          <a:lstStyle/>
          <a:p>
            <a:pPr algn="ctr" indent="0" marL="0">
              <a:buNone/>
            </a:pPr>
            <a:r>
              <a:rPr lang="en-US" sz="1050" dirty="0">
                <a:solidFill>
                  <a:srgbClr val="5E6B75"/>
                </a:solidFill>
                <a:latin typeface="Consolas" pitchFamily="34" charset="0"/>
                <a:ea typeface="Consolas" pitchFamily="34" charset="-122"/>
                <a:cs typeface="Consolas" pitchFamily="34" charset="-120"/>
              </a:rPr>
              <a:t>dispatch.py:91</a:t>
            </a:r>
            <a:endParaRPr lang="en-US" sz="1050" dirty="0"/>
          </a:p>
        </p:txBody>
      </p:sp>
      <p:sp>
        <p:nvSpPr>
          <p:cNvPr id="27" name="Shape 25"/>
          <p:cNvSpPr/>
          <p:nvPr/>
        </p:nvSpPr>
        <p:spPr>
          <a:xfrm>
            <a:off x="457200" y="3017520"/>
            <a:ext cx="5669280" cy="1234440"/>
          </a:xfrm>
          <a:prstGeom prst="rect">
            <a:avLst/>
          </a:prstGeom>
          <a:solidFill>
            <a:srgbClr val="16222B"/>
          </a:solidFill>
          <a:ln w="12700">
            <a:solidFill>
              <a:srgbClr val="16222B"/>
            </a:solidFill>
            <a:prstDash val="solid"/>
          </a:ln>
        </p:spPr>
      </p:sp>
      <p:sp>
        <p:nvSpPr>
          <p:cNvPr id="28" name="Text 26"/>
          <p:cNvSpPr txBox="1"/>
          <p:nvPr/>
        </p:nvSpPr>
        <p:spPr>
          <a:xfrm>
            <a:off x="557784" y="3108960"/>
            <a:ext cx="5468112" cy="1051560"/>
          </a:xfrm>
          <a:prstGeom prst="rect">
            <a:avLst/>
          </a:prstGeom>
          <a:noFill/>
          <a:ln/>
        </p:spPr>
        <p:txBody>
          <a:bodyPr wrap="square" lIns="0" tIns="0" rIns="0" bIns="0" rtlCol="0" anchor="t"/>
          <a:lstStyle/>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impress-a run campaigns/mock-stabilize.yaml --model D</a:t>
            </a:r>
            <a:endParaRPr lang="en-US" sz="1000" dirty="0"/>
          </a:p>
          <a:p>
            <a:pPr indent="0" marL="0">
              <a:lnSpc>
                <a:spcPts val="1300"/>
              </a:lnSpc>
              <a:buNone/>
            </a:pP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campaign : mock-stabilize-D</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cycles   : 2</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stop     : target front size 3 reached</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nodes    : 4  front: 3</a:t>
            </a:r>
            <a:endParaRPr lang="en-US" sz="1000" dirty="0"/>
          </a:p>
        </p:txBody>
      </p:sp>
      <p:sp>
        <p:nvSpPr>
          <p:cNvPr id="29" name="Text 27"/>
          <p:cNvSpPr txBox="1"/>
          <p:nvPr/>
        </p:nvSpPr>
        <p:spPr>
          <a:xfrm>
            <a:off x="457200" y="4270248"/>
            <a:ext cx="5669280" cy="182880"/>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run.json — mined from a real run, this checkout</a:t>
            </a:r>
            <a:endParaRPr lang="en-US" sz="8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4572000"/>
          <a:ext cx="5669280" cy="914400"/>
        </p:xfrm>
        <a:graphic>
          <a:graphicData uri="http://schemas.openxmlformats.org/drawingml/2006/table">
            <a:tbl>
              <a:tblPr/>
              <a:tblGrid>
                <a:gridCol w="731520"/>
                <a:gridCol w="1234440"/>
                <a:gridCol w="685800"/>
                <a:gridCol w="1051560"/>
                <a:gridCol w="1965960"/>
              </a:tblGrid>
              <a:tr h="2743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run</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shape</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nodes</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est. gpu-h</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admitted?</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r>
              <a:tr h="274320">
                <a:tc>
                  <a:txBody>
                    <a:bodyPr/>
                    <a:lstStyle/>
                    <a:p>
                      <a:pPr algn="l" indent="0" marL="0">
                        <a:buNone/>
                      </a:pPr>
                      <a:r>
                        <a:rPr lang="en-US" sz="1050" b="1" dirty="0">
                          <a:solidFill>
                            <a:srgbClr val="22303C"/>
                          </a:solidFill>
                          <a:latin typeface="Calibri" pitchFamily="34" charset="0"/>
                          <a:ea typeface="Calibri" pitchFamily="34" charset="-122"/>
                          <a:cs typeface="Calibri" pitchFamily="34" charset="-120"/>
                        </a:rPr>
                        <a:t>r0001</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50" dirty="0">
                          <a:solidFill>
                            <a:srgbClr val="5E6B75"/>
                          </a:solidFill>
                          <a:latin typeface="Consolas" pitchFamily="34" charset="0"/>
                          <a:ea typeface="Consolas" pitchFamily="34" charset="-122"/>
                          <a:cs typeface="Consolas" pitchFamily="34" charset="-120"/>
                        </a:rPr>
                        <a:t>9fdcfd20…</a:t>
                      </a:r>
                      <a:endParaRPr lang="en-US" sz="9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ctr" indent="0" marL="0">
                        <a:buNone/>
                      </a:pPr>
                      <a:r>
                        <a:rPr lang="en-US" sz="1050" dirty="0">
                          <a:solidFill>
                            <a:srgbClr val="22303C"/>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ctr" indent="0" marL="0">
                        <a:buNone/>
                      </a:pPr>
                      <a:r>
                        <a:rPr lang="en-US" sz="1050" dirty="0">
                          <a:solidFill>
                            <a:srgbClr val="22303C"/>
                          </a:solidFill>
                          <a:latin typeface="Calibri" pitchFamily="34" charset="0"/>
                          <a:ea typeface="Calibri" pitchFamily="34" charset="-122"/>
                          <a:cs typeface="Calibri" pitchFamily="34" charset="-120"/>
                        </a:rPr>
                        <a:t>0.165</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50" b="1" dirty="0">
                          <a:solidFill>
                            <a:srgbClr val="C0392B"/>
                          </a:solidFill>
                          <a:latin typeface="Calibri" pitchFamily="34" charset="0"/>
                          <a:ea typeface="Calibri" pitchFamily="34" charset="-122"/>
                          <a:cs typeface="Calibri" pitchFamily="34" charset="-120"/>
                        </a:rPr>
                        <a:t>refused — interlock</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274320">
                <a:tc>
                  <a:txBody>
                    <a:bodyPr/>
                    <a:lstStyle/>
                    <a:p>
                      <a:pPr algn="l" indent="0" marL="0">
                        <a:buNone/>
                      </a:pPr>
                      <a:r>
                        <a:rPr lang="en-US" sz="1050" b="1" dirty="0">
                          <a:solidFill>
                            <a:srgbClr val="22303C"/>
                          </a:solidFill>
                          <a:latin typeface="Calibri" pitchFamily="34" charset="0"/>
                          <a:ea typeface="Calibri" pitchFamily="34" charset="-122"/>
                          <a:cs typeface="Calibri" pitchFamily="34" charset="-120"/>
                        </a:rPr>
                        <a:t>r0002</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950" dirty="0">
                          <a:solidFill>
                            <a:srgbClr val="5E6B75"/>
                          </a:solidFill>
                          <a:latin typeface="Consolas" pitchFamily="34" charset="0"/>
                          <a:ea typeface="Consolas" pitchFamily="34" charset="-122"/>
                          <a:cs typeface="Consolas" pitchFamily="34" charset="-120"/>
                        </a:rPr>
                        <a:t>66bb4923…</a:t>
                      </a:r>
                      <a:endParaRPr lang="en-US" sz="9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2303C"/>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2303C"/>
                          </a:solidFill>
                          <a:latin typeface="Calibri" pitchFamily="34" charset="0"/>
                          <a:ea typeface="Calibri" pitchFamily="34" charset="-122"/>
                          <a:cs typeface="Calibri" pitchFamily="34" charset="-120"/>
                        </a:rPr>
                        <a:t>0.110</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E7D4F"/>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274320">
                <a:tc>
                  <a:txBody>
                    <a:bodyPr/>
                    <a:lstStyle/>
                    <a:p>
                      <a:pPr algn="l" indent="0" marL="0">
                        <a:buNone/>
                      </a:pPr>
                      <a:r>
                        <a:rPr lang="en-US" sz="1050" b="1" dirty="0">
                          <a:solidFill>
                            <a:srgbClr val="22303C"/>
                          </a:solidFill>
                          <a:latin typeface="Calibri" pitchFamily="34" charset="0"/>
                          <a:ea typeface="Calibri" pitchFamily="34" charset="-122"/>
                          <a:cs typeface="Calibri" pitchFamily="34" charset="-120"/>
                        </a:rPr>
                        <a:t>r0003</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50" dirty="0">
                          <a:solidFill>
                            <a:srgbClr val="5E6B75"/>
                          </a:solidFill>
                          <a:latin typeface="Consolas" pitchFamily="34" charset="0"/>
                          <a:ea typeface="Consolas" pitchFamily="34" charset="-122"/>
                          <a:cs typeface="Consolas" pitchFamily="34" charset="-120"/>
                        </a:rPr>
                        <a:t>66bb4923…</a:t>
                      </a:r>
                      <a:endParaRPr lang="en-US" sz="9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ctr" indent="0" marL="0">
                        <a:buNone/>
                      </a:pPr>
                      <a:r>
                        <a:rPr lang="en-US" sz="1050" dirty="0">
                          <a:solidFill>
                            <a:srgbClr val="22303C"/>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ctr" indent="0" marL="0">
                        <a:buNone/>
                      </a:pPr>
                      <a:r>
                        <a:rPr lang="en-US" sz="1050" dirty="0">
                          <a:solidFill>
                            <a:srgbClr val="22303C"/>
                          </a:solidFill>
                          <a:latin typeface="Calibri" pitchFamily="34" charset="0"/>
                          <a:ea typeface="Calibri" pitchFamily="34" charset="-122"/>
                          <a:cs typeface="Calibri" pitchFamily="34" charset="-120"/>
                        </a:rPr>
                        <a:t>0.110</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50" dirty="0">
                          <a:solidFill>
                            <a:srgbClr val="2E7D4F"/>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bl>
          </a:graphicData>
        </a:graphic>
      </p:graphicFrame>
      <p:sp>
        <p:nvSpPr>
          <p:cNvPr id="31" name="Shape 28"/>
          <p:cNvSpPr/>
          <p:nvPr/>
        </p:nvSpPr>
        <p:spPr>
          <a:xfrm>
            <a:off x="6400800" y="3017520"/>
            <a:ext cx="5788152" cy="1463040"/>
          </a:xfrm>
          <a:prstGeom prst="rect">
            <a:avLst/>
          </a:prstGeom>
          <a:solidFill>
            <a:srgbClr val="F9E0DD"/>
          </a:solidFill>
          <a:ln w="12700">
            <a:solidFill>
              <a:srgbClr val="F9E0DD"/>
            </a:solidFill>
            <a:prstDash val="solid"/>
          </a:ln>
        </p:spPr>
      </p:sp>
      <p:sp>
        <p:nvSpPr>
          <p:cNvPr id="32" name="Text 29"/>
          <p:cNvSpPr txBox="1"/>
          <p:nvPr/>
        </p:nvSpPr>
        <p:spPr>
          <a:xfrm>
            <a:off x="6528816" y="3099816"/>
            <a:ext cx="5532120" cy="274320"/>
          </a:xfrm>
          <a:prstGeom prst="rect">
            <a:avLst/>
          </a:prstGeom>
          <a:noFill/>
          <a:ln/>
        </p:spPr>
        <p:txBody>
          <a:bodyPr wrap="square" lIns="0" tIns="0" rIns="0" bIns="0" rtlCol="0" anchor="t"/>
          <a:lstStyle/>
          <a:p>
            <a:pPr indent="0" marL="0">
              <a:buNone/>
            </a:pPr>
            <a:r>
              <a:rPr lang="en-US" sz="1300" b="1" dirty="0">
                <a:solidFill>
                  <a:srgbClr val="C0392B"/>
                </a:solidFill>
                <a:latin typeface="Calibri" pitchFamily="34" charset="0"/>
                <a:ea typeface="Calibri" pitchFamily="34" charset="-122"/>
                <a:cs typeface="Calibri" pitchFamily="34" charset="-120"/>
              </a:rPr>
              <a:t>What the first row is</a:t>
            </a:r>
            <a:endParaRPr lang="en-US" sz="1300" dirty="0"/>
          </a:p>
        </p:txBody>
      </p:sp>
      <p:sp>
        <p:nvSpPr>
          <p:cNvPr id="33" name="Text 30"/>
          <p:cNvSpPr txBox="1"/>
          <p:nvPr/>
        </p:nvSpPr>
        <p:spPr>
          <a:xfrm>
            <a:off x="6528816" y="3410712"/>
            <a:ext cx="5532120" cy="98755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provisional pattern capped at 10% of available cpu_hours (1.500 &gt; 1.200)</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The policy answered by shrinking from 3 lineages to 2 and resubmitting. That is on_rejected doing its job: a refusal costs an attempt, not the experiment.</a:t>
            </a:r>
            <a:endParaRPr lang="en-US" sz="1050" dirty="0"/>
          </a:p>
        </p:txBody>
      </p:sp>
      <p:sp>
        <p:nvSpPr>
          <p:cNvPr id="34" name="Shape 31"/>
          <p:cNvSpPr/>
          <p:nvPr/>
        </p:nvSpPr>
        <p:spPr>
          <a:xfrm>
            <a:off x="6400800" y="4617720"/>
            <a:ext cx="5788152" cy="1417320"/>
          </a:xfrm>
          <a:prstGeom prst="rect">
            <a:avLst/>
          </a:prstGeom>
          <a:solidFill>
            <a:srgbClr val="EEF2F5"/>
          </a:solidFill>
          <a:ln w="12700">
            <a:solidFill>
              <a:srgbClr val="EEF2F5"/>
            </a:solidFill>
            <a:prstDash val="solid"/>
          </a:ln>
        </p:spPr>
      </p:sp>
      <p:sp>
        <p:nvSpPr>
          <p:cNvPr id="35" name="Text 32"/>
          <p:cNvSpPr txBox="1"/>
          <p:nvPr/>
        </p:nvSpPr>
        <p:spPr>
          <a:xfrm>
            <a:off x="6528816" y="4700016"/>
            <a:ext cx="5532120"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And what the rest of the run shows</a:t>
            </a:r>
            <a:endParaRPr lang="en-US" sz="1300" dirty="0"/>
          </a:p>
        </p:txBody>
      </p:sp>
      <p:sp>
        <p:nvSpPr>
          <p:cNvPr id="36" name="Text 33"/>
          <p:cNvSpPr txBox="1"/>
          <p:nvPr/>
        </p:nvSpPr>
        <p:spPr>
          <a:xfrm>
            <a:off x="6528816" y="5010912"/>
            <a:ext cx="5532120" cy="94183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4 design nodes over 2 cycles, every one marked suspect — the pattern stayed provisional: the front target was met after two clean runs, before the third that would promote it.</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Front of 3; the campaign stopped on "target front size 3 reached" rather than on budget.</a:t>
            </a:r>
            <a:endParaRPr lang="en-US" sz="1050" dirty="0"/>
          </a:p>
        </p:txBody>
      </p:sp>
      <p:sp>
        <p:nvSpPr>
          <p:cNvPr id="37" name="Text 34"/>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The whole slide is one laptop run against the mock toolkit: real manager, real policies, real composer and validator, stubbed science.</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BACKUP · TOOLS</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Backup — eight compute patterns, and what each one forbids</a:t>
            </a:r>
            <a:endParaRPr lang="en-US" sz="2800" dirty="0"/>
          </a:p>
        </p:txBody>
      </p:sp>
      <p:sp>
        <p:nvSpPr>
          <p:cNvPr id="4" name="Text 2"/>
          <p:cNvSpPr txBox="1"/>
          <p:nvPr/>
        </p:nvSpPr>
        <p:spPr>
          <a:xfrm>
            <a:off x="457200" y="1335024"/>
            <a:ext cx="7616952" cy="237744"/>
          </a:xfrm>
          <a:prstGeom prst="rect">
            <a:avLst/>
          </a:prstGeom>
          <a:noFill/>
          <a:ln/>
        </p:spPr>
        <p:txBody>
          <a:bodyPr wrap="square" lIns="0" tIns="0" rIns="0" bIns="0" rtlCol="0" anchor="ctr"/>
          <a:lstStyle/>
          <a:p>
            <a:pPr algn="l" indent="0" marL="0">
              <a:buNone/>
            </a:pPr>
            <a:r>
              <a:rPr lang="en-US" sz="950" dirty="0">
                <a:solidFill>
                  <a:srgbClr val="5E6B75"/>
                </a:solidFill>
                <a:latin typeface="Consolas" pitchFamily="34" charset="0"/>
                <a:ea typeface="Consolas" pitchFamily="34" charset="-122"/>
                <a:cs typeface="Consolas" pitchFamily="34" charset="-120"/>
              </a:rPr>
              <a:t>core/types.py:12 — organised by scheduling implication, never by science</a:t>
            </a:r>
            <a:endParaRPr lang="en-US" sz="9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591056"/>
          <a:ext cx="7616952" cy="914400"/>
        </p:xfrm>
        <a:graphic>
          <a:graphicData uri="http://schemas.openxmlformats.org/drawingml/2006/table">
            <a:tbl>
              <a:tblPr/>
              <a:tblGrid>
                <a:gridCol w="685800"/>
                <a:gridCol w="2194560"/>
                <a:gridCol w="3200400"/>
                <a:gridCol w="1536192"/>
              </a:tblGrid>
              <a:tr h="283464">
                <a:tc>
                  <a:txBody>
                    <a:bodyPr/>
                    <a:lstStyle/>
                    <a:p>
                      <a:pPr indent="0" marL="0">
                        <a:buNone/>
                      </a:pP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it is</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it forces on the orchestrator</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Tools here</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r>
              <a:tr h="283464">
                <a:tc>
                  <a:txBody>
                    <a:bodyPr/>
                    <a:lstStyle/>
                    <a:p>
                      <a:pPr algn="ctr" indent="0" marL="0">
                        <a:buNone/>
                      </a:pPr>
                      <a:r>
                        <a:rPr lang="en-US" sz="1000" b="1" dirty="0">
                          <a:solidFill>
                            <a:srgbClr val="5E6B75"/>
                          </a:solidFill>
                          <a:latin typeface="Consolas" pitchFamily="34" charset="0"/>
                          <a:ea typeface="Consolas" pitchFamily="34" charset="-122"/>
                          <a:cs typeface="Consolas" pitchFamily="34" charset="-120"/>
                        </a:rPr>
                        <a:t>P1</a:t>
                      </a:r>
                      <a:endParaRPr lang="en-US" sz="10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GPU-node-local, in-job</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must declare a GPU — a load-time error if not</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ctr" indent="0" marL="0">
                        <a:buNone/>
                      </a:pPr>
                      <a:r>
                        <a:rPr lang="en-US" sz="1000" b="1" dirty="0">
                          <a:solidFill>
                            <a:srgbClr val="2E7D4F"/>
                          </a:solidFill>
                          <a:latin typeface="Consolas" pitchFamily="34" charset="0"/>
                          <a:ea typeface="Consolas" pitchFamily="34" charset="-122"/>
                          <a:cs typeface="Consolas" pitchFamily="34" charset="-120"/>
                        </a:rPr>
                        <a:t>7</a:t>
                      </a:r>
                      <a:endParaRPr lang="en-US" sz="10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283464">
                <a:tc>
                  <a:txBody>
                    <a:bodyPr/>
                    <a:lstStyle/>
                    <a:p>
                      <a:pPr algn="ctr" indent="0" marL="0">
                        <a:buNone/>
                      </a:pPr>
                      <a:r>
                        <a:rPr lang="en-US" sz="1000" b="1" dirty="0">
                          <a:solidFill>
                            <a:srgbClr val="5E6B75"/>
                          </a:solidFill>
                          <a:latin typeface="Consolas" pitchFamily="34" charset="0"/>
                          <a:ea typeface="Consolas" pitchFamily="34" charset="-122"/>
                          <a:cs typeface="Consolas" pitchFamily="34" charset="-120"/>
                        </a:rPr>
                        <a:t>P2</a:t>
                      </a:r>
                      <a:endParaRPr lang="en-US" sz="10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CPU-parallel fan-out, in-job</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cores, not ranks; no topology to reserve</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E7D4F"/>
                          </a:solidFill>
                          <a:latin typeface="Consolas" pitchFamily="34" charset="0"/>
                          <a:ea typeface="Consolas" pitchFamily="34" charset="-122"/>
                          <a:cs typeface="Consolas" pitchFamily="34" charset="-120"/>
                        </a:rPr>
                        <a:t>4</a:t>
                      </a:r>
                      <a:endParaRPr lang="en-US" sz="10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283464">
                <a:tc>
                  <a:txBody>
                    <a:bodyPr/>
                    <a:lstStyle/>
                    <a:p>
                      <a:pPr algn="ctr" indent="0" marL="0">
                        <a:buNone/>
                      </a:pPr>
                      <a:r>
                        <a:rPr lang="en-US" sz="1000" b="1" dirty="0">
                          <a:solidFill>
                            <a:srgbClr val="5E6B75"/>
                          </a:solidFill>
                          <a:latin typeface="Consolas" pitchFamily="34" charset="0"/>
                          <a:ea typeface="Consolas" pitchFamily="34" charset="-122"/>
                          <a:cs typeface="Consolas" pitchFamily="34" charset="-120"/>
                        </a:rPr>
                        <a:t>P3</a:t>
                      </a:r>
                      <a:endParaRPr lang="en-US" sz="10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MPI multi-node, in-job</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a reserved rank layout; no resize mid-run</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ctr" indent="0" marL="0">
                        <a:buNone/>
                      </a:pPr>
                      <a:r>
                        <a:rPr lang="en-US" sz="1000" dirty="0">
                          <a:solidFill>
                            <a:srgbClr val="C0392B"/>
                          </a:solidFill>
                          <a:latin typeface="Consolas" pitchFamily="34" charset="0"/>
                          <a:ea typeface="Consolas" pitchFamily="34" charset="-122"/>
                          <a:cs typeface="Consolas" pitchFamily="34" charset="-120"/>
                        </a:rPr>
                        <a:t>—</a:t>
                      </a:r>
                      <a:endParaRPr lang="en-US" sz="10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283464">
                <a:tc>
                  <a:txBody>
                    <a:bodyPr/>
                    <a:lstStyle/>
                    <a:p>
                      <a:pPr algn="ctr" indent="0" marL="0">
                        <a:buNone/>
                      </a:pPr>
                      <a:r>
                        <a:rPr lang="en-US" sz="1000" b="1" dirty="0">
                          <a:solidFill>
                            <a:srgbClr val="5E6B75"/>
                          </a:solidFill>
                          <a:latin typeface="Consolas" pitchFamily="34" charset="0"/>
                          <a:ea typeface="Consolas" pitchFamily="34" charset="-122"/>
                          <a:cs typeface="Consolas" pitchFamily="34" charset="-120"/>
                        </a:rPr>
                        <a:t>P4</a:t>
                      </a:r>
                      <a:endParaRPr lang="en-US" sz="10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external HPC job</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durable job state — it outlives the agent</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C0392B"/>
                          </a:solidFill>
                          <a:latin typeface="Consolas" pitchFamily="34" charset="0"/>
                          <a:ea typeface="Consolas" pitchFamily="34" charset="-122"/>
                          <a:cs typeface="Consolas" pitchFamily="34" charset="-120"/>
                        </a:rPr>
                        <a:t>—</a:t>
                      </a:r>
                      <a:endParaRPr lang="en-US" sz="10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283464">
                <a:tc>
                  <a:txBody>
                    <a:bodyPr/>
                    <a:lstStyle/>
                    <a:p>
                      <a:pPr algn="ctr" indent="0" marL="0">
                        <a:buNone/>
                      </a:pPr>
                      <a:r>
                        <a:rPr lang="en-US" sz="1000" b="1" dirty="0">
                          <a:solidFill>
                            <a:srgbClr val="5E6B75"/>
                          </a:solidFill>
                          <a:latin typeface="Consolas" pitchFamily="34" charset="0"/>
                          <a:ea typeface="Consolas" pitchFamily="34" charset="-122"/>
                          <a:cs typeface="Consolas" pitchFamily="34" charset="-120"/>
                        </a:rPr>
                        <a:t>P5</a:t>
                      </a:r>
                      <a:endParaRPr lang="en-US" sz="10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network service over HTTPS</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no local cost; quota, latency and outage</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ctr" indent="0" marL="0">
                        <a:buNone/>
                      </a:pPr>
                      <a:r>
                        <a:rPr lang="en-US" sz="1000" dirty="0">
                          <a:solidFill>
                            <a:srgbClr val="C0392B"/>
                          </a:solidFill>
                          <a:latin typeface="Consolas" pitchFamily="34" charset="0"/>
                          <a:ea typeface="Consolas" pitchFamily="34" charset="-122"/>
                          <a:cs typeface="Consolas" pitchFamily="34" charset="-120"/>
                        </a:rPr>
                        <a:t>—</a:t>
                      </a:r>
                      <a:endParaRPr lang="en-US" sz="10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283464">
                <a:tc>
                  <a:txBody>
                    <a:bodyPr/>
                    <a:lstStyle/>
                    <a:p>
                      <a:pPr algn="ctr" indent="0" marL="0">
                        <a:buNone/>
                      </a:pPr>
                      <a:r>
                        <a:rPr lang="en-US" sz="1000" b="1" dirty="0">
                          <a:solidFill>
                            <a:srgbClr val="5E6B75"/>
                          </a:solidFill>
                          <a:latin typeface="Consolas" pitchFamily="34" charset="0"/>
                          <a:ea typeface="Consolas" pitchFamily="34" charset="-122"/>
                          <a:cs typeface="Consolas" pitchFamily="34" charset="-120"/>
                        </a:rPr>
                        <a:t>P6</a:t>
                      </a:r>
                      <a:endParaRPr lang="en-US" sz="10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in-process library call</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never a scheduled node — inlined, or refused</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C0392B"/>
                          </a:solidFill>
                          <a:latin typeface="Consolas" pitchFamily="34" charset="0"/>
                          <a:ea typeface="Consolas" pitchFamily="34" charset="-122"/>
                          <a:cs typeface="Consolas" pitchFamily="34" charset="-120"/>
                        </a:rPr>
                        <a:t>—</a:t>
                      </a:r>
                      <a:endParaRPr lang="en-US" sz="10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283464">
                <a:tc>
                  <a:txBody>
                    <a:bodyPr/>
                    <a:lstStyle/>
                    <a:p>
                      <a:pPr algn="ctr" indent="0" marL="0">
                        <a:buNone/>
                      </a:pPr>
                      <a:r>
                        <a:rPr lang="en-US" sz="1000" b="1" dirty="0">
                          <a:solidFill>
                            <a:srgbClr val="5E6B75"/>
                          </a:solidFill>
                          <a:latin typeface="Consolas" pitchFamily="34" charset="0"/>
                          <a:ea typeface="Consolas" pitchFamily="34" charset="-122"/>
                          <a:cs typeface="Consolas" pitchFamily="34" charset="-120"/>
                        </a:rPr>
                        <a:t>P7</a:t>
                      </a:r>
                      <a:endParaRPr lang="en-US" sz="10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composite pipeline — an IMPRESS run</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parameterize and observe; stages not steered</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ctr" indent="0" marL="0">
                        <a:buNone/>
                      </a:pPr>
                      <a:r>
                        <a:rPr lang="en-US" sz="1000" dirty="0">
                          <a:solidFill>
                            <a:srgbClr val="C0392B"/>
                          </a:solidFill>
                          <a:latin typeface="Consolas" pitchFamily="34" charset="0"/>
                          <a:ea typeface="Consolas" pitchFamily="34" charset="-122"/>
                          <a:cs typeface="Consolas" pitchFamily="34" charset="-120"/>
                        </a:rPr>
                        <a:t>—</a:t>
                      </a:r>
                      <a:endParaRPr lang="en-US" sz="10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283464">
                <a:tc>
                  <a:txBody>
                    <a:bodyPr/>
                    <a:lstStyle/>
                    <a:p>
                      <a:pPr algn="ctr" indent="0" marL="0">
                        <a:buNone/>
                      </a:pPr>
                      <a:r>
                        <a:rPr lang="en-US" sz="1000" b="1" dirty="0">
                          <a:solidFill>
                            <a:srgbClr val="5E6B75"/>
                          </a:solidFill>
                          <a:latin typeface="Consolas" pitchFamily="34" charset="0"/>
                          <a:ea typeface="Consolas" pitchFamily="34" charset="-122"/>
                          <a:cs typeface="Consolas" pitchFamily="34" charset="-120"/>
                        </a:rPr>
                        <a:t>P8</a:t>
                      </a:r>
                      <a:endParaRPr lang="en-US" sz="10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external experiment (lab)</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303C"/>
                          </a:solidFill>
                          <a:latin typeface="Calibri" pitchFamily="34" charset="0"/>
                          <a:ea typeface="Calibri" pitchFamily="34" charset="-122"/>
                          <a:cs typeface="Calibri" pitchFamily="34" charset="-120"/>
                        </a:rPr>
                        <a:t>completes out of band, days later</a:t>
                      </a:r>
                      <a:endParaRPr lang="en-US" sz="10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C0392B"/>
                          </a:solidFill>
                          <a:latin typeface="Consolas" pitchFamily="34" charset="0"/>
                          <a:ea typeface="Consolas" pitchFamily="34" charset="-122"/>
                          <a:cs typeface="Consolas" pitchFamily="34" charset="-120"/>
                        </a:rPr>
                        <a:t>—</a:t>
                      </a:r>
                      <a:endParaRPr lang="en-US" sz="10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4370832"/>
            <a:ext cx="7616952" cy="1874520"/>
          </a:xfrm>
          <a:prstGeom prst="rect">
            <a:avLst/>
          </a:prstGeom>
          <a:solidFill>
            <a:srgbClr val="16222B"/>
          </a:solidFill>
          <a:ln w="12700">
            <a:solidFill>
              <a:srgbClr val="16222B"/>
            </a:solidFill>
            <a:prstDash val="solid"/>
          </a:ln>
        </p:spPr>
      </p:sp>
      <p:sp>
        <p:nvSpPr>
          <p:cNvPr id="7" name="Text 4"/>
          <p:cNvSpPr txBox="1"/>
          <p:nvPr/>
        </p:nvSpPr>
        <p:spPr>
          <a:xfrm>
            <a:off x="557784" y="4462272"/>
            <a:ext cx="7415784" cy="1691640"/>
          </a:xfrm>
          <a:prstGeom prst="rect">
            <a:avLst/>
          </a:prstGeom>
          <a:noFill/>
          <a:ln/>
        </p:spPr>
        <p:txBody>
          <a:bodyPr wrap="square" lIns="0" tIns="0" rIns="0" bIns="0" rtlCol="0" anchor="t"/>
          <a:lstStyle/>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class Pattern(str, Enum):      # 8 members, and only 2 rules derived from them</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def is_inline(self):   return self is Pattern.P6</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def is_external(self): return self in (Pattern.P4, Pattern.P8)</a:t>
            </a:r>
            <a:endParaRPr lang="en-US" sz="1000" dirty="0"/>
          </a:p>
          <a:p>
            <a:pPr indent="0" marL="0">
              <a:lnSpc>
                <a:spcPts val="1300"/>
              </a:lnSpc>
              <a:buNone/>
            </a:pP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stages = [t for t in intent.stages            # composer.py - P6 never a node</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if self.reg.get(t).pattern is not Pattern.P6]</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if spec.pattern is Pattern.P6:                # validate.py - gate 4 refuses one</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return ValidationFailure(gate="resource", node=tid, reason=...)</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if self.pattern is Pattern.P1 and self.resources.gpus == 0:  # spec.py - at LOAD</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raise ValueError(f"{self.id}: P1 declared but resources.gpus == 0")</a:t>
            </a:r>
            <a:endParaRPr lang="en-US" sz="1000" dirty="0"/>
          </a:p>
        </p:txBody>
      </p:sp>
      <p:sp>
        <p:nvSpPr>
          <p:cNvPr id="8" name="Text 5"/>
          <p:cNvSpPr txBox="1"/>
          <p:nvPr/>
        </p:nvSpPr>
        <p:spPr>
          <a:xfrm>
            <a:off x="457200" y="6263640"/>
            <a:ext cx="7616952" cy="182880"/>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composer.py:45 · validate.py:106 · spec.py:107  ·  EDITED — @property elided</a:t>
            </a:r>
            <a:endParaRPr lang="en-US" sz="850" dirty="0"/>
          </a:p>
        </p:txBody>
      </p:sp>
      <p:sp>
        <p:nvSpPr>
          <p:cNvPr id="9" name="Shape 6"/>
          <p:cNvSpPr/>
          <p:nvPr/>
        </p:nvSpPr>
        <p:spPr>
          <a:xfrm>
            <a:off x="8348472" y="1335024"/>
            <a:ext cx="3386023" cy="1572768"/>
          </a:xfrm>
          <a:prstGeom prst="rect">
            <a:avLst/>
          </a:prstGeom>
          <a:solidFill>
            <a:srgbClr val="EEF2F5"/>
          </a:solidFill>
          <a:ln w="12700">
            <a:solidFill>
              <a:srgbClr val="EEF2F5"/>
            </a:solidFill>
            <a:prstDash val="solid"/>
          </a:ln>
        </p:spPr>
      </p:sp>
      <p:sp>
        <p:nvSpPr>
          <p:cNvPr id="10" name="Text 7"/>
          <p:cNvSpPr txBox="1"/>
          <p:nvPr/>
        </p:nvSpPr>
        <p:spPr>
          <a:xfrm>
            <a:off x="8476488" y="1417320"/>
            <a:ext cx="3129991" cy="274320"/>
          </a:xfrm>
          <a:prstGeom prst="rect">
            <a:avLst/>
          </a:prstGeom>
          <a:noFill/>
          <a:ln/>
        </p:spPr>
        <p:txBody>
          <a:bodyPr wrap="square" lIns="0" tIns="0" rIns="0" bIns="0" rtlCol="0" anchor="t"/>
          <a:lstStyle/>
          <a:p>
            <a:pPr indent="0" marL="0">
              <a:buNone/>
            </a:pPr>
            <a:r>
              <a:rPr lang="en-US" sz="1200" b="1" dirty="0">
                <a:solidFill>
                  <a:srgbClr val="16222B"/>
                </a:solidFill>
                <a:latin typeface="Calibri" pitchFamily="34" charset="0"/>
                <a:ea typeface="Calibri" pitchFamily="34" charset="-122"/>
                <a:cs typeface="Calibri" pitchFamily="34" charset="-120"/>
              </a:rPr>
              <a:t>Organised by what it forces</a:t>
            </a:r>
            <a:endParaRPr lang="en-US" sz="1200" dirty="0"/>
          </a:p>
        </p:txBody>
      </p:sp>
      <p:sp>
        <p:nvSpPr>
          <p:cNvPr id="11" name="Text 8"/>
          <p:cNvSpPr txBox="1"/>
          <p:nvPr/>
        </p:nvSpPr>
        <p:spPr>
          <a:xfrm>
            <a:off x="8476488" y="1728216"/>
            <a:ext cx="3129991" cy="109728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2303C"/>
                </a:solidFill>
                <a:latin typeface="Calibri" pitchFamily="34" charset="0"/>
                <a:ea typeface="Calibri" pitchFamily="34" charset="-122"/>
                <a:cs typeface="Calibri" pitchFamily="34" charset="-120"/>
              </a:rPr>
              <a:t>Not by what the tool computes. A tool is P4 for where it must be submitted, not because it runs MD.</a:t>
            </a:r>
            <a:endParaRPr lang="en-US" sz="950" dirty="0"/>
          </a:p>
          <a:p>
            <a:pPr marL="342900" indent="-342900">
              <a:spcAft>
                <a:spcPts val="400"/>
              </a:spcAft>
              <a:buSzPct val="100000"/>
              <a:buChar char="•"/>
            </a:pPr>
            <a:r>
              <a:rPr lang="en-US" sz="950" dirty="0">
                <a:solidFill>
                  <a:srgbClr val="22303C"/>
                </a:solidFill>
                <a:latin typeface="Calibri" pitchFamily="34" charset="0"/>
                <a:ea typeface="Calibri" pitchFamily="34" charset="-122"/>
                <a:cs typeface="Calibri" pitchFamily="34" charset="-120"/>
              </a:rPr>
              <a:t>Which is why one generic factory serves every node: the differences that would have needed branching were settled before dispatch.</a:t>
            </a:r>
            <a:endParaRPr lang="en-US" sz="950" dirty="0"/>
          </a:p>
        </p:txBody>
      </p:sp>
      <p:sp>
        <p:nvSpPr>
          <p:cNvPr id="12" name="Shape 9"/>
          <p:cNvSpPr/>
          <p:nvPr/>
        </p:nvSpPr>
        <p:spPr>
          <a:xfrm>
            <a:off x="8348472" y="2999232"/>
            <a:ext cx="3386023" cy="1645920"/>
          </a:xfrm>
          <a:prstGeom prst="rect">
            <a:avLst/>
          </a:prstGeom>
          <a:solidFill>
            <a:srgbClr val="F9E0DD"/>
          </a:solidFill>
          <a:ln w="12700">
            <a:solidFill>
              <a:srgbClr val="F9E0DD"/>
            </a:solidFill>
            <a:prstDash val="solid"/>
          </a:ln>
        </p:spPr>
      </p:sp>
      <p:sp>
        <p:nvSpPr>
          <p:cNvPr id="13" name="Text 10"/>
          <p:cNvSpPr txBox="1"/>
          <p:nvPr/>
        </p:nvSpPr>
        <p:spPr>
          <a:xfrm>
            <a:off x="8476488" y="3081528"/>
            <a:ext cx="3129991" cy="274320"/>
          </a:xfrm>
          <a:prstGeom prst="rect">
            <a:avLst/>
          </a:prstGeom>
          <a:noFill/>
          <a:ln/>
        </p:spPr>
        <p:txBody>
          <a:bodyPr wrap="square" lIns="0" tIns="0" rIns="0" bIns="0" rtlCol="0" anchor="t"/>
          <a:lstStyle/>
          <a:p>
            <a:pPr indent="0" marL="0">
              <a:buNone/>
            </a:pPr>
            <a:r>
              <a:rPr lang="en-US" sz="1200" b="1" dirty="0">
                <a:solidFill>
                  <a:srgbClr val="C0392B"/>
                </a:solidFill>
                <a:latin typeface="Calibri" pitchFamily="34" charset="0"/>
                <a:ea typeface="Calibri" pitchFamily="34" charset="-122"/>
                <a:cs typeface="Calibri" pitchFamily="34" charset="-120"/>
              </a:rPr>
              <a:t>Two of the eight are in use</a:t>
            </a:r>
            <a:endParaRPr lang="en-US" sz="1200" dirty="0"/>
          </a:p>
        </p:txBody>
      </p:sp>
      <p:sp>
        <p:nvSpPr>
          <p:cNvPr id="14" name="Text 11"/>
          <p:cNvSpPr txBox="1"/>
          <p:nvPr/>
        </p:nvSpPr>
        <p:spPr>
          <a:xfrm>
            <a:off x="8476488" y="3392424"/>
            <a:ext cx="3129991" cy="1170432"/>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2303C"/>
                </a:solidFill>
                <a:latin typeface="Calibri" pitchFamily="34" charset="0"/>
                <a:ea typeface="Calibri" pitchFamily="34" charset="-122"/>
                <a:cs typeface="Calibri" pitchFamily="34" charset="-120"/>
              </a:rPr>
              <a:t>All 11 registered tools are P1 (7) or P2 (4). P3–P8 have no member.</a:t>
            </a:r>
            <a:endParaRPr lang="en-US" sz="950" dirty="0"/>
          </a:p>
          <a:p>
            <a:pPr marL="342900" indent="-342900">
              <a:spcAft>
                <a:spcPts val="400"/>
              </a:spcAft>
              <a:buSzPct val="100000"/>
              <a:buChar char="•"/>
            </a:pPr>
            <a:r>
              <a:rPr lang="en-US" sz="950" dirty="0">
                <a:solidFill>
                  <a:srgbClr val="22303C"/>
                </a:solidFill>
                <a:latin typeface="Calibri" pitchFamily="34" charset="0"/>
                <a:ea typeface="Calibri" pitchFamily="34" charset="-122"/>
                <a:cs typeface="Calibri" pitchFamily="34" charset="-120"/>
              </a:rPr>
              <a:t>So the P6-inline path, the P4 ledger and the P5 service path are contracts the suite asserts and no tool has taken.</a:t>
            </a:r>
            <a:endParaRPr lang="en-US" sz="950" dirty="0"/>
          </a:p>
          <a:p>
            <a:pPr marL="342900" indent="-342900">
              <a:spcAft>
                <a:spcPts val="400"/>
              </a:spcAft>
              <a:buSzPct val="100000"/>
              <a:buChar char="•"/>
            </a:pPr>
            <a:r>
              <a:rPr lang="en-US" sz="950" dirty="0">
                <a:solidFill>
                  <a:srgbClr val="22303C"/>
                </a:solidFill>
                <a:latin typeface="Calibri" pitchFamily="34" charset="0"/>
                <a:ea typeface="Calibri" pitchFamily="34" charset="-122"/>
                <a:cs typeface="Calibri" pitchFamily="34" charset="-120"/>
              </a:rPr>
              <a:t>P7 is the one reserved for a reference IMPRESS pipeline run as a single tool of ours. It has no member either — so "IMPRESS becomes one of our tools" is a contract, not a result.</a:t>
            </a:r>
            <a:endParaRPr lang="en-US" sz="950" dirty="0"/>
          </a:p>
        </p:txBody>
      </p:sp>
      <p:sp>
        <p:nvSpPr>
          <p:cNvPr id="15" name="Shape 12"/>
          <p:cNvSpPr/>
          <p:nvPr/>
        </p:nvSpPr>
        <p:spPr>
          <a:xfrm>
            <a:off x="8348472" y="4754880"/>
            <a:ext cx="3386023" cy="1645920"/>
          </a:xfrm>
          <a:prstGeom prst="rect">
            <a:avLst/>
          </a:prstGeom>
          <a:solidFill>
            <a:srgbClr val="F9E0DD"/>
          </a:solidFill>
          <a:ln w="12700">
            <a:solidFill>
              <a:srgbClr val="F9E0DD"/>
            </a:solidFill>
            <a:prstDash val="solid"/>
          </a:ln>
        </p:spPr>
      </p:sp>
      <p:sp>
        <p:nvSpPr>
          <p:cNvPr id="16" name="Text 13"/>
          <p:cNvSpPr txBox="1"/>
          <p:nvPr/>
        </p:nvSpPr>
        <p:spPr>
          <a:xfrm>
            <a:off x="8476488" y="4837176"/>
            <a:ext cx="3129991" cy="274320"/>
          </a:xfrm>
          <a:prstGeom prst="rect">
            <a:avLst/>
          </a:prstGeom>
          <a:noFill/>
          <a:ln/>
        </p:spPr>
        <p:txBody>
          <a:bodyPr wrap="square" lIns="0" tIns="0" rIns="0" bIns="0" rtlCol="0" anchor="t"/>
          <a:lstStyle/>
          <a:p>
            <a:pPr indent="0" marL="0">
              <a:buNone/>
            </a:pPr>
            <a:r>
              <a:rPr lang="en-US" sz="1200" b="1" dirty="0">
                <a:solidFill>
                  <a:srgbClr val="C0392B"/>
                </a:solidFill>
                <a:latin typeface="Calibri" pitchFamily="34" charset="0"/>
                <a:ea typeface="Calibri" pitchFamily="34" charset="-122"/>
                <a:cs typeface="Calibri" pitchFamily="34" charset="-120"/>
              </a:rPr>
              <a:t>Dispatch does not branch on it</a:t>
            </a:r>
            <a:endParaRPr lang="en-US" sz="1200" dirty="0"/>
          </a:p>
        </p:txBody>
      </p:sp>
      <p:sp>
        <p:nvSpPr>
          <p:cNvPr id="17" name="Text 14"/>
          <p:cNvSpPr txBox="1"/>
          <p:nvPr/>
        </p:nvSpPr>
        <p:spPr>
          <a:xfrm>
            <a:off x="8476488" y="5148072"/>
            <a:ext cx="3129991" cy="1170432"/>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2303C"/>
                </a:solidFill>
                <a:latin typeface="Calibri" pitchFamily="34" charset="0"/>
                <a:ea typeface="Calibri" pitchFamily="34" charset="-122"/>
                <a:cs typeface="Calibri" pitchFamily="34" charset="-120"/>
              </a:rPr>
              <a:t>The docstring says "dispatch depends on these." It does not, yet: exec/dispatch.py builds one closure per node, and exec/resources.py translates ResourceShape.</a:t>
            </a:r>
            <a:endParaRPr lang="en-US" sz="950" dirty="0"/>
          </a:p>
          <a:p>
            <a:pPr marL="342900" indent="-342900">
              <a:spcAft>
                <a:spcPts val="400"/>
              </a:spcAft>
              <a:buSzPct val="100000"/>
              <a:buChar char="•"/>
            </a:pPr>
            <a:r>
              <a:rPr lang="en-US" sz="950" dirty="0">
                <a:solidFill>
                  <a:srgbClr val="22303C"/>
                </a:solidFill>
                <a:latin typeface="Calibri" pitchFamily="34" charset="0"/>
                <a:ea typeface="Calibri" pitchFamily="34" charset="-122"/>
                <a:cs typeface="Calibri" pitchFamily="34" charset="-120"/>
              </a:rPr>
              <a:t>So every consequence is enforced at load time or by a gate — 5 sites in 3 files, none under exec/ or runtime/.</a:t>
            </a:r>
            <a:endParaRPr lang="en-US" sz="950" dirty="0"/>
          </a:p>
        </p:txBody>
      </p:sp>
      <p:sp>
        <p:nvSpPr>
          <p:cNvPr id="18" name="Text 15"/>
          <p:cNvSpPr txBox="1"/>
          <p:nvPr/>
        </p:nvSpPr>
        <p:spPr>
          <a:xfrm>
            <a:off x="457200" y="6492240"/>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Two senses of one word: a compute pattern is per tool, and is this slide; a composition pattern is a graph's shape (compose/graph.py:51) — that is what the trust ledger scores.</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BACKUP · CONTROL MODELS</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Backup — four control models over one executor</a:t>
            </a:r>
            <a:endParaRPr lang="en-US" sz="2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4552" cy="914400"/>
        </p:xfrm>
        <a:graphic>
          <a:graphicData uri="http://schemas.openxmlformats.org/drawingml/2006/table">
            <a:tbl>
              <a:tblPr/>
              <a:tblGrid>
                <a:gridCol w="457200"/>
                <a:gridCol w="2560320"/>
                <a:gridCol w="1371600"/>
                <a:gridCol w="4846320"/>
                <a:gridCol w="2039112"/>
              </a:tblGrid>
              <a:tr h="384048">
                <a:tc>
                  <a:txBody>
                    <a:bodyPr/>
                    <a:lstStyle/>
                    <a:p>
                      <a:pPr indent="0" marL="0">
                        <a:buNone/>
                      </a:pP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3B4E8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3B4E8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mode</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3B4E8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how decide() works</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3B4E8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file</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3B4E8C"/>
                    </a:solidFill>
                  </a:tcPr>
                </a:tc>
              </a:tr>
              <a:tr h="384048">
                <a:tc>
                  <a:txBody>
                    <a:bodyPr/>
                    <a:lstStyle/>
                    <a:p>
                      <a:pPr algn="ctr" indent="0" marL="0">
                        <a:buNone/>
                      </a:pPr>
                      <a:r>
                        <a:rPr lang="en-US" sz="1100" b="1" dirty="0">
                          <a:solidFill>
                            <a:srgbClr val="22303C"/>
                          </a:solidFill>
                          <a:latin typeface="Calibri" pitchFamily="34" charset="0"/>
                          <a:ea typeface="Calibri" pitchFamily="34" charset="-122"/>
                          <a:cs typeface="Calibri" pitchFamily="34" charset="-120"/>
                        </a:rPr>
                        <a:t>A</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100" dirty="0">
                          <a:solidFill>
                            <a:srgbClr val="22303C"/>
                          </a:solidFill>
                          <a:latin typeface="Calibri" pitchFamily="34" charset="0"/>
                          <a:ea typeface="Calibri" pitchFamily="34" charset="-122"/>
                          <a:cs typeface="Calibri" pitchFamily="34" charset="-120"/>
                        </a:rPr>
                        <a:t>Four-node agentic loop</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100" dirty="0">
                          <a:solidFill>
                            <a:srgbClr val="22303C"/>
                          </a:solidFill>
                          <a:latin typeface="Calibri" pitchFamily="34" charset="0"/>
                          <a:ea typeface="Calibri" pitchFamily="34" charset="-122"/>
                          <a:cs typeface="Calibri" pitchFamily="34" charset="-120"/>
                        </a:rPr>
                        <a:t>autonomous</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100" dirty="0">
                          <a:solidFill>
                            <a:srgbClr val="22303C"/>
                          </a:solidFill>
                          <a:latin typeface="Calibri" pitchFamily="34" charset="0"/>
                          <a:ea typeface="Calibri" pitchFamily="34" charset="-122"/>
                          <a:cs typeface="Calibri" pitchFamily="34" charset="-120"/>
                        </a:rPr>
                        <a:t>A LangGraph graph: hypothesize → parameterize, auditable node by node</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policy/agentic.py</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384048">
                <a:tc>
                  <a:txBody>
                    <a:bodyPr/>
                    <a:lstStyle/>
                    <a:p>
                      <a:pPr algn="ctr" indent="0" marL="0">
                        <a:buNone/>
                      </a:pPr>
                      <a:r>
                        <a:rPr lang="en-US" sz="1100" b="1" dirty="0">
                          <a:solidFill>
                            <a:srgbClr val="22303C"/>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3C"/>
                          </a:solidFill>
                          <a:latin typeface="Calibri" pitchFamily="34" charset="0"/>
                          <a:ea typeface="Calibri" pitchFamily="34" charset="-122"/>
                          <a:cs typeface="Calibri" pitchFamily="34" charset="-120"/>
                        </a:rPr>
                        <a:t>Heavyweight LLM oracle</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3C"/>
                          </a:solidFill>
                          <a:latin typeface="Calibri" pitchFamily="34" charset="0"/>
                          <a:ea typeface="Calibri" pitchFamily="34" charset="-122"/>
                          <a:cs typeface="Calibri" pitchFamily="34" charset="-120"/>
                        </a:rPr>
                        <a:t>autonomous</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3C"/>
                          </a:solidFill>
                          <a:latin typeface="Calibri" pitchFamily="34" charset="0"/>
                          <a:ea typeface="Calibri" pitchFamily="34" charset="-122"/>
                          <a:cs typeface="Calibri" pitchFamily="34" charset="-120"/>
                        </a:rPr>
                        <a:t>One structured call over rich campaign state</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policy/oracle.py</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384048">
                <a:tc>
                  <a:txBody>
                    <a:bodyPr/>
                    <a:lstStyle/>
                    <a:p>
                      <a:pPr algn="ctr" indent="0" marL="0">
                        <a:buNone/>
                      </a:pPr>
                      <a:r>
                        <a:rPr lang="en-US" sz="1100" b="1" dirty="0">
                          <a:solidFill>
                            <a:srgbClr val="22303C"/>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100" dirty="0">
                          <a:solidFill>
                            <a:srgbClr val="22303C"/>
                          </a:solidFill>
                          <a:latin typeface="Calibri" pitchFamily="34" charset="0"/>
                          <a:ea typeface="Calibri" pitchFamily="34" charset="-122"/>
                          <a:cs typeface="Calibri" pitchFamily="34" charset="-120"/>
                        </a:rPr>
                        <a:t>External caller steering</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100" dirty="0">
                          <a:solidFill>
                            <a:srgbClr val="22303C"/>
                          </a:solidFill>
                          <a:latin typeface="Calibri" pitchFamily="34" charset="0"/>
                          <a:ea typeface="Calibri" pitchFamily="34" charset="-122"/>
                          <a:cs typeface="Calibri" pitchFamily="34" charset="-120"/>
                        </a:rPr>
                        <a:t>headless</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100" dirty="0">
                          <a:solidFill>
                            <a:srgbClr val="22303C"/>
                          </a:solidFill>
                          <a:latin typeface="Calibri" pitchFamily="34" charset="0"/>
                          <a:ea typeface="Calibri" pitchFamily="34" charset="-122"/>
                          <a:cs typeface="Calibri" pitchFamily="34" charset="-120"/>
                        </a:rPr>
                        <a:t>Blocks on the control plane for a directive</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policy/external.py</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384048">
                <a:tc>
                  <a:txBody>
                    <a:bodyPr/>
                    <a:lstStyle/>
                    <a:p>
                      <a:pPr algn="ctr" indent="0" marL="0">
                        <a:buNone/>
                      </a:pPr>
                      <a:r>
                        <a:rPr lang="en-US" sz="1100" b="1" dirty="0">
                          <a:solidFill>
                            <a:srgbClr val="22303C"/>
                          </a:solidFill>
                          <a:latin typeface="Calibri" pitchFamily="34" charset="0"/>
                          <a:ea typeface="Calibri" pitchFamily="34" charset="-122"/>
                          <a:cs typeface="Calibri" pitchFamily="34" charset="-120"/>
                        </a:rPr>
                        <a:t>D</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3C"/>
                          </a:solidFill>
                          <a:latin typeface="Calibri" pitchFamily="34" charset="0"/>
                          <a:ea typeface="Calibri" pitchFamily="34" charset="-122"/>
                          <a:cs typeface="Calibri" pitchFamily="34" charset="-120"/>
                        </a:rPr>
                        <a:t>Explicit policy</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3C"/>
                          </a:solidFill>
                          <a:latin typeface="Calibri" pitchFamily="34" charset="0"/>
                          <a:ea typeface="Calibri" pitchFamily="34" charset="-122"/>
                          <a:cs typeface="Calibri" pitchFamily="34" charset="-120"/>
                        </a:rPr>
                        <a:t>autonomous</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3C"/>
                          </a:solidFill>
                          <a:latin typeface="Calibri" pitchFamily="34" charset="0"/>
                          <a:ea typeface="Calibri" pitchFamily="34" charset="-122"/>
                          <a:cs typeface="Calibri" pitchFamily="34" charset="-120"/>
                        </a:rPr>
                        <a:t>Rules, bandit, Bayesian optimization, or replay — fully reproducible</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900" dirty="0">
                          <a:solidFill>
                            <a:srgbClr val="5E6B75"/>
                          </a:solidFill>
                          <a:latin typeface="Consolas" pitchFamily="34" charset="0"/>
                          <a:ea typeface="Consolas" pitchFamily="34" charset="-122"/>
                          <a:cs typeface="Consolas" pitchFamily="34" charset="-120"/>
                        </a:rPr>
                        <a:t>policy/explicit.py</a:t>
                      </a:r>
                      <a:endParaRPr lang="en-US" sz="9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bl>
          </a:graphicData>
        </a:graphic>
      </p:graphicFrame>
      <p:sp>
        <p:nvSpPr>
          <p:cNvPr id="5" name="Shape 2"/>
          <p:cNvSpPr/>
          <p:nvPr/>
        </p:nvSpPr>
        <p:spPr>
          <a:xfrm>
            <a:off x="457200" y="3383280"/>
            <a:ext cx="5577840" cy="1463040"/>
          </a:xfrm>
          <a:prstGeom prst="rect">
            <a:avLst/>
          </a:prstGeom>
          <a:solidFill>
            <a:srgbClr val="E9EDF7"/>
          </a:solidFill>
          <a:ln w="12700">
            <a:solidFill>
              <a:srgbClr val="E9EDF7"/>
            </a:solidFill>
            <a:prstDash val="solid"/>
          </a:ln>
        </p:spPr>
      </p:sp>
      <p:sp>
        <p:nvSpPr>
          <p:cNvPr id="6" name="Text 3"/>
          <p:cNvSpPr txBox="1"/>
          <p:nvPr/>
        </p:nvSpPr>
        <p:spPr>
          <a:xfrm>
            <a:off x="585216" y="3465576"/>
            <a:ext cx="5321808" cy="274320"/>
          </a:xfrm>
          <a:prstGeom prst="rect">
            <a:avLst/>
          </a:prstGeom>
          <a:noFill/>
          <a:ln/>
        </p:spPr>
        <p:txBody>
          <a:bodyPr wrap="square" lIns="0" tIns="0" rIns="0" bIns="0" rtlCol="0" anchor="t"/>
          <a:lstStyle/>
          <a:p>
            <a:pPr indent="0" marL="0">
              <a:buNone/>
            </a:pPr>
            <a:r>
              <a:rPr lang="en-US" sz="1300" b="1" dirty="0">
                <a:solidFill>
                  <a:srgbClr val="3B4E8C"/>
                </a:solidFill>
                <a:latin typeface="Calibri" pitchFamily="34" charset="0"/>
                <a:ea typeface="Calibri" pitchFamily="34" charset="-122"/>
                <a:cs typeface="Calibri" pitchFamily="34" charset="-120"/>
              </a:rPr>
              <a:t>They compose rather than inherit</a:t>
            </a:r>
            <a:endParaRPr lang="en-US" sz="1300" dirty="0"/>
          </a:p>
        </p:txBody>
      </p:sp>
      <p:sp>
        <p:nvSpPr>
          <p:cNvPr id="7" name="Text 4"/>
          <p:cNvSpPr txBox="1"/>
          <p:nvPr/>
        </p:nvSpPr>
        <p:spPr>
          <a:xfrm>
            <a:off x="585216" y="3776472"/>
            <a:ext cx="5321808" cy="98755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RuleCorrectionsPolicy wraps any policy in an unconditional external guard; LoggingPolicy wraps any policy for provenance. Decorators, not subclasses.</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Writing a fifth is subclassing BasePolicy and implementing one method.</a:t>
            </a:r>
            <a:endParaRPr lang="en-US" sz="1050" dirty="0"/>
          </a:p>
        </p:txBody>
      </p:sp>
      <p:sp>
        <p:nvSpPr>
          <p:cNvPr id="8" name="Shape 5"/>
          <p:cNvSpPr/>
          <p:nvPr/>
        </p:nvSpPr>
        <p:spPr>
          <a:xfrm>
            <a:off x="6245352" y="3383280"/>
            <a:ext cx="5486400" cy="1463040"/>
          </a:xfrm>
          <a:prstGeom prst="rect">
            <a:avLst/>
          </a:prstGeom>
          <a:solidFill>
            <a:srgbClr val="EEF2F5"/>
          </a:solidFill>
          <a:ln w="12700">
            <a:solidFill>
              <a:srgbClr val="EEF2F5"/>
            </a:solidFill>
            <a:prstDash val="solid"/>
          </a:ln>
        </p:spPr>
      </p:sp>
      <p:sp>
        <p:nvSpPr>
          <p:cNvPr id="9" name="Text 6"/>
          <p:cNvSpPr txBox="1"/>
          <p:nvPr/>
        </p:nvSpPr>
        <p:spPr>
          <a:xfrm>
            <a:off x="6373368" y="3465576"/>
            <a:ext cx="5230368"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The claim the whole design rests on</a:t>
            </a:r>
            <a:endParaRPr lang="en-US" sz="1300" dirty="0"/>
          </a:p>
        </p:txBody>
      </p:sp>
      <p:sp>
        <p:nvSpPr>
          <p:cNvPr id="10" name="Text 7"/>
          <p:cNvSpPr txBox="1"/>
          <p:nvPr/>
        </p:nvSpPr>
        <p:spPr>
          <a:xfrm>
            <a:off x="6373368" y="3776472"/>
            <a:ext cx="5230368" cy="98755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Everything below the policy layer is byte-identical across A, B, C and D. A campaign run by a hand-written rule cascade exercises the same machinery as one steered by a frontier LLM.</a:t>
            </a:r>
            <a:endParaRPr lang="en-US" sz="1050" dirty="0"/>
          </a:p>
        </p:txBody>
      </p:sp>
      <p:sp>
        <p:nvSpPr>
          <p:cNvPr id="11" name="Shape 8"/>
          <p:cNvSpPr/>
          <p:nvPr/>
        </p:nvSpPr>
        <p:spPr>
          <a:xfrm>
            <a:off x="457200" y="5029200"/>
            <a:ext cx="11274552" cy="1371600"/>
          </a:xfrm>
          <a:prstGeom prst="rect">
            <a:avLst/>
          </a:prstGeom>
          <a:solidFill>
            <a:srgbClr val="E4F1EA"/>
          </a:solidFill>
          <a:ln w="12700">
            <a:solidFill>
              <a:srgbClr val="E4F1EA"/>
            </a:solidFill>
            <a:prstDash val="solid"/>
          </a:ln>
        </p:spPr>
      </p:sp>
      <p:sp>
        <p:nvSpPr>
          <p:cNvPr id="12" name="Text 9"/>
          <p:cNvSpPr txBox="1"/>
          <p:nvPr/>
        </p:nvSpPr>
        <p:spPr>
          <a:xfrm>
            <a:off x="585216" y="5111496"/>
            <a:ext cx="11018520" cy="274320"/>
          </a:xfrm>
          <a:prstGeom prst="rect">
            <a:avLst/>
          </a:prstGeom>
          <a:noFill/>
          <a:ln/>
        </p:spPr>
        <p:txBody>
          <a:bodyPr wrap="square" lIns="0" tIns="0" rIns="0" bIns="0" rtlCol="0" anchor="t"/>
          <a:lstStyle/>
          <a:p>
            <a:pPr indent="0" marL="0">
              <a:buNone/>
            </a:pPr>
            <a:r>
              <a:rPr lang="en-US" sz="1300" b="1" dirty="0">
                <a:solidFill>
                  <a:srgbClr val="2E7D5B"/>
                </a:solidFill>
                <a:latin typeface="Calibri" pitchFamily="34" charset="0"/>
                <a:ea typeface="Calibri" pitchFamily="34" charset="-122"/>
                <a:cs typeface="Calibri" pitchFamily="34" charset="-120"/>
              </a:rPr>
              <a:t>One editorial point, since Flowgentic's authors are here</a:t>
            </a:r>
            <a:endParaRPr lang="en-US" sz="1300" dirty="0"/>
          </a:p>
        </p:txBody>
      </p:sp>
      <p:sp>
        <p:nvSpPr>
          <p:cNvPr id="13" name="Text 10"/>
          <p:cNvSpPr txBox="1"/>
          <p:nvPr/>
        </p:nvSpPr>
        <p:spPr>
          <a:xfrm>
            <a:off x="585216" y="5422392"/>
            <a:ext cx="11018520" cy="89611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The outer loop is still ours, deliberately — it is just two coroutines now instead of one. Ceding it to a framework pushes the validation gates, the dry-run and the interlock into awkward places.</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Flowgentic's own README reaches the same conclusion: it recommends the augmented rung — the application owns the loop, agents are bound at decision points — over the fully agentic one.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IMPRESS-A: composing the pipeline instead of writing it down</dc:title>
  <dc:subject>PptxGenJS Presentation</dc:subject>
  <dc:creator>IMPRESS-A</dc:creator>
  <cp:lastModifiedBy>IMPRESS-A</cp:lastModifiedBy>
  <cp:revision>1</cp:revision>
  <dcterms:created xsi:type="dcterms:W3CDTF">2026-10-21T18:02:50Z</dcterms:created>
  <dcterms:modified xsi:type="dcterms:W3CDTF">2026-10-21T18:02:50Z</dcterms:modified>
</cp:coreProperties>
</file>