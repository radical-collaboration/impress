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Thanks. This is a code walk through IMPRESS-A's API — and the deliberate claim in the
title is that there isn't one API, there are six. An operator writes a YAML file. A tool
author writes a spec file. Someone writing a reasoner implements one method. Someone
driving a campaign from outside the allocation speaks a protocol over a socket. Those are
genuinely different surfaces with different audiences, and the reason the project is worth
half an hour of your time is what they have in common underneath: one executor that owns
all the state, and one set of gates that refuses all of them the same way.
[Point at the ring on the right.] Six callers, one engine.
Everything on these slides is derived against slides/impress-a-api-user-slides @ bf32d1d, and every number is mined from the
checkout by a script that ships beside the deck — so if you pull this branch and re-run
it, a figure that has moved will disagree with me out loud. There is one run in this deck
and it takes under three seconds on a laptop; I ran it while building these slides.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things before the content, because this room can check me and I would rather hand you
the caveats than have you find them.
The strip across the top is the loop, and I will come back to it. The one mark worth
noticing now is the back edge: this is a loop, not a pipeline, and the reasoner is not the
body of it — several experiments sit at different steps at the same time.
Left card: what actually ran to make this deck. A complete campaign on the bundled mock
toolkit, 2.8 seconds, 3 graphs composed, one of them refused, two admitted,
4 design nodes, a Pareto front of 3. That is a real campaign through the real
manager, the real composer, the real validator and the real provenance writer.
Right card, and this is the one I want you to hold onto: every stage of it was a mock. The
science is stubbed. There is one experiment in flight at a time, so I have no concurrency
measurement and no baseline to divide by. On the real chain, more than one replica has
never run — that is backlog A10 and I will show you exactly why on slide fifteen. And
nothing outside this package has ever driven a campaign: the control plane, which is the
most carefully designed surface in here, is tested and unused.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technical audience arrives with three questions and they take different evidence, so the
deck is in three acts in this order.
Functionality: what can you write against this that you could not write against a
pipeline. The evidence there is that a tool is 15 declared fields rather than a code
path, a reasoner is 3 methods, and everything either of them produces goes through the
same gates.
Performance: what the loop costs and where it serialises. I have a real end-to-end number
and a provenance record count, and I have no concurrency measurement at all.
Usability: application, platform, or component. One YAML and one command makes it an
application. 11 tools discovered at runtime from a directory makes it arguably a platform.
And the component claim is empty, which is the weak dimension and I would rather say it
now than have it extracted at minute twenty. The control plane and the remote session are
the most carefully built surfaces here — and nothing has ever driven a campaign through
them. If you want to find a real bug in this project today, that is where it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and it is the same line it has always been: observe, decide, compose, validate,
execute, analyze, update, terminate.
What changed — and this is the change that produced an API rather than a loop — is who
drives it. The manager used to *be* the loop. It called decide once per cycle and then
blocked on the graph that call asked for, which means a reasoner could never be consulted
while work was running. If you are an LLM deciding what to design next, being unreachable
for the twenty minutes your last idea takes to run is a fairly serious limitation.
Now the reasoner is its own coroutine and it calls the campaign. There are two ways to be
one. You can implement decide, answer one question at a time, and a driver plays the part
the old loop played — that is models A through D, unchanged, and it stays the auditable
default. Or you implement conduct, take the session, and drive yourself: submit five
experiments, then collect them in the order they finish.
Underneath both, the executor owns all the state and is its only writer. Note what that
means for the API: terminating is not the reasoner's decision. Budget, stagnation,
repeated failure — those are facts about state the reasoner cannot see, so the executor
decides when the campaign is over, and the reasoner finds out by being raised into.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map. Six surfaces, ordered by who writes against them rather than by module,
because a tour by module answers a question nobody asked.
An operator gets three subcommands and 6 control models. A scientist gets a YAML file with
22 fields that describes the scientific question and nothing about search strategy.
A reasoner author implements 3 methods and returns one of 4 decisions.
A reasoner — in this process or on a login node — gets 10 operations onto a live campaign.
An external caller gets 19 operations behind 15 HTTP routes. And a tool author writes a
spec file with 15 fields plus an adapter with four phases.
Those are small numbers, deliberately. The interesting part is the bottom left: all six
reach exactly one executor, one tree, one provenance log, and all six are refused the same
way. And the bottom right is why I can say that with a straight face — the layering is an
allow-list walked by a test, not a diagram in a doc. Policy may import core and nothing
else. Core imports nothing internal at all.
Act one is surfaces one, two, three and six. Act two is four. Act three is five.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slides to put both ends in one picture, because so far I have shown you parts.
Everything a caller states is on the left, and it is four things. What better means — the
objectives, which are the only definition of success anywhere in the system. What may run —
an inventory discovered from a directory, not a hard-coded pipeline. What it may spend, and
on what machine. And who decides: one of 6 shipped control models, or 3 methods of your own.
On the right is what comes back while it is running, and the first line is the one I would
defend hardest: observe returns the same object the policy's decide is handed. There is one
account of the campaign, not a dashboard view and a real view.
And you can talk back mid-flight — steer it, pause it, hand it a measurement from an assay
that finished yesterday. That measurement supersedes the prediction and never deletes it,
which is exactly why the front can move backwards.
The line at the bottom is the contract. The caller never names a task or a tool parameter.
The engine never invents an objective or a budget.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this is the other side: what the system does with the gap between what you asked for
and processes running on nodes.
Seven stages. The intent arrives abstract — a goal, stages, parameters — and the first
thing that happens is the campaign's own parameters are merged BENEATH the policy's, so a
policy never has to learn a tool's parameter names. Replicas is a cap, not a default.
Compose turns the stage list into typed nodes. Admit is the five gates, the cost cap and a
dry run. Parameterize is where the layering earns itself: spec defaults, then campaign
params, then policy params, and frozen parameters beat all three.
Deploy is one generic factory for every node in every graph, and the detail I like is that
asyncflow reads a task's name from fn dunder name, so the factory sets it to the node id.
Then the engine, with the backend resolved by name from site config, and then real
processes.
Two things in the cards. Resource shapes are not portable — RADICAL wants ranks, Dragon
wants process templates — so that translation is ours to own. And the two asyncflow
idioms: an unawaited future passed as an argument is a DAG edge; gather is for independent
work. Those are not interchangeable, and mixing them up is how you get a graph that runs in
the wrong order.
The return path is the band in the middle, and the thing to notice is that the gates run on
the way OUT of a node.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one: functionality. Not features — tasks. What can you write against this that you
could not write against a pipeline?
Three claims. A tool is a declaration rather than a code path. A policy emits abstract
intent and never a DAG. And composition is free because refusal is cheap.
The weak one, before the act rather than after it: every toolkit that exists is one of the
4 real stages of a single chain, plus the mocks. Nobody outside this package has ever
written either a toolkit or a policy, so "it is easy to add one" is a claim about the shape
of the interface and not about anyone's experience.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Surfaces one and two are the ones a human touches, and the interesting thing about them is
what they refuse to contain.
On the left is a real campaign file, trimmed. Six stages named by tool id. Per-tool
parameters: the ligand SMILES, the contig spec, the diffusion step count. Four replicas —
and that means four independent lineages, four design nodes, not four samples inside one
tool. And the objectives, with directions and floors.
What is deliberately not in this file is how to explore. There is no threshold schedule, no
retry policy, no fan-out rule. Those belong to whichever reasoner you launched. The file
says what the campaign is about; the policy says what to try next. That split is the
reason you can run the same scientific question under four different control models and
compare them, which is the whole experiment this project exists to run.
Small detail that cost a real debugging session: a relative path in here resolves against
the YAML's own directory, not the working directory, because the launcher cds into a
per-job directory before loading the spec.
On the right: three subcommands. And the one worth noticing is preflight, which I will
come back to in act three, because it is the surface that respects that an allocation costs
money.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three. If you want to write a reasoner, this is the whole contract: three methods
and four possible answers.
decide takes an observation and returns a decision. interpret is the hook for when reading
a result is itself a judgement call — it defaults to None, because deterministic metric
extraction by the task agents is the normal case. And on_rejected is mandatory: if your
graph is refused, you get the structured reason and another attempt.
Four decisions. Run this experiment. Branch from an earlier node. Stop and ask a human.
Done.
Two absences are deliberate and both are API design rather than implementation. conduct is
not a member of this Protocol even though it is the other way to be a reasoner — adding it
would break every existing policy, and because the Protocol is runtime_checkable its
membership list is load-bearing for anyone doing an isinstance check. And there is no
"await" decision: waiting is something the reasoner does by calling result, not something
it asks the loop to do on its behalf. One control-flow vocabulary, not two.
On the right, the four shipped models, and the reason a fifth is cheap: subclass BasePolicy
and implement one method. They also compose — the CLI wraps whatever you chose in a
corrections guard by default, which is why the run in this deck reported its policy as
"rulecorrectionspolicy of threshold".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seam I would defend hardest, so it gets its own slide.
A policy returns an ExperimentIntent. Look at what is in it: a goal in words, an optional
toolkit hint, an ordered list of tool ids, a parameter bag, a parent node, and a replica
count. That is abstract. It is not a DAG. Turning it into a typed graph with N lineages,
resolving the ports, type-checking the hops — that is the engine's job.
And the parameter bag is merged, not authoritative: the campaign's own params go underneath
whatever the policy asked for, so the policy always wins on a key it actually set, and gets
the ligand and the contig for free on every key it did not. The consequence is that no
policy in this package names a single tool parameter. None of them knows that boltz_predict
takes a ligand_smiles.
That is what makes the control models swappable rather than nominally pluggable, and it is
backed by the import rule: policy may import core and nothing else, enforced by a test.
The cost, on the right in red: a policy can only ask for things the composer can build out
of an ordered stage list. So "free graph composition" is free within one topology family,
and every graph in this deck's run was the same four-tool chain at two different widths.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six, and this is the one I would most like someone in this room to use in anger.
A tool is a YAML file. This is RFD3, trimmed. It declares an id, a toolkit, a compute
pattern — P1 means GPU-node-local and in-job — a dotted path to the adapter class, a
resource shape, typed output ports, parameters with ranges and a note on what each one
trades, the metrics it promises to report, its QC gates, and a cost model.
Four consumers read this one file — composer, validator, budget guard, task agent — which
is why it is declarative: a scientist can review a tool in a pull request without reading
Python.
Bottom left is what earns the design. Loading a toolkit validates it: a default outside its
own range, a gate nobody implemented, a missing SKILL.md section — all load-time errors. And
a toolkit that fails anywhere registers nothing, so an RFD3 container problem cannot take
PyRosetta down with it.
Bottom right, and this is the sharpest rule in the project: an acceptance threshold must
never be the only thing that notices a value is missing. That is how a fabricated zero
passes for a measurement. So the spec will refuse to load if you put a threshold on a
metric that no integrity gate promises to report.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other half of surface six is the adapter, and it has four phases.
pre_process can rewrite the request. parameterize resolves the declared defaults, refuses
anything frozen or out of range, and — this one matters — draws this lineage's seed if the
tool declares one, which is what makes four replicas four independent samples rather than
four copies of one design. run is the phase an adapter author actually writes.
And post_process extracts the metrics and enforces the gates. That docstring says "never
skippable" and it means it: there is no path from a tool's output into campaign state that
does not go through the spec's gates.
The box on the right in red is __call__, which runs those four in order and is deliberately
not overridable — and note the name: the module docstring still says execute, and
the file has no such method. Pattern
dispatch belongs to the execution layer. An adapter that scheduled its own work would
bypass the rule that P6 is inlined and P4 gets a durable ledger entry, which is exactly
the kind of thing that works fine until it doesn't.
Bottom right is the reason any of this exists. Scientific tools fail silently far more often
than they crash. An empty output directory, a FASTA header the parser didn't recognise, a
relax that diverged — all of those exit zero. 20 fixtures ship with the toolkits and
11 of them are recorded failures kept as tests. A node that fails a gate is never
rankable, whatever its scores say.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Composition is free; this is what makes it affordable.
Five gates, in order, before anything executes. Types — and the type lattice is scientific,
not file-format based, so handing a monomer to an interface scorer is a type error at
composition time. Structure: cycles, orphans, an in-process tool that should have been
inlined. Parameters. Resources against what the site actually has. Budget against the
ledger. Then a dry run in which every task agent parameterizes and nothing executes.
The field I want to point at is top right: transient. It is true when the graph is fine and
only the moment is wrong. Gates one through five are deterministic properties of the graph
and are never transient — the interlock's cost cap is. Without that distinction a policy
answers resource contention by dropping replicas and truncating stages, which reads from
the outside as the policy quietly degrading itself.
And here is that happening for real, in the run that built this deck. The policy asked for
3 lineages, 12 tasks. The interlock refused it as transient:
"provisional pattern capped at 10% of available cpu_hours (1.500 &gt; 1.200)". The policy came back with 2 lineages and 8
tasks, and that was admitted — twice.
Bottom right, honestly: that is not the interlock being clever, and it is the exact
mechanism that backlog A10 says will bite on the real chain. More on that in act two.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two: performance. And I want to be careful here, because systems vocabulary makes
everything sound measured.
Three claims. The reasoner is no longer the loop body, which is an architectural claim with
an API consequence. Refusal is measurably cheap — the refused graph and its replacement were
composed inside the same millisecond. And the steady-state cost of a cycle is small: 71
milliseconds for the second cycle against 1.09 seconds for the first, and the whole
difference is engine construction happening once.
The caveat, up front: there is no concurrent run in this deck and no serial baseline, so
none of those numbers divides into a speedup. And every stage was a mock, so what I have
timed is the engine — compose, validate, dispatch, absorb — and never the science.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four, and this is the one the architecture turns on.
Left lane is yours: a coroutine. You submit as many experiments as you like and then
collect them with as_completed, which yields them in the order they finish rather than the
order you asked. Right lane is ours: admit through the gates, dispatch, reap, absorb into
the tree, and decide when the campaign is over.
Look at what crosses in the middle, because those labels are the API. An observation goes
both ways — and it is the same object a policy's decide receives, which is ADR 0007: parity
of evidence, not a progress bar. An intent goes forward and a run id comes back, or an
exception does, synchronously, in the same breath as the request. A run outcome comes back
when the run finishes. And a node id goes forward for a backtrack, which is non-destructive
because the tree is append-only.
Two properties are deliberate. Everything on this interface is serializable — nothing live
crosses it — which is what makes a reasoner on a login node talking to an executor inside a
batch allocation possible at all. And the whole thing is typed in core, because a policy may
import core and nothing else, so if the session had been typed anywhere else the seam would
have rotted on the first commit.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real measurement in the deck, and it is small on purpose: one variable,
which cycle.
The campaign times itself — every provenance record carries a timestamp, so these offsets
are measured rather than instrumented in by me. Cycle one, from composed to dispatched,
1.09 seconds. Cycle two, 69 milliseconds. The entire difference is
building the execution engine, which happens once.
So the steady-state cost of going round this loop — compose a graph, type-check it, run it
through five gates and a dry run, dispatch four mock tasks across two lineages, absorb the
results, re-rank the Pareto front, write the provenance — is about 69 milliseconds.
Now the units, because this is where overclaiming is easy. The campaign's own span is
1.17 seconds. The process took 2.8. So about 1.6 seconds is Python interpreter
startup and imports, outside the loop entirely — which, if you care about cycle latency on
a cluster, is the number that will annoy you first.
And the denominators, on the right: one host, one experiment in flight, two lineages, four
mock tasks each. I varied nothing. This is a latency figure for the engine. It is not a
throughput result and it is not a scaling result, and I have neither.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slide that makes the act honest, and it is two lists.
On the left, everything I measured, with where each number came from — and the one worth
naming is that two lineages absorb as two distinct nodes with distinct metrics, which is the
cheap half of the independence invariant.
On the right in red, written as refusals rather than apologies. I have no concurrent run,
so the single thing the session API exists for is unmeasured. I have no serial baseline, so
nothing on the left divides into a speedup. Every stage was a mock, so there is no
science-per-GPU-hour number here of any kind. One backend. On the real chain, more than
one replica has never run. And the last bullet is the one I would lead with if I had to pick:
neither of the two levers that actually move the science has been measured on this engine.
The dark box is the part I would actually argue about over coffee. Four lineages do not buy
four times the chance of a good design. The acceptance rate across this project's real runs
is about thirty-one percent and nothing in this engine improves it. What the engine controls
is how many draws you can afford, and whether you can tell a bad draw from a broken tool.
Which means the interesting figure is not tasks per hour. It is how few GPU-hours it takes
to learn that a workflow shape is not worth running again. That is what the interlock is
for, and it is two slides from now.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slide the performance act does not otherwise have, and every number on it was
measured by somebody else's code — which is the point.
Top table: one policy, held fixed, five runs at one, two, four, six and eight pipelines per
GPU. Packing alone is worth five and a half times on backbones per node-hour. No
decision-making changed.
Bottom table: four decision layers at one hour, all at one pipeline per GPU. The best
reaches 6.35 high-quality folds per GPU-hour, where that same router reaches 2.13 at k=1 and
10.88 at k=8. So the decision layer is worth about three times at matched packing, packing
about five times at a matched decision layer, and nobody has run both.
Then the red box, which is the finding I would defend hardest. Qwen3.5-122B gets 2.88
passing folds per GPU-hour; the scripted route, with no model in it, gets 12.12. The spread
across four models is bigger than the gap between having a model and not having one. So
"agentic" predicts nothing — model identity does.
And this engine has measured neither lever. Replicas IS the packing lever, and it has never
exceeded one on the real chain.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my favourite mechanism in the project and it has a seam in it, so you get both.
The rule: a shape nobody has run before is neither blocked nor trusted. Cost-capped at ten
percent of budget, forced dry run, every node marked suspect however good the scores.
Promotes after three clean runs, demotes on one. And a design that merely scores badly is
not evidence against the workflow — that is decision 0013, and it is the right distinction.
Now the table. In this run there are two pattern signatures, and they are the same four-tool
chain — one composed at three lineages, one at two. Two widths, two patterns.
And that is not what the function says it does. The docstring says shape only: tool ids plus
typed edges, with parameter values excluded deliberately so that changing a parameter cannot
reset accumulated trust. But look at the loop: it emits one entry per node. A three-lineage
graph contributes three copies of every hop, so it hashes differently. Replica width is in
the signature by construction rather than by decision.
Why that bites: to run the four-lineage independence check that this project actually needs,
you must first earn trust at four lineages, because trust at one does not transfer. Backlog
A10 already names this, so it is a known cost rather than something I found this morning —
but it is the clearest example I have of a design rule and its implementation disagreeing
quietly.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three: usability. Not the user interface — the use cases. Is this an application, a
platform, or a component?
As an application I think it is genuinely strong: one file, one command, and a preflight
step that exists because an allocation costs money.
As a platform it is arguable in the honest sense: tools are discovered at runtime from a
directory, and an environment variable points it at yours without touching the package. The
interface is there. Nobody has used it.
As a component it is empty, and that is the weak claim I promised you in the first three
minutes. Nineteen control-plane operations, a remote session that implements the reasoner's
own protocol over a socket, and no caller.
And the specific thing I would fix first: launching model C with nothing attached to steer
it does not block and does not fail. It falls back to model D after five seconds. So the
headless mode can silently become the explicit-policy mode, and the only sign is a line in
the log.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whole thing from where a user sits, and it is deliberately the least technical
slide in the deck.
You write one file. About twenty lines: what you want, what you are willing to spend, how
you will know it worked, and which tools you trust. Then you run preflight on the login
node, because finding out that an environment variable is missing is free there and costs
you an allocation inside the queue.
Then you submit it and stop watching. That is the part that is different. There is no step
list to babysit.
While you were not watching, this run asked for 3 lineages, had that refused on cost by
its own interlock, came back with 2, and was admitted. Nobody was woken up. It stopped
because it reached the front size it was told to reach, and it says so in those words.
And what lands on disk is one directory you can hand to somebody else — including whether
the checkout was dirty when it started.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system that refuses you is only pleasant to use if the refusal tells you what to change,
and there are three places this one can refuse.
Before the queue: preflight, on the login node, where fixing it is free.
Before anything runs: five gates and then the interlock, which is what happened in this
deck's own campaign. The message names the cap, the number and the unit, and it is marked
transient — which is the part that matters, because transient means "ask me for less",
not "give up". The policy recomposed and was admitted.
After a tool succeeds: QC. These tools fail silently. A tool can exit zero, report
confident numbers, and have produced a noodle, so exit code is never the evidence.
And then the honest one, in red. There is a place where it does not refuse loudly: when
inflated cost estimates make a graph too expensive, the policy can quietly hand back a
smaller graph that no longer produces the objective you launched for. That ran on real
hardware. It warns now. A warning is not a gate.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slide in the deck with figures I did not mine from this checkout, and I
want to be exact about where it came from and what it is.
On the twenty-second, two jobs went in together: four hours, one node, four pipelines, the
same inputs and the same thresholds. One arm was the reference pipeline's state machine.
The other was an LLM holding the same eight tools. Everything below the decision layer is
identical by construction.
Throughput came out equal, which is the result I least expected: the model's round trip
costs nothing measurable against GPU work. The funnel was not equal — three times the
passing designs, from fewer sequence tasks.
Now the red box, and both of these caveats got worse with the newer analysis, not better.
The first used to say the reference arm looked weak. It is now measured: with the decision
layer held fixed, the reference pipeline's own fastrelax pass rate fell from sixty-three
point six percent to forty-nine point four over sixteen days, and standardising for binder
length explains only one point three of those fourteen points. So the baseline this arm is
three times better than was itself degrading. Do not quote the three-point-three.
The second used to say the fastrelax gap was unexplained. It is now partly explained, and
not in the model's favour. The agentic harness pack-minimises before relaxing and the
reference harness never does — zero of five thousand and two decoys across fourteen runs,
while the scripted route pack-minimises forty-eight times out of forty-eight and has no
model in it at all. That gap belongs to the two examples' tooling, not to the decision
layer.
And the thing to hold on to: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 what does a four-hour run of somebody else's code tell you about these six surfaces?
Four things. The round trip being free is the premise this whole design rests on, and it
now has a number against it — next door, on real tools, not here.
The second one is the interesting one. The model skipped the cheap gate before the
expensive fold, repeatedly. That is not a criticism of the model; it is the reason this
engine refuses on cost before anything runs rather than trusting the reasoner to be
disciplined. A policy here cannot even name a tool parameter.
Third, the honest one: a work directory the container could not see produced empty outputs,
and the model correctly concluded its own designs kept failing. An environmental failure
that reads exactly like a reasoning failure. That is the class of thing preflight exists
for, and preflight would not have caught this one.
Fourth, and I have had to correct this one: the model CAN be served inside the allocation,
and it is not free. A second node that runs no pipeline, and twenty-seven percent of a
one-hour allocation gone before the first task event while a seventy-two-billion-parameter
model comes up. Charged honestly that is 0.243 GPU-hours per passing fold, not 0.121 — an
argument for in-allocation serving on long campaigns and against it on short ones. Still
what model C's endpoint could be, if model C stopped silently falling back.
And then the red line, which I would rather say than have asked: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Three runs next door are kept as evidence rather than as measurements, and each asks a
different surface of this package a question.
The first should worry you. The client dropped a field the endpoint requires, so all four
pipelines fell back to the scripted route on turn two and ran the rest of the hour with no
model in them — forty-six relaxes, thirty-five passing folds, and a transcript that reads
completely healthy, because that is what the scripted route looks like. What would IMPRESS-A
catch? Nothing. The gates check artifacts, not who chose them.
The second: every backbone write went into a container overlay and vanished. Gate one
catches the empty result — as a science failure. The interlock then counts that against the
pattern's trust, so a broken container bind quietly demotes a perfectly good workflow shape.
That is a real finding about this code, and it is on the slide rather than fixed, because a
fix is its own change.
The third cost nine seconds: a pre-flight found a missing API key and aborted before
claiming the GPUs. That is the one class preflight here covers.
One of three. And the lesson generalises: a harness that degrades into a WORKING fallback
produces plausible output at full rate, and nothing but an explicit flag distinguishes it.
This engine records which policy ran and every artifact it produced, and nowhere records
that the policy stopped being the policy.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an application, the thing I would point at is not the run command — it is preflight.
Every real adapter in this project raises on a missing environment variable. But it raises
once a task is already running, which on HPC means inside the allocation, after the queue
wait. So preflight runs the same checks on the login node, where repairing them is free and
there is still internet.
The detail worth stealing is the third state. None means undetermined, not failed. Several
probes shell out to import a heavy science stack and can take minutes on a loaded login
node; report that as FAIL and you have trained the reader to ignore the FAIL column.
And the rule that holds it together: None is only ever for a probe that produced no answer.
A missing MPNN_DIR is a FAIL forever. A pyrosetta import error is a FAIL. A pyrosetta
timeout is undetermined. The moment "warn" starts meaning "a failure we would rather not
block on", the column is decoration.
What it has caught: a venv on spinning disk instead of NVMe, which works perfectly, about
eight times slower, and shows up inside an allocation as an unexplained task timeout.
And every job writes one directory you can hand to someone else — including the git sha and
whether the checkout was dirty.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five is the one an external caller sees, and it is the one I would most like
someone to attack.
One protocol. In-process and HTTP are adapters over it, and the rule — ADR 0007 — is that no
adapter may offer an operation the others do not. 19 operations, 15 route heads, and the
routes are a mechanical rendering of the Protocol, which is why the mining script counts
both and puts them next to each other: if they drift, the slide is wrong out loud.
Four semantics in that table are not the transport's invention. Admission is synchronous:
202 with a run id, or 409 carrying the structured failure that refused it. Waiting is a long
poll with three honest answers: here it is, ask again, or the campaign ended and the answer
is never coming. Observe returns the same object a policy's decide receives. And a
measurement can arrive after the campaign is over, because the campaign record is
append-only and outlives execution.
On the right: RemoteSession implements the reasoner's own protocol over this plane, which
means the sequential driver and an unmodified threshold policy run against a socket exactly
as they run in memory. That is the test that the seam is real.
And the honest box at the bottom right: this is not a public-facing server. No auth, no TLS.
The module's own docstring says bind it to loopback. That is fine today because nothing uses
it, and it is the first thing that has to change when something does.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Last content slide, and it is the one that makes everything I have claimed checkable.
Ten layers. Each row shows what that layer may import, and the red column shows the edges
that are forbidden. This is not a diagram in a document — it is a table in a test that walks
the source with ast and fails the suite on any edge that is not in the list.
Three of these are load-bearing. Policy may not reach tools or exec: if it could, a policy
would stop emitting abstract intent and start invoking tools, and the control models would
stop being swappable. Compose may not reach exec: that single absence is what makes the
entire validation path testable with no backend, which is the whole laptop test tier. And
core imports nothing internal, which is what keeps the serializable seam honest.
Two details I like. It walks the ast rather than scanning module-level imports, because the
adapters defer their heavy science imports into run bodies on purpose — so a deferred import
of exec inside a compose function is caught too. And it is an allow-list, so a new
cross-layer import fails by default: the contract cannot rot by addition.
One honest blind spot, which the test's own docstring names: a dynamic importlib call is
invisible to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Status, three columns, and the format is the argument: three things that run and three that
do not, per dimension, deliberately the same length.
Functionality runs: six surfaces exercised, loading validates, and refuse-and-retry was
observed in a real run rather than asserted. Functionality does not: one topology family,
no third-party author, and the calibration machinery — a measurement superseding a
prediction, the one capability a composed graph has that a written-down one does not — has
never been exercised.
Performance runs: engine latency is measured, both ends of the backend lifecycle are
bounded, and the provenance log is complete enough to time the campaign from outside.
Performance does not: no concurrency measurement, no baseline, the real chain has only ever
run one lineage, and neither of the two levers that move the science has been measured on
this engine.
Usability runs: one YAML and one command, runtime toolkit discovery, two transports tested
against each other. Usability does not: nothing external drives it, a fallback leaves no
record anywhere, and there is no serve command.
The red column is not a to-do list. It is the list of things you should not believe from
this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rather end on the questions than on a summary, and they are grouped by what each one
costs. The left column costs a wrong answer or real time. The right column costs whoever
adopts this next.
One. Should the pattern signature normalise replica width? It is documented as shape-only
and deliberately excludes parameter values, but it emits one entry per node, so width is in
the hash. Fixing it makes trust transfer across widths. It also weakens the argument that a
wide run is genuinely a new shape, which may be the right argument. I do not know which.
Two. Should a streak of acceptance failures demote a pattern? Trust counts integrity only,
which is the right rule — but a tool emitting well-formed, uselessly-scored output promotes
after three runs.
Three. Should shrink-on-transient live in the base class? Today the default is Stop and
every policy re-implements shrinking, and that is exactly where a four-lineage independence
check quietly becomes a three-lineage one.
Four. Is loopback-only permanent for the control plane?
Five. Should a fallback be a first-class flag rather than a log line? Model C with no
caller falls back to D after five seconds. Next door, the same shape ran two hundred and
eighty-four of two hundred and eighty-eight turns with no model in it and looked healthy.
Six. Should the CLI's policy imports be lazy? Listing tools currently pays for langgraph,
and about 1.6 seconds of this deck's run was startup outside the loop.
Thank you — and the fastest way to disagree with any of this is to pull the branch and run
the mining script.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Backup slide, if someone asks about the pattern taxonomy. Eight patterns, organised by what
they imply for scheduling rather than by what the tool computes. Two are used: P1 for the
GPU stages and P2 for the Rosetta fan-out. P6 is the interesting one — in-process, and it
must never be scheduled; the composer inlines it, so a scheduled P6 is a bug and not a slow
path. P4 and P8 are the two that outlive the agent and therefore need a durable ledger
entry, and P8 is forward-declared for a wet-lab measurement arriving after the campaign has
ended.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Second backup: the type lattice. Twelve scientific types rather than file formats, and the
reason is gate one. If these were .pdb and .json, the type gate could only check that a file
exists — and the composer could not refuse a graph that is structurally fine and
scientifically meaningless.
Two distinctions do most of the work. Small molecule versus parameterized, so an
unparameterised ligand reaching a force field is a type error at composition time rather
than silent corruption. And backbone versus complex, so an interface scorer cannot be handed
a monomer. Note the asymmetry in unifies_with: a complex satisfies a backbone requirement
because it contains one, and not the reverse.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822960"/>
            <a:ext cx="658368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CODE WALK · THE API SURFACES AND THE CAMPAIGN LOOP</a:t>
            </a:r>
            <a:endParaRPr lang="en-US" sz="1200" dirty="0"/>
          </a:p>
        </p:txBody>
      </p:sp>
      <p:sp>
        <p:nvSpPr>
          <p:cNvPr id="3" name="Text 1"/>
          <p:cNvSpPr txBox="1"/>
          <p:nvPr/>
        </p:nvSpPr>
        <p:spPr>
          <a:xfrm>
            <a:off x="457200" y="1188720"/>
            <a:ext cx="603504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Six APIs, one engine</a:t>
            </a:r>
            <a:endParaRPr lang="en-US" sz="4000" dirty="0"/>
          </a:p>
        </p:txBody>
      </p:sp>
      <p:sp>
        <p:nvSpPr>
          <p:cNvPr id="4" name="Text 2"/>
          <p:cNvSpPr txBox="1"/>
          <p:nvPr/>
        </p:nvSpPr>
        <p:spPr>
          <a:xfrm>
            <a:off x="457200" y="2697480"/>
            <a:ext cx="5943600" cy="868680"/>
          </a:xfrm>
          <a:prstGeom prst="rect">
            <a:avLst/>
          </a:prstGeom>
          <a:noFill/>
          <a:ln/>
        </p:spPr>
        <p:txBody>
          <a:bodyPr wrap="square" lIns="0" tIns="0" rIns="0" bIns="0" rtlCol="0" anchor="t"/>
          <a:lstStyle/>
          <a:p>
            <a:pPr indent="0" marL="0">
              <a:buNone/>
            </a:pPr>
            <a:r>
              <a:rPr lang="en-US" sz="1500" dirty="0">
                <a:solidFill>
                  <a:srgbClr val="C8D4DD"/>
                </a:solidFill>
                <a:latin typeface="Calibri" pitchFamily="34" charset="0"/>
                <a:ea typeface="Calibri" pitchFamily="34" charset="-122"/>
                <a:cs typeface="Calibri" pitchFamily="34" charset="-120"/>
              </a:rPr>
              <a:t>A policy, a tool and an external caller write against three different surfaces — and are admitted through one set of gates.</a:t>
            </a:r>
            <a:endParaRPr lang="en-US" sz="1500" dirty="0"/>
          </a:p>
        </p:txBody>
      </p:sp>
      <p:sp>
        <p:nvSpPr>
          <p:cNvPr id="5" name="Text 3"/>
          <p:cNvSpPr txBox="1"/>
          <p:nvPr/>
        </p:nvSpPr>
        <p:spPr>
          <a:xfrm>
            <a:off x="457200" y="3749040"/>
            <a:ext cx="6035040" cy="36576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11 tools</a:t>
            </a:r>
            <a:pPr indent="0" marL="0">
              <a:buNone/>
            </a:pPr>
            <a:r>
              <a:rPr lang="en-US" sz="1300" dirty="0">
                <a:solidFill>
                  <a:srgbClr val="C8D4DD"/>
                </a:solidFill>
                <a:latin typeface="Calibri" pitchFamily="34" charset="0"/>
                <a:ea typeface="Calibri" pitchFamily="34" charset="-122"/>
                <a:cs typeface="Calibri" pitchFamily="34" charset="-120"/>
              </a:rPr>
              <a:t> in </a:t>
            </a:r>
            <a:pPr indent="0" marL="0">
              <a:buNone/>
            </a:pPr>
            <a:r>
              <a:rPr lang="en-US" sz="1300" b="1" dirty="0">
                <a:solidFill>
                  <a:srgbClr val="F0C898"/>
                </a:solidFill>
                <a:latin typeface="Calibri" pitchFamily="34" charset="0"/>
                <a:ea typeface="Calibri" pitchFamily="34" charset="-122"/>
                <a:cs typeface="Calibri" pitchFamily="34" charset="-120"/>
              </a:rPr>
              <a:t>5 toolkits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10 session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19 control-plane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168 tests</a:t>
            </a:r>
            <a:endParaRPr lang="en-US" sz="1300" dirty="0"/>
          </a:p>
        </p:txBody>
      </p:sp>
      <p:sp>
        <p:nvSpPr>
          <p:cNvPr id="6" name="Text 4"/>
          <p:cNvSpPr txBox="1"/>
          <p:nvPr/>
        </p:nvSpPr>
        <p:spPr>
          <a:xfrm>
            <a:off x="457200" y="4206240"/>
            <a:ext cx="6035040" cy="27432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Derived against slides/impress-a-api-user-slides @ bf32d1d · every figure mined by slides/api/run_model.py, except the live runs on 21-22, which are transcribed and say so</a:t>
            </a:r>
            <a:endParaRPr lang="en-US" sz="1100" dirty="0"/>
          </a:p>
        </p:txBody>
      </p:sp>
      <p:sp>
        <p:nvSpPr>
          <p:cNvPr id="7" name="Text 5"/>
          <p:cNvSpPr txBox="1"/>
          <p:nvPr/>
        </p:nvSpPr>
        <p:spPr>
          <a:xfrm>
            <a:off x="6675120" y="914400"/>
            <a:ext cx="5029200" cy="228600"/>
          </a:xfrm>
          <a:prstGeom prst="rect">
            <a:avLst/>
          </a:prstGeom>
          <a:noFill/>
          <a:ln/>
        </p:spPr>
        <p:txBody>
          <a:bodyPr wrap="square" lIns="0" tIns="0" rIns="0" bIns="0" rtlCol="0" anchor="t"/>
          <a:lstStyle/>
          <a:p>
            <a:pPr algn="ctr" indent="0" marL="0">
              <a:buNone/>
            </a:pPr>
            <a:r>
              <a:rPr lang="en-US" sz="1000" b="1" spc="150" kern="0" dirty="0">
                <a:solidFill>
                  <a:srgbClr val="5E6B75"/>
                </a:solidFill>
                <a:latin typeface="Calibri" pitchFamily="34" charset="0"/>
                <a:ea typeface="Calibri" pitchFamily="34" charset="-122"/>
                <a:cs typeface="Calibri" pitchFamily="34" charset="-120"/>
              </a:rPr>
              <a:t>WHO WRITES AGAINST WHAT</a:t>
            </a:r>
            <a:endParaRPr lang="en-US" sz="1000" dirty="0"/>
          </a:p>
        </p:txBody>
      </p:sp>
      <p:sp>
        <p:nvSpPr>
          <p:cNvPr id="8" name="Shape 6"/>
          <p:cNvSpPr/>
          <p:nvPr/>
        </p:nvSpPr>
        <p:spPr>
          <a:xfrm>
            <a:off x="6675120" y="1280160"/>
            <a:ext cx="2423160" cy="566928"/>
          </a:xfrm>
          <a:prstGeom prst="roundRect">
            <a:avLst>
              <a:gd name="adj" fmla="val 12903"/>
            </a:avLst>
          </a:prstGeom>
          <a:solidFill>
            <a:srgbClr val="1E2A33"/>
          </a:solidFill>
          <a:ln w="19050">
            <a:solidFill>
              <a:srgbClr val="D9731A"/>
            </a:solidFill>
            <a:prstDash val="solid"/>
          </a:ln>
        </p:spPr>
      </p:sp>
      <p:sp>
        <p:nvSpPr>
          <p:cNvPr id="9" name="Text 7"/>
          <p:cNvSpPr txBox="1"/>
          <p:nvPr/>
        </p:nvSpPr>
        <p:spPr>
          <a:xfrm>
            <a:off x="674827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CLI</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operator</a:t>
            </a:r>
            <a:endParaRPr lang="en-US" sz="1400" dirty="0"/>
          </a:p>
        </p:txBody>
      </p:sp>
      <p:sp>
        <p:nvSpPr>
          <p:cNvPr id="10" name="Shape 8"/>
          <p:cNvSpPr/>
          <p:nvPr/>
        </p:nvSpPr>
        <p:spPr>
          <a:xfrm>
            <a:off x="9281160" y="1280160"/>
            <a:ext cx="2423160" cy="566928"/>
          </a:xfrm>
          <a:prstGeom prst="roundRect">
            <a:avLst>
              <a:gd name="adj" fmla="val 12903"/>
            </a:avLst>
          </a:prstGeom>
          <a:solidFill>
            <a:srgbClr val="1E2A33"/>
          </a:solidFill>
          <a:ln w="19050">
            <a:solidFill>
              <a:srgbClr val="D9731A"/>
            </a:solidFill>
            <a:prstDash val="solid"/>
          </a:ln>
        </p:spPr>
      </p:sp>
      <p:sp>
        <p:nvSpPr>
          <p:cNvPr id="11" name="Text 9"/>
          <p:cNvSpPr txBox="1"/>
          <p:nvPr/>
        </p:nvSpPr>
        <p:spPr>
          <a:xfrm>
            <a:off x="935431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Campaign YAML</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scientist</a:t>
            </a:r>
            <a:endParaRPr lang="en-US" sz="1400" dirty="0"/>
          </a:p>
        </p:txBody>
      </p:sp>
      <p:sp>
        <p:nvSpPr>
          <p:cNvPr id="12" name="Shape 10"/>
          <p:cNvSpPr/>
          <p:nvPr/>
        </p:nvSpPr>
        <p:spPr>
          <a:xfrm>
            <a:off x="6675120" y="1938528"/>
            <a:ext cx="2423160" cy="566928"/>
          </a:xfrm>
          <a:prstGeom prst="roundRect">
            <a:avLst>
              <a:gd name="adj" fmla="val 12903"/>
            </a:avLst>
          </a:prstGeom>
          <a:solidFill>
            <a:srgbClr val="1E2A33"/>
          </a:solidFill>
          <a:ln w="19050">
            <a:solidFill>
              <a:srgbClr val="3B4E8C"/>
            </a:solidFill>
            <a:prstDash val="solid"/>
          </a:ln>
        </p:spPr>
      </p:sp>
      <p:sp>
        <p:nvSpPr>
          <p:cNvPr id="13" name="Text 11"/>
          <p:cNvSpPr txBox="1"/>
          <p:nvPr/>
        </p:nvSpPr>
        <p:spPr>
          <a:xfrm>
            <a:off x="674827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ControlPolicy</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author</a:t>
            </a:r>
            <a:endParaRPr lang="en-US" sz="1400" dirty="0"/>
          </a:p>
        </p:txBody>
      </p:sp>
      <p:sp>
        <p:nvSpPr>
          <p:cNvPr id="14" name="Shape 12"/>
          <p:cNvSpPr/>
          <p:nvPr/>
        </p:nvSpPr>
        <p:spPr>
          <a:xfrm>
            <a:off x="9281160" y="1938528"/>
            <a:ext cx="2423160" cy="566928"/>
          </a:xfrm>
          <a:prstGeom prst="roundRect">
            <a:avLst>
              <a:gd name="adj" fmla="val 12903"/>
            </a:avLst>
          </a:prstGeom>
          <a:solidFill>
            <a:srgbClr val="1E2A33"/>
          </a:solidFill>
          <a:ln w="19050">
            <a:solidFill>
              <a:srgbClr val="3B4E8C"/>
            </a:solidFill>
            <a:prstDash val="solid"/>
          </a:ln>
        </p:spPr>
      </p:sp>
      <p:sp>
        <p:nvSpPr>
          <p:cNvPr id="15" name="Text 13"/>
          <p:cNvSpPr txBox="1"/>
          <p:nvPr/>
        </p:nvSpPr>
        <p:spPr>
          <a:xfrm>
            <a:off x="935431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 CampaignSession</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anywhere</a:t>
            </a:r>
            <a:endParaRPr lang="en-US" sz="1400" dirty="0"/>
          </a:p>
        </p:txBody>
      </p:sp>
      <p:sp>
        <p:nvSpPr>
          <p:cNvPr id="16" name="Shape 14"/>
          <p:cNvSpPr/>
          <p:nvPr/>
        </p:nvSpPr>
        <p:spPr>
          <a:xfrm>
            <a:off x="6675120" y="2596896"/>
            <a:ext cx="2423160" cy="566928"/>
          </a:xfrm>
          <a:prstGeom prst="roundRect">
            <a:avLst>
              <a:gd name="adj" fmla="val 12903"/>
            </a:avLst>
          </a:prstGeom>
          <a:solidFill>
            <a:srgbClr val="1E2A33"/>
          </a:solidFill>
          <a:ln w="19050">
            <a:solidFill>
              <a:srgbClr val="1E6470"/>
            </a:solidFill>
            <a:prstDash val="solid"/>
          </a:ln>
        </p:spPr>
      </p:sp>
      <p:sp>
        <p:nvSpPr>
          <p:cNvPr id="17" name="Text 15"/>
          <p:cNvSpPr txBox="1"/>
          <p:nvPr/>
        </p:nvSpPr>
        <p:spPr>
          <a:xfrm>
            <a:off x="674827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 ControlPlane</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external caller</a:t>
            </a:r>
            <a:endParaRPr lang="en-US" sz="1400" dirty="0"/>
          </a:p>
        </p:txBody>
      </p:sp>
      <p:sp>
        <p:nvSpPr>
          <p:cNvPr id="18" name="Shape 16"/>
          <p:cNvSpPr/>
          <p:nvPr/>
        </p:nvSpPr>
        <p:spPr>
          <a:xfrm>
            <a:off x="9281160" y="2596896"/>
            <a:ext cx="2423160" cy="566928"/>
          </a:xfrm>
          <a:prstGeom prst="roundRect">
            <a:avLst>
              <a:gd name="adj" fmla="val 12903"/>
            </a:avLst>
          </a:prstGeom>
          <a:solidFill>
            <a:srgbClr val="1E2A33"/>
          </a:solidFill>
          <a:ln w="19050">
            <a:solidFill>
              <a:srgbClr val="7A4A8C"/>
            </a:solidFill>
            <a:prstDash val="solid"/>
          </a:ln>
        </p:spPr>
      </p:sp>
      <p:sp>
        <p:nvSpPr>
          <p:cNvPr id="19" name="Text 17"/>
          <p:cNvSpPr txBox="1"/>
          <p:nvPr/>
        </p:nvSpPr>
        <p:spPr>
          <a:xfrm>
            <a:off x="935431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 ToolSpec + TaskAgent</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tool author</a:t>
            </a:r>
            <a:endParaRPr lang="en-US" sz="1400" dirty="0"/>
          </a:p>
        </p:txBody>
      </p:sp>
      <p:sp>
        <p:nvSpPr>
          <p:cNvPr id="20" name="Shape 18"/>
          <p:cNvSpPr/>
          <p:nvPr/>
        </p:nvSpPr>
        <p:spPr>
          <a:xfrm>
            <a:off x="6675120" y="3310128"/>
            <a:ext cx="5029200" cy="658368"/>
          </a:xfrm>
          <a:prstGeom prst="roundRect">
            <a:avLst>
              <a:gd name="adj" fmla="val 11111"/>
            </a:avLst>
          </a:prstGeom>
          <a:solidFill>
            <a:srgbClr val="24323D"/>
          </a:solidFill>
          <a:ln w="19050">
            <a:solidFill>
              <a:srgbClr val="1E6470"/>
            </a:solidFill>
            <a:prstDash val="solid"/>
          </a:ln>
        </p:spPr>
      </p:sp>
      <p:sp>
        <p:nvSpPr>
          <p:cNvPr id="21" name="Text 19"/>
          <p:cNvSpPr txBox="1"/>
          <p:nvPr/>
        </p:nvSpPr>
        <p:spPr>
          <a:xfrm>
            <a:off x="6748272" y="3355848"/>
            <a:ext cx="4882896"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one executor · one design tree · one provenance log</a:t>
            </a:r>
            <a:endParaRPr lang="en-US" sz="1400" dirty="0"/>
          </a:p>
          <a:p>
            <a:pPr algn="ctr" indent="0" marL="0">
              <a:buNone/>
            </a:pPr>
            <a:r>
              <a:rPr lang="en-US" sz="950" dirty="0">
                <a:solidFill>
                  <a:srgbClr val="9FB0BC"/>
                </a:solidFill>
                <a:latin typeface="Consolas" pitchFamily="34" charset="0"/>
                <a:ea typeface="Consolas" pitchFamily="34" charset="-122"/>
                <a:cs typeface="Consolas" pitchFamily="34" charset="-120"/>
              </a:rPr>
              <a:t>runtime/executor.py — the only writer of campaign state</a:t>
            </a:r>
            <a:endParaRPr lang="en-US" sz="1400" dirty="0"/>
          </a:p>
        </p:txBody>
      </p:sp>
      <p:sp>
        <p:nvSpPr>
          <p:cNvPr id="22" name="Shape 20"/>
          <p:cNvSpPr/>
          <p:nvPr/>
        </p:nvSpPr>
        <p:spPr>
          <a:xfrm>
            <a:off x="7932420" y="3182112"/>
            <a:ext cx="91" cy="109728"/>
          </a:xfrm>
          <a:prstGeom prst="line">
            <a:avLst/>
          </a:prstGeom>
          <a:noFill/>
          <a:ln w="12700">
            <a:solidFill>
              <a:srgbClr val="5E6B75"/>
            </a:solidFill>
            <a:prstDash val="solid"/>
            <a:tailEnd type="triangle"/>
          </a:ln>
        </p:spPr>
      </p:sp>
      <p:sp>
        <p:nvSpPr>
          <p:cNvPr id="23" name="Shape 21"/>
          <p:cNvSpPr/>
          <p:nvPr/>
        </p:nvSpPr>
        <p:spPr>
          <a:xfrm>
            <a:off x="9189720" y="3182112"/>
            <a:ext cx="91" cy="109728"/>
          </a:xfrm>
          <a:prstGeom prst="line">
            <a:avLst/>
          </a:prstGeom>
          <a:noFill/>
          <a:ln w="12700">
            <a:solidFill>
              <a:srgbClr val="5E6B75"/>
            </a:solidFill>
            <a:prstDash val="solid"/>
            <a:tailEnd type="triangle"/>
          </a:ln>
        </p:spPr>
      </p:sp>
      <p:sp>
        <p:nvSpPr>
          <p:cNvPr id="24" name="Shape 22"/>
          <p:cNvSpPr/>
          <p:nvPr/>
        </p:nvSpPr>
        <p:spPr>
          <a:xfrm>
            <a:off x="10447020" y="3182112"/>
            <a:ext cx="91" cy="109728"/>
          </a:xfrm>
          <a:prstGeom prst="line">
            <a:avLst/>
          </a:prstGeom>
          <a:noFill/>
          <a:ln w="12700">
            <a:solidFill>
              <a:srgbClr val="5E6B75"/>
            </a:solidFill>
            <a:prstDash val="solid"/>
            <a:tailEnd type="triangle"/>
          </a:ln>
        </p:spPr>
      </p:sp>
      <p:sp>
        <p:nvSpPr>
          <p:cNvPr id="25" name="Text 23"/>
          <p:cNvSpPr txBox="1"/>
          <p:nvPr/>
        </p:nvSpPr>
        <p:spPr>
          <a:xfrm>
            <a:off x="6675120" y="4069080"/>
            <a:ext cx="5029200" cy="274320"/>
          </a:xfrm>
          <a:prstGeom prst="rect">
            <a:avLst/>
          </a:prstGeom>
          <a:noFill/>
          <a:ln/>
        </p:spPr>
        <p:txBody>
          <a:bodyPr wrap="square" lIns="0" tIns="0" rIns="0" bIns="0" rtlCol="0" anchor="t"/>
          <a:lstStyle/>
          <a:p>
            <a:pPr algn="ctr" indent="0" marL="0">
              <a:buNone/>
            </a:pPr>
            <a:r>
              <a:rPr lang="en-US" sz="1050" i="1" dirty="0">
                <a:solidFill>
                  <a:srgbClr val="9FB0BC"/>
                </a:solidFill>
                <a:latin typeface="Calibri" pitchFamily="34" charset="0"/>
                <a:ea typeface="Calibri" pitchFamily="34" charset="-122"/>
                <a:cs typeface="Calibri" pitchFamily="34" charset="-120"/>
              </a:rPr>
              <a:t>and one place that refuses them: five gates, a dry run, and a trust interlock</a:t>
            </a:r>
            <a:endParaRPr lang="en-US" sz="10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IMPRESS-A · agent/ · slides/impress-a-api-user-slides @ bf32d1d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this deck shows, and what it does not</a:t>
            </a:r>
            <a:endParaRPr lang="en-US" sz="2800" dirty="0"/>
          </a:p>
        </p:txBody>
      </p:sp>
      <p:sp>
        <p:nvSpPr>
          <p:cNvPr id="4" name="Shape 2"/>
          <p:cNvSpPr/>
          <p:nvPr/>
        </p:nvSpPr>
        <p:spPr>
          <a:xfrm>
            <a:off x="457200" y="1417320"/>
            <a:ext cx="1532665" cy="960120"/>
          </a:xfrm>
          <a:prstGeom prst="roundRect">
            <a:avLst>
              <a:gd name="adj" fmla="val 7619"/>
            </a:avLst>
          </a:prstGeom>
          <a:solidFill>
            <a:srgbClr val="EEF2F5"/>
          </a:solidFill>
          <a:ln w="19050">
            <a:solidFill>
              <a:srgbClr val="C9D1D8"/>
            </a:solidFill>
            <a:prstDash val="solid"/>
          </a:ln>
        </p:spPr>
      </p:sp>
      <p:sp>
        <p:nvSpPr>
          <p:cNvPr id="5" name="Text 3"/>
          <p:cNvSpPr txBox="1"/>
          <p:nvPr/>
        </p:nvSpPr>
        <p:spPr>
          <a:xfrm>
            <a:off x="53035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observe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same object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policy sees</a:t>
            </a:r>
            <a:endParaRPr lang="en-US" sz="1400" dirty="0"/>
          </a:p>
        </p:txBody>
      </p:sp>
      <p:sp>
        <p:nvSpPr>
          <p:cNvPr id="6" name="Shape 4"/>
          <p:cNvSpPr/>
          <p:nvPr/>
        </p:nvSpPr>
        <p:spPr>
          <a:xfrm>
            <a:off x="2081305" y="1417320"/>
            <a:ext cx="1532665" cy="960120"/>
          </a:xfrm>
          <a:prstGeom prst="roundRect">
            <a:avLst>
              <a:gd name="adj" fmla="val 7619"/>
            </a:avLst>
          </a:prstGeom>
          <a:solidFill>
            <a:srgbClr val="E9EDF7"/>
          </a:solidFill>
          <a:ln w="19050">
            <a:solidFill>
              <a:srgbClr val="3B4E8C"/>
            </a:solidFill>
            <a:prstDash val="solid"/>
          </a:ln>
        </p:spPr>
      </p:sp>
      <p:sp>
        <p:nvSpPr>
          <p:cNvPr id="7" name="Text 5"/>
          <p:cNvSpPr txBox="1"/>
          <p:nvPr/>
        </p:nvSpPr>
        <p:spPr>
          <a:xfrm>
            <a:off x="2154457" y="1463040"/>
            <a:ext cx="1386361" cy="868680"/>
          </a:xfrm>
          <a:prstGeom prst="rect">
            <a:avLst/>
          </a:prstGeom>
          <a:noFill/>
          <a:ln/>
        </p:spPr>
        <p:txBody>
          <a:bodyPr wrap="square" lIns="0" tIns="0" rIns="0" bIns="0" rtlCol="0" anchor="ctr"/>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intent, not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DAG</a:t>
            </a:r>
            <a:endParaRPr lang="en-US" sz="1400" dirty="0"/>
          </a:p>
        </p:txBody>
      </p:sp>
      <p:sp>
        <p:nvSpPr>
          <p:cNvPr id="8" name="Shape 6"/>
          <p:cNvSpPr/>
          <p:nvPr/>
        </p:nvSpPr>
        <p:spPr>
          <a:xfrm>
            <a:off x="3705410" y="1417320"/>
            <a:ext cx="1532665" cy="960120"/>
          </a:xfrm>
          <a:prstGeom prst="roundRect">
            <a:avLst>
              <a:gd name="adj" fmla="val 7619"/>
            </a:avLst>
          </a:prstGeom>
          <a:solidFill>
            <a:srgbClr val="EEF2F5"/>
          </a:solidFill>
          <a:ln w="19050">
            <a:solidFill>
              <a:srgbClr val="C9D1D8"/>
            </a:solidFill>
            <a:prstDash val="solid"/>
          </a:ln>
        </p:spPr>
      </p:sp>
      <p:sp>
        <p:nvSpPr>
          <p:cNvPr id="9" name="Text 7"/>
          <p:cNvSpPr txBox="1"/>
          <p:nvPr/>
        </p:nvSpPr>
        <p:spPr>
          <a:xfrm>
            <a:off x="377856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compose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typed DAG</a:t>
            </a:r>
            <a:endParaRPr lang="en-US" sz="1400" dirty="0"/>
          </a:p>
        </p:txBody>
      </p:sp>
      <p:sp>
        <p:nvSpPr>
          <p:cNvPr id="10" name="Shape 8"/>
          <p:cNvSpPr/>
          <p:nvPr/>
        </p:nvSpPr>
        <p:spPr>
          <a:xfrm>
            <a:off x="5329515" y="1417320"/>
            <a:ext cx="1532665" cy="960120"/>
          </a:xfrm>
          <a:prstGeom prst="roundRect">
            <a:avLst>
              <a:gd name="adj" fmla="val 7619"/>
            </a:avLst>
          </a:prstGeom>
          <a:solidFill>
            <a:srgbClr val="EEF2F5"/>
          </a:solidFill>
          <a:ln w="19050">
            <a:solidFill>
              <a:srgbClr val="C9D1D8"/>
            </a:solidFill>
            <a:prstDash val="solid"/>
          </a:ln>
        </p:spPr>
      </p:sp>
      <p:sp>
        <p:nvSpPr>
          <p:cNvPr id="11" name="Text 9"/>
          <p:cNvSpPr txBox="1"/>
          <p:nvPr/>
        </p:nvSpPr>
        <p:spPr>
          <a:xfrm>
            <a:off x="540266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validate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5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 dry run</a:t>
            </a:r>
            <a:endParaRPr lang="en-US" sz="1400" dirty="0"/>
          </a:p>
        </p:txBody>
      </p:sp>
      <p:sp>
        <p:nvSpPr>
          <p:cNvPr id="12" name="Shape 10"/>
          <p:cNvSpPr/>
          <p:nvPr/>
        </p:nvSpPr>
        <p:spPr>
          <a:xfrm>
            <a:off x="6953620" y="1417320"/>
            <a:ext cx="1532665" cy="960120"/>
          </a:xfrm>
          <a:prstGeom prst="roundRect">
            <a:avLst>
              <a:gd name="adj" fmla="val 7619"/>
            </a:avLst>
          </a:prstGeom>
          <a:solidFill>
            <a:srgbClr val="EEF2F5"/>
          </a:solidFill>
          <a:ln w="19050">
            <a:solidFill>
              <a:srgbClr val="C9D1D8"/>
            </a:solidFill>
            <a:prstDash val="solid"/>
          </a:ln>
        </p:spPr>
      </p:sp>
      <p:sp>
        <p:nvSpPr>
          <p:cNvPr id="13" name="Text 11"/>
          <p:cNvSpPr txBox="1"/>
          <p:nvPr/>
        </p:nvSpPr>
        <p:spPr>
          <a:xfrm>
            <a:off x="702677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execute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asyncflow /</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Dragon</a:t>
            </a:r>
            <a:endParaRPr lang="en-US" sz="1400" dirty="0"/>
          </a:p>
        </p:txBody>
      </p:sp>
      <p:sp>
        <p:nvSpPr>
          <p:cNvPr id="14" name="Shape 12"/>
          <p:cNvSpPr/>
          <p:nvPr/>
        </p:nvSpPr>
        <p:spPr>
          <a:xfrm>
            <a:off x="8577725" y="1417320"/>
            <a:ext cx="1532665" cy="960120"/>
          </a:xfrm>
          <a:prstGeom prst="roundRect">
            <a:avLst>
              <a:gd name="adj" fmla="val 7619"/>
            </a:avLst>
          </a:prstGeom>
          <a:solidFill>
            <a:srgbClr val="EEF2F5"/>
          </a:solidFill>
          <a:ln w="19050">
            <a:solidFill>
              <a:srgbClr val="C9D1D8"/>
            </a:solidFill>
            <a:prstDash val="solid"/>
          </a:ln>
        </p:spPr>
      </p:sp>
      <p:sp>
        <p:nvSpPr>
          <p:cNvPr id="15" name="Text 13"/>
          <p:cNvSpPr txBox="1"/>
          <p:nvPr/>
        </p:nvSpPr>
        <p:spPr>
          <a:xfrm>
            <a:off x="865087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analyze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QC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never skipped</a:t>
            </a:r>
            <a:endParaRPr lang="en-US" sz="1400" dirty="0"/>
          </a:p>
        </p:txBody>
      </p:sp>
      <p:sp>
        <p:nvSpPr>
          <p:cNvPr id="16" name="Shape 14"/>
          <p:cNvSpPr/>
          <p:nvPr/>
        </p:nvSpPr>
        <p:spPr>
          <a:xfrm>
            <a:off x="10201830" y="1417320"/>
            <a:ext cx="1532665" cy="960120"/>
          </a:xfrm>
          <a:prstGeom prst="roundRect">
            <a:avLst>
              <a:gd name="adj" fmla="val 7619"/>
            </a:avLst>
          </a:prstGeom>
          <a:solidFill>
            <a:srgbClr val="EEF2F5"/>
          </a:solidFill>
          <a:ln w="19050">
            <a:solidFill>
              <a:srgbClr val="C9D1D8"/>
            </a:solidFill>
            <a:prstDash val="solid"/>
          </a:ln>
        </p:spPr>
      </p:sp>
      <p:sp>
        <p:nvSpPr>
          <p:cNvPr id="17" name="Text 15"/>
          <p:cNvSpPr txBox="1"/>
          <p:nvPr/>
        </p:nvSpPr>
        <p:spPr>
          <a:xfrm>
            <a:off x="1027498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update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tree, Pareto,</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provenance</a:t>
            </a:r>
            <a:endParaRPr lang="en-US" sz="1400" dirty="0"/>
          </a:p>
        </p:txBody>
      </p:sp>
      <p:sp>
        <p:nvSpPr>
          <p:cNvPr id="18" name="Shape 16"/>
          <p:cNvSpPr/>
          <p:nvPr/>
        </p:nvSpPr>
        <p:spPr>
          <a:xfrm flipH="1">
            <a:off x="1683332" y="2505456"/>
            <a:ext cx="9330551" cy="91"/>
          </a:xfrm>
          <a:prstGeom prst="line">
            <a:avLst/>
          </a:prstGeom>
          <a:noFill/>
          <a:ln w="15875">
            <a:solidFill>
              <a:srgbClr val="3B4E8C"/>
            </a:solidFill>
            <a:prstDash val="solid"/>
            <a:tailEnd type="triangle"/>
          </a:ln>
        </p:spPr>
      </p:sp>
      <p:sp>
        <p:nvSpPr>
          <p:cNvPr id="19" name="Text 17"/>
          <p:cNvSpPr txBox="1"/>
          <p:nvPr/>
        </p:nvSpPr>
        <p:spPr>
          <a:xfrm>
            <a:off x="1989865" y="2523744"/>
            <a:ext cx="685800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terminate? → next experiment, while others are still running</a:t>
            </a:r>
            <a:endParaRPr lang="en-US" sz="1050" dirty="0"/>
          </a:p>
        </p:txBody>
      </p:sp>
      <p:sp>
        <p:nvSpPr>
          <p:cNvPr id="20" name="Shape 18"/>
          <p:cNvSpPr/>
          <p:nvPr/>
        </p:nvSpPr>
        <p:spPr>
          <a:xfrm>
            <a:off x="457200" y="3154680"/>
            <a:ext cx="5577840" cy="2194560"/>
          </a:xfrm>
          <a:prstGeom prst="rect">
            <a:avLst/>
          </a:prstGeom>
          <a:solidFill>
            <a:srgbClr val="EEF2F5"/>
          </a:solidFill>
          <a:ln w="12700">
            <a:solidFill>
              <a:srgbClr val="EEF2F5"/>
            </a:solidFill>
            <a:prstDash val="solid"/>
          </a:ln>
        </p:spPr>
      </p:sp>
      <p:sp>
        <p:nvSpPr>
          <p:cNvPr id="21" name="Text 19"/>
          <p:cNvSpPr txBox="1"/>
          <p:nvPr/>
        </p:nvSpPr>
        <p:spPr>
          <a:xfrm>
            <a:off x="585216" y="32369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ran, for real, to make this deck</a:t>
            </a:r>
            <a:endParaRPr lang="en-US" sz="1300" dirty="0"/>
          </a:p>
        </p:txBody>
      </p:sp>
      <p:sp>
        <p:nvSpPr>
          <p:cNvPr id="22" name="Text 20"/>
          <p:cNvSpPr txBox="1"/>
          <p:nvPr/>
        </p:nvSpPr>
        <p:spPr>
          <a:xfrm>
            <a:off x="585216"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`mock-stabilize.yaml --model D` end to end in 2.8 s: 3 graphs composed, 1 refused, 2 admitted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4 design nodes absorbed, Pareto front of 3, stop reason "target front size 3 reached"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14 provenance records across 5 kinds, 7 ledger records, 2 pattern signatures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168 tests, 9 files, all of it on a laptop with no allocation</a:t>
            </a:r>
            <a:endParaRPr lang="en-US" sz="1150" dirty="0"/>
          </a:p>
        </p:txBody>
      </p:sp>
      <p:sp>
        <p:nvSpPr>
          <p:cNvPr id="23" name="Shape 21"/>
          <p:cNvSpPr/>
          <p:nvPr/>
        </p:nvSpPr>
        <p:spPr>
          <a:xfrm>
            <a:off x="6245352" y="3154680"/>
            <a:ext cx="5577840" cy="2194560"/>
          </a:xfrm>
          <a:prstGeom prst="rect">
            <a:avLst/>
          </a:prstGeom>
          <a:solidFill>
            <a:srgbClr val="F9E0DD"/>
          </a:solidFill>
          <a:ln w="12700">
            <a:solidFill>
              <a:srgbClr val="F9E0DD"/>
            </a:solidFill>
            <a:prstDash val="solid"/>
          </a:ln>
        </p:spPr>
      </p:sp>
      <p:sp>
        <p:nvSpPr>
          <p:cNvPr id="24" name="Text 22"/>
          <p:cNvSpPr txBox="1"/>
          <p:nvPr/>
        </p:nvSpPr>
        <p:spPr>
          <a:xfrm>
            <a:off x="6373368" y="323697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does not demonstrate</a:t>
            </a:r>
            <a:endParaRPr lang="en-US" sz="1300" dirty="0"/>
          </a:p>
        </p:txBody>
      </p:sp>
      <p:sp>
        <p:nvSpPr>
          <p:cNvPr id="25" name="Text 23"/>
          <p:cNvSpPr txBox="1"/>
          <p:nvPr/>
        </p:nvSpPr>
        <p:spPr>
          <a:xfrm>
            <a:off x="6373368"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Every stage was a MOCK. No GPU, no PyRosetta, no Boltz — the science is stubbed and the numbers are drawn, not computed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One experiment in flight at a time. There is no concurrent run in this deck and no serial baseline, so nothing here divides into a speedup</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 the real six-stage chain, `replicas &gt; 1` has never executed (backlog A10). It runs here, at width 2, against mocks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Nothing outside this package has ever driven a campaign. The control plane is tested, not used</a:t>
            </a:r>
            <a:endParaRPr lang="en-US" sz="11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slides/api/run.json · the run is reproducible: python slides/api/run_model.py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LISTEN TO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questions, and the one I cannot answer</a:t>
            </a:r>
            <a:endParaRPr lang="en-US" sz="2800" dirty="0"/>
          </a:p>
        </p:txBody>
      </p:sp>
      <p:sp>
        <p:nvSpPr>
          <p:cNvPr id="4" name="Shape 2"/>
          <p:cNvSpPr/>
          <p:nvPr/>
        </p:nvSpPr>
        <p:spPr>
          <a:xfrm>
            <a:off x="457200" y="1371600"/>
            <a:ext cx="3657600" cy="384048"/>
          </a:xfrm>
          <a:prstGeom prst="rect">
            <a:avLst/>
          </a:prstGeom>
          <a:solidFill>
            <a:srgbClr val="2E7D5B"/>
          </a:solidFill>
          <a:ln w="12700">
            <a:solidFill>
              <a:srgbClr val="2E7D5B"/>
            </a:solidFill>
            <a:prstDash val="solid"/>
          </a:ln>
        </p:spPr>
      </p:sp>
      <p:sp>
        <p:nvSpPr>
          <p:cNvPr id="5" name="Text 3"/>
          <p:cNvSpPr txBox="1"/>
          <p:nvPr/>
        </p:nvSpPr>
        <p:spPr>
          <a:xfrm>
            <a:off x="457200"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55648"/>
            <a:ext cx="3657600" cy="914400"/>
          </a:xfrm>
          <a:prstGeom prst="rect">
            <a:avLst/>
          </a:prstGeom>
          <a:solidFill>
            <a:srgbClr val="E4F1EA"/>
          </a:solidFill>
          <a:ln w="12700">
            <a:solidFill>
              <a:srgbClr val="E4F1EA"/>
            </a:solidFill>
            <a:prstDash val="solid"/>
          </a:ln>
        </p:spPr>
      </p:sp>
      <p:sp>
        <p:nvSpPr>
          <p:cNvPr id="7" name="Text 5"/>
          <p:cNvSpPr txBox="1"/>
          <p:nvPr/>
        </p:nvSpPr>
        <p:spPr>
          <a:xfrm>
            <a:off x="585216"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can you write against this that you cannot write against a pipeline?</a:t>
            </a:r>
            <a:endParaRPr lang="en-US" sz="1150" dirty="0"/>
          </a:p>
        </p:txBody>
      </p:sp>
      <p:sp>
        <p:nvSpPr>
          <p:cNvPr id="8" name="Shape 6"/>
          <p:cNvSpPr/>
          <p:nvPr/>
        </p:nvSpPr>
        <p:spPr>
          <a:xfrm>
            <a:off x="457200" y="2761488"/>
            <a:ext cx="3657600" cy="640080"/>
          </a:xfrm>
          <a:prstGeom prst="rect">
            <a:avLst/>
          </a:prstGeom>
          <a:solidFill>
            <a:srgbClr val="EEF2F5"/>
          </a:solidFill>
          <a:ln w="12700">
            <a:solidFill>
              <a:srgbClr val="C9D1D8"/>
            </a:solidFill>
            <a:prstDash val="solid"/>
          </a:ln>
        </p:spPr>
      </p:sp>
      <p:sp>
        <p:nvSpPr>
          <p:cNvPr id="9" name="Text 7"/>
          <p:cNvSpPr txBox="1"/>
          <p:nvPr/>
        </p:nvSpPr>
        <p:spPr>
          <a:xfrm>
            <a:off x="585216"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tool is 15 declared fields, not a code path</a:t>
            </a:r>
            <a:endParaRPr lang="en-US" sz="1100" dirty="0"/>
          </a:p>
        </p:txBody>
      </p:sp>
      <p:sp>
        <p:nvSpPr>
          <p:cNvPr id="10" name="Shape 8"/>
          <p:cNvSpPr/>
          <p:nvPr/>
        </p:nvSpPr>
        <p:spPr>
          <a:xfrm>
            <a:off x="457200" y="3474720"/>
            <a:ext cx="3657600" cy="640080"/>
          </a:xfrm>
          <a:prstGeom prst="rect">
            <a:avLst/>
          </a:prstGeom>
          <a:solidFill>
            <a:srgbClr val="FFFFFF"/>
          </a:solidFill>
          <a:ln w="12700">
            <a:solidFill>
              <a:srgbClr val="C9D1D8"/>
            </a:solidFill>
            <a:prstDash val="solid"/>
          </a:ln>
        </p:spPr>
      </p:sp>
      <p:sp>
        <p:nvSpPr>
          <p:cNvPr id="11" name="Text 9"/>
          <p:cNvSpPr txBox="1"/>
          <p:nvPr/>
        </p:nvSpPr>
        <p:spPr>
          <a:xfrm>
            <a:off x="585216"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reasoner is 3 methods, or one</a:t>
            </a:r>
            <a:endParaRPr lang="en-US" sz="1100" dirty="0"/>
          </a:p>
        </p:txBody>
      </p:sp>
      <p:sp>
        <p:nvSpPr>
          <p:cNvPr id="12" name="Shape 10"/>
          <p:cNvSpPr/>
          <p:nvPr/>
        </p:nvSpPr>
        <p:spPr>
          <a:xfrm>
            <a:off x="457200" y="4187952"/>
            <a:ext cx="3657600" cy="640080"/>
          </a:xfrm>
          <a:prstGeom prst="rect">
            <a:avLst/>
          </a:prstGeom>
          <a:solidFill>
            <a:srgbClr val="EEF2F5"/>
          </a:solidFill>
          <a:ln w="12700">
            <a:solidFill>
              <a:srgbClr val="C9D1D8"/>
            </a:solidFill>
            <a:prstDash val="solid"/>
          </a:ln>
        </p:spPr>
      </p:sp>
      <p:sp>
        <p:nvSpPr>
          <p:cNvPr id="13" name="Text 11"/>
          <p:cNvSpPr txBox="1"/>
          <p:nvPr/>
        </p:nvSpPr>
        <p:spPr>
          <a:xfrm>
            <a:off x="585216"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5 QC gates, 20 fixtures, never skippable</a:t>
            </a:r>
            <a:endParaRPr lang="en-US" sz="1100" dirty="0"/>
          </a:p>
        </p:txBody>
      </p:sp>
      <p:sp>
        <p:nvSpPr>
          <p:cNvPr id="14" name="Shape 12"/>
          <p:cNvSpPr/>
          <p:nvPr/>
        </p:nvSpPr>
        <p:spPr>
          <a:xfrm>
            <a:off x="4370832" y="1371600"/>
            <a:ext cx="3657600" cy="384048"/>
          </a:xfrm>
          <a:prstGeom prst="rect">
            <a:avLst/>
          </a:prstGeom>
          <a:solidFill>
            <a:srgbClr val="1E6470"/>
          </a:solidFill>
          <a:ln w="12700">
            <a:solidFill>
              <a:srgbClr val="1E6470"/>
            </a:solidFill>
            <a:prstDash val="solid"/>
          </a:ln>
        </p:spPr>
      </p:sp>
      <p:sp>
        <p:nvSpPr>
          <p:cNvPr id="15" name="Text 13"/>
          <p:cNvSpPr txBox="1"/>
          <p:nvPr/>
        </p:nvSpPr>
        <p:spPr>
          <a:xfrm>
            <a:off x="4370832"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16" name="Shape 14"/>
          <p:cNvSpPr/>
          <p:nvPr/>
        </p:nvSpPr>
        <p:spPr>
          <a:xfrm>
            <a:off x="4370832" y="1755648"/>
            <a:ext cx="3657600" cy="914400"/>
          </a:xfrm>
          <a:prstGeom prst="rect">
            <a:avLst/>
          </a:prstGeom>
          <a:solidFill>
            <a:srgbClr val="E3F0F1"/>
          </a:solidFill>
          <a:ln w="12700">
            <a:solidFill>
              <a:srgbClr val="E3F0F1"/>
            </a:solidFill>
            <a:prstDash val="solid"/>
          </a:ln>
        </p:spPr>
      </p:sp>
      <p:sp>
        <p:nvSpPr>
          <p:cNvPr id="17" name="Text 15"/>
          <p:cNvSpPr txBox="1"/>
          <p:nvPr/>
        </p:nvSpPr>
        <p:spPr>
          <a:xfrm>
            <a:off x="4498848"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does the loop cost, and where does it serialise?</a:t>
            </a:r>
            <a:endParaRPr lang="en-US" sz="1150" dirty="0"/>
          </a:p>
        </p:txBody>
      </p:sp>
      <p:sp>
        <p:nvSpPr>
          <p:cNvPr id="18" name="Shape 16"/>
          <p:cNvSpPr/>
          <p:nvPr/>
        </p:nvSpPr>
        <p:spPr>
          <a:xfrm>
            <a:off x="4370832" y="2761488"/>
            <a:ext cx="3657600" cy="640080"/>
          </a:xfrm>
          <a:prstGeom prst="rect">
            <a:avLst/>
          </a:prstGeom>
          <a:solidFill>
            <a:srgbClr val="EEF2F5"/>
          </a:solidFill>
          <a:ln w="12700">
            <a:solidFill>
              <a:srgbClr val="C9D1D8"/>
            </a:solidFill>
            <a:prstDash val="solid"/>
          </a:ln>
        </p:spPr>
      </p:sp>
      <p:sp>
        <p:nvSpPr>
          <p:cNvPr id="19" name="Text 17"/>
          <p:cNvSpPr txBox="1"/>
          <p:nvPr/>
        </p:nvSpPr>
        <p:spPr>
          <a:xfrm>
            <a:off x="4498848"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2.8 s end to end, 14 provenance records</a:t>
            </a:r>
            <a:endParaRPr lang="en-US" sz="1100" dirty="0"/>
          </a:p>
        </p:txBody>
      </p:sp>
      <p:sp>
        <p:nvSpPr>
          <p:cNvPr id="20" name="Shape 18"/>
          <p:cNvSpPr/>
          <p:nvPr/>
        </p:nvSpPr>
        <p:spPr>
          <a:xfrm>
            <a:off x="4370832" y="3474720"/>
            <a:ext cx="3657600" cy="640080"/>
          </a:xfrm>
          <a:prstGeom prst="rect">
            <a:avLst/>
          </a:prstGeom>
          <a:solidFill>
            <a:srgbClr val="FFFFFF"/>
          </a:solidFill>
          <a:ln w="12700">
            <a:solidFill>
              <a:srgbClr val="C9D1D8"/>
            </a:solidFill>
            <a:prstDash val="solid"/>
          </a:ln>
        </p:spPr>
      </p:sp>
      <p:sp>
        <p:nvSpPr>
          <p:cNvPr id="21" name="Text 19"/>
          <p:cNvSpPr txBox="1"/>
          <p:nvPr/>
        </p:nvSpPr>
        <p:spPr>
          <a:xfrm>
            <a:off x="4498848"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the executor is the sole writer of state</a:t>
            </a:r>
            <a:endParaRPr lang="en-US" sz="1100" dirty="0"/>
          </a:p>
        </p:txBody>
      </p:sp>
      <p:sp>
        <p:nvSpPr>
          <p:cNvPr id="22" name="Shape 20"/>
          <p:cNvSpPr/>
          <p:nvPr/>
        </p:nvSpPr>
        <p:spPr>
          <a:xfrm>
            <a:off x="4370832" y="4187952"/>
            <a:ext cx="3657600" cy="640080"/>
          </a:xfrm>
          <a:prstGeom prst="rect">
            <a:avLst/>
          </a:prstGeom>
          <a:solidFill>
            <a:srgbClr val="EEF2F5"/>
          </a:solidFill>
          <a:ln w="12700">
            <a:solidFill>
              <a:srgbClr val="C9D1D8"/>
            </a:solidFill>
            <a:prstDash val="solid"/>
          </a:ln>
        </p:spPr>
      </p:sp>
      <p:sp>
        <p:nvSpPr>
          <p:cNvPr id="23" name="Text 21"/>
          <p:cNvSpPr txBox="1"/>
          <p:nvPr/>
        </p:nvSpPr>
        <p:spPr>
          <a:xfrm>
            <a:off x="4498848"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one experiment in flight · no baseline</a:t>
            </a:r>
            <a:endParaRPr lang="en-US" sz="1100" dirty="0"/>
          </a:p>
        </p:txBody>
      </p:sp>
      <p:sp>
        <p:nvSpPr>
          <p:cNvPr id="24" name="Shape 22"/>
          <p:cNvSpPr/>
          <p:nvPr/>
        </p:nvSpPr>
        <p:spPr>
          <a:xfrm>
            <a:off x="8284464" y="1371600"/>
            <a:ext cx="3657600" cy="384048"/>
          </a:xfrm>
          <a:prstGeom prst="rect">
            <a:avLst/>
          </a:prstGeom>
          <a:solidFill>
            <a:srgbClr val="3B4E8C"/>
          </a:solidFill>
          <a:ln w="12700">
            <a:solidFill>
              <a:srgbClr val="3B4E8C"/>
            </a:solidFill>
            <a:prstDash val="solid"/>
          </a:ln>
        </p:spPr>
      </p:sp>
      <p:sp>
        <p:nvSpPr>
          <p:cNvPr id="25" name="Text 23"/>
          <p:cNvSpPr txBox="1"/>
          <p:nvPr/>
        </p:nvSpPr>
        <p:spPr>
          <a:xfrm>
            <a:off x="8284464"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26" name="Shape 24"/>
          <p:cNvSpPr/>
          <p:nvPr/>
        </p:nvSpPr>
        <p:spPr>
          <a:xfrm>
            <a:off x="8284464" y="1755648"/>
            <a:ext cx="3657600" cy="914400"/>
          </a:xfrm>
          <a:prstGeom prst="rect">
            <a:avLst/>
          </a:prstGeom>
          <a:solidFill>
            <a:srgbClr val="E9EDF7"/>
          </a:solidFill>
          <a:ln w="12700">
            <a:solidFill>
              <a:srgbClr val="E9EDF7"/>
            </a:solidFill>
            <a:prstDash val="solid"/>
          </a:ln>
        </p:spPr>
      </p:sp>
      <p:sp>
        <p:nvSpPr>
          <p:cNvPr id="27" name="Text 25"/>
          <p:cNvSpPr txBox="1"/>
          <p:nvPr/>
        </p:nvSpPr>
        <p:spPr>
          <a:xfrm>
            <a:off x="8412480"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Is it an application, a platform, or a component?</a:t>
            </a:r>
            <a:endParaRPr lang="en-US" sz="1150" dirty="0"/>
          </a:p>
        </p:txBody>
      </p:sp>
      <p:sp>
        <p:nvSpPr>
          <p:cNvPr id="28" name="Shape 26"/>
          <p:cNvSpPr/>
          <p:nvPr/>
        </p:nvSpPr>
        <p:spPr>
          <a:xfrm>
            <a:off x="8284464" y="2761488"/>
            <a:ext cx="3657600" cy="640080"/>
          </a:xfrm>
          <a:prstGeom prst="rect">
            <a:avLst/>
          </a:prstGeom>
          <a:solidFill>
            <a:srgbClr val="EEF2F5"/>
          </a:solidFill>
          <a:ln w="12700">
            <a:solidFill>
              <a:srgbClr val="C9D1D8"/>
            </a:solidFill>
            <a:prstDash val="solid"/>
          </a:ln>
        </p:spPr>
      </p:sp>
      <p:sp>
        <p:nvSpPr>
          <p:cNvPr id="29" name="Text 27"/>
          <p:cNvSpPr txBox="1"/>
          <p:nvPr/>
        </p:nvSpPr>
        <p:spPr>
          <a:xfrm>
            <a:off x="8412480"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application: one YAML, one command</a:t>
            </a:r>
            <a:endParaRPr lang="en-US" sz="1100" dirty="0"/>
          </a:p>
        </p:txBody>
      </p:sp>
      <p:sp>
        <p:nvSpPr>
          <p:cNvPr id="30" name="Shape 28"/>
          <p:cNvSpPr/>
          <p:nvPr/>
        </p:nvSpPr>
        <p:spPr>
          <a:xfrm>
            <a:off x="8284464" y="3474720"/>
            <a:ext cx="3657600" cy="640080"/>
          </a:xfrm>
          <a:prstGeom prst="rect">
            <a:avLst/>
          </a:prstGeom>
          <a:solidFill>
            <a:srgbClr val="FFFFFF"/>
          </a:solidFill>
          <a:ln w="12700">
            <a:solidFill>
              <a:srgbClr val="C9D1D8"/>
            </a:solidFill>
            <a:prstDash val="solid"/>
          </a:ln>
        </p:spPr>
      </p:sp>
      <p:sp>
        <p:nvSpPr>
          <p:cNvPr id="31" name="Text 29"/>
          <p:cNvSpPr txBox="1"/>
          <p:nvPr/>
        </p:nvSpPr>
        <p:spPr>
          <a:xfrm>
            <a:off x="8412480"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platform: 11 tools discovered at runtime</a:t>
            </a:r>
            <a:endParaRPr lang="en-US" sz="1100" dirty="0"/>
          </a:p>
        </p:txBody>
      </p:sp>
      <p:sp>
        <p:nvSpPr>
          <p:cNvPr id="32" name="Shape 30"/>
          <p:cNvSpPr/>
          <p:nvPr/>
        </p:nvSpPr>
        <p:spPr>
          <a:xfrm>
            <a:off x="8284464" y="4187952"/>
            <a:ext cx="3657600" cy="640080"/>
          </a:xfrm>
          <a:prstGeom prst="rect">
            <a:avLst/>
          </a:prstGeom>
          <a:solidFill>
            <a:srgbClr val="EEF2F5"/>
          </a:solidFill>
          <a:ln w="12700">
            <a:solidFill>
              <a:srgbClr val="C9D1D8"/>
            </a:solidFill>
            <a:prstDash val="solid"/>
          </a:ln>
        </p:spPr>
      </p:sp>
      <p:sp>
        <p:nvSpPr>
          <p:cNvPr id="33" name="Text 31"/>
          <p:cNvSpPr txBox="1"/>
          <p:nvPr/>
        </p:nvSpPr>
        <p:spPr>
          <a:xfrm>
            <a:off x="8412480"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component: nothing has ever driven it</a:t>
            </a:r>
            <a:endParaRPr lang="en-US" sz="1100" dirty="0"/>
          </a:p>
        </p:txBody>
      </p:sp>
      <p:sp>
        <p:nvSpPr>
          <p:cNvPr id="34" name="Shape 32"/>
          <p:cNvSpPr/>
          <p:nvPr/>
        </p:nvSpPr>
        <p:spPr>
          <a:xfrm>
            <a:off x="457200" y="5029200"/>
            <a:ext cx="11277295" cy="1051560"/>
          </a:xfrm>
          <a:prstGeom prst="rect">
            <a:avLst/>
          </a:prstGeom>
          <a:solidFill>
            <a:srgbClr val="16222B"/>
          </a:solidFill>
          <a:ln w="25400">
            <a:solidFill>
              <a:srgbClr val="C0392B"/>
            </a:solidFill>
            <a:prstDash val="solid"/>
          </a:ln>
        </p:spPr>
      </p:sp>
      <p:sp>
        <p:nvSpPr>
          <p:cNvPr id="35" name="Text 33"/>
          <p:cNvSpPr txBox="1"/>
          <p:nvPr/>
        </p:nvSpPr>
        <p:spPr>
          <a:xfrm>
            <a:off x="621792" y="5138928"/>
            <a:ext cx="10948111" cy="868680"/>
          </a:xfrm>
          <a:prstGeom prst="rect">
            <a:avLst/>
          </a:prstGeom>
          <a:noFill/>
          <a:ln/>
        </p:spPr>
        <p:txBody>
          <a:bodyPr wrap="square" lIns="0" tIns="0" rIns="0" bIns="0" rtlCol="0" anchor="t"/>
          <a:lstStyle/>
          <a:p>
            <a:pPr indent="0" marL="0">
              <a:buNone/>
            </a:pPr>
            <a:r>
              <a:rPr lang="en-US" sz="1250" b="1" dirty="0">
                <a:solidFill>
                  <a:srgbClr val="E8A0A0"/>
                </a:solidFill>
                <a:latin typeface="Calibri" pitchFamily="34" charset="0"/>
                <a:ea typeface="Calibri" pitchFamily="34" charset="-122"/>
                <a:cs typeface="Calibri" pitchFamily="34" charset="-120"/>
              </a:rPr>
              <a:t>The weak one is usability, and specifically the component claim. </a:t>
            </a:r>
            <a:pPr indent="0" marL="0">
              <a:buNone/>
            </a:pPr>
            <a:r>
              <a:rPr lang="en-US" sz="1250" dirty="0">
                <a:solidFill>
                  <a:srgbClr val="FFFFFF"/>
                </a:solidFill>
                <a:latin typeface="Calibri" pitchFamily="34" charset="0"/>
                <a:ea typeface="Calibri" pitchFamily="34" charset="-122"/>
                <a:cs typeface="Calibri" pitchFamily="34" charset="-120"/>
              </a:rPr>
              <a:t>The control plane and the remote session are the two surfaces in here designed with the most care — request/response, nothing live crossing the wire, a long poll so a reasoner on a login node blocks exactly as it would in-process — and no caller outside this package has ever used either. </a:t>
            </a:r>
            <a:pPr indent="0" marL="0">
              <a:buNone/>
            </a:pPr>
            <a:r>
              <a:rPr lang="en-US" sz="1250" b="1" dirty="0">
                <a:solidFill>
                  <a:srgbClr val="F0C898"/>
                </a:solidFill>
                <a:latin typeface="Calibri" pitchFamily="34" charset="0"/>
                <a:ea typeface="Calibri" pitchFamily="34" charset="-122"/>
                <a:cs typeface="Calibri" pitchFamily="34" charset="-120"/>
              </a:rPr>
              <a:t>That is the first thing I would want to break if I were you.</a:t>
            </a:r>
            <a:endParaRPr lang="en-US" sz="12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dividers repeat this per act, with each act's weakest claim before the act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loop is ours. Who drives it is the pluggable part.</a:t>
            </a:r>
            <a:endParaRPr lang="en-US" sz="2800" dirty="0"/>
          </a:p>
        </p:txBody>
      </p:sp>
      <p:sp>
        <p:nvSpPr>
          <p:cNvPr id="4" name="Shape 2"/>
          <p:cNvSpPr/>
          <p:nvPr/>
        </p:nvSpPr>
        <p:spPr>
          <a:xfrm>
            <a:off x="457200" y="1371600"/>
            <a:ext cx="11277295" cy="475488"/>
          </a:xfrm>
          <a:prstGeom prst="rect">
            <a:avLst/>
          </a:prstGeom>
          <a:solidFill>
            <a:srgbClr val="16222B"/>
          </a:solidFill>
          <a:ln w="12700">
            <a:solidFill>
              <a:srgbClr val="16222B"/>
            </a:solidFill>
            <a:prstDash val="solid"/>
          </a:ln>
        </p:spPr>
      </p:sp>
      <p:sp>
        <p:nvSpPr>
          <p:cNvPr id="5" name="Text 3"/>
          <p:cNvSpPr txBox="1"/>
          <p:nvPr/>
        </p:nvSpPr>
        <p:spPr>
          <a:xfrm>
            <a:off x="557784" y="1463040"/>
            <a:ext cx="11076127" cy="292608"/>
          </a:xfrm>
          <a:prstGeom prst="rect">
            <a:avLst/>
          </a:prstGeom>
          <a:noFill/>
          <a:ln/>
        </p:spPr>
        <p:txBody>
          <a:bodyPr wrap="square" lIns="0" tIns="0" rIns="0" bIns="0" rtlCol="0" anchor="t"/>
          <a:lstStyle/>
          <a:p>
            <a:pPr indent="0" marL="0">
              <a:lnSpc>
                <a:spcPts val="1600"/>
              </a:lnSpc>
              <a:buNone/>
            </a:pPr>
            <a:r>
              <a:rPr lang="en-US" sz="1250" dirty="0">
                <a:solidFill>
                  <a:srgbClr val="DCE5EC"/>
                </a:solidFill>
                <a:latin typeface="Consolas" pitchFamily="34" charset="0"/>
                <a:ea typeface="Consolas" pitchFamily="34" charset="-122"/>
                <a:cs typeface="Consolas" pitchFamily="34" charset="-120"/>
              </a:rPr>
              <a:t>observe -&gt; DECIDE -&gt; compose -&gt; validate -&gt; execute -&gt; analyze -&gt; update -&gt; terminate?</a:t>
            </a:r>
            <a:endParaRPr lang="en-US" sz="1250" dirty="0"/>
          </a:p>
        </p:txBody>
      </p:sp>
      <p:sp>
        <p:nvSpPr>
          <p:cNvPr id="6" name="Shape 4"/>
          <p:cNvSpPr/>
          <p:nvPr/>
        </p:nvSpPr>
        <p:spPr>
          <a:xfrm>
            <a:off x="457200" y="2057400"/>
            <a:ext cx="5577840" cy="1371600"/>
          </a:xfrm>
          <a:prstGeom prst="rect">
            <a:avLst/>
          </a:prstGeom>
          <a:solidFill>
            <a:srgbClr val="E9EDF7"/>
          </a:solidFill>
          <a:ln w="12700">
            <a:solidFill>
              <a:srgbClr val="E9EDF7"/>
            </a:solidFill>
            <a:prstDash val="solid"/>
          </a:ln>
        </p:spPr>
      </p:sp>
      <p:sp>
        <p:nvSpPr>
          <p:cNvPr id="7" name="Text 5"/>
          <p:cNvSpPr txBox="1"/>
          <p:nvPr/>
        </p:nvSpPr>
        <p:spPr>
          <a:xfrm>
            <a:off x="585216" y="213969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changed, and why it matters to an API</a:t>
            </a:r>
            <a:endParaRPr lang="en-US" sz="1300" dirty="0"/>
          </a:p>
        </p:txBody>
      </p:sp>
      <p:sp>
        <p:nvSpPr>
          <p:cNvPr id="8" name="Text 6"/>
          <p:cNvSpPr txBox="1"/>
          <p:nvPr/>
        </p:nvSpPr>
        <p:spPr>
          <a:xfrm>
            <a:off x="585216"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manager used to BE the loop: it called `decide()` once per cycle and blocked on the graph it asked for, so the reasoner could not be consulted while work was running.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Now the reasoner is a coroutine that calls the campaign.</a:t>
            </a:r>
            <a:endParaRPr lang="en-US" sz="1100" dirty="0"/>
          </a:p>
        </p:txBody>
      </p:sp>
      <p:sp>
        <p:nvSpPr>
          <p:cNvPr id="9" name="Shape 7"/>
          <p:cNvSpPr/>
          <p:nvPr/>
        </p:nvSpPr>
        <p:spPr>
          <a:xfrm>
            <a:off x="6245352" y="2057400"/>
            <a:ext cx="5577840" cy="1371600"/>
          </a:xfrm>
          <a:prstGeom prst="rect">
            <a:avLst/>
          </a:prstGeom>
          <a:solidFill>
            <a:srgbClr val="EEF2F5"/>
          </a:solidFill>
          <a:ln w="12700">
            <a:solidFill>
              <a:srgbClr val="EEF2F5"/>
            </a:solidFill>
            <a:prstDash val="solid"/>
          </a:ln>
        </p:spPr>
      </p:sp>
      <p:sp>
        <p:nvSpPr>
          <p:cNvPr id="10" name="Text 8"/>
          <p:cNvSpPr txBox="1"/>
          <p:nvPr/>
        </p:nvSpPr>
        <p:spPr>
          <a:xfrm>
            <a:off x="6373368" y="213969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did not change</a:t>
            </a:r>
            <a:endParaRPr lang="en-US" sz="1300" dirty="0"/>
          </a:p>
        </p:txBody>
      </p:sp>
      <p:sp>
        <p:nvSpPr>
          <p:cNvPr id="11" name="Text 9"/>
          <p:cNvSpPr txBox="1"/>
          <p:nvPr/>
        </p:nvSpPr>
        <p:spPr>
          <a:xfrm>
            <a:off x="6373368"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step above still happens in that order, for any one experiment.</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Models A-D are untouched: `SequentialPolicyDriver` makes a `decide`-style policy look like a self-driving one.</a:t>
            </a:r>
            <a:endParaRPr lang="en-US" sz="1100" dirty="0"/>
          </a:p>
        </p:txBody>
      </p:sp>
      <p:sp>
        <p:nvSpPr>
          <p:cNvPr id="12" name="Shape 10"/>
          <p:cNvSpPr/>
          <p:nvPr/>
        </p:nvSpPr>
        <p:spPr>
          <a:xfrm>
            <a:off x="457200" y="3657600"/>
            <a:ext cx="5577840" cy="868680"/>
          </a:xfrm>
          <a:prstGeom prst="roundRect">
            <a:avLst>
              <a:gd name="adj" fmla="val 8421"/>
            </a:avLst>
          </a:prstGeom>
          <a:solidFill>
            <a:srgbClr val="FFFFFF"/>
          </a:solidFill>
          <a:ln w="19050">
            <a:solidFill>
              <a:srgbClr val="3B4E8C"/>
            </a:solidFill>
            <a:prstDash val="solid"/>
          </a:ln>
        </p:spPr>
      </p:sp>
      <p:sp>
        <p:nvSpPr>
          <p:cNvPr id="13" name="Text 11"/>
          <p:cNvSpPr txBox="1"/>
          <p:nvPr/>
        </p:nvSpPr>
        <p:spPr>
          <a:xfrm>
            <a:off x="530352"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decide(obs) -&gt; Decision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answer one question at a time · auditable · models A-D</a:t>
            </a:r>
            <a:endParaRPr lang="en-US" sz="1400" dirty="0"/>
          </a:p>
        </p:txBody>
      </p:sp>
      <p:sp>
        <p:nvSpPr>
          <p:cNvPr id="14" name="Shape 12"/>
          <p:cNvSpPr/>
          <p:nvPr/>
        </p:nvSpPr>
        <p:spPr>
          <a:xfrm>
            <a:off x="6245352" y="3657600"/>
            <a:ext cx="5577840" cy="868680"/>
          </a:xfrm>
          <a:prstGeom prst="roundRect">
            <a:avLst>
              <a:gd name="adj" fmla="val 8421"/>
            </a:avLst>
          </a:prstGeom>
          <a:solidFill>
            <a:srgbClr val="FFFFFF"/>
          </a:solidFill>
          <a:ln w="19050">
            <a:solidFill>
              <a:srgbClr val="3B4E8C"/>
            </a:solidFill>
            <a:prstDash val="solid"/>
          </a:ln>
        </p:spPr>
      </p:sp>
      <p:sp>
        <p:nvSpPr>
          <p:cNvPr id="15" name="Text 13"/>
          <p:cNvSpPr txBox="1"/>
          <p:nvPr/>
        </p:nvSpPr>
        <p:spPr>
          <a:xfrm>
            <a:off x="6318504"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drive yourself · submit many, collect as they finish</a:t>
            </a:r>
            <a:endParaRPr lang="en-US" sz="1400" dirty="0"/>
          </a:p>
        </p:txBody>
      </p:sp>
      <p:sp>
        <p:nvSpPr>
          <p:cNvPr id="16" name="Text 14"/>
          <p:cNvSpPr txBox="1"/>
          <p:nvPr/>
        </p:nvSpPr>
        <p:spPr>
          <a:xfrm>
            <a:off x="457200"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policy/base.py:19</a:t>
            </a:r>
            <a:endParaRPr lang="en-US" sz="1050" dirty="0"/>
          </a:p>
        </p:txBody>
      </p:sp>
      <p:sp>
        <p:nvSpPr>
          <p:cNvPr id="17" name="Text 15"/>
          <p:cNvSpPr txBox="1"/>
          <p:nvPr/>
        </p:nvSpPr>
        <p:spPr>
          <a:xfrm>
            <a:off x="6245352"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a:t>
            </a:r>
            <a:endParaRPr lang="en-US" sz="1050" dirty="0"/>
          </a:p>
        </p:txBody>
      </p:sp>
      <p:sp>
        <p:nvSpPr>
          <p:cNvPr id="18" name="Shape 16"/>
          <p:cNvSpPr/>
          <p:nvPr/>
        </p:nvSpPr>
        <p:spPr>
          <a:xfrm>
            <a:off x="3246120" y="4846320"/>
            <a:ext cx="91" cy="411480"/>
          </a:xfrm>
          <a:prstGeom prst="line">
            <a:avLst/>
          </a:prstGeom>
          <a:noFill/>
          <a:ln w="15875">
            <a:solidFill>
              <a:srgbClr val="5E6B75"/>
            </a:solidFill>
            <a:prstDash val="solid"/>
            <a:tailEnd type="triangle"/>
          </a:ln>
        </p:spPr>
      </p:sp>
      <p:sp>
        <p:nvSpPr>
          <p:cNvPr id="19" name="Shape 17"/>
          <p:cNvSpPr/>
          <p:nvPr/>
        </p:nvSpPr>
        <p:spPr>
          <a:xfrm>
            <a:off x="9034272" y="4846320"/>
            <a:ext cx="91" cy="411480"/>
          </a:xfrm>
          <a:prstGeom prst="line">
            <a:avLst/>
          </a:prstGeom>
          <a:noFill/>
          <a:ln w="15875">
            <a:solidFill>
              <a:srgbClr val="5E6B75"/>
            </a:solidFill>
            <a:prstDash val="solid"/>
            <a:tailEnd type="triangle"/>
          </a:ln>
        </p:spPr>
      </p:sp>
      <p:sp>
        <p:nvSpPr>
          <p:cNvPr id="20" name="Shape 18"/>
          <p:cNvSpPr/>
          <p:nvPr/>
        </p:nvSpPr>
        <p:spPr>
          <a:xfrm>
            <a:off x="457200" y="5285232"/>
            <a:ext cx="11277295" cy="658368"/>
          </a:xfrm>
          <a:prstGeom prst="roundRect">
            <a:avLst>
              <a:gd name="adj" fmla="val 11111"/>
            </a:avLst>
          </a:prstGeom>
          <a:solidFill>
            <a:srgbClr val="E3F0F1"/>
          </a:solidFill>
          <a:ln w="19050">
            <a:solidFill>
              <a:srgbClr val="1E6470"/>
            </a:solidFill>
            <a:prstDash val="solid"/>
          </a:ln>
        </p:spPr>
      </p:sp>
      <p:sp>
        <p:nvSpPr>
          <p:cNvPr id="21" name="Text 19"/>
          <p:cNvSpPr txBox="1"/>
          <p:nvPr/>
        </p:nvSpPr>
        <p:spPr>
          <a:xfrm>
            <a:off x="530352" y="5330952"/>
            <a:ext cx="11130991" cy="566928"/>
          </a:xfrm>
          <a:prstGeom prst="rect">
            <a:avLst/>
          </a:prstGeom>
          <a:noFill/>
          <a:ln/>
        </p:spPr>
        <p:txBody>
          <a:bodyPr wrap="square" lIns="0" tIns="0" rIns="0" bIns="0" rtlCol="0" anchor="ctr"/>
          <a:lstStyle/>
          <a:p>
            <a:pPr algn="ctr" indent="0" marL="0">
              <a:buNone/>
            </a:pPr>
            <a:r>
              <a:rPr lang="en-US" sz="1250" b="1" dirty="0">
                <a:solidFill>
                  <a:srgbClr val="1E6470"/>
                </a:solidFill>
                <a:latin typeface="Calibri" pitchFamily="34" charset="0"/>
                <a:ea typeface="Calibri" pitchFamily="34" charset="-122"/>
                <a:cs typeface="Calibri" pitchFamily="34" charset="-120"/>
              </a:rPr>
              <a:t>CampaignExecutor — owns all campaign state, reaps runs as they finish, decides termination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budget, stagnation and repeated failure are facts about state a reasoner cannot see, so stopping is not the reasoner's to declare</a:t>
            </a:r>
            <a:endParaRPr lang="en-US" sz="1400" dirty="0"/>
          </a:p>
        </p:txBody>
      </p:sp>
      <p:sp>
        <p:nvSpPr>
          <p:cNvPr id="23" name="Text 2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manager.py:82 — whichever of the two coroutines finishes first ends the campaign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MAP FOR THE REST OF THE DECK</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Six surfaces, six audiences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2194560"/>
                <a:gridCol w="2514600"/>
                <a:gridCol w="3429000"/>
                <a:gridCol w="1463040"/>
                <a:gridCol w="167335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writes against it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they write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 CLI</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operator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3 subcommands, 6 control models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 / tools / preflight</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cli/__init__.py:31</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 Campaign YAML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scientist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the scientific question: stages, params, objectives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22 fields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runtime/executor.py:58</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 ControlPolicy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decide() or conduct(), returning abstract intent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3 methods · 4 decisions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policy/base.py:19</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 CampaignSession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in or out of process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calls onto a running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 operations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core/session.py:56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 ControlPlane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external caller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protocol, in-process or over a socket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19 ops · 15 routes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control/plane.py:23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6 · ToolSpec + TaskAgent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tool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spec file, and four phases of adapter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15 fields · 4 phases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tools/spec.py:75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892040"/>
            <a:ext cx="5577840" cy="1234440"/>
          </a:xfrm>
          <a:prstGeom prst="rect">
            <a:avLst/>
          </a:prstGeom>
          <a:solidFill>
            <a:srgbClr val="E3F0F1"/>
          </a:solidFill>
          <a:ln w="12700">
            <a:solidFill>
              <a:srgbClr val="E3F0F1"/>
            </a:solidFill>
            <a:prstDash val="solid"/>
          </a:ln>
        </p:spPr>
      </p:sp>
      <p:sp>
        <p:nvSpPr>
          <p:cNvPr id="6" name="Text 3"/>
          <p:cNvSpPr txBox="1"/>
          <p:nvPr/>
        </p:nvSpPr>
        <p:spPr>
          <a:xfrm>
            <a:off x="585216" y="497433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is shared, and is the point</a:t>
            </a:r>
            <a:endParaRPr lang="en-US" sz="1300" dirty="0"/>
          </a:p>
        </p:txBody>
      </p:sp>
      <p:sp>
        <p:nvSpPr>
          <p:cNvPr id="7" name="Text 4"/>
          <p:cNvSpPr txBox="1"/>
          <p:nvPr/>
        </p:nvSpPr>
        <p:spPr>
          <a:xfrm>
            <a:off x="585216"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reach one executor, one design tree, one append-only provenance log.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are refused the same way: five gates, a dry run, and the trust interlock.</a:t>
            </a:r>
            <a:endParaRPr lang="en-US" sz="1100" dirty="0"/>
          </a:p>
        </p:txBody>
      </p:sp>
      <p:sp>
        <p:nvSpPr>
          <p:cNvPr id="8" name="Shape 5"/>
          <p:cNvSpPr/>
          <p:nvPr/>
        </p:nvSpPr>
        <p:spPr>
          <a:xfrm>
            <a:off x="6245352" y="4892040"/>
            <a:ext cx="5577840" cy="1234440"/>
          </a:xfrm>
          <a:prstGeom prst="rect">
            <a:avLst/>
          </a:prstGeom>
          <a:solidFill>
            <a:srgbClr val="EEF2F5"/>
          </a:solidFill>
          <a:ln w="12700">
            <a:solidFill>
              <a:srgbClr val="EEF2F5"/>
            </a:solidFill>
            <a:prstDash val="solid"/>
          </a:ln>
        </p:spPr>
      </p:sp>
      <p:sp>
        <p:nvSpPr>
          <p:cNvPr id="9" name="Text 6"/>
          <p:cNvSpPr txBox="1"/>
          <p:nvPr/>
        </p:nvSpPr>
        <p:spPr>
          <a:xfrm>
            <a:off x="6373368" y="497433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is enforced, not merely intended</a:t>
            </a:r>
            <a:endParaRPr lang="en-US" sz="1300" dirty="0"/>
          </a:p>
        </p:txBody>
      </p:sp>
      <p:sp>
        <p:nvSpPr>
          <p:cNvPr id="10" name="Text 7"/>
          <p:cNvSpPr txBox="1"/>
          <p:nvPr/>
        </p:nvSpPr>
        <p:spPr>
          <a:xfrm>
            <a:off x="6373368"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10 layers in an allow-list walked by `ast`: `policy` may import only core, and `core` imports nothing internal.</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new cross-layer import fails the suite by default — slide 29.</a:t>
            </a:r>
            <a:endParaRPr lang="en-US" sz="1100" dirty="0"/>
          </a:p>
        </p:txBody>
      </p:sp>
      <p:sp>
        <p:nvSpPr>
          <p:cNvPr id="12" name="Text 8"/>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declarations themselves: run_model.py::surfaces() · slides/impress-a-api-user-slides @ bf32d1d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FRAMING · THE SYSTEM AS A MEDIATOR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side: what the caller states, and what comes back</a:t>
            </a:r>
            <a:endParaRPr lang="en-US" sz="2800" dirty="0"/>
          </a:p>
        </p:txBody>
      </p:sp>
      <p:sp>
        <p:nvSpPr>
          <p:cNvPr id="4" name="Shape 2"/>
          <p:cNvSpPr/>
          <p:nvPr/>
        </p:nvSpPr>
        <p:spPr>
          <a:xfrm>
            <a:off x="457200" y="1371600"/>
            <a:ext cx="4480560" cy="914400"/>
          </a:xfrm>
          <a:prstGeom prst="rect">
            <a:avLst/>
          </a:prstGeom>
          <a:solidFill>
            <a:srgbClr val="FFFFFF"/>
          </a:solidFill>
          <a:ln w="12700">
            <a:solidFill>
              <a:srgbClr val="C9D1D8"/>
            </a:solidFill>
            <a:prstDash val="solid"/>
          </a:ln>
        </p:spPr>
      </p:sp>
      <p:sp>
        <p:nvSpPr>
          <p:cNvPr id="5" name="Shape 3"/>
          <p:cNvSpPr/>
          <p:nvPr/>
        </p:nvSpPr>
        <p:spPr>
          <a:xfrm>
            <a:off x="457200" y="1371600"/>
            <a:ext cx="54864" cy="914400"/>
          </a:xfrm>
          <a:prstGeom prst="rect">
            <a:avLst/>
          </a:prstGeom>
          <a:solidFill>
            <a:srgbClr val="D9731A"/>
          </a:solidFill>
          <a:ln w="12700">
            <a:solidFill>
              <a:srgbClr val="D9731A"/>
            </a:solidFill>
            <a:prstDash val="solid"/>
          </a:ln>
        </p:spPr>
      </p:sp>
      <p:sp>
        <p:nvSpPr>
          <p:cNvPr id="6" name="Text 4"/>
          <p:cNvSpPr txBox="1"/>
          <p:nvPr/>
        </p:nvSpPr>
        <p:spPr>
          <a:xfrm>
            <a:off x="621792" y="1435608"/>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“better” means</a:t>
            </a:r>
            <a:endParaRPr lang="en-US" sz="1200" dirty="0"/>
          </a:p>
        </p:txBody>
      </p:sp>
      <p:sp>
        <p:nvSpPr>
          <p:cNvPr id="7" name="Text 5"/>
          <p:cNvSpPr txBox="1"/>
          <p:nvPr/>
        </p:nvSpPr>
        <p:spPr>
          <a:xfrm>
            <a:off x="621792" y="1691640"/>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`goal` and `objectives` — name, direction, min/max. The only statement of success in the system, and what the front is ranked against</a:t>
            </a:r>
            <a:endParaRPr lang="en-US" sz="1000" dirty="0"/>
          </a:p>
        </p:txBody>
      </p:sp>
      <p:sp>
        <p:nvSpPr>
          <p:cNvPr id="8" name="Shape 6"/>
          <p:cNvSpPr/>
          <p:nvPr/>
        </p:nvSpPr>
        <p:spPr>
          <a:xfrm>
            <a:off x="4956048" y="1828800"/>
            <a:ext cx="100584" cy="91"/>
          </a:xfrm>
          <a:prstGeom prst="line">
            <a:avLst/>
          </a:prstGeom>
          <a:noFill/>
          <a:ln w="15875">
            <a:solidFill>
              <a:srgbClr val="D9731A"/>
            </a:solidFill>
            <a:prstDash val="solid"/>
            <a:tailEnd type="triangle"/>
          </a:ln>
        </p:spPr>
      </p:sp>
      <p:sp>
        <p:nvSpPr>
          <p:cNvPr id="9" name="Shape 7"/>
          <p:cNvSpPr/>
          <p:nvPr/>
        </p:nvSpPr>
        <p:spPr>
          <a:xfrm>
            <a:off x="457200" y="2386584"/>
            <a:ext cx="4480560" cy="914400"/>
          </a:xfrm>
          <a:prstGeom prst="rect">
            <a:avLst/>
          </a:prstGeom>
          <a:solidFill>
            <a:srgbClr val="FFFFFF"/>
          </a:solidFill>
          <a:ln w="12700">
            <a:solidFill>
              <a:srgbClr val="C9D1D8"/>
            </a:solidFill>
            <a:prstDash val="solid"/>
          </a:ln>
        </p:spPr>
      </p:sp>
      <p:sp>
        <p:nvSpPr>
          <p:cNvPr id="10" name="Shape 8"/>
          <p:cNvSpPr/>
          <p:nvPr/>
        </p:nvSpPr>
        <p:spPr>
          <a:xfrm>
            <a:off x="457200" y="2386584"/>
            <a:ext cx="54864" cy="914400"/>
          </a:xfrm>
          <a:prstGeom prst="rect">
            <a:avLst/>
          </a:prstGeom>
          <a:solidFill>
            <a:srgbClr val="7A4A8C"/>
          </a:solidFill>
          <a:ln w="12700">
            <a:solidFill>
              <a:srgbClr val="7A4A8C"/>
            </a:solidFill>
            <a:prstDash val="solid"/>
          </a:ln>
        </p:spPr>
      </p:sp>
      <p:sp>
        <p:nvSpPr>
          <p:cNvPr id="11" name="Text 9"/>
          <p:cNvSpPr txBox="1"/>
          <p:nvPr/>
        </p:nvSpPr>
        <p:spPr>
          <a:xfrm>
            <a:off x="621792" y="2450592"/>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may run</a:t>
            </a:r>
            <a:endParaRPr lang="en-US" sz="1200" dirty="0"/>
          </a:p>
        </p:txBody>
      </p:sp>
      <p:sp>
        <p:nvSpPr>
          <p:cNvPr id="12" name="Text 10"/>
          <p:cNvSpPr txBox="1"/>
          <p:nvPr/>
        </p:nvSpPr>
        <p:spPr>
          <a:xfrm>
            <a:off x="621792" y="2706624"/>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toolkit inventory, discovered at runtime from a directory: 11 tools in 5 toolkits here. `stages` names which of them this campaign may use</a:t>
            </a:r>
            <a:endParaRPr lang="en-US" sz="1000" dirty="0"/>
          </a:p>
        </p:txBody>
      </p:sp>
      <p:sp>
        <p:nvSpPr>
          <p:cNvPr id="13" name="Shape 11"/>
          <p:cNvSpPr/>
          <p:nvPr/>
        </p:nvSpPr>
        <p:spPr>
          <a:xfrm>
            <a:off x="4956048" y="2843784"/>
            <a:ext cx="100584" cy="91"/>
          </a:xfrm>
          <a:prstGeom prst="line">
            <a:avLst/>
          </a:prstGeom>
          <a:noFill/>
          <a:ln w="15875">
            <a:solidFill>
              <a:srgbClr val="7A4A8C"/>
            </a:solidFill>
            <a:prstDash val="solid"/>
            <a:tailEnd type="triangle"/>
          </a:ln>
        </p:spPr>
      </p:sp>
      <p:sp>
        <p:nvSpPr>
          <p:cNvPr id="14" name="Shape 12"/>
          <p:cNvSpPr/>
          <p:nvPr/>
        </p:nvSpPr>
        <p:spPr>
          <a:xfrm>
            <a:off x="457200" y="3401568"/>
            <a:ext cx="4480560" cy="914400"/>
          </a:xfrm>
          <a:prstGeom prst="rect">
            <a:avLst/>
          </a:prstGeom>
          <a:solidFill>
            <a:srgbClr val="FFFFFF"/>
          </a:solidFill>
          <a:ln w="12700">
            <a:solidFill>
              <a:srgbClr val="C9D1D8"/>
            </a:solidFill>
            <a:prstDash val="solid"/>
          </a:ln>
        </p:spPr>
      </p:sp>
      <p:sp>
        <p:nvSpPr>
          <p:cNvPr id="15" name="Shape 13"/>
          <p:cNvSpPr/>
          <p:nvPr/>
        </p:nvSpPr>
        <p:spPr>
          <a:xfrm>
            <a:off x="457200" y="3401568"/>
            <a:ext cx="54864" cy="914400"/>
          </a:xfrm>
          <a:prstGeom prst="rect">
            <a:avLst/>
          </a:prstGeom>
          <a:solidFill>
            <a:srgbClr val="1E6470"/>
          </a:solidFill>
          <a:ln w="12700">
            <a:solidFill>
              <a:srgbClr val="1E6470"/>
            </a:solidFill>
            <a:prstDash val="solid"/>
          </a:ln>
        </p:spPr>
      </p:sp>
      <p:sp>
        <p:nvSpPr>
          <p:cNvPr id="16" name="Text 14"/>
          <p:cNvSpPr txBox="1"/>
          <p:nvPr/>
        </p:nvSpPr>
        <p:spPr>
          <a:xfrm>
            <a:off x="621792" y="3465576"/>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it may spend, and where</a:t>
            </a:r>
            <a:endParaRPr lang="en-US" sz="1200" dirty="0"/>
          </a:p>
        </p:txBody>
      </p:sp>
      <p:sp>
        <p:nvSpPr>
          <p:cNvPr id="17" name="Text 15"/>
          <p:cNvSpPr txBox="1"/>
          <p:nvPr/>
        </p:nvSpPr>
        <p:spPr>
          <a:xfrm>
            <a:off x="621792" y="3721608"/>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`budget`, `site` caps, `concurrency`, the `replicas` CAP, `backend` + config, three timeouts — of 22 `CampaignSpec` fields</a:t>
            </a:r>
            <a:endParaRPr lang="en-US" sz="1000" dirty="0"/>
          </a:p>
        </p:txBody>
      </p:sp>
      <p:sp>
        <p:nvSpPr>
          <p:cNvPr id="18" name="Shape 16"/>
          <p:cNvSpPr/>
          <p:nvPr/>
        </p:nvSpPr>
        <p:spPr>
          <a:xfrm>
            <a:off x="4956048" y="3858768"/>
            <a:ext cx="100584" cy="91"/>
          </a:xfrm>
          <a:prstGeom prst="line">
            <a:avLst/>
          </a:prstGeom>
          <a:noFill/>
          <a:ln w="15875">
            <a:solidFill>
              <a:srgbClr val="1E6470"/>
            </a:solidFill>
            <a:prstDash val="solid"/>
            <a:tailEnd type="triangle"/>
          </a:ln>
        </p:spPr>
      </p:sp>
      <p:sp>
        <p:nvSpPr>
          <p:cNvPr id="19" name="Shape 17"/>
          <p:cNvSpPr/>
          <p:nvPr/>
        </p:nvSpPr>
        <p:spPr>
          <a:xfrm>
            <a:off x="457200" y="4416552"/>
            <a:ext cx="4480560" cy="914400"/>
          </a:xfrm>
          <a:prstGeom prst="rect">
            <a:avLst/>
          </a:prstGeom>
          <a:solidFill>
            <a:srgbClr val="FFFFFF"/>
          </a:solidFill>
          <a:ln w="12700">
            <a:solidFill>
              <a:srgbClr val="C9D1D8"/>
            </a:solidFill>
            <a:prstDash val="solid"/>
          </a:ln>
        </p:spPr>
      </p:sp>
      <p:sp>
        <p:nvSpPr>
          <p:cNvPr id="20" name="Shape 18"/>
          <p:cNvSpPr/>
          <p:nvPr/>
        </p:nvSpPr>
        <p:spPr>
          <a:xfrm>
            <a:off x="457200" y="4416552"/>
            <a:ext cx="54864" cy="914400"/>
          </a:xfrm>
          <a:prstGeom prst="rect">
            <a:avLst/>
          </a:prstGeom>
          <a:solidFill>
            <a:srgbClr val="3B4E8C"/>
          </a:solidFill>
          <a:ln w="12700">
            <a:solidFill>
              <a:srgbClr val="3B4E8C"/>
            </a:solidFill>
            <a:prstDash val="solid"/>
          </a:ln>
        </p:spPr>
      </p:sp>
      <p:sp>
        <p:nvSpPr>
          <p:cNvPr id="21" name="Text 19"/>
          <p:cNvSpPr txBox="1"/>
          <p:nvPr/>
        </p:nvSpPr>
        <p:spPr>
          <a:xfrm>
            <a:off x="621792" y="4480560"/>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Who decides</a:t>
            </a:r>
            <a:endParaRPr lang="en-US" sz="1200" dirty="0"/>
          </a:p>
        </p:txBody>
      </p:sp>
      <p:sp>
        <p:nvSpPr>
          <p:cNvPr id="22" name="Text 20"/>
          <p:cNvSpPr txBox="1"/>
          <p:nvPr/>
        </p:nvSpPr>
        <p:spPr>
          <a:xfrm>
            <a:off x="621792" y="4736592"/>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`--model` picks one of 6, fixed at launch (ADR 0005) — or your own `ControlPolicy`, which is 3 methods</a:t>
            </a:r>
            <a:endParaRPr lang="en-US" sz="1000" dirty="0"/>
          </a:p>
        </p:txBody>
      </p:sp>
      <p:sp>
        <p:nvSpPr>
          <p:cNvPr id="23" name="Shape 21"/>
          <p:cNvSpPr/>
          <p:nvPr/>
        </p:nvSpPr>
        <p:spPr>
          <a:xfrm>
            <a:off x="4956048" y="4873752"/>
            <a:ext cx="100584" cy="91"/>
          </a:xfrm>
          <a:prstGeom prst="line">
            <a:avLst/>
          </a:prstGeom>
          <a:noFill/>
          <a:ln w="15875">
            <a:solidFill>
              <a:srgbClr val="3B4E8C"/>
            </a:solidFill>
            <a:prstDash val="solid"/>
            <a:tailEnd type="triangle"/>
          </a:ln>
        </p:spPr>
      </p:sp>
      <p:sp>
        <p:nvSpPr>
          <p:cNvPr id="24" name="Shape 22"/>
          <p:cNvSpPr/>
          <p:nvPr/>
        </p:nvSpPr>
        <p:spPr>
          <a:xfrm>
            <a:off x="5074920" y="1371600"/>
            <a:ext cx="2057400" cy="4059936"/>
          </a:xfrm>
          <a:prstGeom prst="roundRect">
            <a:avLst>
              <a:gd name="adj" fmla="val 3556"/>
            </a:avLst>
          </a:prstGeom>
          <a:solidFill>
            <a:srgbClr val="16222B"/>
          </a:solidFill>
          <a:ln w="19050">
            <a:solidFill>
              <a:srgbClr val="16222B"/>
            </a:solidFill>
            <a:prstDash val="solid"/>
          </a:ln>
        </p:spPr>
      </p:sp>
      <p:sp>
        <p:nvSpPr>
          <p:cNvPr id="25" name="Text 23"/>
          <p:cNvSpPr txBox="1"/>
          <p:nvPr/>
        </p:nvSpPr>
        <p:spPr>
          <a:xfrm>
            <a:off x="5148072" y="1417320"/>
            <a:ext cx="1911096" cy="39684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IMPRESS-A</a:t>
            </a:r>
            <a:endParaRPr lang="en-US" sz="1400" dirty="0"/>
          </a:p>
          <a:p>
            <a:pPr algn="ctr" indent="0" marL="0">
              <a:buNone/>
            </a:pP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admits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composes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refuses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dispatches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records</a:t>
            </a:r>
            <a:endParaRPr lang="en-US" sz="1400" dirty="0"/>
          </a:p>
          <a:p>
            <a:pPr algn="ctr" indent="0" marL="0">
              <a:buNone/>
            </a:pP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and decides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when to stop</a:t>
            </a:r>
            <a:endParaRPr lang="en-US" sz="1400" dirty="0"/>
          </a:p>
        </p:txBody>
      </p:sp>
      <p:sp>
        <p:nvSpPr>
          <p:cNvPr id="26" name="Shape 24"/>
          <p:cNvSpPr/>
          <p:nvPr/>
        </p:nvSpPr>
        <p:spPr>
          <a:xfrm>
            <a:off x="7315200" y="1371600"/>
            <a:ext cx="4419295" cy="1920240"/>
          </a:xfrm>
          <a:prstGeom prst="rect">
            <a:avLst/>
          </a:prstGeom>
          <a:solidFill>
            <a:srgbClr val="E3F0F1"/>
          </a:solidFill>
          <a:ln w="12700">
            <a:solidFill>
              <a:srgbClr val="E3F0F1"/>
            </a:solidFill>
            <a:prstDash val="solid"/>
          </a:ln>
        </p:spPr>
      </p:sp>
      <p:sp>
        <p:nvSpPr>
          <p:cNvPr id="27" name="Text 25"/>
          <p:cNvSpPr txBox="1"/>
          <p:nvPr/>
        </p:nvSpPr>
        <p:spPr>
          <a:xfrm>
            <a:off x="7443216" y="1453896"/>
            <a:ext cx="416326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it tells you while it runs</a:t>
            </a:r>
            <a:endParaRPr lang="en-US" sz="1300" dirty="0"/>
          </a:p>
        </p:txBody>
      </p:sp>
      <p:sp>
        <p:nvSpPr>
          <p:cNvPr id="28" name="Text 26"/>
          <p:cNvSpPr txBox="1"/>
          <p:nvPr/>
        </p:nvSpPr>
        <p:spPr>
          <a:xfrm>
            <a:off x="7443216" y="1764792"/>
            <a:ext cx="4163263"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`observe()` returns the SAME object the policy's `decide` is handed — one truth, not a dashboard view of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event stream, cursor-paged or tailed; provenance (14 records across 5 kinds in the run behind this deck); a durable ledger; `artifacts(selector)`; a heartbeat.</a:t>
            </a:r>
            <a:endParaRPr lang="en-US" sz="1050" dirty="0"/>
          </a:p>
        </p:txBody>
      </p:sp>
      <p:sp>
        <p:nvSpPr>
          <p:cNvPr id="29" name="Shape 27"/>
          <p:cNvSpPr/>
          <p:nvPr/>
        </p:nvSpPr>
        <p:spPr>
          <a:xfrm>
            <a:off x="7315200" y="3511296"/>
            <a:ext cx="4419295" cy="1920240"/>
          </a:xfrm>
          <a:prstGeom prst="rect">
            <a:avLst/>
          </a:prstGeom>
          <a:solidFill>
            <a:srgbClr val="E9EDF7"/>
          </a:solidFill>
          <a:ln w="12700">
            <a:solidFill>
              <a:srgbClr val="E9EDF7"/>
            </a:solidFill>
            <a:prstDash val="solid"/>
          </a:ln>
        </p:spPr>
      </p:sp>
      <p:sp>
        <p:nvSpPr>
          <p:cNvPr id="30" name="Text 28"/>
          <p:cNvSpPr txBox="1"/>
          <p:nvPr/>
        </p:nvSpPr>
        <p:spPr>
          <a:xfrm>
            <a:off x="7443216" y="3593592"/>
            <a:ext cx="4163263"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you can say back, mid-flight</a:t>
            </a:r>
            <a:endParaRPr lang="en-US" sz="1300" dirty="0"/>
          </a:p>
        </p:txBody>
      </p:sp>
      <p:sp>
        <p:nvSpPr>
          <p:cNvPr id="31" name="Text 29"/>
          <p:cNvSpPr txBox="1"/>
          <p:nvPr/>
        </p:nvSpPr>
        <p:spPr>
          <a:xfrm>
            <a:off x="7443216" y="3904488"/>
            <a:ext cx="4163263"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`steer`, `pause`, `resume`, `stop`, `backtrack`, `request_human`, `ingest_measurement` — 19 control-plane operations in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measurement SUPERSEDES a prediction and never deletes it, which is why the front is not monotonic.</a:t>
            </a:r>
            <a:endParaRPr lang="en-US" sz="1050" dirty="0"/>
          </a:p>
        </p:txBody>
      </p:sp>
      <p:sp>
        <p:nvSpPr>
          <p:cNvPr id="32" name="Shape 30"/>
          <p:cNvSpPr/>
          <p:nvPr/>
        </p:nvSpPr>
        <p:spPr>
          <a:xfrm>
            <a:off x="7150608" y="2194560"/>
            <a:ext cx="146304" cy="91"/>
          </a:xfrm>
          <a:prstGeom prst="line">
            <a:avLst/>
          </a:prstGeom>
          <a:noFill/>
          <a:ln w="19050">
            <a:solidFill>
              <a:srgbClr val="1E6470"/>
            </a:solidFill>
            <a:prstDash val="solid"/>
            <a:tailEnd type="triangle"/>
          </a:ln>
        </p:spPr>
      </p:sp>
      <p:sp>
        <p:nvSpPr>
          <p:cNvPr id="33" name="Shape 31"/>
          <p:cNvSpPr/>
          <p:nvPr/>
        </p:nvSpPr>
        <p:spPr>
          <a:xfrm flipH="1">
            <a:off x="7150608" y="4297680"/>
            <a:ext cx="146304" cy="91"/>
          </a:xfrm>
          <a:prstGeom prst="line">
            <a:avLst/>
          </a:prstGeom>
          <a:noFill/>
          <a:ln w="19050">
            <a:solidFill>
              <a:srgbClr val="3B4E8C"/>
            </a:solidFill>
            <a:prstDash val="solid"/>
            <a:tailEnd type="triangle"/>
          </a:ln>
        </p:spPr>
      </p:sp>
      <p:sp>
        <p:nvSpPr>
          <p:cNvPr id="34" name="Shape 32"/>
          <p:cNvSpPr/>
          <p:nvPr/>
        </p:nvSpPr>
        <p:spPr>
          <a:xfrm>
            <a:off x="457200" y="5577840"/>
            <a:ext cx="11277295" cy="749808"/>
          </a:xfrm>
          <a:prstGeom prst="rect">
            <a:avLst/>
          </a:prstGeom>
          <a:solidFill>
            <a:srgbClr val="E4F1EA"/>
          </a:solidFill>
          <a:ln w="19050">
            <a:solidFill>
              <a:srgbClr val="2E7D5B"/>
            </a:solidFill>
            <a:prstDash val="solid"/>
          </a:ln>
        </p:spPr>
      </p:sp>
      <p:sp>
        <p:nvSpPr>
          <p:cNvPr id="35" name="Text 33"/>
          <p:cNvSpPr txBox="1"/>
          <p:nvPr/>
        </p:nvSpPr>
        <p:spPr>
          <a:xfrm>
            <a:off x="603504" y="5687568"/>
            <a:ext cx="10984687" cy="566928"/>
          </a:xfrm>
          <a:prstGeom prst="rect">
            <a:avLst/>
          </a:prstGeom>
          <a:noFill/>
          <a:ln/>
        </p:spPr>
        <p:txBody>
          <a:bodyPr wrap="square" lIns="0" tIns="0" rIns="0" bIns="0" rtlCol="0" anchor="t"/>
          <a:lstStyle/>
          <a:p>
            <a:pPr indent="0" marL="0">
              <a:buNone/>
            </a:pPr>
            <a:r>
              <a:rPr lang="en-US" sz="1200" b="1" dirty="0">
                <a:solidFill>
                  <a:srgbClr val="2E7D5B"/>
                </a:solidFill>
                <a:latin typeface="Calibri" pitchFamily="34" charset="0"/>
                <a:ea typeface="Calibri" pitchFamily="34" charset="-122"/>
                <a:cs typeface="Calibri" pitchFamily="34" charset="-120"/>
              </a:rPr>
              <a:t>The asymmetry is the whole design:  </a:t>
            </a:r>
            <a:pPr indent="0" marL="0">
              <a:buNone/>
            </a:pPr>
            <a:r>
              <a:rPr lang="en-US" sz="1200" dirty="0">
                <a:solidFill>
                  <a:srgbClr val="22303C"/>
                </a:solidFill>
                <a:latin typeface="Calibri" pitchFamily="34" charset="0"/>
                <a:ea typeface="Calibri" pitchFamily="34" charset="-122"/>
                <a:cs typeface="Calibri" pitchFamily="34" charset="-120"/>
              </a:rPr>
              <a:t>the caller never names a task, a node, or a tool parameter — and the engine never invents an objective or a budget. Intent and constraints go in; tasks, and evidence about them, come out. Everything on the next slide is what the system does with that gap.</a:t>
            </a:r>
            <a:endParaRPr lang="en-US" sz="120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on this slide is mined · slides/impress-a-api-user-slides @ bf32d1d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FRAMING · THE SYSTEM AS A MEDIATOR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other side: how that becomes processes on nodes</a:t>
            </a:r>
            <a:endParaRPr lang="en-US" sz="2800" dirty="0"/>
          </a:p>
        </p:txBody>
      </p:sp>
      <p:sp>
        <p:nvSpPr>
          <p:cNvPr id="4" name="Shape 2"/>
          <p:cNvSpPr/>
          <p:nvPr/>
        </p:nvSpPr>
        <p:spPr>
          <a:xfrm>
            <a:off x="457200" y="1371600"/>
            <a:ext cx="1516990" cy="1874520"/>
          </a:xfrm>
          <a:prstGeom prst="rect">
            <a:avLst/>
          </a:prstGeom>
          <a:solidFill>
            <a:srgbClr val="EEF2F5"/>
          </a:solidFill>
          <a:ln w="15875">
            <a:solidFill>
              <a:srgbClr val="3B4E8C"/>
            </a:solidFill>
            <a:prstDash val="solid"/>
          </a:ln>
        </p:spPr>
      </p:sp>
      <p:sp>
        <p:nvSpPr>
          <p:cNvPr id="5" name="Shape 3"/>
          <p:cNvSpPr/>
          <p:nvPr/>
        </p:nvSpPr>
        <p:spPr>
          <a:xfrm>
            <a:off x="457200" y="1371600"/>
            <a:ext cx="1516990" cy="274320"/>
          </a:xfrm>
          <a:prstGeom prst="rect">
            <a:avLst/>
          </a:prstGeom>
          <a:solidFill>
            <a:srgbClr val="3B4E8C"/>
          </a:solidFill>
          <a:ln w="12700">
            <a:solidFill>
              <a:srgbClr val="3B4E8C"/>
            </a:solidFill>
            <a:prstDash val="solid"/>
          </a:ln>
        </p:spPr>
      </p:sp>
      <p:sp>
        <p:nvSpPr>
          <p:cNvPr id="6" name="Text 4"/>
          <p:cNvSpPr txBox="1"/>
          <p:nvPr/>
        </p:nvSpPr>
        <p:spPr>
          <a:xfrm>
            <a:off x="457200"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INTENT</a:t>
            </a:r>
            <a:endParaRPr lang="en-US" sz="950" dirty="0"/>
          </a:p>
        </p:txBody>
      </p:sp>
      <p:sp>
        <p:nvSpPr>
          <p:cNvPr id="7" name="Text 5"/>
          <p:cNvSpPr txBox="1"/>
          <p:nvPr/>
        </p:nvSpPr>
        <p:spPr>
          <a:xfrm>
            <a:off x="521208"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6 fields, abstract</a:t>
            </a:r>
            <a:endParaRPr lang="en-US" sz="850" dirty="0"/>
          </a:p>
        </p:txBody>
      </p:sp>
      <p:sp>
        <p:nvSpPr>
          <p:cNvPr id="8" name="Text 6"/>
          <p:cNvSpPr txBox="1"/>
          <p:nvPr/>
        </p:nvSpPr>
        <p:spPr>
          <a:xfrm>
            <a:off x="521208"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campaign params merge BENEATH the policy's; `replicas` is a cap, not a default</a:t>
            </a:r>
            <a:endParaRPr lang="en-US" sz="850" dirty="0"/>
          </a:p>
        </p:txBody>
      </p:sp>
      <p:sp>
        <p:nvSpPr>
          <p:cNvPr id="9" name="Text 7"/>
          <p:cNvSpPr txBox="1"/>
          <p:nvPr/>
        </p:nvSpPr>
        <p:spPr>
          <a:xfrm>
            <a:off x="521208"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executor.py:419</a:t>
            </a:r>
            <a:endParaRPr lang="en-US" sz="700" dirty="0"/>
          </a:p>
        </p:txBody>
      </p:sp>
      <p:sp>
        <p:nvSpPr>
          <p:cNvPr id="10" name="Shape 8"/>
          <p:cNvSpPr/>
          <p:nvPr/>
        </p:nvSpPr>
        <p:spPr>
          <a:xfrm>
            <a:off x="1978762" y="2286000"/>
            <a:ext cx="100584" cy="91"/>
          </a:xfrm>
          <a:prstGeom prst="line">
            <a:avLst/>
          </a:prstGeom>
          <a:noFill/>
          <a:ln w="12700">
            <a:solidFill>
              <a:srgbClr val="5E6B75"/>
            </a:solidFill>
            <a:prstDash val="solid"/>
            <a:tailEnd type="triangle"/>
          </a:ln>
        </p:spPr>
      </p:sp>
      <p:sp>
        <p:nvSpPr>
          <p:cNvPr id="11" name="Shape 9"/>
          <p:cNvSpPr/>
          <p:nvPr/>
        </p:nvSpPr>
        <p:spPr>
          <a:xfrm>
            <a:off x="2083918" y="1371600"/>
            <a:ext cx="1516990" cy="1874520"/>
          </a:xfrm>
          <a:prstGeom prst="rect">
            <a:avLst/>
          </a:prstGeom>
          <a:solidFill>
            <a:srgbClr val="EEF2F5"/>
          </a:solidFill>
          <a:ln w="15875">
            <a:solidFill>
              <a:srgbClr val="2E7D5B"/>
            </a:solidFill>
            <a:prstDash val="solid"/>
          </a:ln>
        </p:spPr>
      </p:sp>
      <p:sp>
        <p:nvSpPr>
          <p:cNvPr id="12" name="Shape 10"/>
          <p:cNvSpPr/>
          <p:nvPr/>
        </p:nvSpPr>
        <p:spPr>
          <a:xfrm>
            <a:off x="2083918" y="1371600"/>
            <a:ext cx="1516990" cy="274320"/>
          </a:xfrm>
          <a:prstGeom prst="rect">
            <a:avLst/>
          </a:prstGeom>
          <a:solidFill>
            <a:srgbClr val="2E7D5B"/>
          </a:solidFill>
          <a:ln w="12700">
            <a:solidFill>
              <a:srgbClr val="2E7D5B"/>
            </a:solidFill>
            <a:prstDash val="solid"/>
          </a:ln>
        </p:spPr>
      </p:sp>
      <p:sp>
        <p:nvSpPr>
          <p:cNvPr id="13" name="Text 11"/>
          <p:cNvSpPr txBox="1"/>
          <p:nvPr/>
        </p:nvSpPr>
        <p:spPr>
          <a:xfrm>
            <a:off x="2083918"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COMPOSE</a:t>
            </a:r>
            <a:endParaRPr lang="en-US" sz="950" dirty="0"/>
          </a:p>
        </p:txBody>
      </p:sp>
      <p:sp>
        <p:nvSpPr>
          <p:cNvPr id="14" name="Text 12"/>
          <p:cNvSpPr txBox="1"/>
          <p:nvPr/>
        </p:nvSpPr>
        <p:spPr>
          <a:xfrm>
            <a:off x="2147926"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stages → typed nodes</a:t>
            </a:r>
            <a:endParaRPr lang="en-US" sz="850" dirty="0"/>
          </a:p>
        </p:txBody>
      </p:sp>
      <p:sp>
        <p:nvSpPr>
          <p:cNvPr id="15" name="Text 13"/>
          <p:cNvSpPr txBox="1"/>
          <p:nvPr/>
        </p:nvSpPr>
        <p:spPr>
          <a:xfrm>
            <a:off x="2147926"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ports are `ArtifactType`, so a mismatch is a compose-time error; P6 tools are inlined, never scheduled</a:t>
            </a:r>
            <a:endParaRPr lang="en-US" sz="850" dirty="0"/>
          </a:p>
        </p:txBody>
      </p:sp>
      <p:sp>
        <p:nvSpPr>
          <p:cNvPr id="16" name="Text 14"/>
          <p:cNvSpPr txBox="1"/>
          <p:nvPr/>
        </p:nvSpPr>
        <p:spPr>
          <a:xfrm>
            <a:off x="2147926"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composer.py:36</a:t>
            </a:r>
            <a:endParaRPr lang="en-US" sz="700" dirty="0"/>
          </a:p>
        </p:txBody>
      </p:sp>
      <p:sp>
        <p:nvSpPr>
          <p:cNvPr id="17" name="Shape 15"/>
          <p:cNvSpPr/>
          <p:nvPr/>
        </p:nvSpPr>
        <p:spPr>
          <a:xfrm>
            <a:off x="3605479" y="2286000"/>
            <a:ext cx="100584" cy="91"/>
          </a:xfrm>
          <a:prstGeom prst="line">
            <a:avLst/>
          </a:prstGeom>
          <a:noFill/>
          <a:ln w="12700">
            <a:solidFill>
              <a:srgbClr val="5E6B75"/>
            </a:solidFill>
            <a:prstDash val="solid"/>
            <a:tailEnd type="triangle"/>
          </a:ln>
        </p:spPr>
      </p:sp>
      <p:sp>
        <p:nvSpPr>
          <p:cNvPr id="18" name="Shape 16"/>
          <p:cNvSpPr/>
          <p:nvPr/>
        </p:nvSpPr>
        <p:spPr>
          <a:xfrm>
            <a:off x="3710635" y="1371600"/>
            <a:ext cx="1516990" cy="1874520"/>
          </a:xfrm>
          <a:prstGeom prst="rect">
            <a:avLst/>
          </a:prstGeom>
          <a:solidFill>
            <a:srgbClr val="EEF2F5"/>
          </a:solidFill>
          <a:ln w="15875">
            <a:solidFill>
              <a:srgbClr val="2E7D5B"/>
            </a:solidFill>
            <a:prstDash val="solid"/>
          </a:ln>
        </p:spPr>
      </p:sp>
      <p:sp>
        <p:nvSpPr>
          <p:cNvPr id="19" name="Shape 17"/>
          <p:cNvSpPr/>
          <p:nvPr/>
        </p:nvSpPr>
        <p:spPr>
          <a:xfrm>
            <a:off x="3710635" y="1371600"/>
            <a:ext cx="1516990" cy="274320"/>
          </a:xfrm>
          <a:prstGeom prst="rect">
            <a:avLst/>
          </a:prstGeom>
          <a:solidFill>
            <a:srgbClr val="2E7D5B"/>
          </a:solidFill>
          <a:ln w="12700">
            <a:solidFill>
              <a:srgbClr val="2E7D5B"/>
            </a:solidFill>
            <a:prstDash val="solid"/>
          </a:ln>
        </p:spPr>
      </p:sp>
      <p:sp>
        <p:nvSpPr>
          <p:cNvPr id="20" name="Text 18"/>
          <p:cNvSpPr txBox="1"/>
          <p:nvPr/>
        </p:nvSpPr>
        <p:spPr>
          <a:xfrm>
            <a:off x="3710635"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ADMIT</a:t>
            </a:r>
            <a:endParaRPr lang="en-US" sz="950" dirty="0"/>
          </a:p>
        </p:txBody>
      </p:sp>
      <p:sp>
        <p:nvSpPr>
          <p:cNvPr id="21" name="Text 19"/>
          <p:cNvSpPr txBox="1"/>
          <p:nvPr/>
        </p:nvSpPr>
        <p:spPr>
          <a:xfrm>
            <a:off x="3774643"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5 gates, then trust</a:t>
            </a:r>
            <a:endParaRPr lang="en-US" sz="850" dirty="0"/>
          </a:p>
        </p:txBody>
      </p:sp>
      <p:sp>
        <p:nvSpPr>
          <p:cNvPr id="22" name="Text 20"/>
          <p:cNvSpPr txBox="1"/>
          <p:nvPr/>
        </p:nvSpPr>
        <p:spPr>
          <a:xfrm>
            <a:off x="3774643"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five gates, the interlock's cost cap, and a forced dry run for a shape nobody has reviewed</a:t>
            </a:r>
            <a:endParaRPr lang="en-US" sz="850" dirty="0"/>
          </a:p>
        </p:txBody>
      </p:sp>
      <p:sp>
        <p:nvSpPr>
          <p:cNvPr id="23" name="Text 21"/>
          <p:cNvSpPr txBox="1"/>
          <p:nvPr/>
        </p:nvSpPr>
        <p:spPr>
          <a:xfrm>
            <a:off x="3774643"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validate.py:30</a:t>
            </a:r>
            <a:endParaRPr lang="en-US" sz="700" dirty="0"/>
          </a:p>
        </p:txBody>
      </p:sp>
      <p:sp>
        <p:nvSpPr>
          <p:cNvPr id="24" name="Shape 22"/>
          <p:cNvSpPr/>
          <p:nvPr/>
        </p:nvSpPr>
        <p:spPr>
          <a:xfrm>
            <a:off x="5232197" y="2286000"/>
            <a:ext cx="100584" cy="91"/>
          </a:xfrm>
          <a:prstGeom prst="line">
            <a:avLst/>
          </a:prstGeom>
          <a:noFill/>
          <a:ln w="12700">
            <a:solidFill>
              <a:srgbClr val="5E6B75"/>
            </a:solidFill>
            <a:prstDash val="solid"/>
            <a:tailEnd type="triangle"/>
          </a:ln>
        </p:spPr>
      </p:sp>
      <p:sp>
        <p:nvSpPr>
          <p:cNvPr id="25" name="Shape 23"/>
          <p:cNvSpPr/>
          <p:nvPr/>
        </p:nvSpPr>
        <p:spPr>
          <a:xfrm>
            <a:off x="5337353" y="1371600"/>
            <a:ext cx="1516990" cy="1874520"/>
          </a:xfrm>
          <a:prstGeom prst="rect">
            <a:avLst/>
          </a:prstGeom>
          <a:solidFill>
            <a:srgbClr val="EEF2F5"/>
          </a:solidFill>
          <a:ln w="15875">
            <a:solidFill>
              <a:srgbClr val="7A4A8C"/>
            </a:solidFill>
            <a:prstDash val="solid"/>
          </a:ln>
        </p:spPr>
      </p:sp>
      <p:sp>
        <p:nvSpPr>
          <p:cNvPr id="26" name="Shape 24"/>
          <p:cNvSpPr/>
          <p:nvPr/>
        </p:nvSpPr>
        <p:spPr>
          <a:xfrm>
            <a:off x="5337353" y="1371600"/>
            <a:ext cx="1516990" cy="274320"/>
          </a:xfrm>
          <a:prstGeom prst="rect">
            <a:avLst/>
          </a:prstGeom>
          <a:solidFill>
            <a:srgbClr val="7A4A8C"/>
          </a:solidFill>
          <a:ln w="12700">
            <a:solidFill>
              <a:srgbClr val="7A4A8C"/>
            </a:solidFill>
            <a:prstDash val="solid"/>
          </a:ln>
        </p:spPr>
      </p:sp>
      <p:sp>
        <p:nvSpPr>
          <p:cNvPr id="27" name="Text 25"/>
          <p:cNvSpPr txBox="1"/>
          <p:nvPr/>
        </p:nvSpPr>
        <p:spPr>
          <a:xfrm>
            <a:off x="5337353"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PARAMETERIZE</a:t>
            </a:r>
            <a:endParaRPr lang="en-US" sz="950" dirty="0"/>
          </a:p>
        </p:txBody>
      </p:sp>
      <p:sp>
        <p:nvSpPr>
          <p:cNvPr id="28" name="Text 26"/>
          <p:cNvSpPr txBox="1"/>
          <p:nvPr/>
        </p:nvSpPr>
        <p:spPr>
          <a:xfrm>
            <a:off x="5401361"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per node, in order</a:t>
            </a:r>
            <a:endParaRPr lang="en-US" sz="850" dirty="0"/>
          </a:p>
        </p:txBody>
      </p:sp>
      <p:sp>
        <p:nvSpPr>
          <p:cNvPr id="29" name="Text 27"/>
          <p:cNvSpPr txBox="1"/>
          <p:nvPr/>
        </p:nvSpPr>
        <p:spPr>
          <a:xfrm>
            <a:off x="5401361"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spec defaults ← campaign params ← policy params, and `frozen_parameters` beat all three</a:t>
            </a:r>
            <a:endParaRPr lang="en-US" sz="850" dirty="0"/>
          </a:p>
        </p:txBody>
      </p:sp>
      <p:sp>
        <p:nvSpPr>
          <p:cNvPr id="30" name="Text 28"/>
          <p:cNvSpPr txBox="1"/>
          <p:nvPr/>
        </p:nvSpPr>
        <p:spPr>
          <a:xfrm>
            <a:off x="5401361"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resources.py:14</a:t>
            </a:r>
            <a:endParaRPr lang="en-US" sz="700" dirty="0"/>
          </a:p>
        </p:txBody>
      </p:sp>
      <p:sp>
        <p:nvSpPr>
          <p:cNvPr id="31" name="Shape 29"/>
          <p:cNvSpPr/>
          <p:nvPr/>
        </p:nvSpPr>
        <p:spPr>
          <a:xfrm>
            <a:off x="6858914" y="2286000"/>
            <a:ext cx="100584" cy="91"/>
          </a:xfrm>
          <a:prstGeom prst="line">
            <a:avLst/>
          </a:prstGeom>
          <a:noFill/>
          <a:ln w="12700">
            <a:solidFill>
              <a:srgbClr val="5E6B75"/>
            </a:solidFill>
            <a:prstDash val="solid"/>
            <a:tailEnd type="triangle"/>
          </a:ln>
        </p:spPr>
      </p:sp>
      <p:sp>
        <p:nvSpPr>
          <p:cNvPr id="32" name="Shape 30"/>
          <p:cNvSpPr/>
          <p:nvPr/>
        </p:nvSpPr>
        <p:spPr>
          <a:xfrm>
            <a:off x="6964070" y="1371600"/>
            <a:ext cx="1516990" cy="1874520"/>
          </a:xfrm>
          <a:prstGeom prst="rect">
            <a:avLst/>
          </a:prstGeom>
          <a:solidFill>
            <a:srgbClr val="EEF2F5"/>
          </a:solidFill>
          <a:ln w="15875">
            <a:solidFill>
              <a:srgbClr val="1E6470"/>
            </a:solidFill>
            <a:prstDash val="solid"/>
          </a:ln>
        </p:spPr>
      </p:sp>
      <p:sp>
        <p:nvSpPr>
          <p:cNvPr id="33" name="Shape 31"/>
          <p:cNvSpPr/>
          <p:nvPr/>
        </p:nvSpPr>
        <p:spPr>
          <a:xfrm>
            <a:off x="6964070" y="1371600"/>
            <a:ext cx="1516990" cy="274320"/>
          </a:xfrm>
          <a:prstGeom prst="rect">
            <a:avLst/>
          </a:prstGeom>
          <a:solidFill>
            <a:srgbClr val="1E6470"/>
          </a:solidFill>
          <a:ln w="12700">
            <a:solidFill>
              <a:srgbClr val="1E6470"/>
            </a:solidFill>
            <a:prstDash val="solid"/>
          </a:ln>
        </p:spPr>
      </p:sp>
      <p:sp>
        <p:nvSpPr>
          <p:cNvPr id="34" name="Text 32"/>
          <p:cNvSpPr txBox="1"/>
          <p:nvPr/>
        </p:nvSpPr>
        <p:spPr>
          <a:xfrm>
            <a:off x="6964070"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DEPLOY</a:t>
            </a:r>
            <a:endParaRPr lang="en-US" sz="950" dirty="0"/>
          </a:p>
        </p:txBody>
      </p:sp>
      <p:sp>
        <p:nvSpPr>
          <p:cNvPr id="35" name="Text 33"/>
          <p:cNvSpPr txBox="1"/>
          <p:nvPr/>
        </p:nvSpPr>
        <p:spPr>
          <a:xfrm>
            <a:off x="7028078"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one factory, every node</a:t>
            </a:r>
            <a:endParaRPr lang="en-US" sz="850" dirty="0"/>
          </a:p>
        </p:txBody>
      </p:sp>
      <p:sp>
        <p:nvSpPr>
          <p:cNvPr id="36" name="Text 34"/>
          <p:cNvSpPr txBox="1"/>
          <p:nvPr/>
        </p:nvSpPr>
        <p:spPr>
          <a:xfrm>
            <a:off x="7028078"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`_run.__name__ = node_id`, because asyncflow names a task from `fn.__name__`</a:t>
            </a:r>
            <a:endParaRPr lang="en-US" sz="850" dirty="0"/>
          </a:p>
        </p:txBody>
      </p:sp>
      <p:sp>
        <p:nvSpPr>
          <p:cNvPr id="37" name="Text 35"/>
          <p:cNvSpPr txBox="1"/>
          <p:nvPr/>
        </p:nvSpPr>
        <p:spPr>
          <a:xfrm>
            <a:off x="7028078"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dispatch.py:144</a:t>
            </a:r>
            <a:endParaRPr lang="en-US" sz="700" dirty="0"/>
          </a:p>
        </p:txBody>
      </p:sp>
      <p:sp>
        <p:nvSpPr>
          <p:cNvPr id="38" name="Shape 36"/>
          <p:cNvSpPr/>
          <p:nvPr/>
        </p:nvSpPr>
        <p:spPr>
          <a:xfrm>
            <a:off x="8485632" y="2286000"/>
            <a:ext cx="100584" cy="91"/>
          </a:xfrm>
          <a:prstGeom prst="line">
            <a:avLst/>
          </a:prstGeom>
          <a:noFill/>
          <a:ln w="12700">
            <a:solidFill>
              <a:srgbClr val="5E6B75"/>
            </a:solidFill>
            <a:prstDash val="solid"/>
            <a:tailEnd type="triangle"/>
          </a:ln>
        </p:spPr>
      </p:sp>
      <p:sp>
        <p:nvSpPr>
          <p:cNvPr id="39" name="Shape 37"/>
          <p:cNvSpPr/>
          <p:nvPr/>
        </p:nvSpPr>
        <p:spPr>
          <a:xfrm>
            <a:off x="8590788" y="1371600"/>
            <a:ext cx="1516990" cy="1874520"/>
          </a:xfrm>
          <a:prstGeom prst="rect">
            <a:avLst/>
          </a:prstGeom>
          <a:solidFill>
            <a:srgbClr val="EEF2F5"/>
          </a:solidFill>
          <a:ln w="15875">
            <a:solidFill>
              <a:srgbClr val="1E6470"/>
            </a:solidFill>
            <a:prstDash val="solid"/>
          </a:ln>
        </p:spPr>
      </p:sp>
      <p:sp>
        <p:nvSpPr>
          <p:cNvPr id="40" name="Shape 38"/>
          <p:cNvSpPr/>
          <p:nvPr/>
        </p:nvSpPr>
        <p:spPr>
          <a:xfrm>
            <a:off x="8590788" y="1371600"/>
            <a:ext cx="1516990" cy="274320"/>
          </a:xfrm>
          <a:prstGeom prst="rect">
            <a:avLst/>
          </a:prstGeom>
          <a:solidFill>
            <a:srgbClr val="1E6470"/>
          </a:solidFill>
          <a:ln w="12700">
            <a:solidFill>
              <a:srgbClr val="1E6470"/>
            </a:solidFill>
            <a:prstDash val="solid"/>
          </a:ln>
        </p:spPr>
      </p:sp>
      <p:sp>
        <p:nvSpPr>
          <p:cNvPr id="41" name="Text 39"/>
          <p:cNvSpPr txBox="1"/>
          <p:nvPr/>
        </p:nvSpPr>
        <p:spPr>
          <a:xfrm>
            <a:off x="8590788"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ENGINE</a:t>
            </a:r>
            <a:endParaRPr lang="en-US" sz="950" dirty="0"/>
          </a:p>
        </p:txBody>
      </p:sp>
      <p:sp>
        <p:nvSpPr>
          <p:cNvPr id="42" name="Text 40"/>
          <p:cNvSpPr txBox="1"/>
          <p:nvPr/>
        </p:nvSpPr>
        <p:spPr>
          <a:xfrm>
            <a:off x="8654796"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asyncflow + a backend</a:t>
            </a:r>
            <a:endParaRPr lang="en-US" sz="850" dirty="0"/>
          </a:p>
        </p:txBody>
      </p:sp>
      <p:sp>
        <p:nvSpPr>
          <p:cNvPr id="43" name="Text 41"/>
          <p:cNvSpPr txBox="1"/>
          <p:nvPr/>
        </p:nvSpPr>
        <p:spPr>
          <a:xfrm>
            <a:off x="8654796"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`WorkflowEngine` with a work_dir; the backend resolves BY NAME from site config</a:t>
            </a:r>
            <a:endParaRPr lang="en-US" sz="850" dirty="0"/>
          </a:p>
        </p:txBody>
      </p:sp>
      <p:sp>
        <p:nvSpPr>
          <p:cNvPr id="44" name="Text 42"/>
          <p:cNvSpPr txBox="1"/>
          <p:nvPr/>
        </p:nvSpPr>
        <p:spPr>
          <a:xfrm>
            <a:off x="8654796"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backend.py:97</a:t>
            </a:r>
            <a:endParaRPr lang="en-US" sz="700" dirty="0"/>
          </a:p>
        </p:txBody>
      </p:sp>
      <p:sp>
        <p:nvSpPr>
          <p:cNvPr id="45" name="Shape 43"/>
          <p:cNvSpPr/>
          <p:nvPr/>
        </p:nvSpPr>
        <p:spPr>
          <a:xfrm>
            <a:off x="10112350" y="2286000"/>
            <a:ext cx="100584" cy="91"/>
          </a:xfrm>
          <a:prstGeom prst="line">
            <a:avLst/>
          </a:prstGeom>
          <a:noFill/>
          <a:ln w="12700">
            <a:solidFill>
              <a:srgbClr val="5E6B75"/>
            </a:solidFill>
            <a:prstDash val="solid"/>
            <a:tailEnd type="triangle"/>
          </a:ln>
        </p:spPr>
      </p:sp>
      <p:sp>
        <p:nvSpPr>
          <p:cNvPr id="46" name="Shape 44"/>
          <p:cNvSpPr/>
          <p:nvPr/>
        </p:nvSpPr>
        <p:spPr>
          <a:xfrm>
            <a:off x="10217506" y="1371600"/>
            <a:ext cx="1516990" cy="1874520"/>
          </a:xfrm>
          <a:prstGeom prst="rect">
            <a:avLst/>
          </a:prstGeom>
          <a:solidFill>
            <a:srgbClr val="EEF2F5"/>
          </a:solidFill>
          <a:ln w="15875">
            <a:solidFill>
              <a:srgbClr val="D9731A"/>
            </a:solidFill>
            <a:prstDash val="solid"/>
          </a:ln>
        </p:spPr>
      </p:sp>
      <p:sp>
        <p:nvSpPr>
          <p:cNvPr id="47" name="Shape 45"/>
          <p:cNvSpPr/>
          <p:nvPr/>
        </p:nvSpPr>
        <p:spPr>
          <a:xfrm>
            <a:off x="10217506" y="1371600"/>
            <a:ext cx="1516990" cy="274320"/>
          </a:xfrm>
          <a:prstGeom prst="rect">
            <a:avLst/>
          </a:prstGeom>
          <a:solidFill>
            <a:srgbClr val="D9731A"/>
          </a:solidFill>
          <a:ln w="12700">
            <a:solidFill>
              <a:srgbClr val="D9731A"/>
            </a:solidFill>
            <a:prstDash val="solid"/>
          </a:ln>
        </p:spPr>
      </p:sp>
      <p:sp>
        <p:nvSpPr>
          <p:cNvPr id="48" name="Text 46"/>
          <p:cNvSpPr txBox="1"/>
          <p:nvPr/>
        </p:nvSpPr>
        <p:spPr>
          <a:xfrm>
            <a:off x="10217506"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TASKS</a:t>
            </a:r>
            <a:endParaRPr lang="en-US" sz="950" dirty="0"/>
          </a:p>
        </p:txBody>
      </p:sp>
      <p:sp>
        <p:nvSpPr>
          <p:cNvPr id="49" name="Text 47"/>
          <p:cNvSpPr txBox="1"/>
          <p:nvPr/>
        </p:nvSpPr>
        <p:spPr>
          <a:xfrm>
            <a:off x="10281514"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processes, on nodes</a:t>
            </a:r>
            <a:endParaRPr lang="en-US" sz="850" dirty="0"/>
          </a:p>
        </p:txBody>
      </p:sp>
      <p:sp>
        <p:nvSpPr>
          <p:cNvPr id="50" name="Text 48"/>
          <p:cNvSpPr txBox="1"/>
          <p:nvPr/>
        </p:nvSpPr>
        <p:spPr>
          <a:xfrm>
            <a:off x="10281514"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4 nodes over 2 lineages in the mock run; on Delta, six stages pinned to GPUs</a:t>
            </a:r>
            <a:endParaRPr lang="en-US" sz="850" dirty="0"/>
          </a:p>
        </p:txBody>
      </p:sp>
      <p:sp>
        <p:nvSpPr>
          <p:cNvPr id="51" name="Text 49"/>
          <p:cNvSpPr txBox="1"/>
          <p:nvPr/>
        </p:nvSpPr>
        <p:spPr>
          <a:xfrm>
            <a:off x="10281514"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agent.py:120</a:t>
            </a:r>
            <a:endParaRPr lang="en-US" sz="700" dirty="0"/>
          </a:p>
        </p:txBody>
      </p:sp>
      <p:sp>
        <p:nvSpPr>
          <p:cNvPr id="52" name="Shape 50"/>
          <p:cNvSpPr/>
          <p:nvPr/>
        </p:nvSpPr>
        <p:spPr>
          <a:xfrm>
            <a:off x="457200" y="3401568"/>
            <a:ext cx="11277295" cy="658368"/>
          </a:xfrm>
          <a:prstGeom prst="roundRect">
            <a:avLst>
              <a:gd name="adj" fmla="val 11111"/>
            </a:avLst>
          </a:prstGeom>
          <a:solidFill>
            <a:srgbClr val="E4F1EA"/>
          </a:solidFill>
          <a:ln w="19050">
            <a:solidFill>
              <a:srgbClr val="2E7D5B"/>
            </a:solidFill>
            <a:prstDash val="solid"/>
          </a:ln>
        </p:spPr>
      </p:sp>
      <p:sp>
        <p:nvSpPr>
          <p:cNvPr id="53" name="Text 51"/>
          <p:cNvSpPr txBox="1"/>
          <p:nvPr/>
        </p:nvSpPr>
        <p:spPr>
          <a:xfrm>
            <a:off x="530352" y="3447288"/>
            <a:ext cx="11130991" cy="566928"/>
          </a:xfrm>
          <a:prstGeom prst="rect">
            <a:avLst/>
          </a:prstGeom>
          <a:noFill/>
          <a:ln/>
        </p:spPr>
        <p:txBody>
          <a:bodyPr wrap="square" lIns="0" tIns="0" rIns="0" bIns="0" rtlCol="0" anchor="ctr"/>
          <a:lstStyle/>
          <a:p>
            <a:pPr algn="ctr" indent="0" marL="0">
              <a:buNone/>
            </a:pPr>
            <a:r>
              <a:rPr lang="en-US" sz="1100" b="1" dirty="0">
                <a:solidFill>
                  <a:srgbClr val="2E7D5B"/>
                </a:solidFill>
                <a:latin typeface="Calibri" pitchFamily="34" charset="0"/>
                <a:ea typeface="Calibri" pitchFamily="34" charset="-122"/>
                <a:cs typeface="Calibri" pitchFamily="34" charset="-120"/>
              </a:rPr>
              <a:t>←  and back up the same path: a typed TaskResult (ArtifactRefs, metrics, a QCReport, cost) → to_outcome() → executor._absorb, the single await-free writer → tree, front, provenance, ledger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dispatch.py:91 · the gates run on the way OUT of a node, so a tool that exits 0 and lies is still failed here</a:t>
            </a:r>
            <a:endParaRPr lang="en-US" sz="1400" dirty="0"/>
          </a:p>
        </p:txBody>
      </p:sp>
      <p:sp>
        <p:nvSpPr>
          <p:cNvPr id="54" name="Shape 52"/>
          <p:cNvSpPr/>
          <p:nvPr/>
        </p:nvSpPr>
        <p:spPr>
          <a:xfrm>
            <a:off x="457200" y="4224528"/>
            <a:ext cx="5577840" cy="1371600"/>
          </a:xfrm>
          <a:prstGeom prst="rect">
            <a:avLst/>
          </a:prstGeom>
          <a:solidFill>
            <a:srgbClr val="EEF2F5"/>
          </a:solidFill>
          <a:ln w="12700">
            <a:solidFill>
              <a:srgbClr val="EEF2F5"/>
            </a:solidFill>
            <a:prstDash val="solid"/>
          </a:ln>
        </p:spPr>
      </p:sp>
      <p:sp>
        <p:nvSpPr>
          <p:cNvPr id="55" name="Text 53"/>
          <p:cNvSpPr txBox="1"/>
          <p:nvPr/>
        </p:nvSpPr>
        <p:spPr>
          <a:xfrm>
            <a:off x="585216" y="4306824"/>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harness nobody sees</a:t>
            </a:r>
            <a:endParaRPr lang="en-US" sz="1300" dirty="0"/>
          </a:p>
        </p:txBody>
      </p:sp>
      <p:sp>
        <p:nvSpPr>
          <p:cNvPr id="56" name="Text 54"/>
          <p:cNvSpPr txBox="1"/>
          <p:nvPr/>
        </p:nvSpPr>
        <p:spPr>
          <a:xfrm>
            <a:off x="585216" y="4617720"/>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Resource shapes are NOT portable, so translating them is ours: RADICAL takes `ranks`/`gpus_per_rank`, Dragon takes process templates, the concurrent backend takes nothing at all. One `ResourceShape` in the spec, three descriptions out.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backend class is named outside `exec/backend.py` — site config picks one by name.</a:t>
            </a:r>
            <a:endParaRPr lang="en-US" sz="1000" dirty="0"/>
          </a:p>
        </p:txBody>
      </p:sp>
      <p:sp>
        <p:nvSpPr>
          <p:cNvPr id="57" name="Shape 55"/>
          <p:cNvSpPr/>
          <p:nvPr/>
        </p:nvSpPr>
        <p:spPr>
          <a:xfrm>
            <a:off x="6245352" y="4224528"/>
            <a:ext cx="5577840" cy="1371600"/>
          </a:xfrm>
          <a:prstGeom prst="rect">
            <a:avLst/>
          </a:prstGeom>
          <a:solidFill>
            <a:srgbClr val="E3F0F1"/>
          </a:solidFill>
          <a:ln w="12700">
            <a:solidFill>
              <a:srgbClr val="E3F0F1"/>
            </a:solidFill>
            <a:prstDash val="solid"/>
          </a:ln>
        </p:spPr>
      </p:sp>
      <p:sp>
        <p:nvSpPr>
          <p:cNvPr id="58" name="Text 56"/>
          <p:cNvSpPr txBox="1"/>
          <p:nvPr/>
        </p:nvSpPr>
        <p:spPr>
          <a:xfrm>
            <a:off x="6373368" y="4306824"/>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Two asyncflow idioms, not interchangeable</a:t>
            </a:r>
            <a:endParaRPr lang="en-US" sz="1300" dirty="0"/>
          </a:p>
        </p:txBody>
      </p:sp>
      <p:sp>
        <p:nvSpPr>
          <p:cNvPr id="59" name="Text 57"/>
          <p:cNvSpPr txBox="1"/>
          <p:nvPr/>
        </p:nvSpPr>
        <p:spPr>
          <a:xfrm>
            <a:off x="6373368" y="4617720"/>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UNAWAITED future passed as an argument IS a DAG edge — `dispatch.py:182`, walking `topo_order()`. That is how a stage list becomes a dependency graph with no scheduler of ours.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`asyncio.gather(..., return_exceptions=True)` awaits INDEPENDENT work — replica fan-out — and one bad task must not cancel its siblings.</a:t>
            </a:r>
            <a:endParaRPr lang="en-US" sz="1000" dirty="0"/>
          </a:p>
        </p:txBody>
      </p:sp>
      <p:sp>
        <p:nvSpPr>
          <p:cNvPr id="60" name="Text 58"/>
          <p:cNvSpPr txBox="1"/>
          <p:nvPr/>
        </p:nvSpPr>
        <p:spPr>
          <a:xfrm>
            <a:off x="457200" y="5760720"/>
            <a:ext cx="11277295" cy="457200"/>
          </a:xfrm>
          <a:prstGeom prst="rect">
            <a:avLst/>
          </a:prstGeom>
          <a:noFill/>
          <a:ln/>
        </p:spPr>
        <p:txBody>
          <a:bodyPr wrap="square" lIns="0" tIns="0" rIns="0" bIns="0" rtlCol="0" anchor="t"/>
          <a:lstStyle/>
          <a:p>
            <a:pPr indent="0" marL="0">
              <a:buNone/>
            </a:pPr>
            <a:r>
              <a:rPr lang="en-US" sz="1150" b="1" dirty="0">
                <a:solidFill>
                  <a:srgbClr val="C0392B"/>
                </a:solidFill>
                <a:latin typeface="Calibri" pitchFamily="34" charset="0"/>
                <a:ea typeface="Calibri" pitchFamily="34" charset="-122"/>
                <a:cs typeface="Calibri" pitchFamily="34" charset="-120"/>
              </a:rPr>
              <a:t>What this picture does not show:  </a:t>
            </a:r>
            <a:pPr indent="0" marL="0">
              <a:buNone/>
            </a:pPr>
            <a:r>
              <a:rPr lang="en-US" sz="1150" dirty="0">
                <a:solidFill>
                  <a:srgbClr val="22303C"/>
                </a:solidFill>
                <a:latin typeface="Calibri" pitchFamily="34" charset="0"/>
                <a:ea typeface="Calibri" pitchFamily="34" charset="-122"/>
                <a:cs typeface="Calibri" pitchFamily="34" charset="-120"/>
              </a:rPr>
              <a:t>every realized task in the run behind this deck is a mock, and on the real six-stage chain this path has only ever run one lineage wide.</a:t>
            </a:r>
            <a:endParaRPr lang="en-US" sz="1150" dirty="0"/>
          </a:p>
        </p:txBody>
      </p:sp>
      <p:sp>
        <p:nvSpPr>
          <p:cNvPr id="62" name="Text 59"/>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engine side of six surfaces — the sibling deck argues this seam, this one cites it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features — tasks. What can you write against this that you cannot write against a pipeline?</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tool is a declaration, not a code path</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15 declared fields; loading one VALIDATES it, and a bad toolkit is disabled whole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policy emits intent, never a DAG</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4 decisions, 6 intent fields, and no tool parameter names anywhere in policy/</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Composition is free; refusal is cheap</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five gates and a dry run before anything executes; a rejection costs one cycle and hands back a reason</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every toolkit that exists is one of the 4 real stages of one chain, plus mocks — and no one outside this package has authored either a toolkit or a policy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Surfaces 1 and 2: the operator's and the scientist's</a:t>
            </a:r>
            <a:endParaRPr lang="en-US" sz="2800" dirty="0"/>
          </a:p>
        </p:txBody>
      </p:sp>
      <p:sp>
        <p:nvSpPr>
          <p:cNvPr id="4" name="Shape 2"/>
          <p:cNvSpPr/>
          <p:nvPr/>
        </p:nvSpPr>
        <p:spPr>
          <a:xfrm>
            <a:off x="457200" y="1371600"/>
            <a:ext cx="7223760" cy="1783080"/>
          </a:xfrm>
          <a:prstGeom prst="rect">
            <a:avLst/>
          </a:prstGeom>
          <a:solidFill>
            <a:srgbClr val="16222B"/>
          </a:solidFill>
          <a:ln w="12700">
            <a:solidFill>
              <a:srgbClr val="16222B"/>
            </a:solidFill>
            <a:prstDash val="solid"/>
          </a:ln>
        </p:spPr>
      </p:sp>
      <p:sp>
        <p:nvSpPr>
          <p:cNvPr id="5" name="Text 3"/>
          <p:cNvSpPr txBox="1"/>
          <p:nvPr/>
        </p:nvSpPr>
        <p:spPr>
          <a:xfrm>
            <a:off x="557784" y="1463040"/>
            <a:ext cx="7022592" cy="160020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[rfd3_design, ligandmpnn_design, packmin, fastrelax, filter_shape, boltz_predict]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rfd3_design:      {input_spec_path: data/alr/ALR_binder_design.json, diffusion_steps: 50}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boltz_predict:    {ligand_smiles: "COc1cc(S(=O)(=O)[O-])c(C)cc1/N=N/..."}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replicas: 4          # N INDEPENDENT lineages, one DesignNode each</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objectives: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total_score,           direction: minimize}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shape_complementarity, direction: maximize, min: 0.55}</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ligand_iptm,           direction: maximize, min: 0.4}</a:t>
            </a:r>
            <a:endParaRPr lang="en-US" sz="1000" dirty="0"/>
          </a:p>
        </p:txBody>
      </p:sp>
      <p:sp>
        <p:nvSpPr>
          <p:cNvPr id="6" name="Text 4"/>
          <p:cNvSpPr txBox="1"/>
          <p:nvPr/>
        </p:nvSpPr>
        <p:spPr>
          <a:xfrm>
            <a:off x="457200" y="3172968"/>
            <a:ext cx="72237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campaigns/delta-small-molecule.yaml:30 · TRIMMED</a:t>
            </a:r>
            <a:endParaRPr lang="en-US" sz="850" dirty="0"/>
          </a:p>
        </p:txBody>
      </p:sp>
      <p:sp>
        <p:nvSpPr>
          <p:cNvPr id="7" name="Shape 5"/>
          <p:cNvSpPr/>
          <p:nvPr/>
        </p:nvSpPr>
        <p:spPr>
          <a:xfrm>
            <a:off x="457200" y="3429000"/>
            <a:ext cx="7223760" cy="1234440"/>
          </a:xfrm>
          <a:prstGeom prst="rect">
            <a:avLst/>
          </a:prstGeom>
          <a:solidFill>
            <a:srgbClr val="E4F1EA"/>
          </a:solidFill>
          <a:ln w="12700">
            <a:solidFill>
              <a:srgbClr val="E4F1EA"/>
            </a:solidFill>
            <a:prstDash val="solid"/>
          </a:ln>
        </p:spPr>
      </p:sp>
      <p:sp>
        <p:nvSpPr>
          <p:cNvPr id="8" name="Text 6"/>
          <p:cNvSpPr txBox="1"/>
          <p:nvPr/>
        </p:nvSpPr>
        <p:spPr>
          <a:xfrm>
            <a:off x="585216" y="3511296"/>
            <a:ext cx="696772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What is in here, and what deliberately is not</a:t>
            </a:r>
            <a:endParaRPr lang="en-US" sz="1300" dirty="0"/>
          </a:p>
        </p:txBody>
      </p:sp>
      <p:sp>
        <p:nvSpPr>
          <p:cNvPr id="9" name="Text 7"/>
          <p:cNvSpPr txBox="1"/>
          <p:nvPr/>
        </p:nvSpPr>
        <p:spPr>
          <a:xfrm>
            <a:off x="585216" y="3822192"/>
            <a:ext cx="696772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In: the scientific question — which stages, which ligand, which contig, what counts as better.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Not in: how to explore. No thresholds, no schedule, no retry policy, no tool invocation.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relative `*_path` resolves against the YAML, not the CWD — the launcher cds into a per-job dir.</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863840" y="1371600"/>
          <a:ext cx="3867912" cy="914400"/>
        </p:xfrm>
        <a:graphic>
          <a:graphicData uri="http://schemas.openxmlformats.org/drawingml/2006/table">
            <a:tbl>
              <a:tblPr/>
              <a:tblGrid>
                <a:gridCol w="1600200"/>
                <a:gridCol w="2267712"/>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impress-a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run &lt;spec&gt;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--model A | B | C | D | null | replay; the model is fixed at launch</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tools</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lists the 11 registered tools with pattern and gate count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preflight [spec]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checks the real-toolkit environment BEFORE the queue — slide 27</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Shape 8"/>
          <p:cNvSpPr/>
          <p:nvPr/>
        </p:nvSpPr>
        <p:spPr>
          <a:xfrm>
            <a:off x="7863840" y="3429000"/>
            <a:ext cx="3867912" cy="1234440"/>
          </a:xfrm>
          <a:prstGeom prst="rect">
            <a:avLst/>
          </a:prstGeom>
          <a:solidFill>
            <a:srgbClr val="EEF2F5"/>
          </a:solidFill>
          <a:ln w="12700">
            <a:solidFill>
              <a:srgbClr val="EEF2F5"/>
            </a:solidFill>
            <a:prstDash val="solid"/>
          </a:ln>
        </p:spPr>
      </p:sp>
      <p:sp>
        <p:nvSpPr>
          <p:cNvPr id="12" name="Text 9"/>
          <p:cNvSpPr txBox="1"/>
          <p:nvPr/>
        </p:nvSpPr>
        <p:spPr>
          <a:xfrm>
            <a:off x="7991856" y="351129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One objective, two sources</a:t>
            </a:r>
            <a:endParaRPr lang="en-US" sz="1300" dirty="0"/>
          </a:p>
        </p:txBody>
      </p:sp>
      <p:sp>
        <p:nvSpPr>
          <p:cNvPr id="13" name="Text 10"/>
          <p:cNvSpPr txBox="1"/>
          <p:nvPr/>
        </p:nvSpPr>
        <p:spPr>
          <a:xfrm>
            <a:off x="7991856" y="3822192"/>
            <a:ext cx="3611880"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objective names a property, not a predictor.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surrogate today and a wet-lab assay tomorrow are the same declaration — `authority` decides which wins (decision 0012).</a:t>
            </a:r>
            <a:endParaRPr lang="en-US" sz="105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objectives on this slide are the four the Delta campaign declares; the mock campaign declares its own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3: a reasoner is three methods and four answers</a:t>
            </a:r>
            <a:endParaRPr lang="en-US" sz="2800" dirty="0"/>
          </a:p>
        </p:txBody>
      </p:sp>
      <p:sp>
        <p:nvSpPr>
          <p:cNvPr id="4" name="Shape 2"/>
          <p:cNvSpPr/>
          <p:nvPr/>
        </p:nvSpPr>
        <p:spPr>
          <a:xfrm>
            <a:off x="457200" y="1371600"/>
            <a:ext cx="6400800" cy="1188720"/>
          </a:xfrm>
          <a:prstGeom prst="rect">
            <a:avLst/>
          </a:prstGeom>
          <a:solidFill>
            <a:srgbClr val="16222B"/>
          </a:solidFill>
          <a:ln w="12700">
            <a:solidFill>
              <a:srgbClr val="16222B"/>
            </a:solidFill>
            <a:prstDash val="solid"/>
          </a:ln>
        </p:spPr>
      </p:sp>
      <p:sp>
        <p:nvSpPr>
          <p:cNvPr id="5" name="Text 3"/>
          <p:cNvSpPr txBox="1"/>
          <p:nvPr/>
        </p:nvSpPr>
        <p:spPr>
          <a:xfrm>
            <a:off x="557784" y="1463040"/>
            <a:ext cx="6199632" cy="100584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ControlPolicy(Protocol):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name: str</a:t>
            </a:r>
            <a:endParaRPr lang="en-US" sz="1040" dirty="0"/>
          </a:p>
          <a:p>
            <a:pPr indent="0" marL="0">
              <a:lnSpc>
                <a:spcPts val="1300"/>
              </a:lnSpc>
              <a:buNone/>
            </a:pP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decide(self, obs: CampaignObservation) -&gt; Decision: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interpret(self, results: RunOutcome, obs) -&gt; str | None: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on_rejected(self, decision, failure: ValidationFailure) -&gt; Decision: ...</a:t>
            </a:r>
            <a:endParaRPr lang="en-US" sz="1040" dirty="0"/>
          </a:p>
        </p:txBody>
      </p:sp>
      <p:sp>
        <p:nvSpPr>
          <p:cNvPr id="6" name="Text 4"/>
          <p:cNvSpPr txBox="1"/>
          <p:nvPr/>
        </p:nvSpPr>
        <p:spPr>
          <a:xfrm>
            <a:off x="457200" y="25786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policy/base.py:19 · EDITED (annotations trimmed)</a:t>
            </a:r>
            <a:endParaRPr lang="en-US" sz="850" dirty="0"/>
          </a:p>
        </p:txBody>
      </p:sp>
      <p:sp>
        <p:nvSpPr>
          <p:cNvPr id="7" name="Shape 5"/>
          <p:cNvSpPr/>
          <p:nvPr/>
        </p:nvSpPr>
        <p:spPr>
          <a:xfrm>
            <a:off x="457200" y="2834640"/>
            <a:ext cx="6400800" cy="411480"/>
          </a:xfrm>
          <a:prstGeom prst="rect">
            <a:avLst/>
          </a:prstGeom>
          <a:solidFill>
            <a:srgbClr val="16222B"/>
          </a:solidFill>
          <a:ln w="12700">
            <a:solidFill>
              <a:srgbClr val="16222B"/>
            </a:solidFill>
            <a:prstDash val="solid"/>
          </a:ln>
        </p:spPr>
      </p:sp>
      <p:sp>
        <p:nvSpPr>
          <p:cNvPr id="8" name="Text 6"/>
          <p:cNvSpPr txBox="1"/>
          <p:nvPr/>
        </p:nvSpPr>
        <p:spPr>
          <a:xfrm>
            <a:off x="557784" y="2926080"/>
            <a:ext cx="6199632" cy="22860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Decision = Union[ComposeAndRun, Backtrack, RequestHuman, Stop]</a:t>
            </a:r>
            <a:endParaRPr lang="en-US" sz="1040" dirty="0"/>
          </a:p>
        </p:txBody>
      </p:sp>
      <p:sp>
        <p:nvSpPr>
          <p:cNvPr id="9" name="Text 7"/>
          <p:cNvSpPr txBox="1"/>
          <p:nvPr/>
        </p:nvSpPr>
        <p:spPr>
          <a:xfrm>
            <a:off x="457200" y="32644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core/decision.py:56 · VERBATIM</a:t>
            </a:r>
            <a:endParaRPr lang="en-US" sz="850" dirty="0"/>
          </a:p>
        </p:txBody>
      </p:sp>
      <p:sp>
        <p:nvSpPr>
          <p:cNvPr id="10" name="Shape 8"/>
          <p:cNvSpPr/>
          <p:nvPr/>
        </p:nvSpPr>
        <p:spPr>
          <a:xfrm>
            <a:off x="457200" y="3611880"/>
            <a:ext cx="1545336" cy="777240"/>
          </a:xfrm>
          <a:prstGeom prst="roundRect">
            <a:avLst>
              <a:gd name="adj" fmla="val 9412"/>
            </a:avLst>
          </a:prstGeom>
          <a:solidFill>
            <a:srgbClr val="FFFFFF"/>
          </a:solidFill>
          <a:ln w="19050">
            <a:solidFill>
              <a:srgbClr val="2E7D5B"/>
            </a:solidFill>
            <a:prstDash val="solid"/>
          </a:ln>
        </p:spPr>
      </p:sp>
      <p:sp>
        <p:nvSpPr>
          <p:cNvPr id="11" name="Text 9"/>
          <p:cNvSpPr txBox="1"/>
          <p:nvPr/>
        </p:nvSpPr>
        <p:spPr>
          <a:xfrm>
            <a:off x="530352" y="3657600"/>
            <a:ext cx="1399032" cy="685800"/>
          </a:xfrm>
          <a:prstGeom prst="rect">
            <a:avLst/>
          </a:prstGeom>
          <a:noFill/>
          <a:ln/>
        </p:spPr>
        <p:txBody>
          <a:bodyPr wrap="square" lIns="0" tIns="0" rIns="0" bIns="0" rtlCol="0" anchor="ctr"/>
          <a:lstStyle/>
          <a:p>
            <a:pPr algn="ctr" indent="0" marL="0">
              <a:buNone/>
            </a:pPr>
            <a:r>
              <a:rPr lang="en-US" sz="1050" b="1" dirty="0">
                <a:solidFill>
                  <a:srgbClr val="2E7D5B"/>
                </a:solidFill>
                <a:latin typeface="Calibri" pitchFamily="34" charset="0"/>
                <a:ea typeface="Calibri" pitchFamily="34" charset="-122"/>
                <a:cs typeface="Calibri" pitchFamily="34" charset="-120"/>
              </a:rPr>
              <a:t>ComposeAndRun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run this experiment</a:t>
            </a:r>
            <a:endParaRPr lang="en-US" sz="1400" dirty="0"/>
          </a:p>
        </p:txBody>
      </p:sp>
      <p:sp>
        <p:nvSpPr>
          <p:cNvPr id="12" name="Shape 10"/>
          <p:cNvSpPr/>
          <p:nvPr/>
        </p:nvSpPr>
        <p:spPr>
          <a:xfrm>
            <a:off x="2093976" y="3611880"/>
            <a:ext cx="1545336" cy="777240"/>
          </a:xfrm>
          <a:prstGeom prst="roundRect">
            <a:avLst>
              <a:gd name="adj" fmla="val 9412"/>
            </a:avLst>
          </a:prstGeom>
          <a:solidFill>
            <a:srgbClr val="FFFFFF"/>
          </a:solidFill>
          <a:ln w="19050">
            <a:solidFill>
              <a:srgbClr val="3B4E8C"/>
            </a:solidFill>
            <a:prstDash val="solid"/>
          </a:ln>
        </p:spPr>
      </p:sp>
      <p:sp>
        <p:nvSpPr>
          <p:cNvPr id="13" name="Text 11"/>
          <p:cNvSpPr txBox="1"/>
          <p:nvPr/>
        </p:nvSpPr>
        <p:spPr>
          <a:xfrm>
            <a:off x="2167128" y="3657600"/>
            <a:ext cx="1399032" cy="685800"/>
          </a:xfrm>
          <a:prstGeom prst="rect">
            <a:avLst/>
          </a:prstGeom>
          <a:noFill/>
          <a:ln/>
        </p:spPr>
        <p:txBody>
          <a:bodyPr wrap="square" lIns="0" tIns="0" rIns="0" bIns="0" rtlCol="0" anchor="ctr"/>
          <a:lstStyle/>
          <a:p>
            <a:pPr algn="ctr" indent="0" marL="0">
              <a:buNone/>
            </a:pPr>
            <a:r>
              <a:rPr lang="en-US" sz="1050" b="1" dirty="0">
                <a:solidFill>
                  <a:srgbClr val="3B4E8C"/>
                </a:solidFill>
                <a:latin typeface="Calibri" pitchFamily="34" charset="0"/>
                <a:ea typeface="Calibri" pitchFamily="34" charset="-122"/>
                <a:cs typeface="Calibri" pitchFamily="34" charset="-120"/>
              </a:rPr>
              <a:t>Backtrack</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branch from an earlier node</a:t>
            </a:r>
            <a:endParaRPr lang="en-US" sz="1400" dirty="0"/>
          </a:p>
        </p:txBody>
      </p:sp>
      <p:sp>
        <p:nvSpPr>
          <p:cNvPr id="14" name="Shape 12"/>
          <p:cNvSpPr/>
          <p:nvPr/>
        </p:nvSpPr>
        <p:spPr>
          <a:xfrm>
            <a:off x="3730752" y="3611880"/>
            <a:ext cx="1545336" cy="777240"/>
          </a:xfrm>
          <a:prstGeom prst="roundRect">
            <a:avLst>
              <a:gd name="adj" fmla="val 9412"/>
            </a:avLst>
          </a:prstGeom>
          <a:solidFill>
            <a:srgbClr val="FFFFFF"/>
          </a:solidFill>
          <a:ln w="19050">
            <a:solidFill>
              <a:srgbClr val="D9731A"/>
            </a:solidFill>
            <a:prstDash val="solid"/>
          </a:ln>
        </p:spPr>
      </p:sp>
      <p:sp>
        <p:nvSpPr>
          <p:cNvPr id="15" name="Text 13"/>
          <p:cNvSpPr txBox="1"/>
          <p:nvPr/>
        </p:nvSpPr>
        <p:spPr>
          <a:xfrm>
            <a:off x="3803904" y="3657600"/>
            <a:ext cx="1399032" cy="685800"/>
          </a:xfrm>
          <a:prstGeom prst="rect">
            <a:avLst/>
          </a:prstGeom>
          <a:noFill/>
          <a:ln/>
        </p:spPr>
        <p:txBody>
          <a:bodyPr wrap="square" lIns="0" tIns="0" rIns="0" bIns="0" rtlCol="0" anchor="ctr"/>
          <a:lstStyle/>
          <a:p>
            <a:pPr algn="ctr" indent="0" marL="0">
              <a:buNone/>
            </a:pPr>
            <a:r>
              <a:rPr lang="en-US" sz="1050" b="1" dirty="0">
                <a:solidFill>
                  <a:srgbClr val="D9731A"/>
                </a:solidFill>
                <a:latin typeface="Calibri" pitchFamily="34" charset="0"/>
                <a:ea typeface="Calibri" pitchFamily="34" charset="-122"/>
                <a:cs typeface="Calibri" pitchFamily="34" charset="-120"/>
              </a:rPr>
              <a:t>RequestHuman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stop and ask</a:t>
            </a:r>
            <a:endParaRPr lang="en-US" sz="1400" dirty="0"/>
          </a:p>
        </p:txBody>
      </p:sp>
      <p:sp>
        <p:nvSpPr>
          <p:cNvPr id="16" name="Shape 14"/>
          <p:cNvSpPr/>
          <p:nvPr/>
        </p:nvSpPr>
        <p:spPr>
          <a:xfrm>
            <a:off x="5367528" y="3611880"/>
            <a:ext cx="1545336" cy="777240"/>
          </a:xfrm>
          <a:prstGeom prst="roundRect">
            <a:avLst>
              <a:gd name="adj" fmla="val 9412"/>
            </a:avLst>
          </a:prstGeom>
          <a:solidFill>
            <a:srgbClr val="FFFFFF"/>
          </a:solidFill>
          <a:ln w="19050">
            <a:solidFill>
              <a:srgbClr val="1E6470"/>
            </a:solidFill>
            <a:prstDash val="solid"/>
          </a:ln>
        </p:spPr>
      </p:sp>
      <p:sp>
        <p:nvSpPr>
          <p:cNvPr id="17" name="Text 15"/>
          <p:cNvSpPr txBox="1"/>
          <p:nvPr/>
        </p:nvSpPr>
        <p:spPr>
          <a:xfrm>
            <a:off x="5440680" y="3657600"/>
            <a:ext cx="1399032" cy="685800"/>
          </a:xfrm>
          <a:prstGeom prst="rect">
            <a:avLst/>
          </a:prstGeom>
          <a:noFill/>
          <a:ln/>
        </p:spPr>
        <p:txBody>
          <a:bodyPr wrap="square" lIns="0" tIns="0" rIns="0" bIns="0" rtlCol="0" anchor="ctr"/>
          <a:lstStyle/>
          <a:p>
            <a:pPr algn="ctr" indent="0" marL="0">
              <a:buNone/>
            </a:pPr>
            <a:r>
              <a:rPr lang="en-US" sz="1050" b="1" dirty="0">
                <a:solidFill>
                  <a:srgbClr val="1E6470"/>
                </a:solidFill>
                <a:latin typeface="Calibri" pitchFamily="34" charset="0"/>
                <a:ea typeface="Calibri" pitchFamily="34" charset="-122"/>
                <a:cs typeface="Calibri" pitchFamily="34" charset="-120"/>
              </a:rPr>
              <a:t>Stop</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campaign is done</a:t>
            </a:r>
            <a:endParaRPr lang="en-US" sz="1400" dirty="0"/>
          </a:p>
        </p:txBody>
      </p:sp>
      <p:sp>
        <p:nvSpPr>
          <p:cNvPr id="18" name="Shape 16"/>
          <p:cNvSpPr/>
          <p:nvPr/>
        </p:nvSpPr>
        <p:spPr>
          <a:xfrm>
            <a:off x="457200" y="4617720"/>
            <a:ext cx="6400800" cy="1463040"/>
          </a:xfrm>
          <a:prstGeom prst="rect">
            <a:avLst/>
          </a:prstGeom>
          <a:solidFill>
            <a:srgbClr val="E9EDF7"/>
          </a:solidFill>
          <a:ln w="12700">
            <a:solidFill>
              <a:srgbClr val="E9EDF7"/>
            </a:solidFill>
            <a:prstDash val="solid"/>
          </a:ln>
        </p:spPr>
      </p:sp>
      <p:sp>
        <p:nvSpPr>
          <p:cNvPr id="19" name="Text 17"/>
          <p:cNvSpPr txBox="1"/>
          <p:nvPr/>
        </p:nvSpPr>
        <p:spPr>
          <a:xfrm>
            <a:off x="585216" y="4700016"/>
            <a:ext cx="614476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Two things that are absent on purpose</a:t>
            </a:r>
            <a:endParaRPr lang="en-US" sz="1300" dirty="0"/>
          </a:p>
        </p:txBody>
      </p:sp>
      <p:sp>
        <p:nvSpPr>
          <p:cNvPr id="20" name="Text 18"/>
          <p:cNvSpPr txBox="1"/>
          <p:nvPr/>
        </p:nvSpPr>
        <p:spPr>
          <a:xfrm>
            <a:off x="585216" y="5010912"/>
            <a:ext cx="61447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`conduct` is NOT a member of the Protocol. Requiring it would break every existing policy, and `runtime_checkable` makes the membership list load-bearing for isinstance.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`Await` or `Cancel` decision. Waiting is something the reasoner DOES by calling `result`, not something it asks the loop to do — one control-flow vocabulary, not two.</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086600" y="1371600"/>
          <a:ext cx="5102352" cy="914400"/>
        </p:xfrm>
        <a:graphic>
          <a:graphicData uri="http://schemas.openxmlformats.org/drawingml/2006/table">
            <a:tbl>
              <a:tblPr/>
              <a:tblGrid>
                <a:gridCol w="685800"/>
                <a:gridCol w="3246120"/>
                <a:gridCol w="117043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decides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A</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four-node LangGraph loop: hypothesize → parameterize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B</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structured LLM call over rich campaign state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an external caller, over the control plane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headless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rules, bandit, Bayesian opt, or replay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reproducible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2" name="Shape 19"/>
          <p:cNvSpPr/>
          <p:nvPr/>
        </p:nvSpPr>
        <p:spPr>
          <a:xfrm>
            <a:off x="7086600" y="3657600"/>
            <a:ext cx="5102352" cy="2423160"/>
          </a:xfrm>
          <a:prstGeom prst="rect">
            <a:avLst/>
          </a:prstGeom>
          <a:solidFill>
            <a:srgbClr val="EEF2F5"/>
          </a:solidFill>
          <a:ln w="12700">
            <a:solidFill>
              <a:srgbClr val="EEF2F5"/>
            </a:solidFill>
            <a:prstDash val="solid"/>
          </a:ln>
        </p:spPr>
      </p:sp>
      <p:sp>
        <p:nvSpPr>
          <p:cNvPr id="23" name="Text 20"/>
          <p:cNvSpPr txBox="1"/>
          <p:nvPr/>
        </p:nvSpPr>
        <p:spPr>
          <a:xfrm>
            <a:off x="7214616" y="3739896"/>
            <a:ext cx="48463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fifth model is cheap</a:t>
            </a:r>
            <a:endParaRPr lang="en-US" sz="1300" dirty="0"/>
          </a:p>
        </p:txBody>
      </p:sp>
      <p:sp>
        <p:nvSpPr>
          <p:cNvPr id="24" name="Text 21"/>
          <p:cNvSpPr txBox="1"/>
          <p:nvPr/>
        </p:nvSpPr>
        <p:spPr>
          <a:xfrm>
            <a:off x="7214616" y="4050792"/>
            <a:ext cx="4846320" cy="1947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Subclass `BasePolicy`, implement one method. `interpret` defaults to None and `on_rejected` defaults to Stop — "give up rather than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Policies compose: `RuleCorrectionsPolicy` wraps any of them as an unconditional guard (the CLI applies it by default — max_replicas 8, `mock_noodle` forbidden), `LoggingPolicy` for provenance.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mock run in this deck was `D` under that guard: policy printed itself as "rulecorrectionspolicy(threshold)".</a:t>
            </a:r>
            <a:endParaRPr lang="en-US" sz="1050" dirty="0"/>
          </a:p>
        </p:txBody>
      </p:sp>
      <p:sp>
        <p:nvSpPr>
          <p:cNvPr id="26" name="Text 22"/>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ADR 0005: the control model is fixed at launch · ADR 0007: one observation, two consumers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seam that keeps policies swappable: intent, not a graph</a:t>
            </a:r>
            <a:endParaRPr lang="en-US" sz="2800" dirty="0"/>
          </a:p>
        </p:txBody>
      </p:sp>
      <p:sp>
        <p:nvSpPr>
          <p:cNvPr id="4" name="Shape 2"/>
          <p:cNvSpPr/>
          <p:nvPr/>
        </p:nvSpPr>
        <p:spPr>
          <a:xfrm>
            <a:off x="457200" y="1371600"/>
            <a:ext cx="51206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4919472" cy="128016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ExperimentIntent(BaseModel):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goal: str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toolkit_hint: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stages: list[str] = []        # tool ids, in order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params: dict[str, Any] =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parent_node: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replicas: int = 1</a:t>
            </a:r>
            <a:endParaRPr lang="en-US" sz="1040" dirty="0"/>
          </a:p>
        </p:txBody>
      </p:sp>
      <p:sp>
        <p:nvSpPr>
          <p:cNvPr id="6" name="Text 4"/>
          <p:cNvSpPr txBox="1"/>
          <p:nvPr/>
        </p:nvSpPr>
        <p:spPr>
          <a:xfrm>
            <a:off x="457200" y="2852928"/>
            <a:ext cx="51206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core/decision.py:21 · EDITED (Field(...) elided)</a:t>
            </a:r>
            <a:endParaRPr lang="en-US" sz="850" dirty="0"/>
          </a:p>
        </p:txBody>
      </p:sp>
      <p:sp>
        <p:nvSpPr>
          <p:cNvPr id="7" name="Shape 5"/>
          <p:cNvSpPr/>
          <p:nvPr/>
        </p:nvSpPr>
        <p:spPr>
          <a:xfrm>
            <a:off x="457200" y="3200400"/>
            <a:ext cx="2606040" cy="822960"/>
          </a:xfrm>
          <a:prstGeom prst="roundRect">
            <a:avLst>
              <a:gd name="adj" fmla="val 8889"/>
            </a:avLst>
          </a:prstGeom>
          <a:solidFill>
            <a:srgbClr val="FFFFFF"/>
          </a:solidFill>
          <a:ln w="19050">
            <a:solidFill>
              <a:srgbClr val="3B4E8C"/>
            </a:solidFill>
            <a:prstDash val="solid"/>
          </a:ln>
        </p:spPr>
      </p:sp>
      <p:sp>
        <p:nvSpPr>
          <p:cNvPr id="8" name="Text 6"/>
          <p:cNvSpPr txBox="1"/>
          <p:nvPr/>
        </p:nvSpPr>
        <p:spPr>
          <a:xfrm>
            <a:off x="530352" y="3246120"/>
            <a:ext cx="2459736" cy="73152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ExperimentIntent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what to try</a:t>
            </a:r>
            <a:endParaRPr lang="en-US" sz="1400" dirty="0"/>
          </a:p>
        </p:txBody>
      </p:sp>
      <p:sp>
        <p:nvSpPr>
          <p:cNvPr id="9" name="Shape 7"/>
          <p:cNvSpPr/>
          <p:nvPr/>
        </p:nvSpPr>
        <p:spPr>
          <a:xfrm>
            <a:off x="3081528" y="3611880"/>
            <a:ext cx="256032" cy="91"/>
          </a:xfrm>
          <a:prstGeom prst="line">
            <a:avLst/>
          </a:prstGeom>
          <a:noFill/>
          <a:ln w="15875">
            <a:solidFill>
              <a:srgbClr val="5E6B75"/>
            </a:solidFill>
            <a:prstDash val="solid"/>
            <a:tailEnd type="triangle"/>
          </a:ln>
        </p:spPr>
      </p:sp>
      <p:sp>
        <p:nvSpPr>
          <p:cNvPr id="10" name="Shape 8"/>
          <p:cNvSpPr/>
          <p:nvPr/>
        </p:nvSpPr>
        <p:spPr>
          <a:xfrm>
            <a:off x="3355848" y="3200400"/>
            <a:ext cx="2606040" cy="822960"/>
          </a:xfrm>
          <a:prstGeom prst="roundRect">
            <a:avLst>
              <a:gd name="adj" fmla="val 8889"/>
            </a:avLst>
          </a:prstGeom>
          <a:solidFill>
            <a:srgbClr val="FFFFFF"/>
          </a:solidFill>
          <a:ln w="19050">
            <a:solidFill>
              <a:srgbClr val="2E7D5B"/>
            </a:solidFill>
            <a:prstDash val="solid"/>
          </a:ln>
        </p:spPr>
      </p:sp>
      <p:sp>
        <p:nvSpPr>
          <p:cNvPr id="11" name="Text 9"/>
          <p:cNvSpPr txBox="1"/>
          <p:nvPr/>
        </p:nvSpPr>
        <p:spPr>
          <a:xfrm>
            <a:off x="3429000"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 campaign params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ligand, the contig</a:t>
            </a:r>
            <a:endParaRPr lang="en-US" sz="1400" dirty="0"/>
          </a:p>
        </p:txBody>
      </p:sp>
      <p:sp>
        <p:nvSpPr>
          <p:cNvPr id="12" name="Shape 10"/>
          <p:cNvSpPr/>
          <p:nvPr/>
        </p:nvSpPr>
        <p:spPr>
          <a:xfrm>
            <a:off x="5980176" y="3611880"/>
            <a:ext cx="256032" cy="91"/>
          </a:xfrm>
          <a:prstGeom prst="line">
            <a:avLst/>
          </a:prstGeom>
          <a:noFill/>
          <a:ln w="15875">
            <a:solidFill>
              <a:srgbClr val="5E6B75"/>
            </a:solidFill>
            <a:prstDash val="solid"/>
            <a:tailEnd type="triangle"/>
          </a:ln>
        </p:spPr>
      </p:sp>
      <p:sp>
        <p:nvSpPr>
          <p:cNvPr id="13" name="Shape 11"/>
          <p:cNvSpPr/>
          <p:nvPr/>
        </p:nvSpPr>
        <p:spPr>
          <a:xfrm>
            <a:off x="6254496" y="3200400"/>
            <a:ext cx="2606040" cy="822960"/>
          </a:xfrm>
          <a:prstGeom prst="roundRect">
            <a:avLst>
              <a:gd name="adj" fmla="val 8889"/>
            </a:avLst>
          </a:prstGeom>
          <a:solidFill>
            <a:srgbClr val="FFFFFF"/>
          </a:solidFill>
          <a:ln w="19050">
            <a:solidFill>
              <a:srgbClr val="2E7D5B"/>
            </a:solidFill>
            <a:prstDash val="solid"/>
          </a:ln>
        </p:spPr>
      </p:sp>
      <p:sp>
        <p:nvSpPr>
          <p:cNvPr id="14" name="Text 12"/>
          <p:cNvSpPr txBox="1"/>
          <p:nvPr/>
        </p:nvSpPr>
        <p:spPr>
          <a:xfrm>
            <a:off x="6327648"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TaskGraph</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DAG, N lineages</a:t>
            </a:r>
            <a:endParaRPr lang="en-US" sz="1400" dirty="0"/>
          </a:p>
        </p:txBody>
      </p:sp>
      <p:sp>
        <p:nvSpPr>
          <p:cNvPr id="15" name="Shape 13"/>
          <p:cNvSpPr/>
          <p:nvPr/>
        </p:nvSpPr>
        <p:spPr>
          <a:xfrm>
            <a:off x="8878824" y="3611880"/>
            <a:ext cx="256032" cy="91"/>
          </a:xfrm>
          <a:prstGeom prst="line">
            <a:avLst/>
          </a:prstGeom>
          <a:noFill/>
          <a:ln w="15875">
            <a:solidFill>
              <a:srgbClr val="5E6B75"/>
            </a:solidFill>
            <a:prstDash val="solid"/>
            <a:tailEnd type="triangle"/>
          </a:ln>
        </p:spPr>
      </p:sp>
      <p:sp>
        <p:nvSpPr>
          <p:cNvPr id="16" name="Shape 14"/>
          <p:cNvSpPr/>
          <p:nvPr/>
        </p:nvSpPr>
        <p:spPr>
          <a:xfrm>
            <a:off x="9153144" y="3200400"/>
            <a:ext cx="2606040" cy="822960"/>
          </a:xfrm>
          <a:prstGeom prst="roundRect">
            <a:avLst>
              <a:gd name="adj" fmla="val 8889"/>
            </a:avLst>
          </a:prstGeom>
          <a:solidFill>
            <a:srgbClr val="FFFFFF"/>
          </a:solidFill>
          <a:ln w="19050">
            <a:solidFill>
              <a:srgbClr val="1E6470"/>
            </a:solidFill>
            <a:prstDash val="solid"/>
          </a:ln>
        </p:spPr>
      </p:sp>
      <p:sp>
        <p:nvSpPr>
          <p:cNvPr id="17" name="Text 15"/>
          <p:cNvSpPr txBox="1"/>
          <p:nvPr/>
        </p:nvSpPr>
        <p:spPr>
          <a:xfrm>
            <a:off x="9226296" y="3246120"/>
            <a:ext cx="2459736" cy="73152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5 gates + dry 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refuse or admit</a:t>
            </a:r>
            <a:endParaRPr lang="en-US" sz="1400" dirty="0"/>
          </a:p>
        </p:txBody>
      </p:sp>
      <p:sp>
        <p:nvSpPr>
          <p:cNvPr id="18" name="Shape 16"/>
          <p:cNvSpPr/>
          <p:nvPr/>
        </p:nvSpPr>
        <p:spPr>
          <a:xfrm>
            <a:off x="5806440" y="1371600"/>
            <a:ext cx="6035040" cy="1463040"/>
          </a:xfrm>
          <a:prstGeom prst="rect">
            <a:avLst/>
          </a:prstGeom>
          <a:solidFill>
            <a:srgbClr val="E4F1EA"/>
          </a:solidFill>
          <a:ln w="12700">
            <a:solidFill>
              <a:srgbClr val="E4F1EA"/>
            </a:solidFill>
            <a:prstDash val="solid"/>
          </a:ln>
        </p:spPr>
      </p:sp>
      <p:sp>
        <p:nvSpPr>
          <p:cNvPr id="19" name="Text 17"/>
          <p:cNvSpPr txBox="1"/>
          <p:nvPr/>
        </p:nvSpPr>
        <p:spPr>
          <a:xfrm>
            <a:off x="5934456" y="1453896"/>
            <a:ext cx="577900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No policy in this package names a tool parameter</a:t>
            </a:r>
            <a:endParaRPr lang="en-US" sz="1300" dirty="0"/>
          </a:p>
        </p:txBody>
      </p:sp>
      <p:sp>
        <p:nvSpPr>
          <p:cNvPr id="20" name="Text 18"/>
          <p:cNvSpPr txBox="1"/>
          <p:nvPr/>
        </p:nvSpPr>
        <p:spPr>
          <a:xfrm>
            <a:off x="5934456" y="1764792"/>
            <a:ext cx="57790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`_apply_campaign_defaults` merges the campaign's `params` BENEATH whatever the policy asked for: the policy always wins on a key it set.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`conduct` reasoner and an external directive get the ligand for free, and no policy has to learn that `boltz_predict` takes `ligand_smiles`.</a:t>
            </a:r>
            <a:endParaRPr lang="en-US" sz="1050" dirty="0"/>
          </a:p>
        </p:txBody>
      </p:sp>
      <p:sp>
        <p:nvSpPr>
          <p:cNvPr id="21" name="Shape 19"/>
          <p:cNvSpPr/>
          <p:nvPr/>
        </p:nvSpPr>
        <p:spPr>
          <a:xfrm>
            <a:off x="457200" y="4251960"/>
            <a:ext cx="5577840" cy="1828800"/>
          </a:xfrm>
          <a:prstGeom prst="rect">
            <a:avLst/>
          </a:prstGeom>
          <a:solidFill>
            <a:srgbClr val="EEF2F5"/>
          </a:solidFill>
          <a:ln w="12700">
            <a:solidFill>
              <a:srgbClr val="EEF2F5"/>
            </a:solidFill>
            <a:prstDash val="solid"/>
          </a:ln>
        </p:spPr>
      </p:sp>
      <p:sp>
        <p:nvSpPr>
          <p:cNvPr id="22" name="Text 20"/>
          <p:cNvSpPr txBox="1"/>
          <p:nvPr/>
        </p:nvSpPr>
        <p:spPr>
          <a:xfrm>
            <a:off x="585216" y="433425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this buys</a:t>
            </a:r>
            <a:endParaRPr lang="en-US" sz="1300" dirty="0"/>
          </a:p>
        </p:txBody>
      </p:sp>
      <p:sp>
        <p:nvSpPr>
          <p:cNvPr id="23" name="Text 21"/>
          <p:cNvSpPr txBox="1"/>
          <p:nvPr/>
        </p:nvSpPr>
        <p:spPr>
          <a:xfrm>
            <a:off x="585216"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that cannot name a tool parameter cannot quietly become a pipeline.</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`policy/` may import `core` and nothing else — enforced by `ast`, slide 29.</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Swapping A for D changes the reasoner and nothing below it.</a:t>
            </a:r>
            <a:endParaRPr lang="en-US" sz="1100" dirty="0"/>
          </a:p>
        </p:txBody>
      </p:sp>
      <p:sp>
        <p:nvSpPr>
          <p:cNvPr id="24" name="Shape 22"/>
          <p:cNvSpPr/>
          <p:nvPr/>
        </p:nvSpPr>
        <p:spPr>
          <a:xfrm>
            <a:off x="6245352" y="4251960"/>
            <a:ext cx="5577840" cy="1828800"/>
          </a:xfrm>
          <a:prstGeom prst="rect">
            <a:avLst/>
          </a:prstGeom>
          <a:solidFill>
            <a:srgbClr val="F9E0DD"/>
          </a:solidFill>
          <a:ln w="12700">
            <a:solidFill>
              <a:srgbClr val="F9E0DD"/>
            </a:solidFill>
            <a:prstDash val="solid"/>
          </a:ln>
        </p:spPr>
      </p:sp>
      <p:sp>
        <p:nvSpPr>
          <p:cNvPr id="25" name="Text 23"/>
          <p:cNvSpPr txBox="1"/>
          <p:nvPr/>
        </p:nvSpPr>
        <p:spPr>
          <a:xfrm>
            <a:off x="6373368" y="433425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it costs</a:t>
            </a:r>
            <a:endParaRPr lang="en-US" sz="1300" dirty="0"/>
          </a:p>
        </p:txBody>
      </p:sp>
      <p:sp>
        <p:nvSpPr>
          <p:cNvPr id="26" name="Text 24"/>
          <p:cNvSpPr txBox="1"/>
          <p:nvPr/>
        </p:nvSpPr>
        <p:spPr>
          <a:xfrm>
            <a:off x="6373368"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cannot express a graph shape the composer cannot build from an ordered stage list — so free composition is free within one topology family.</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graph composed in this deck's run was the same 4-tool chain at two widths.</a:t>
            </a:r>
            <a:endParaRPr lang="en-US" sz="1100" dirty="0"/>
          </a:p>
        </p:txBody>
      </p:sp>
      <p:sp>
        <p:nvSpPr>
          <p:cNvPr id="28" name="Text 2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runtime/executor.py:419 — the merge, and the comment that explains why it lives there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6: a tool is a file a scientist can review</a:t>
            </a:r>
            <a:endParaRPr lang="en-US" sz="2800" dirty="0"/>
          </a:p>
        </p:txBody>
      </p:sp>
      <p:sp>
        <p:nvSpPr>
          <p:cNvPr id="4" name="Shape 2"/>
          <p:cNvSpPr/>
          <p:nvPr/>
        </p:nvSpPr>
        <p:spPr>
          <a:xfrm>
            <a:off x="457200" y="1371600"/>
            <a:ext cx="5943600" cy="2880360"/>
          </a:xfrm>
          <a:prstGeom prst="rect">
            <a:avLst/>
          </a:prstGeom>
          <a:solidFill>
            <a:srgbClr val="16222B"/>
          </a:solidFill>
          <a:ln w="12700">
            <a:solidFill>
              <a:srgbClr val="16222B"/>
            </a:solidFill>
            <a:prstDash val="solid"/>
          </a:ln>
        </p:spPr>
      </p:sp>
      <p:sp>
        <p:nvSpPr>
          <p:cNvPr id="5" name="Text 3"/>
          <p:cNvSpPr txBox="1"/>
          <p:nvPr/>
        </p:nvSpPr>
        <p:spPr>
          <a:xfrm>
            <a:off x="557784" y="1463040"/>
            <a:ext cx="5742432" cy="269748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id: rfd3_design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toolkit: rfd3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pattern: P1                      # GPU-node-local, in-job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entry: impress_a.tools.rfd3_agents.RFD3DesignAgent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resources: {gpus: 1, cores: 8, walltime_s: 900}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outputs: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backbone: {type: Backbone}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parameters: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diffusion_steps: {type: int, default: 50, min: 20, max: 200,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trades: "quality vs wall-clock"}</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metrics: [ss_fraction, num_models]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qc_gates: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output_present, params: {key: 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has_secondary_structure, params: {min_ss_fraction: 0.3}}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cost_model: {unit: invocation, cost: {gpu_hours: 0.1}}</a:t>
            </a:r>
            <a:endParaRPr lang="en-US" sz="1000" dirty="0"/>
          </a:p>
        </p:txBody>
      </p:sp>
      <p:sp>
        <p:nvSpPr>
          <p:cNvPr id="6" name="Text 4"/>
          <p:cNvSpPr txBox="1"/>
          <p:nvPr/>
        </p:nvSpPr>
        <p:spPr>
          <a:xfrm>
            <a:off x="457200" y="4270248"/>
            <a:ext cx="59436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toolkits/rfd3/tools/rfd3_design/spec.yaml:1 · TRIMMED</a:t>
            </a:r>
            <a:endParaRPr lang="en-US" sz="850" dirty="0"/>
          </a:p>
        </p:txBody>
      </p:sp>
      <p:sp>
        <p:nvSpPr>
          <p:cNvPr id="7" name="Shape 5"/>
          <p:cNvSpPr/>
          <p:nvPr/>
        </p:nvSpPr>
        <p:spPr>
          <a:xfrm>
            <a:off x="6629400" y="1371600"/>
            <a:ext cx="5102352" cy="1371600"/>
          </a:xfrm>
          <a:prstGeom prst="rect">
            <a:avLst/>
          </a:prstGeom>
          <a:solidFill>
            <a:srgbClr val="F3EAF6"/>
          </a:solidFill>
          <a:ln w="12700">
            <a:solidFill>
              <a:srgbClr val="F3EAF6"/>
            </a:solidFill>
            <a:prstDash val="solid"/>
          </a:ln>
        </p:spPr>
      </p:sp>
      <p:sp>
        <p:nvSpPr>
          <p:cNvPr id="8" name="Text 6"/>
          <p:cNvSpPr txBox="1"/>
          <p:nvPr/>
        </p:nvSpPr>
        <p:spPr>
          <a:xfrm>
            <a:off x="6757416" y="1453896"/>
            <a:ext cx="4846320"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Read by four consumers</a:t>
            </a:r>
            <a:endParaRPr lang="en-US" sz="1300" dirty="0"/>
          </a:p>
        </p:txBody>
      </p:sp>
      <p:sp>
        <p:nvSpPr>
          <p:cNvPr id="9" name="Text 7"/>
          <p:cNvSpPr txBox="1"/>
          <p:nvPr/>
        </p:nvSpPr>
        <p:spPr>
          <a:xfrm>
            <a:off x="6757416" y="1764792"/>
            <a:ext cx="48463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composer types the graph from `inputs`/`outputs`; the validator sizes it from `resources`; the budget guard prices it from `cost_model`; the task agent resolves `parameters` and enforces `qc_gates`.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Declarative so a scientist can review it in a pull request (decision 0011).</a:t>
            </a:r>
            <a:endParaRPr lang="en-US" sz="1050" dirty="0"/>
          </a:p>
        </p:txBody>
      </p:sp>
      <p:sp>
        <p:nvSpPr>
          <p:cNvPr id="10" name="Shape 8"/>
          <p:cNvSpPr/>
          <p:nvPr/>
        </p:nvSpPr>
        <p:spPr>
          <a:xfrm>
            <a:off x="6629400" y="2926080"/>
            <a:ext cx="5102352" cy="1325880"/>
          </a:xfrm>
          <a:prstGeom prst="rect">
            <a:avLst/>
          </a:prstGeom>
          <a:solidFill>
            <a:srgbClr val="16222B"/>
          </a:solidFill>
          <a:ln w="12700">
            <a:solidFill>
              <a:srgbClr val="16222B"/>
            </a:solidFill>
            <a:prstDash val="solid"/>
          </a:ln>
        </p:spPr>
      </p:sp>
      <p:sp>
        <p:nvSpPr>
          <p:cNvPr id="11" name="Text 9"/>
          <p:cNvSpPr txBox="1"/>
          <p:nvPr/>
        </p:nvSpPr>
        <p:spPr>
          <a:xfrm>
            <a:off x="6729984" y="3017520"/>
            <a:ext cx="4901184" cy="1143000"/>
          </a:xfrm>
          <a:prstGeom prst="rect">
            <a:avLst/>
          </a:prstGeom>
          <a:noFill/>
          <a:ln/>
        </p:spPr>
        <p:txBody>
          <a:bodyPr wrap="square" lIns="0" tIns="0" rIns="0" bIns="0" rtlCol="0" anchor="t"/>
          <a:lstStyle/>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self.pattern is Pattern.P1 and self.resources.gpus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g.role == "acceptance" and g.id == "metric_in_range" \</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and g.params.get("metric") not in reported:</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 needs an integrity"</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 metrics_reported gate naming it")</a:t>
            </a:r>
            <a:endParaRPr lang="en-US" sz="950" dirty="0"/>
          </a:p>
        </p:txBody>
      </p:sp>
      <p:sp>
        <p:nvSpPr>
          <p:cNvPr id="12" name="Text 10"/>
          <p:cNvSpPr txBox="1"/>
          <p:nvPr/>
        </p:nvSpPr>
        <p:spPr>
          <a:xfrm>
            <a:off x="6629400" y="4270248"/>
            <a:ext cx="51023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tools/spec.py:100 · EDITED</a:t>
            </a:r>
            <a:endParaRPr lang="en-US" sz="850" dirty="0"/>
          </a:p>
        </p:txBody>
      </p:sp>
      <p:sp>
        <p:nvSpPr>
          <p:cNvPr id="13" name="Shape 11"/>
          <p:cNvSpPr/>
          <p:nvPr/>
        </p:nvSpPr>
        <p:spPr>
          <a:xfrm>
            <a:off x="457200" y="4526280"/>
            <a:ext cx="5943600" cy="1554480"/>
          </a:xfrm>
          <a:prstGeom prst="rect">
            <a:avLst/>
          </a:prstGeom>
          <a:solidFill>
            <a:srgbClr val="EEF2F5"/>
          </a:solidFill>
          <a:ln w="12700">
            <a:solidFill>
              <a:srgbClr val="EEF2F5"/>
            </a:solidFill>
            <a:prstDash val="solid"/>
          </a:ln>
        </p:spPr>
      </p:sp>
      <p:sp>
        <p:nvSpPr>
          <p:cNvPr id="14" name="Text 12"/>
          <p:cNvSpPr txBox="1"/>
          <p:nvPr/>
        </p:nvSpPr>
        <p:spPr>
          <a:xfrm>
            <a:off x="585216" y="4608576"/>
            <a:ext cx="56875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Loading is validating</a:t>
            </a:r>
            <a:endParaRPr lang="en-US" sz="1300" dirty="0"/>
          </a:p>
        </p:txBody>
      </p:sp>
      <p:sp>
        <p:nvSpPr>
          <p:cNvPr id="15" name="Text 13"/>
          <p:cNvSpPr txBox="1"/>
          <p:nvPr/>
        </p:nvSpPr>
        <p:spPr>
          <a:xfrm>
            <a:off x="585216" y="4919472"/>
            <a:ext cx="56875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declared range, a parameter both varyable and frozen, a gate id that is not implemented, a duplicate tool id, a SKILL.md missing one of 4 required sections — all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all-or-nothing per directory, so an RFD3 container problem cannot also take down PyRosetta.</a:t>
            </a:r>
            <a:endParaRPr lang="en-US" sz="1050" dirty="0"/>
          </a:p>
        </p:txBody>
      </p:sp>
      <p:sp>
        <p:nvSpPr>
          <p:cNvPr id="16" name="Shape 14"/>
          <p:cNvSpPr/>
          <p:nvPr/>
        </p:nvSpPr>
        <p:spPr>
          <a:xfrm>
            <a:off x="6629400" y="4389120"/>
            <a:ext cx="5102352" cy="1691640"/>
          </a:xfrm>
          <a:prstGeom prst="rect">
            <a:avLst/>
          </a:prstGeom>
          <a:solidFill>
            <a:srgbClr val="F9E0DD"/>
          </a:solidFill>
          <a:ln w="12700">
            <a:solidFill>
              <a:srgbClr val="F9E0DD"/>
            </a:solidFill>
            <a:prstDash val="solid"/>
          </a:ln>
        </p:spPr>
      </p:sp>
      <p:sp>
        <p:nvSpPr>
          <p:cNvPr id="17" name="Text 15"/>
          <p:cNvSpPr txBox="1"/>
          <p:nvPr/>
        </p:nvSpPr>
        <p:spPr>
          <a:xfrm>
            <a:off x="6757416" y="4471416"/>
            <a:ext cx="48463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the rule behind the second check</a:t>
            </a:r>
            <a:endParaRPr lang="en-US" sz="1300" dirty="0"/>
          </a:p>
        </p:txBody>
      </p:sp>
      <p:sp>
        <p:nvSpPr>
          <p:cNvPr id="18" name="Text 16"/>
          <p:cNvSpPr txBox="1"/>
          <p:nvPr/>
        </p:nvSpPr>
        <p:spPr>
          <a:xfrm>
            <a:off x="6757416" y="4782312"/>
            <a:ext cx="4846320" cy="12161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acceptance threshold must never be the only thing that notices a value is missing — that is how a fabricated 0.0 passes for a measurement.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integrity and acceptance are separate roles, and only integrity failures count against a workflow's trust (decision 0013).</a:t>
            </a:r>
            <a:endParaRPr lang="en-US" sz="1050" dirty="0"/>
          </a:p>
        </p:txBody>
      </p:sp>
      <p:sp>
        <p:nvSpPr>
          <p:cNvPr id="20"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11 tools load clean at slides/impress-a-api-user-slides @ bf32d1d; registry errors: 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phases, and the one you may not override</a:t>
            </a:r>
            <a:endParaRPr lang="en-US" sz="2800" dirty="0"/>
          </a:p>
        </p:txBody>
      </p:sp>
      <p:sp>
        <p:nvSpPr>
          <p:cNvPr id="4" name="Shape 2"/>
          <p:cNvSpPr/>
          <p:nvPr/>
        </p:nvSpPr>
        <p:spPr>
          <a:xfrm>
            <a:off x="457200" y="1371600"/>
            <a:ext cx="1828800" cy="1051560"/>
          </a:xfrm>
          <a:prstGeom prst="roundRect">
            <a:avLst>
              <a:gd name="adj" fmla="val 6957"/>
            </a:avLst>
          </a:prstGeom>
          <a:solidFill>
            <a:srgbClr val="FFFFFF"/>
          </a:solidFill>
          <a:ln w="19050">
            <a:solidFill>
              <a:srgbClr val="7A4A8C"/>
            </a:solidFill>
            <a:prstDash val="solid"/>
          </a:ln>
        </p:spPr>
      </p:sp>
      <p:sp>
        <p:nvSpPr>
          <p:cNvPr id="5" name="Text 3"/>
          <p:cNvSpPr txBox="1"/>
          <p:nvPr/>
        </p:nvSpPr>
        <p:spPr>
          <a:xfrm>
            <a:off x="53035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pre_process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in,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out</a:t>
            </a:r>
            <a:endParaRPr lang="en-US" sz="1400" dirty="0"/>
          </a:p>
        </p:txBody>
      </p:sp>
      <p:sp>
        <p:nvSpPr>
          <p:cNvPr id="6" name="Shape 4"/>
          <p:cNvSpPr/>
          <p:nvPr/>
        </p:nvSpPr>
        <p:spPr>
          <a:xfrm>
            <a:off x="2304288" y="1892808"/>
            <a:ext cx="146304" cy="91"/>
          </a:xfrm>
          <a:prstGeom prst="line">
            <a:avLst/>
          </a:prstGeom>
          <a:noFill/>
          <a:ln w="15875">
            <a:solidFill>
              <a:srgbClr val="5E6B75"/>
            </a:solidFill>
            <a:prstDash val="solid"/>
            <a:tailEnd type="triangle"/>
          </a:ln>
        </p:spPr>
      </p:sp>
      <p:sp>
        <p:nvSpPr>
          <p:cNvPr id="7" name="Shape 5"/>
          <p:cNvSpPr/>
          <p:nvPr/>
        </p:nvSpPr>
        <p:spPr>
          <a:xfrm>
            <a:off x="2468880" y="1371600"/>
            <a:ext cx="1828800" cy="1051560"/>
          </a:xfrm>
          <a:prstGeom prst="roundRect">
            <a:avLst>
              <a:gd name="adj" fmla="val 6957"/>
            </a:avLst>
          </a:prstGeom>
          <a:solidFill>
            <a:srgbClr val="FFFFFF"/>
          </a:solidFill>
          <a:ln w="19050">
            <a:solidFill>
              <a:srgbClr val="7A4A8C"/>
            </a:solidFill>
            <a:prstDash val="solid"/>
          </a:ln>
        </p:spPr>
      </p:sp>
      <p:sp>
        <p:nvSpPr>
          <p:cNvPr id="8" name="Text 6"/>
          <p:cNvSpPr txBox="1"/>
          <p:nvPr/>
        </p:nvSpPr>
        <p:spPr>
          <a:xfrm>
            <a:off x="254203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parameterize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defaults resolved,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frozen refused,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drawn</a:t>
            </a:r>
            <a:endParaRPr lang="en-US" sz="1400" dirty="0"/>
          </a:p>
        </p:txBody>
      </p:sp>
      <p:sp>
        <p:nvSpPr>
          <p:cNvPr id="9" name="Shape 7"/>
          <p:cNvSpPr/>
          <p:nvPr/>
        </p:nvSpPr>
        <p:spPr>
          <a:xfrm>
            <a:off x="4315968" y="1892808"/>
            <a:ext cx="146304" cy="91"/>
          </a:xfrm>
          <a:prstGeom prst="line">
            <a:avLst/>
          </a:prstGeom>
          <a:noFill/>
          <a:ln w="15875">
            <a:solidFill>
              <a:srgbClr val="5E6B75"/>
            </a:solidFill>
            <a:prstDash val="solid"/>
            <a:tailEnd type="triangle"/>
          </a:ln>
        </p:spPr>
      </p:sp>
      <p:sp>
        <p:nvSpPr>
          <p:cNvPr id="10" name="Shape 8"/>
          <p:cNvSpPr/>
          <p:nvPr/>
        </p:nvSpPr>
        <p:spPr>
          <a:xfrm>
            <a:off x="4480560" y="1371600"/>
            <a:ext cx="1828800" cy="1051560"/>
          </a:xfrm>
          <a:prstGeom prst="roundRect">
            <a:avLst>
              <a:gd name="adj" fmla="val 6957"/>
            </a:avLst>
          </a:prstGeom>
          <a:solidFill>
            <a:srgbClr val="FFFFFF"/>
          </a:solidFill>
          <a:ln w="19050">
            <a:solidFill>
              <a:srgbClr val="7A4A8C"/>
            </a:solidFill>
            <a:prstDash val="solid"/>
          </a:ln>
        </p:spPr>
      </p:sp>
      <p:sp>
        <p:nvSpPr>
          <p:cNvPr id="11" name="Text 9"/>
          <p:cNvSpPr txBox="1"/>
          <p:nvPr/>
        </p:nvSpPr>
        <p:spPr>
          <a:xfrm>
            <a:off x="455371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only phase an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adapter really writes</a:t>
            </a:r>
            <a:endParaRPr lang="en-US" sz="1400" dirty="0"/>
          </a:p>
        </p:txBody>
      </p:sp>
      <p:sp>
        <p:nvSpPr>
          <p:cNvPr id="12" name="Shape 10"/>
          <p:cNvSpPr/>
          <p:nvPr/>
        </p:nvSpPr>
        <p:spPr>
          <a:xfrm>
            <a:off x="6327648" y="1892808"/>
            <a:ext cx="146304" cy="91"/>
          </a:xfrm>
          <a:prstGeom prst="line">
            <a:avLst/>
          </a:prstGeom>
          <a:noFill/>
          <a:ln w="15875">
            <a:solidFill>
              <a:srgbClr val="5E6B75"/>
            </a:solidFill>
            <a:prstDash val="solid"/>
            <a:tailEnd type="triangle"/>
          </a:ln>
        </p:spPr>
      </p:sp>
      <p:sp>
        <p:nvSpPr>
          <p:cNvPr id="13" name="Shape 11"/>
          <p:cNvSpPr/>
          <p:nvPr/>
        </p:nvSpPr>
        <p:spPr>
          <a:xfrm>
            <a:off x="6492240" y="1371600"/>
            <a:ext cx="1828800" cy="1051560"/>
          </a:xfrm>
          <a:prstGeom prst="roundRect">
            <a:avLst>
              <a:gd name="adj" fmla="val 6957"/>
            </a:avLst>
          </a:prstGeom>
          <a:solidFill>
            <a:srgbClr val="FFFFFF"/>
          </a:solidFill>
          <a:ln w="19050">
            <a:solidFill>
              <a:srgbClr val="2E7D5B"/>
            </a:solidFill>
            <a:prstDash val="solid"/>
          </a:ln>
        </p:spPr>
      </p:sp>
      <p:sp>
        <p:nvSpPr>
          <p:cNvPr id="14" name="Text 12"/>
          <p:cNvSpPr txBox="1"/>
          <p:nvPr/>
        </p:nvSpPr>
        <p:spPr>
          <a:xfrm>
            <a:off x="6565392" y="1417320"/>
            <a:ext cx="1682496" cy="9601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post_process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metrics extracted,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GATES ENFORCED</a:t>
            </a:r>
            <a:endParaRPr lang="en-US" sz="1400" dirty="0"/>
          </a:p>
        </p:txBody>
      </p:sp>
      <p:sp>
        <p:nvSpPr>
          <p:cNvPr id="15" name="Shape 13"/>
          <p:cNvSpPr/>
          <p:nvPr/>
        </p:nvSpPr>
        <p:spPr>
          <a:xfrm>
            <a:off x="8641080" y="1371600"/>
            <a:ext cx="3547872" cy="1051560"/>
          </a:xfrm>
          <a:prstGeom prst="roundRect">
            <a:avLst>
              <a:gd name="adj" fmla="val 6957"/>
            </a:avLst>
          </a:prstGeom>
          <a:solidFill>
            <a:srgbClr val="F9E0DD"/>
          </a:solidFill>
          <a:ln w="19050">
            <a:solidFill>
              <a:srgbClr val="C0392B"/>
            </a:solidFill>
            <a:prstDash val="solid"/>
          </a:ln>
        </p:spPr>
      </p:sp>
      <p:sp>
        <p:nvSpPr>
          <p:cNvPr id="16" name="Text 14"/>
          <p:cNvSpPr txBox="1"/>
          <p:nvPr/>
        </p:nvSpPr>
        <p:spPr>
          <a:xfrm>
            <a:off x="8714232" y="1417320"/>
            <a:ext cx="3401568" cy="960120"/>
          </a:xfrm>
          <a:prstGeom prst="rect">
            <a:avLst/>
          </a:prstGeom>
          <a:noFill/>
          <a:ln/>
        </p:spPr>
        <p:txBody>
          <a:bodyPr wrap="square" lIns="0" tIns="0" rIns="0" bIns="0" rtlCol="0" anchor="ctr"/>
          <a:lstStyle/>
          <a:p>
            <a:pPr algn="ctr" indent="0" marL="0">
              <a:buNone/>
            </a:pPr>
            <a:r>
              <a:rPr lang="en-US" sz="1150" b="1" dirty="0">
                <a:solidFill>
                  <a:srgbClr val="C0392B"/>
                </a:solidFill>
                <a:latin typeface="Calibri" pitchFamily="34" charset="0"/>
                <a:ea typeface="Calibri" pitchFamily="34" charset="-122"/>
                <a:cs typeface="Calibri" pitchFamily="34" charset="-120"/>
              </a:rPr>
              <a:t>__call__()</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four phases, in order: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overridable, and pattern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dispatch belongs to exec/</a:t>
            </a:r>
            <a:endParaRPr lang="en-US" sz="1400" dirty="0"/>
          </a:p>
        </p:txBody>
      </p:sp>
      <p:sp>
        <p:nvSpPr>
          <p:cNvPr id="17" name="Shape 15"/>
          <p:cNvSpPr/>
          <p:nvPr/>
        </p:nvSpPr>
        <p:spPr>
          <a:xfrm>
            <a:off x="457200" y="2697480"/>
            <a:ext cx="6492240" cy="1234440"/>
          </a:xfrm>
          <a:prstGeom prst="rect">
            <a:avLst/>
          </a:prstGeom>
          <a:solidFill>
            <a:srgbClr val="16222B"/>
          </a:solidFill>
          <a:ln w="12700">
            <a:solidFill>
              <a:srgbClr val="16222B"/>
            </a:solidFill>
            <a:prstDash val="solid"/>
          </a:ln>
        </p:spPr>
      </p:sp>
      <p:sp>
        <p:nvSpPr>
          <p:cNvPr id="18" name="Text 16"/>
          <p:cNvSpPr txBox="1"/>
          <p:nvPr/>
        </p:nvSpPr>
        <p:spPr>
          <a:xfrm>
            <a:off x="557784" y="2788920"/>
            <a:ext cx="629107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async def post_process(self, req, raw) -&gt; TaskResult: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"""Extract metrics and ENFORCE QC gates. Never skippable."""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qc = gates.evaluate(self.spec, raw)</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TaskResult(tool=self.spec.id,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outputs=self._as_artifacts(raw.get("outputs", {})),</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metrics=raw.get("metrics", {}), qc=qc, ...)</a:t>
            </a:r>
            <a:endParaRPr lang="en-US" sz="1000" dirty="0"/>
          </a:p>
        </p:txBody>
      </p:sp>
      <p:sp>
        <p:nvSpPr>
          <p:cNvPr id="19" name="Text 17"/>
          <p:cNvSpPr txBox="1"/>
          <p:nvPr/>
        </p:nvSpPr>
        <p:spPr>
          <a:xfrm>
            <a:off x="457200" y="3950208"/>
            <a:ext cx="64922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tools/agent.py:110 · TRIMMED</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78040" y="2697480"/>
          <a:ext cx="4553712" cy="914400"/>
        </p:xfrm>
        <a:graphic>
          <a:graphicData uri="http://schemas.openxmlformats.org/drawingml/2006/table">
            <a:tbl>
              <a:tblPr/>
              <a:tblGrid>
                <a:gridCol w="2148840"/>
                <a:gridCol w="2404872"/>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catches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output_present</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adapter returned nothing under the declared key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metrics_reported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promised metric is absent, or not a finite number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metric_in_range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value outside the acceptance band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has_secondary_structure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silent "designed a noodle"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1" name="Shape 18"/>
          <p:cNvSpPr/>
          <p:nvPr/>
        </p:nvSpPr>
        <p:spPr>
          <a:xfrm>
            <a:off x="457200" y="4160520"/>
            <a:ext cx="6492240" cy="1920240"/>
          </a:xfrm>
          <a:prstGeom prst="rect">
            <a:avLst/>
          </a:prstGeom>
          <a:solidFill>
            <a:srgbClr val="F3EAF6"/>
          </a:solidFill>
          <a:ln w="12700">
            <a:solidFill>
              <a:srgbClr val="F3EAF6"/>
            </a:solidFill>
            <a:prstDash val="solid"/>
          </a:ln>
        </p:spPr>
      </p:sp>
      <p:sp>
        <p:nvSpPr>
          <p:cNvPr id="22" name="Text 19"/>
          <p:cNvSpPr txBox="1"/>
          <p:nvPr/>
        </p:nvSpPr>
        <p:spPr>
          <a:xfrm>
            <a:off x="585216" y="4242816"/>
            <a:ext cx="6236208"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Why the type comes from the spec, never the adapter</a:t>
            </a:r>
            <a:endParaRPr lang="en-US" sz="1300" dirty="0"/>
          </a:p>
        </p:txBody>
      </p:sp>
      <p:sp>
        <p:nvSpPr>
          <p:cNvPr id="23" name="Text 20"/>
          <p:cNvSpPr txBox="1"/>
          <p:nvPr/>
        </p:nvSpPr>
        <p:spPr>
          <a:xfrm>
            <a:off x="585216" y="4553712"/>
            <a:ext cx="6236208"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`_as_artifacts` stamps each output with the port type the composer type-checked against, so a ref cannot disagree with the contract.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adapter returning an undeclared output is an ERROR, not a dropped value — dropping it silently would hide a spec bug.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`Path` means a file and gets hashed; anything else is an inline value.</a:t>
            </a:r>
            <a:endParaRPr lang="en-US" sz="1050" dirty="0"/>
          </a:p>
        </p:txBody>
      </p:sp>
      <p:sp>
        <p:nvSpPr>
          <p:cNvPr id="24" name="Shape 21"/>
          <p:cNvSpPr/>
          <p:nvPr/>
        </p:nvSpPr>
        <p:spPr>
          <a:xfrm>
            <a:off x="7178040" y="4800600"/>
            <a:ext cx="4553712" cy="1280160"/>
          </a:xfrm>
          <a:prstGeom prst="rect">
            <a:avLst/>
          </a:prstGeom>
          <a:solidFill>
            <a:srgbClr val="EEF2F5"/>
          </a:solidFill>
          <a:ln w="12700">
            <a:solidFill>
              <a:srgbClr val="EEF2F5"/>
            </a:solidFill>
            <a:prstDash val="solid"/>
          </a:ln>
        </p:spPr>
      </p:sp>
      <p:sp>
        <p:nvSpPr>
          <p:cNvPr id="25" name="Text 22"/>
          <p:cNvSpPr txBox="1"/>
          <p:nvPr/>
        </p:nvSpPr>
        <p:spPr>
          <a:xfrm>
            <a:off x="7306056" y="4882896"/>
            <a:ext cx="4297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zero exit code is never enough</a:t>
            </a:r>
            <a:endParaRPr lang="en-US" sz="1300" dirty="0"/>
          </a:p>
        </p:txBody>
      </p:sp>
      <p:sp>
        <p:nvSpPr>
          <p:cNvPr id="26" name="Text 23"/>
          <p:cNvSpPr txBox="1"/>
          <p:nvPr/>
        </p:nvSpPr>
        <p:spPr>
          <a:xfrm>
            <a:off x="7306056" y="5193792"/>
            <a:ext cx="4297680" cy="80467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Tools fail SILENTLY far more often than they crash: an empty output directory, an unrecognised header, a relax that diverged.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20 fixtures ship with the toolkits, 11 of them `.bad` — recorded failures kept as tests. A QC-failed node is never rankable.</a:t>
            </a:r>
            <a:endParaRPr lang="en-US" sz="950" dirty="0"/>
          </a:p>
        </p:txBody>
      </p:sp>
      <p:sp>
        <p:nvSpPr>
          <p:cNvPr id="28"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gates are registered by name with a decorator: tools/gates.py — adding one is a function and a spec entry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gates, a dry run, and a refusal from the real run</a:t>
            </a:r>
            <a:endParaRPr lang="en-US" sz="2800" dirty="0"/>
          </a:p>
        </p:txBody>
      </p:sp>
      <p:sp>
        <p:nvSpPr>
          <p:cNvPr id="4" name="Shape 2"/>
          <p:cNvSpPr/>
          <p:nvPr/>
        </p:nvSpPr>
        <p:spPr>
          <a:xfrm>
            <a:off x="457200" y="1371600"/>
            <a:ext cx="5760720" cy="123444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def validate(self, g: TaskGraph) -&gt; ValidationFailure |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for gate in (self._g1_types, self._g2_structure, self._g3_params,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self._g4_resources, self._g5_budget):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(f := gate(g)) is not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f</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None</a:t>
            </a:r>
            <a:endParaRPr lang="en-US" sz="1000" dirty="0"/>
          </a:p>
        </p:txBody>
      </p:sp>
      <p:sp>
        <p:nvSpPr>
          <p:cNvPr id="6" name="Text 4"/>
          <p:cNvSpPr txBox="1"/>
          <p:nvPr/>
        </p:nvSpPr>
        <p:spPr>
          <a:xfrm>
            <a:off x="457200" y="262432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compose/validate.py:30 · VERBATIM</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5760720" cy="914400"/>
        </p:xfrm>
        <a:graphic>
          <a:graphicData uri="http://schemas.openxmlformats.org/drawingml/2006/table">
            <a:tbl>
              <a:tblPr/>
              <a:tblGrid>
                <a:gridCol w="1508760"/>
                <a:gridCol w="425196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Refuses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1 · types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Backbone where a Complex is required, an unknown port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2 · structure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cycle, an orphan, a P6 the composer should have inlined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3 · params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out of range, frozen, unknown to the spec</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4 · resources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more GPUs than the site has; external when not allowed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5 · budget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an estimate the ledger cannot afford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 dry run</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every agent parameterizes, nothing executes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8" name="Shape 5"/>
          <p:cNvSpPr/>
          <p:nvPr/>
        </p:nvSpPr>
        <p:spPr>
          <a:xfrm>
            <a:off x="6446520" y="1371600"/>
            <a:ext cx="5285232" cy="1463040"/>
          </a:xfrm>
          <a:prstGeom prst="rect">
            <a:avLst/>
          </a:prstGeom>
          <a:solidFill>
            <a:srgbClr val="E9EDF7"/>
          </a:solidFill>
          <a:ln w="12700">
            <a:solidFill>
              <a:srgbClr val="E9EDF7"/>
            </a:solidFill>
            <a:prstDash val="solid"/>
          </a:ln>
        </p:spPr>
      </p:sp>
      <p:sp>
        <p:nvSpPr>
          <p:cNvPr id="9" name="Text 6"/>
          <p:cNvSpPr txBox="1"/>
          <p:nvPr/>
        </p:nvSpPr>
        <p:spPr>
          <a:xfrm>
            <a:off x="6574536" y="1453896"/>
            <a:ext cx="50292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field that keeps a policy from degrading itself</a:t>
            </a:r>
            <a:endParaRPr lang="en-US" sz="1300" dirty="0"/>
          </a:p>
        </p:txBody>
      </p:sp>
      <p:sp>
        <p:nvSpPr>
          <p:cNvPr id="10" name="Text 7"/>
          <p:cNvSpPr txBox="1"/>
          <p:nvPr/>
        </p:nvSpPr>
        <p:spPr>
          <a:xfrm>
            <a:off x="6574536" y="1764792"/>
            <a:ext cx="502920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`ValidationFailure.transient` — True when the graph is FINE and only the moment is wrong. Gates 1-5 are properties of the graph and never transient; the interlock's cost cap is.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Without it, a policy answers contention by mutilating its own intent.</a:t>
            </a:r>
            <a:endParaRPr lang="en-US" sz="1050" dirty="0"/>
          </a:p>
        </p:txBody>
      </p:sp>
      <p:sp>
        <p:nvSpPr>
          <p:cNvPr id="11" name="Shape 8"/>
          <p:cNvSpPr/>
          <p:nvPr/>
        </p:nvSpPr>
        <p:spPr>
          <a:xfrm>
            <a:off x="6446520" y="2971800"/>
            <a:ext cx="5285232" cy="1828800"/>
          </a:xfrm>
          <a:prstGeom prst="rect">
            <a:avLst/>
          </a:prstGeom>
          <a:solidFill>
            <a:srgbClr val="16222B"/>
          </a:solidFill>
          <a:ln w="25400">
            <a:solidFill>
              <a:srgbClr val="D9731A"/>
            </a:solidFill>
            <a:prstDash val="solid"/>
          </a:ln>
        </p:spPr>
      </p:sp>
      <p:sp>
        <p:nvSpPr>
          <p:cNvPr id="12" name="Text 9"/>
          <p:cNvSpPr txBox="1"/>
          <p:nvPr/>
        </p:nvSpPr>
        <p:spPr>
          <a:xfrm>
            <a:off x="6583680" y="3063240"/>
            <a:ext cx="5029200" cy="228600"/>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FROM THE RUN THAT BUILT THIS DECK</a:t>
            </a:r>
            <a:endParaRPr lang="en-US" sz="950" dirty="0"/>
          </a:p>
        </p:txBody>
      </p:sp>
      <p:sp>
        <p:nvSpPr>
          <p:cNvPr id="13" name="Text 10"/>
          <p:cNvSpPr txBox="1"/>
          <p:nvPr/>
        </p:nvSpPr>
        <p:spPr>
          <a:xfrm>
            <a:off x="6583680" y="3337560"/>
            <a:ext cx="5029200" cy="1371600"/>
          </a:xfrm>
          <a:prstGeom prst="rect">
            <a:avLst/>
          </a:prstGeom>
          <a:noFill/>
          <a:ln/>
        </p:spPr>
        <p:txBody>
          <a:bodyPr wrap="square" lIns="0" tIns="0" rIns="0" bIns="0"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graph 1 · 3 lineages · 12 tasks</a:t>
            </a:r>
            <a:endParaRPr lang="en-US" sz="1000" dirty="0"/>
          </a:p>
          <a:p>
            <a:pPr indent="0" marL="0">
              <a:buNone/>
            </a:pPr>
            <a:r>
              <a:rPr lang="en-US" sz="1050" dirty="0">
                <a:solidFill>
                  <a:srgbClr val="E8A0A0"/>
                </a:solidFill>
                <a:latin typeface="Consolas" pitchFamily="34" charset="0"/>
                <a:ea typeface="Consolas" pitchFamily="34" charset="-122"/>
                <a:cs typeface="Consolas" pitchFamily="34" charset="-120"/>
              </a:rPr>
              <a:t>REFUSED at the interlock gate, transient=true</a:t>
            </a:r>
            <a:endParaRPr lang="en-US" sz="1000" dirty="0"/>
          </a:p>
          <a:p>
            <a:pPr indent="0" marL="0">
              <a:buNone/>
            </a:pPr>
            <a:r>
              <a:rPr lang="en-US" sz="950" dirty="0">
                <a:solidFill>
                  <a:srgbClr val="C8D4DD"/>
                </a:solidFill>
                <a:latin typeface="Consolas" pitchFamily="34" charset="0"/>
                <a:ea typeface="Consolas" pitchFamily="34" charset="-122"/>
                <a:cs typeface="Consolas" pitchFamily="34" charset="-120"/>
              </a:rPr>
              <a:t>"provisional pattern capped at 10% of available cpu_hours (1.500 &gt; 1.200)"</a:t>
            </a:r>
            <a:endParaRPr lang="en-US" sz="1000" dirty="0"/>
          </a:p>
          <a:p>
            <a:pPr indent="0" marL="0">
              <a:buNone/>
            </a:pPr>
            <a:r>
              <a:rPr lang="en-US" sz="1050" dirty="0">
                <a:solidFill>
                  <a:srgbClr val="9FD9A8"/>
                </a:solidFill>
                <a:latin typeface="Consolas" pitchFamily="34" charset="0"/>
                <a:ea typeface="Consolas" pitchFamily="34" charset="-122"/>
                <a:cs typeface="Consolas" pitchFamily="34" charset="-120"/>
              </a:rPr>
              <a:t>then: 2 graphs admitted at 2 lineages, 8 tasks each</a:t>
            </a:r>
            <a:endParaRPr lang="en-US" sz="1000" dirty="0"/>
          </a:p>
        </p:txBody>
      </p:sp>
      <p:sp>
        <p:nvSpPr>
          <p:cNvPr id="14" name="Shape 11"/>
          <p:cNvSpPr/>
          <p:nvPr/>
        </p:nvSpPr>
        <p:spPr>
          <a:xfrm>
            <a:off x="457200" y="5349240"/>
            <a:ext cx="5760720" cy="731520"/>
          </a:xfrm>
          <a:prstGeom prst="rect">
            <a:avLst/>
          </a:prstGeom>
          <a:solidFill>
            <a:srgbClr val="E4F1EA"/>
          </a:solidFill>
          <a:ln w="12700">
            <a:solidFill>
              <a:srgbClr val="E4F1EA"/>
            </a:solidFill>
            <a:prstDash val="solid"/>
          </a:ln>
        </p:spPr>
      </p:sp>
      <p:sp>
        <p:nvSpPr>
          <p:cNvPr id="15" name="Text 12"/>
          <p:cNvSpPr txBox="1"/>
          <p:nvPr/>
        </p:nvSpPr>
        <p:spPr>
          <a:xfrm>
            <a:off x="585216" y="543153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free composition is affordable to get wrong</a:t>
            </a:r>
            <a:endParaRPr lang="en-US" sz="1300" dirty="0"/>
          </a:p>
        </p:txBody>
      </p:sp>
      <p:sp>
        <p:nvSpPr>
          <p:cNvPr id="16" name="Text 13"/>
          <p:cNvSpPr txBox="1"/>
          <p:nvPr/>
        </p:nvSpPr>
        <p:spPr>
          <a:xfrm>
            <a:off x="585216" y="5742432"/>
            <a:ext cx="5504688" cy="256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 rejected graph costs one cycle — nothing has executed yet. The policy gets the gate, the node and the reason, then another attempt, bounded by `max_attempts`.</a:t>
            </a:r>
            <a:endParaRPr lang="en-US" sz="1000" dirty="0"/>
          </a:p>
        </p:txBody>
      </p:sp>
      <p:sp>
        <p:nvSpPr>
          <p:cNvPr id="17" name="Shape 14"/>
          <p:cNvSpPr/>
          <p:nvPr/>
        </p:nvSpPr>
        <p:spPr>
          <a:xfrm>
            <a:off x="6446520" y="4937760"/>
            <a:ext cx="5285232" cy="1143000"/>
          </a:xfrm>
          <a:prstGeom prst="rect">
            <a:avLst/>
          </a:prstGeom>
          <a:solidFill>
            <a:srgbClr val="F9E0DD"/>
          </a:solidFill>
          <a:ln w="12700">
            <a:solidFill>
              <a:srgbClr val="F9E0DD"/>
            </a:solidFill>
            <a:prstDash val="solid"/>
          </a:ln>
        </p:spPr>
      </p:sp>
      <p:sp>
        <p:nvSpPr>
          <p:cNvPr id="18" name="Text 15"/>
          <p:cNvSpPr txBox="1"/>
          <p:nvPr/>
        </p:nvSpPr>
        <p:spPr>
          <a:xfrm>
            <a:off x="6574536" y="5020056"/>
            <a:ext cx="50292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refusal above is NOT</a:t>
            </a:r>
            <a:endParaRPr lang="en-US" sz="1300" dirty="0"/>
          </a:p>
        </p:txBody>
      </p:sp>
      <p:sp>
        <p:nvSpPr>
          <p:cNvPr id="19" name="Text 16"/>
          <p:cNvSpPr txBox="1"/>
          <p:nvPr/>
        </p:nvSpPr>
        <p:spPr>
          <a:xfrm>
            <a:off x="6574536" y="5330952"/>
            <a:ext cx="5029200" cy="667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a bug, and not the interlock being clever: the policy asked for more lineages than an untrusted pattern may spend, and shrank. On the real chain that is backlog A10.</a:t>
            </a:r>
            <a:endParaRPr lang="en-US" sz="1050" dirty="0"/>
          </a:p>
        </p:txBody>
      </p:sp>
      <p:sp>
        <p:nvSpPr>
          <p:cNvPr id="21"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mock.refusals[0] · 3 graphs composed, 1 refused, 2 admitted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the loop costs, where it serialises, and which of those numbers I am actually entitled to say.</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reasoner is no longer the loop body</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10 session operations; submit many, collect in the order they FINISH, not the order you asked</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Refusal is measurably cheap</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the refused graph and its replacement were composed inside the same millisecond of the run</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Steady-state cycle cost is small and measured</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cycle 2 cost 69 ms against cycle 1's 1.09 s — the difference is engine construction, once</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concurrent run and no serial baseline anywhere in this deck, so nothing here divides into a speedup — and the stages were mocks, so this times the ENGINE and never the science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4: the reasoner calls the campaign</a:t>
            </a:r>
            <a:endParaRPr lang="en-US" sz="2800" dirty="0"/>
          </a:p>
        </p:txBody>
      </p:sp>
      <p:sp>
        <p:nvSpPr>
          <p:cNvPr id="4" name="Shape 2"/>
          <p:cNvSpPr/>
          <p:nvPr/>
        </p:nvSpPr>
        <p:spPr>
          <a:xfrm>
            <a:off x="457200" y="1325880"/>
            <a:ext cx="3657600" cy="347472"/>
          </a:xfrm>
          <a:prstGeom prst="rect">
            <a:avLst/>
          </a:prstGeom>
          <a:solidFill>
            <a:srgbClr val="3B4E8C"/>
          </a:solidFill>
          <a:ln w="12700">
            <a:solidFill>
              <a:srgbClr val="3B4E8C"/>
            </a:solidFill>
            <a:prstDash val="solid"/>
          </a:ln>
        </p:spPr>
      </p:sp>
      <p:sp>
        <p:nvSpPr>
          <p:cNvPr id="5" name="Text 3"/>
          <p:cNvSpPr txBox="1"/>
          <p:nvPr/>
        </p:nvSpPr>
        <p:spPr>
          <a:xfrm>
            <a:off x="457200"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REASONER  (yours)</a:t>
            </a:r>
            <a:endParaRPr lang="en-US" sz="1150" dirty="0"/>
          </a:p>
        </p:txBody>
      </p:sp>
      <p:sp>
        <p:nvSpPr>
          <p:cNvPr id="6" name="Shape 4"/>
          <p:cNvSpPr/>
          <p:nvPr/>
        </p:nvSpPr>
        <p:spPr>
          <a:xfrm>
            <a:off x="4297680" y="1325880"/>
            <a:ext cx="3593592" cy="347472"/>
          </a:xfrm>
          <a:prstGeom prst="rect">
            <a:avLst/>
          </a:prstGeom>
          <a:solidFill>
            <a:srgbClr val="5E6B75"/>
          </a:solidFill>
          <a:ln w="12700">
            <a:solidFill>
              <a:srgbClr val="5E6B75"/>
            </a:solidFill>
            <a:prstDash val="solid"/>
          </a:ln>
        </p:spPr>
      </p:sp>
      <p:sp>
        <p:nvSpPr>
          <p:cNvPr id="7" name="Text 5"/>
          <p:cNvSpPr txBox="1"/>
          <p:nvPr/>
        </p:nvSpPr>
        <p:spPr>
          <a:xfrm>
            <a:off x="4297680" y="1325880"/>
            <a:ext cx="3593592"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CampaignSession</a:t>
            </a:r>
            <a:endParaRPr lang="en-US" sz="1150" dirty="0"/>
          </a:p>
        </p:txBody>
      </p:sp>
      <p:sp>
        <p:nvSpPr>
          <p:cNvPr id="8" name="Shape 6"/>
          <p:cNvSpPr/>
          <p:nvPr/>
        </p:nvSpPr>
        <p:spPr>
          <a:xfrm>
            <a:off x="8074152" y="1325880"/>
            <a:ext cx="3657600" cy="347472"/>
          </a:xfrm>
          <a:prstGeom prst="rect">
            <a:avLst/>
          </a:prstGeom>
          <a:solidFill>
            <a:srgbClr val="1E6470"/>
          </a:solidFill>
          <a:ln w="12700">
            <a:solidFill>
              <a:srgbClr val="1E6470"/>
            </a:solidFill>
            <a:prstDash val="solid"/>
          </a:ln>
        </p:spPr>
      </p:sp>
      <p:sp>
        <p:nvSpPr>
          <p:cNvPr id="9" name="Text 7"/>
          <p:cNvSpPr txBox="1"/>
          <p:nvPr/>
        </p:nvSpPr>
        <p:spPr>
          <a:xfrm>
            <a:off x="8074152"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EXECUTOR  (ours)</a:t>
            </a:r>
            <a:endParaRPr lang="en-US" sz="1150" dirty="0"/>
          </a:p>
        </p:txBody>
      </p:sp>
      <p:sp>
        <p:nvSpPr>
          <p:cNvPr id="10" name="Text 8"/>
          <p:cNvSpPr txBox="1"/>
          <p:nvPr/>
        </p:nvSpPr>
        <p:spPr>
          <a:xfrm>
            <a:off x="457200"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 · or your own conduct()</a:t>
            </a:r>
            <a:endParaRPr lang="en-US" sz="1050" dirty="0"/>
          </a:p>
        </p:txBody>
      </p:sp>
      <p:sp>
        <p:nvSpPr>
          <p:cNvPr id="11" name="Text 9"/>
          <p:cNvSpPr txBox="1"/>
          <p:nvPr/>
        </p:nvSpPr>
        <p:spPr>
          <a:xfrm>
            <a:off x="4297680" y="1700784"/>
            <a:ext cx="3593592"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core/session.py:56</a:t>
            </a:r>
            <a:endParaRPr lang="en-US" sz="1050" dirty="0"/>
          </a:p>
        </p:txBody>
      </p:sp>
      <p:sp>
        <p:nvSpPr>
          <p:cNvPr id="12" name="Text 10"/>
          <p:cNvSpPr txBox="1"/>
          <p:nvPr/>
        </p:nvSpPr>
        <p:spPr>
          <a:xfrm>
            <a:off x="8074152"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runtime/executor.py:145</a:t>
            </a:r>
            <a:endParaRPr lang="en-US" sz="1050" dirty="0"/>
          </a:p>
        </p:txBody>
      </p:sp>
      <p:sp>
        <p:nvSpPr>
          <p:cNvPr id="13" name="Shape 11"/>
          <p:cNvSpPr/>
          <p:nvPr/>
        </p:nvSpPr>
        <p:spPr>
          <a:xfrm>
            <a:off x="457200" y="2057400"/>
            <a:ext cx="3657600" cy="658368"/>
          </a:xfrm>
          <a:prstGeom prst="roundRect">
            <a:avLst>
              <a:gd name="adj" fmla="val 11111"/>
            </a:avLst>
          </a:prstGeom>
          <a:solidFill>
            <a:srgbClr val="FFFFFF"/>
          </a:solidFill>
          <a:ln w="19050">
            <a:solidFill>
              <a:srgbClr val="3B4E8C"/>
            </a:solidFill>
            <a:prstDash val="solid"/>
          </a:ln>
        </p:spPr>
      </p:sp>
      <p:sp>
        <p:nvSpPr>
          <p:cNvPr id="14" name="Text 12"/>
          <p:cNvSpPr txBox="1"/>
          <p:nvPr/>
        </p:nvSpPr>
        <p:spPr>
          <a:xfrm>
            <a:off x="530352" y="21031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your coroutine, started once</a:t>
            </a:r>
            <a:endParaRPr lang="en-US" sz="1400" dirty="0"/>
          </a:p>
        </p:txBody>
      </p:sp>
      <p:sp>
        <p:nvSpPr>
          <p:cNvPr id="15" name="Shape 13"/>
          <p:cNvSpPr/>
          <p:nvPr/>
        </p:nvSpPr>
        <p:spPr>
          <a:xfrm>
            <a:off x="8074152" y="2057400"/>
            <a:ext cx="3657600" cy="658368"/>
          </a:xfrm>
          <a:prstGeom prst="roundRect">
            <a:avLst>
              <a:gd name="adj" fmla="val 11111"/>
            </a:avLst>
          </a:prstGeom>
          <a:solidFill>
            <a:srgbClr val="FFFFFF"/>
          </a:solidFill>
          <a:ln w="19050">
            <a:solidFill>
              <a:srgbClr val="1E6470"/>
            </a:solidFill>
            <a:prstDash val="solid"/>
          </a:ln>
        </p:spPr>
      </p:sp>
      <p:sp>
        <p:nvSpPr>
          <p:cNvPr id="16" name="Text 14"/>
          <p:cNvSpPr txBox="1"/>
          <p:nvPr/>
        </p:nvSpPr>
        <p:spPr>
          <a:xfrm>
            <a:off x="8147304" y="21031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observe(since)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SAME object a policy's decide() sees</a:t>
            </a:r>
            <a:endParaRPr lang="en-US" sz="1400" dirty="0"/>
          </a:p>
        </p:txBody>
      </p:sp>
      <p:sp>
        <p:nvSpPr>
          <p:cNvPr id="17" name="Shape 15"/>
          <p:cNvSpPr/>
          <p:nvPr/>
        </p:nvSpPr>
        <p:spPr>
          <a:xfrm>
            <a:off x="4315968" y="2386584"/>
            <a:ext cx="3739896" cy="91"/>
          </a:xfrm>
          <a:prstGeom prst="line">
            <a:avLst/>
          </a:prstGeom>
          <a:noFill/>
          <a:ln w="15875">
            <a:solidFill>
              <a:srgbClr val="5E6B75"/>
            </a:solidFill>
            <a:prstDash val="solid"/>
            <a:headEnd type="triangle"/>
            <a:tailEnd type="triangle"/>
          </a:ln>
        </p:spPr>
      </p:sp>
      <p:sp>
        <p:nvSpPr>
          <p:cNvPr id="18" name="Text 16"/>
          <p:cNvSpPr txBox="1"/>
          <p:nvPr/>
        </p:nvSpPr>
        <p:spPr>
          <a:xfrm>
            <a:off x="4297680" y="21122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880360"/>
            <a:ext cx="3657600" cy="731520"/>
          </a:xfrm>
          <a:prstGeom prst="roundRect">
            <a:avLst>
              <a:gd name="adj" fmla="val 10000"/>
            </a:avLst>
          </a:prstGeom>
          <a:solidFill>
            <a:srgbClr val="FFFFFF"/>
          </a:solidFill>
          <a:ln w="19050">
            <a:solidFill>
              <a:srgbClr val="3B4E8C"/>
            </a:solidFill>
            <a:prstDash val="solid"/>
          </a:ln>
        </p:spPr>
      </p:sp>
      <p:sp>
        <p:nvSpPr>
          <p:cNvPr id="20" name="Text 18"/>
          <p:cNvSpPr txBox="1"/>
          <p:nvPr/>
        </p:nvSpPr>
        <p:spPr>
          <a:xfrm>
            <a:off x="530352" y="2926080"/>
            <a:ext cx="3511296" cy="64008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submit(intent)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raises SubmissionRejected, synchronously</a:t>
            </a:r>
            <a:endParaRPr lang="en-US" sz="1400" dirty="0"/>
          </a:p>
        </p:txBody>
      </p:sp>
      <p:sp>
        <p:nvSpPr>
          <p:cNvPr id="21" name="Shape 19"/>
          <p:cNvSpPr/>
          <p:nvPr/>
        </p:nvSpPr>
        <p:spPr>
          <a:xfrm>
            <a:off x="8074152" y="2880360"/>
            <a:ext cx="3657600" cy="731520"/>
          </a:xfrm>
          <a:prstGeom prst="roundRect">
            <a:avLst>
              <a:gd name="adj" fmla="val 10000"/>
            </a:avLst>
          </a:prstGeom>
          <a:solidFill>
            <a:srgbClr val="FFFFFF"/>
          </a:solidFill>
          <a:ln w="19050">
            <a:solidFill>
              <a:srgbClr val="1E6470"/>
            </a:solidFill>
            <a:prstDash val="solid"/>
          </a:ln>
        </p:spPr>
      </p:sp>
      <p:sp>
        <p:nvSpPr>
          <p:cNvPr id="22" name="Text 20"/>
          <p:cNvSpPr txBox="1"/>
          <p:nvPr/>
        </p:nvSpPr>
        <p:spPr>
          <a:xfrm>
            <a:off x="8147304" y="2926080"/>
            <a:ext cx="3511296" cy="64008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admit: 5 gates + interlock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reserved, then dispatched</a:t>
            </a:r>
            <a:endParaRPr lang="en-US" sz="1400" dirty="0"/>
          </a:p>
        </p:txBody>
      </p:sp>
      <p:sp>
        <p:nvSpPr>
          <p:cNvPr id="23" name="Shape 21"/>
          <p:cNvSpPr/>
          <p:nvPr/>
        </p:nvSpPr>
        <p:spPr>
          <a:xfrm>
            <a:off x="4315968" y="3246120"/>
            <a:ext cx="3739896" cy="91"/>
          </a:xfrm>
          <a:prstGeom prst="line">
            <a:avLst/>
          </a:prstGeom>
          <a:noFill/>
          <a:ln w="15875">
            <a:solidFill>
              <a:srgbClr val="5E6B75"/>
            </a:solidFill>
            <a:prstDash val="solid"/>
            <a:tailEnd type="triangle"/>
          </a:ln>
        </p:spPr>
      </p:sp>
      <p:sp>
        <p:nvSpPr>
          <p:cNvPr id="24" name="Text 22"/>
          <p:cNvSpPr txBox="1"/>
          <p:nvPr/>
        </p:nvSpPr>
        <p:spPr>
          <a:xfrm>
            <a:off x="4297680" y="2971800"/>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ExperimentIntent  -&gt;  RunId</a:t>
            </a:r>
            <a:endParaRPr lang="en-US" sz="1050" dirty="0"/>
          </a:p>
        </p:txBody>
      </p:sp>
      <p:sp>
        <p:nvSpPr>
          <p:cNvPr id="25" name="Shape 23"/>
          <p:cNvSpPr/>
          <p:nvPr/>
        </p:nvSpPr>
        <p:spPr>
          <a:xfrm>
            <a:off x="457200" y="3886200"/>
            <a:ext cx="3657600" cy="658368"/>
          </a:xfrm>
          <a:prstGeom prst="roundRect">
            <a:avLst>
              <a:gd name="adj" fmla="val 11111"/>
            </a:avLst>
          </a:prstGeom>
          <a:solidFill>
            <a:srgbClr val="FFFFFF"/>
          </a:solidFill>
          <a:ln w="19050">
            <a:solidFill>
              <a:srgbClr val="3B4E8C"/>
            </a:solidFill>
            <a:prstDash val="solid"/>
          </a:ln>
        </p:spPr>
      </p:sp>
      <p:sp>
        <p:nvSpPr>
          <p:cNvPr id="26" name="Text 24"/>
          <p:cNvSpPr txBox="1"/>
          <p:nvPr/>
        </p:nvSpPr>
        <p:spPr>
          <a:xfrm>
            <a:off x="530352" y="39319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as_completed()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yields whatever finished first</a:t>
            </a:r>
            <a:endParaRPr lang="en-US" sz="1400" dirty="0"/>
          </a:p>
        </p:txBody>
      </p:sp>
      <p:sp>
        <p:nvSpPr>
          <p:cNvPr id="27" name="Shape 25"/>
          <p:cNvSpPr/>
          <p:nvPr/>
        </p:nvSpPr>
        <p:spPr>
          <a:xfrm>
            <a:off x="8074152" y="3886200"/>
            <a:ext cx="3657600" cy="658368"/>
          </a:xfrm>
          <a:prstGeom prst="roundRect">
            <a:avLst>
              <a:gd name="adj" fmla="val 11111"/>
            </a:avLst>
          </a:prstGeom>
          <a:solidFill>
            <a:srgbClr val="FFFFFF"/>
          </a:solidFill>
          <a:ln w="19050">
            <a:solidFill>
              <a:srgbClr val="1E6470"/>
            </a:solidFill>
            <a:prstDash val="solid"/>
          </a:ln>
        </p:spPr>
      </p:sp>
      <p:sp>
        <p:nvSpPr>
          <p:cNvPr id="28" name="Text 26"/>
          <p:cNvSpPr txBox="1"/>
          <p:nvPr/>
        </p:nvSpPr>
        <p:spPr>
          <a:xfrm>
            <a:off x="8147304" y="39319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pump() reaps, absorbs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tree · Pareto · provenance</a:t>
            </a:r>
            <a:endParaRPr lang="en-US" sz="1400" dirty="0"/>
          </a:p>
        </p:txBody>
      </p:sp>
      <p:sp>
        <p:nvSpPr>
          <p:cNvPr id="29" name="Shape 27"/>
          <p:cNvSpPr/>
          <p:nvPr/>
        </p:nvSpPr>
        <p:spPr>
          <a:xfrm flipH="1">
            <a:off x="4315968" y="4215384"/>
            <a:ext cx="3739896" cy="91"/>
          </a:xfrm>
          <a:prstGeom prst="line">
            <a:avLst/>
          </a:prstGeom>
          <a:noFill/>
          <a:ln w="15875">
            <a:solidFill>
              <a:srgbClr val="5E6B75"/>
            </a:solidFill>
            <a:prstDash val="solid"/>
            <a:tailEnd type="triangle"/>
          </a:ln>
        </p:spPr>
      </p:sp>
      <p:sp>
        <p:nvSpPr>
          <p:cNvPr id="30" name="Text 28"/>
          <p:cNvSpPr txBox="1"/>
          <p:nvPr/>
        </p:nvSpPr>
        <p:spPr>
          <a:xfrm>
            <a:off x="4297680" y="39410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RunOutcome</a:t>
            </a:r>
            <a:endParaRPr lang="en-US" sz="1050" dirty="0"/>
          </a:p>
        </p:txBody>
      </p:sp>
      <p:sp>
        <p:nvSpPr>
          <p:cNvPr id="31" name="Shape 29"/>
          <p:cNvSpPr/>
          <p:nvPr/>
        </p:nvSpPr>
        <p:spPr>
          <a:xfrm>
            <a:off x="457200" y="4754880"/>
            <a:ext cx="3657600" cy="658368"/>
          </a:xfrm>
          <a:prstGeom prst="roundRect">
            <a:avLst>
              <a:gd name="adj" fmla="val 11111"/>
            </a:avLst>
          </a:prstGeom>
          <a:solidFill>
            <a:srgbClr val="FFFFFF"/>
          </a:solidFill>
          <a:ln w="19050">
            <a:solidFill>
              <a:srgbClr val="3B4E8C"/>
            </a:solidFill>
            <a:prstDash val="solid"/>
          </a:ln>
        </p:spPr>
      </p:sp>
      <p:sp>
        <p:nvSpPr>
          <p:cNvPr id="32" name="Text 30"/>
          <p:cNvSpPr txBox="1"/>
          <p:nvPr/>
        </p:nvSpPr>
        <p:spPr>
          <a:xfrm>
            <a:off x="530352" y="480060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stop()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advisory · append-only</a:t>
            </a:r>
            <a:endParaRPr lang="en-US" sz="1400" dirty="0"/>
          </a:p>
        </p:txBody>
      </p:sp>
      <p:sp>
        <p:nvSpPr>
          <p:cNvPr id="33" name="Shape 31"/>
          <p:cNvSpPr/>
          <p:nvPr/>
        </p:nvSpPr>
        <p:spPr>
          <a:xfrm>
            <a:off x="8074152" y="4754880"/>
            <a:ext cx="3657600" cy="658368"/>
          </a:xfrm>
          <a:prstGeom prst="roundRect">
            <a:avLst>
              <a:gd name="adj" fmla="val 11111"/>
            </a:avLst>
          </a:prstGeom>
          <a:solidFill>
            <a:srgbClr val="FFFFFF"/>
          </a:solidFill>
          <a:ln w="19050">
            <a:solidFill>
              <a:srgbClr val="1E6470"/>
            </a:solidFill>
            <a:prstDash val="solid"/>
          </a:ln>
        </p:spPr>
      </p:sp>
      <p:sp>
        <p:nvSpPr>
          <p:cNvPr id="34" name="Text 32"/>
          <p:cNvSpPr txBox="1"/>
          <p:nvPr/>
        </p:nvSpPr>
        <p:spPr>
          <a:xfrm>
            <a:off x="8147304" y="480060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the executor decides termination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stagnation, repeated failure</a:t>
            </a:r>
            <a:endParaRPr lang="en-US" sz="1400" dirty="0"/>
          </a:p>
        </p:txBody>
      </p:sp>
      <p:sp>
        <p:nvSpPr>
          <p:cNvPr id="35" name="Shape 33"/>
          <p:cNvSpPr/>
          <p:nvPr/>
        </p:nvSpPr>
        <p:spPr>
          <a:xfrm>
            <a:off x="4315968" y="5084064"/>
            <a:ext cx="3739896" cy="91"/>
          </a:xfrm>
          <a:prstGeom prst="line">
            <a:avLst/>
          </a:prstGeom>
          <a:noFill/>
          <a:ln w="15875">
            <a:solidFill>
              <a:srgbClr val="5E6B75"/>
            </a:solidFill>
            <a:prstDash val="solid"/>
            <a:tailEnd type="triangle"/>
          </a:ln>
        </p:spPr>
      </p:sp>
      <p:sp>
        <p:nvSpPr>
          <p:cNvPr id="36" name="Text 34"/>
          <p:cNvSpPr txBox="1"/>
          <p:nvPr/>
        </p:nvSpPr>
        <p:spPr>
          <a:xfrm>
            <a:off x="4297680" y="480974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node id</a:t>
            </a:r>
            <a:endParaRPr lang="en-US" sz="1050" dirty="0"/>
          </a:p>
        </p:txBody>
      </p:sp>
      <p:sp>
        <p:nvSpPr>
          <p:cNvPr id="37" name="Shape 35"/>
          <p:cNvSpPr/>
          <p:nvPr/>
        </p:nvSpPr>
        <p:spPr>
          <a:xfrm>
            <a:off x="457200" y="5577840"/>
            <a:ext cx="5394960" cy="868680"/>
          </a:xfrm>
          <a:prstGeom prst="rect">
            <a:avLst/>
          </a:prstGeom>
          <a:solidFill>
            <a:srgbClr val="E9EDF7"/>
          </a:solidFill>
          <a:ln w="12700">
            <a:solidFill>
              <a:srgbClr val="E9EDF7"/>
            </a:solidFill>
            <a:prstDash val="solid"/>
          </a:ln>
        </p:spPr>
      </p:sp>
      <p:sp>
        <p:nvSpPr>
          <p:cNvPr id="38" name="Text 36"/>
          <p:cNvSpPr txBox="1"/>
          <p:nvPr/>
        </p:nvSpPr>
        <p:spPr>
          <a:xfrm>
            <a:off x="585216" y="5660136"/>
            <a:ext cx="513892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Request/response, and nothing live crosses it</a:t>
            </a:r>
            <a:endParaRPr lang="en-US" sz="1300" dirty="0"/>
          </a:p>
        </p:txBody>
      </p:sp>
      <p:sp>
        <p:nvSpPr>
          <p:cNvPr id="39" name="Text 37"/>
          <p:cNvSpPr txBox="1"/>
          <p:nvPr/>
        </p:nvSpPr>
        <p:spPr>
          <a:xfrm>
            <a:off x="585216" y="5971032"/>
            <a:ext cx="513892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argument and every return value is serializable — which is what lets the reasoner sit on a login node while the executor sits in the allocation.</a:t>
            </a:r>
            <a:endParaRPr lang="en-US" sz="1050" dirty="0"/>
          </a:p>
        </p:txBody>
      </p:sp>
      <p:sp>
        <p:nvSpPr>
          <p:cNvPr id="40" name="Shape 38"/>
          <p:cNvSpPr/>
          <p:nvPr/>
        </p:nvSpPr>
        <p:spPr>
          <a:xfrm>
            <a:off x="6062472" y="5577840"/>
            <a:ext cx="5669280" cy="868680"/>
          </a:xfrm>
          <a:prstGeom prst="rect">
            <a:avLst/>
          </a:prstGeom>
          <a:solidFill>
            <a:srgbClr val="EEF2F5"/>
          </a:solidFill>
          <a:ln w="12700">
            <a:solidFill>
              <a:srgbClr val="EEF2F5"/>
            </a:solidFill>
            <a:prstDash val="solid"/>
          </a:ln>
        </p:spPr>
      </p:sp>
      <p:sp>
        <p:nvSpPr>
          <p:cNvPr id="41" name="Text 39"/>
          <p:cNvSpPr txBox="1"/>
          <p:nvPr/>
        </p:nvSpPr>
        <p:spPr>
          <a:xfrm>
            <a:off x="6190488" y="5660136"/>
            <a:ext cx="541324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It lives in `core`, and that is load-bearing</a:t>
            </a:r>
            <a:endParaRPr lang="en-US" sz="1300" dirty="0"/>
          </a:p>
        </p:txBody>
      </p:sp>
      <p:sp>
        <p:nvSpPr>
          <p:cNvPr id="42" name="Text 40"/>
          <p:cNvSpPr txBox="1"/>
          <p:nvPr/>
        </p:nvSpPr>
        <p:spPr>
          <a:xfrm>
            <a:off x="6190488" y="5971032"/>
            <a:ext cx="541324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policy may import only core (ADR 0010), so anything a reasoner touches has to be typed in core or the seam rots.</a:t>
            </a:r>
            <a:endParaRPr lang="en-US" sz="1050" dirty="0"/>
          </a:p>
        </p:txBody>
      </p:sp>
      <p:sp>
        <p:nvSpPr>
          <p:cNvPr id="44" name="Text 4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there is no Await or Cancel decision: waiting is a call, not a request to the loop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timed by its own provenance</a:t>
            </a:r>
            <a:endParaRPr lang="en-US" sz="2800" dirty="0"/>
          </a:p>
        </p:txBody>
      </p:sp>
      <p:sp>
        <p:nvSpPr>
          <p:cNvPr id="4" name="Text 2"/>
          <p:cNvSpPr txBox="1"/>
          <p:nvPr/>
        </p:nvSpPr>
        <p:spPr>
          <a:xfrm>
            <a:off x="457200" y="1371600"/>
            <a:ext cx="758952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composed → dispatched, per cycle</a:t>
            </a:r>
            <a:endParaRPr lang="en-US" sz="1100" dirty="0"/>
          </a:p>
        </p:txBody>
      </p:sp>
      <p:sp>
        <p:nvSpPr>
          <p:cNvPr id="5" name="Text 3"/>
          <p:cNvSpPr txBox="1"/>
          <p:nvPr/>
        </p:nvSpPr>
        <p:spPr>
          <a:xfrm>
            <a:off x="457200" y="1737360"/>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1 · r0002</a:t>
            </a:r>
            <a:endParaRPr lang="en-US" sz="1050" dirty="0"/>
          </a:p>
        </p:txBody>
      </p:sp>
      <p:sp>
        <p:nvSpPr>
          <p:cNvPr id="6" name="Shape 4"/>
          <p:cNvSpPr/>
          <p:nvPr/>
        </p:nvSpPr>
        <p:spPr>
          <a:xfrm>
            <a:off x="2194560" y="1755648"/>
            <a:ext cx="5305958" cy="237744"/>
          </a:xfrm>
          <a:prstGeom prst="rect">
            <a:avLst/>
          </a:prstGeom>
          <a:solidFill>
            <a:srgbClr val="1E6470"/>
          </a:solidFill>
          <a:ln w="12700">
            <a:solidFill>
              <a:srgbClr val="1E6470"/>
            </a:solidFill>
            <a:prstDash val="solid"/>
          </a:ln>
        </p:spPr>
      </p:sp>
      <p:sp>
        <p:nvSpPr>
          <p:cNvPr id="7" name="Text 5"/>
          <p:cNvSpPr txBox="1"/>
          <p:nvPr/>
        </p:nvSpPr>
        <p:spPr>
          <a:xfrm>
            <a:off x="6604406" y="1737360"/>
            <a:ext cx="822960" cy="237744"/>
          </a:xfrm>
          <a:prstGeom prst="rect">
            <a:avLst/>
          </a:prstGeom>
          <a:noFill/>
          <a:ln/>
        </p:spPr>
        <p:txBody>
          <a:bodyPr wrap="square" lIns="0" tIns="0" rIns="0" bIns="0" rtlCol="0" anchor="ctr"/>
          <a:lstStyle/>
          <a:p>
            <a:pPr algn="r" indent="0" marL="0">
              <a:buNone/>
            </a:pPr>
            <a:r>
              <a:rPr lang="en-US" sz="950" dirty="0">
                <a:solidFill>
                  <a:srgbClr val="FFFFFF"/>
                </a:solidFill>
                <a:latin typeface="Consolas" pitchFamily="34" charset="0"/>
                <a:ea typeface="Consolas" pitchFamily="34" charset="-122"/>
                <a:cs typeface="Consolas" pitchFamily="34" charset="-120"/>
              </a:rPr>
              <a:t>1.088 s</a:t>
            </a:r>
            <a:endParaRPr lang="en-US" sz="950" dirty="0"/>
          </a:p>
        </p:txBody>
      </p:sp>
      <p:sp>
        <p:nvSpPr>
          <p:cNvPr id="8" name="Text 6"/>
          <p:cNvSpPr txBox="1"/>
          <p:nvPr/>
        </p:nvSpPr>
        <p:spPr>
          <a:xfrm>
            <a:off x="457200" y="2359152"/>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2 · r0003</a:t>
            </a:r>
            <a:endParaRPr lang="en-US" sz="1050" dirty="0"/>
          </a:p>
        </p:txBody>
      </p:sp>
      <p:sp>
        <p:nvSpPr>
          <p:cNvPr id="9" name="Shape 7"/>
          <p:cNvSpPr/>
          <p:nvPr/>
        </p:nvSpPr>
        <p:spPr>
          <a:xfrm>
            <a:off x="7520026" y="2377440"/>
            <a:ext cx="336499" cy="237744"/>
          </a:xfrm>
          <a:prstGeom prst="rect">
            <a:avLst/>
          </a:prstGeom>
          <a:solidFill>
            <a:srgbClr val="2E7D5B"/>
          </a:solidFill>
          <a:ln w="12700">
            <a:solidFill>
              <a:srgbClr val="2E7D5B"/>
            </a:solidFill>
            <a:prstDash val="solid"/>
          </a:ln>
        </p:spPr>
      </p:sp>
      <p:sp>
        <p:nvSpPr>
          <p:cNvPr id="10" name="Text 8"/>
          <p:cNvSpPr txBox="1"/>
          <p:nvPr/>
        </p:nvSpPr>
        <p:spPr>
          <a:xfrm>
            <a:off x="6587338" y="2359152"/>
            <a:ext cx="822960" cy="237744"/>
          </a:xfrm>
          <a:prstGeom prst="rect">
            <a:avLst/>
          </a:prstGeom>
          <a:noFill/>
          <a:ln/>
        </p:spPr>
        <p:txBody>
          <a:bodyPr wrap="square" lIns="0" tIns="0" rIns="0" bIns="0" rtlCol="0" anchor="ctr"/>
          <a:lstStyle/>
          <a:p>
            <a:pPr algn="r" indent="0" marL="0">
              <a:buNone/>
            </a:pPr>
            <a:r>
              <a:rPr lang="en-US" sz="950" dirty="0">
                <a:solidFill>
                  <a:srgbClr val="5E6B75"/>
                </a:solidFill>
                <a:latin typeface="Consolas" pitchFamily="34" charset="0"/>
                <a:ea typeface="Consolas" pitchFamily="34" charset="-122"/>
                <a:cs typeface="Consolas" pitchFamily="34" charset="-120"/>
              </a:rPr>
              <a:t>0.069 s</a:t>
            </a:r>
            <a:endParaRPr lang="en-US" sz="950" dirty="0"/>
          </a:p>
        </p:txBody>
      </p:sp>
      <p:sp>
        <p:nvSpPr>
          <p:cNvPr id="11" name="Shape 9"/>
          <p:cNvSpPr/>
          <p:nvPr/>
        </p:nvSpPr>
        <p:spPr>
          <a:xfrm>
            <a:off x="2194560" y="3035808"/>
            <a:ext cx="5852160" cy="91"/>
          </a:xfrm>
          <a:prstGeom prst="line">
            <a:avLst/>
          </a:prstGeom>
          <a:noFill/>
          <a:ln w="12700">
            <a:solidFill>
              <a:srgbClr val="C9D1D8"/>
            </a:solidFill>
            <a:prstDash val="solid"/>
          </a:ln>
        </p:spPr>
      </p:sp>
      <p:sp>
        <p:nvSpPr>
          <p:cNvPr id="12" name="Shape 10"/>
          <p:cNvSpPr/>
          <p:nvPr/>
        </p:nvSpPr>
        <p:spPr>
          <a:xfrm>
            <a:off x="2194560" y="3035808"/>
            <a:ext cx="91" cy="91440"/>
          </a:xfrm>
          <a:prstGeom prst="line">
            <a:avLst/>
          </a:prstGeom>
          <a:noFill/>
          <a:ln w="12700">
            <a:solidFill>
              <a:srgbClr val="C9D1D8"/>
            </a:solidFill>
            <a:prstDash val="solid"/>
          </a:ln>
        </p:spPr>
      </p:sp>
      <p:sp>
        <p:nvSpPr>
          <p:cNvPr id="13" name="Text 11"/>
          <p:cNvSpPr txBox="1"/>
          <p:nvPr/>
        </p:nvSpPr>
        <p:spPr>
          <a:xfrm>
            <a:off x="19202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0.00s</a:t>
            </a:r>
            <a:endParaRPr lang="en-US" sz="850" dirty="0"/>
          </a:p>
        </p:txBody>
      </p:sp>
      <p:sp>
        <p:nvSpPr>
          <p:cNvPr id="14" name="Shape 12"/>
          <p:cNvSpPr/>
          <p:nvPr/>
        </p:nvSpPr>
        <p:spPr>
          <a:xfrm>
            <a:off x="3413760" y="3035808"/>
            <a:ext cx="91" cy="91440"/>
          </a:xfrm>
          <a:prstGeom prst="line">
            <a:avLst/>
          </a:prstGeom>
          <a:noFill/>
          <a:ln w="12700">
            <a:solidFill>
              <a:srgbClr val="C9D1D8"/>
            </a:solidFill>
            <a:prstDash val="solid"/>
          </a:ln>
        </p:spPr>
      </p:sp>
      <p:sp>
        <p:nvSpPr>
          <p:cNvPr id="15" name="Text 13"/>
          <p:cNvSpPr txBox="1"/>
          <p:nvPr/>
        </p:nvSpPr>
        <p:spPr>
          <a:xfrm>
            <a:off x="31394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0.25s</a:t>
            </a:r>
            <a:endParaRPr lang="en-US" sz="850" dirty="0"/>
          </a:p>
        </p:txBody>
      </p:sp>
      <p:sp>
        <p:nvSpPr>
          <p:cNvPr id="16" name="Shape 14"/>
          <p:cNvSpPr/>
          <p:nvPr/>
        </p:nvSpPr>
        <p:spPr>
          <a:xfrm>
            <a:off x="4632960" y="3035808"/>
            <a:ext cx="91" cy="91440"/>
          </a:xfrm>
          <a:prstGeom prst="line">
            <a:avLst/>
          </a:prstGeom>
          <a:noFill/>
          <a:ln w="12700">
            <a:solidFill>
              <a:srgbClr val="C9D1D8"/>
            </a:solidFill>
            <a:prstDash val="solid"/>
          </a:ln>
        </p:spPr>
      </p:sp>
      <p:sp>
        <p:nvSpPr>
          <p:cNvPr id="17" name="Text 15"/>
          <p:cNvSpPr txBox="1"/>
          <p:nvPr/>
        </p:nvSpPr>
        <p:spPr>
          <a:xfrm>
            <a:off x="43586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0.50s</a:t>
            </a:r>
            <a:endParaRPr lang="en-US" sz="850" dirty="0"/>
          </a:p>
        </p:txBody>
      </p:sp>
      <p:sp>
        <p:nvSpPr>
          <p:cNvPr id="18" name="Shape 16"/>
          <p:cNvSpPr/>
          <p:nvPr/>
        </p:nvSpPr>
        <p:spPr>
          <a:xfrm>
            <a:off x="5852160" y="3035808"/>
            <a:ext cx="91" cy="91440"/>
          </a:xfrm>
          <a:prstGeom prst="line">
            <a:avLst/>
          </a:prstGeom>
          <a:noFill/>
          <a:ln w="12700">
            <a:solidFill>
              <a:srgbClr val="C9D1D8"/>
            </a:solidFill>
            <a:prstDash val="solid"/>
          </a:ln>
        </p:spPr>
      </p:sp>
      <p:sp>
        <p:nvSpPr>
          <p:cNvPr id="19" name="Text 17"/>
          <p:cNvSpPr txBox="1"/>
          <p:nvPr/>
        </p:nvSpPr>
        <p:spPr>
          <a:xfrm>
            <a:off x="55778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0.75s</a:t>
            </a:r>
            <a:endParaRPr lang="en-US" sz="850" dirty="0"/>
          </a:p>
        </p:txBody>
      </p:sp>
      <p:sp>
        <p:nvSpPr>
          <p:cNvPr id="20" name="Shape 18"/>
          <p:cNvSpPr/>
          <p:nvPr/>
        </p:nvSpPr>
        <p:spPr>
          <a:xfrm>
            <a:off x="7071360" y="3035808"/>
            <a:ext cx="91" cy="91440"/>
          </a:xfrm>
          <a:prstGeom prst="line">
            <a:avLst/>
          </a:prstGeom>
          <a:noFill/>
          <a:ln w="12700">
            <a:solidFill>
              <a:srgbClr val="C9D1D8"/>
            </a:solidFill>
            <a:prstDash val="solid"/>
          </a:ln>
        </p:spPr>
      </p:sp>
      <p:sp>
        <p:nvSpPr>
          <p:cNvPr id="21" name="Text 19"/>
          <p:cNvSpPr txBox="1"/>
          <p:nvPr/>
        </p:nvSpPr>
        <p:spPr>
          <a:xfrm>
            <a:off x="67970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1.00s</a:t>
            </a:r>
            <a:endParaRPr lang="en-US" sz="850" dirty="0"/>
          </a:p>
        </p:txBody>
      </p:sp>
      <p:sp>
        <p:nvSpPr>
          <p:cNvPr id="22" name="Text 20"/>
          <p:cNvSpPr txBox="1"/>
          <p:nvPr/>
        </p:nvSpPr>
        <p:spPr>
          <a:xfrm>
            <a:off x="457200" y="3401568"/>
            <a:ext cx="7589520" cy="228600"/>
          </a:xfrm>
          <a:prstGeom prst="rect">
            <a:avLst/>
          </a:prstGeom>
          <a:noFill/>
          <a:ln/>
        </p:spPr>
        <p:txBody>
          <a:bodyPr wrap="square" lIns="0" tIns="0" rIns="0" bIns="0" rtlCol="0" anchor="t"/>
          <a:lstStyle/>
          <a:p>
            <a:pPr indent="0" marL="0">
              <a:buNone/>
            </a:pPr>
            <a:r>
              <a:rPr lang="en-US" sz="1050" i="1" dirty="0">
                <a:solidFill>
                  <a:srgbClr val="2E7D5B"/>
                </a:solidFill>
                <a:latin typeface="Calibri" pitchFamily="34" charset="0"/>
                <a:ea typeface="Calibri" pitchFamily="34" charset="-122"/>
                <a:cs typeface="Calibri" pitchFamily="34" charset="-120"/>
              </a:rPr>
              <a:t>the whole difference is engine construction, paid once: 1.02 s of it</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275320" y="1371600"/>
          <a:ext cx="3913632" cy="914400"/>
        </p:xfrm>
        <a:graphic>
          <a:graphicData uri="http://schemas.openxmlformats.org/drawingml/2006/table">
            <a:tbl>
              <a:tblPr/>
              <a:tblGrid>
                <a:gridCol w="868680"/>
                <a:gridCol w="304495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campaign recorded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0.000s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rejected  r0001  g000001-c783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0.000s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r0002  g000002-c783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1.088s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r0002  g000002-c783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r0002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1.092s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r0003  g000003-c783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1.161s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r0003  g000003-c783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1.162s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r0003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1.162s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campaign_ended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1.170s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terminated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24" name="Shape 21"/>
          <p:cNvSpPr/>
          <p:nvPr/>
        </p:nvSpPr>
        <p:spPr>
          <a:xfrm>
            <a:off x="457200" y="3749040"/>
            <a:ext cx="7589520" cy="1234440"/>
          </a:xfrm>
          <a:prstGeom prst="rect">
            <a:avLst/>
          </a:prstGeom>
          <a:solidFill>
            <a:srgbClr val="E3F0F1"/>
          </a:solidFill>
          <a:ln w="12700">
            <a:solidFill>
              <a:srgbClr val="E3F0F1"/>
            </a:solidFill>
            <a:prstDash val="solid"/>
          </a:ln>
        </p:spPr>
      </p:sp>
      <p:sp>
        <p:nvSpPr>
          <p:cNvPr id="25" name="Text 22"/>
          <p:cNvSpPr txBox="1"/>
          <p:nvPr/>
        </p:nvSpPr>
        <p:spPr>
          <a:xfrm>
            <a:off x="585216" y="3831336"/>
            <a:ext cx="73334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this measures, and in what units</a:t>
            </a:r>
            <a:endParaRPr lang="en-US" sz="1300" dirty="0"/>
          </a:p>
        </p:txBody>
      </p:sp>
      <p:sp>
        <p:nvSpPr>
          <p:cNvPr id="26" name="Text 23"/>
          <p:cNvSpPr txBox="1"/>
          <p:nvPr/>
        </p:nvSpPr>
        <p:spPr>
          <a:xfrm>
            <a:off x="585216" y="4142232"/>
            <a:ext cx="733348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campaign's own provenance clock: first record to `terminated` is 1.17 s. The process took 2.8 s, so roughly 1.6 s is interpreter startup and imports, OUTSIDE the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Host: one laptop, no allocation. Stages: mocks. 4 nodes absorbed, front of 3, stop reason "target front size 3 reached".</a:t>
            </a:r>
            <a:endParaRPr lang="en-US" sz="1050" dirty="0"/>
          </a:p>
        </p:txBody>
      </p:sp>
      <p:sp>
        <p:nvSpPr>
          <p:cNvPr id="27" name="Shape 24"/>
          <p:cNvSpPr/>
          <p:nvPr/>
        </p:nvSpPr>
        <p:spPr>
          <a:xfrm>
            <a:off x="457200" y="5120640"/>
            <a:ext cx="7589520" cy="1005840"/>
          </a:xfrm>
          <a:prstGeom prst="rect">
            <a:avLst/>
          </a:prstGeom>
          <a:solidFill>
            <a:srgbClr val="EEF2F5"/>
          </a:solidFill>
          <a:ln w="12700">
            <a:solidFill>
              <a:srgbClr val="EEF2F5"/>
            </a:solidFill>
            <a:prstDash val="solid"/>
          </a:ln>
        </p:spPr>
      </p:sp>
      <p:sp>
        <p:nvSpPr>
          <p:cNvPr id="28" name="Text 25"/>
          <p:cNvSpPr txBox="1"/>
          <p:nvPr/>
        </p:nvSpPr>
        <p:spPr>
          <a:xfrm>
            <a:off x="585216" y="5202936"/>
            <a:ext cx="73334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irregular detail is the useful one</a:t>
            </a:r>
            <a:endParaRPr lang="en-US" sz="1300" dirty="0"/>
          </a:p>
        </p:txBody>
      </p:sp>
      <p:sp>
        <p:nvSpPr>
          <p:cNvPr id="29" name="Text 26"/>
          <p:cNvSpPr txBox="1"/>
          <p:nvPr/>
        </p:nvSpPr>
        <p:spPr>
          <a:xfrm>
            <a:off x="585216" y="5513832"/>
            <a:ext cx="7333488"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Cycle 1's 1.09 s includes building the execution engine. Cycle 2 reuses it and costs 69 ms for compose, validate, dispatch, absorb and rank — with four mock tasks across two lineages in it.</a:t>
            </a:r>
            <a:endParaRPr lang="en-US" sz="1050" dirty="0"/>
          </a:p>
        </p:txBody>
      </p:sp>
      <p:sp>
        <p:nvSpPr>
          <p:cNvPr id="30" name="Shape 27"/>
          <p:cNvSpPr/>
          <p:nvPr/>
        </p:nvSpPr>
        <p:spPr>
          <a:xfrm>
            <a:off x="8275320" y="3749040"/>
            <a:ext cx="3913632" cy="2377440"/>
          </a:xfrm>
          <a:prstGeom prst="rect">
            <a:avLst/>
          </a:prstGeom>
          <a:solidFill>
            <a:srgbClr val="F9E0DD"/>
          </a:solidFill>
          <a:ln w="12700">
            <a:solidFill>
              <a:srgbClr val="F9E0DD"/>
            </a:solidFill>
            <a:prstDash val="solid"/>
          </a:ln>
        </p:spPr>
      </p:sp>
      <p:sp>
        <p:nvSpPr>
          <p:cNvPr id="31" name="Text 28"/>
          <p:cNvSpPr txBox="1"/>
          <p:nvPr/>
        </p:nvSpPr>
        <p:spPr>
          <a:xfrm>
            <a:off x="8403336" y="3831336"/>
            <a:ext cx="36576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Denominators, stated</a:t>
            </a:r>
            <a:endParaRPr lang="en-US" sz="1300" dirty="0"/>
          </a:p>
        </p:txBody>
      </p:sp>
      <p:sp>
        <p:nvSpPr>
          <p:cNvPr id="32" name="Text 29"/>
          <p:cNvSpPr txBox="1"/>
          <p:nvPr/>
        </p:nvSpPr>
        <p:spPr>
          <a:xfrm>
            <a:off x="8403336" y="4142232"/>
            <a:ext cx="3657600" cy="1901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 host · 1 experiment in flight · 2 lineages per experiment · 4 mock tasks per lineage.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Nothing was varied. No pool width, no replica width, no node count, no real tool.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latency figure for the engine, and NOT a throughput or scaling result.</a:t>
            </a:r>
            <a:endParaRPr lang="en-US" sz="1050" dirty="0"/>
          </a:p>
        </p:txBody>
      </p:sp>
      <p:sp>
        <p:nvSpPr>
          <p:cNvPr id="34"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mock.timeline · slides/impress-a-api-user-slides @ bf32d1d · one laptop, mock stages, no allocation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 measured, and what I therefore do not claim</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5440680" cy="914400"/>
        </p:xfrm>
        <a:graphic>
          <a:graphicData uri="http://schemas.openxmlformats.org/drawingml/2006/table">
            <a:tbl>
              <a:tblPr/>
              <a:tblGrid>
                <a:gridCol w="2240280"/>
                <a:gridCol w="1371600"/>
                <a:gridCol w="1828800"/>
              </a:tblGrid>
              <a:tr h="34747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From</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campaign span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1.17 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provenance 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steady-state cycle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69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refuse + recompose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&lt; 1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provenance written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14 records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5 jsonl files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ledger records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jobs/ledger.jsonl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declared cost of a 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0.11 gpu-h</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cost_model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tests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168</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pytest --collect-only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6126480" y="1371600"/>
            <a:ext cx="5696712" cy="2148840"/>
          </a:xfrm>
          <a:prstGeom prst="rect">
            <a:avLst/>
          </a:prstGeom>
          <a:solidFill>
            <a:srgbClr val="EEF2F5"/>
          </a:solidFill>
          <a:ln w="12700">
            <a:solidFill>
              <a:srgbClr val="EEF2F5"/>
            </a:solidFill>
            <a:prstDash val="solid"/>
          </a:ln>
        </p:spPr>
      </p:sp>
      <p:sp>
        <p:nvSpPr>
          <p:cNvPr id="6" name="Text 3"/>
          <p:cNvSpPr txBox="1"/>
          <p:nvPr/>
        </p:nvSpPr>
        <p:spPr>
          <a:xfrm>
            <a:off x="6254496" y="1453896"/>
            <a:ext cx="5440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7" name="Text 4"/>
          <p:cNvSpPr txBox="1"/>
          <p:nvPr/>
        </p:nvSpPr>
        <p:spPr>
          <a:xfrm>
            <a:off x="6254496" y="1764792"/>
            <a:ext cx="5440680" cy="1673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Engine latency per cycle, with engine construction separated out.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cost of a refusal — it is a composition, not a run.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the provenance log is complete enough to time the campaign from outside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2 lineages absorb as 2 distinct nodes with distinct metrics.</a:t>
            </a:r>
            <a:endParaRPr lang="en-US" sz="1050" dirty="0"/>
          </a:p>
        </p:txBody>
      </p:sp>
      <p:sp>
        <p:nvSpPr>
          <p:cNvPr id="8" name="Shape 5"/>
          <p:cNvSpPr/>
          <p:nvPr/>
        </p:nvSpPr>
        <p:spPr>
          <a:xfrm>
            <a:off x="6126480" y="3657600"/>
            <a:ext cx="5696712" cy="2651760"/>
          </a:xfrm>
          <a:prstGeom prst="rect">
            <a:avLst/>
          </a:prstGeom>
          <a:solidFill>
            <a:srgbClr val="F9E0DD"/>
          </a:solidFill>
          <a:ln w="12700">
            <a:solidFill>
              <a:srgbClr val="F9E0DD"/>
            </a:solidFill>
            <a:prstDash val="solid"/>
          </a:ln>
        </p:spPr>
      </p:sp>
      <p:sp>
        <p:nvSpPr>
          <p:cNvPr id="9" name="Text 6"/>
          <p:cNvSpPr txBox="1"/>
          <p:nvPr/>
        </p:nvSpPr>
        <p:spPr>
          <a:xfrm>
            <a:off x="6254496" y="373989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10" name="Text 7"/>
          <p:cNvSpPr txBox="1"/>
          <p:nvPr/>
        </p:nvSpPr>
        <p:spPr>
          <a:xfrm>
            <a:off x="6254496" y="4050792"/>
            <a:ext cx="5440680" cy="2176272"/>
          </a:xfrm>
          <a:prstGeom prst="rect">
            <a:avLst/>
          </a:prstGeom>
          <a:noFill/>
          <a:ln/>
        </p:spPr>
        <p:txBody>
          <a:bodyPr wrap="square" lIns="0" tIns="0" rIns="0" bIns="0" rtlCol="0" anchor="t"/>
          <a:lstStyle/>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No concurrent run: `concurrency &gt; 1` never exercised here, so the one thing the session API exists for is unmeasured.</a:t>
            </a:r>
            <a:endParaRPr lang="en-US" sz="980" dirty="0"/>
          </a:p>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No serial baseline, so nothing above divides into a speedup.</a:t>
            </a:r>
            <a:endParaRPr lang="en-US" sz="980" dirty="0"/>
          </a:p>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No real tool: every stage was a mock, so there is no science-per-GPU-hour figure of any kind.</a:t>
            </a:r>
            <a:endParaRPr lang="en-US" sz="980" dirty="0"/>
          </a:p>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No multi-node, no backend comparison: `concurrent` only. Dragon and radical are selected by name and untouched here.</a:t>
            </a:r>
            <a:endParaRPr lang="en-US" sz="980" dirty="0"/>
          </a:p>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On the real chain, `replicas &gt; 1` has never run at all (backlog A10).</a:t>
            </a:r>
            <a:endParaRPr lang="en-US" sz="980" dirty="0"/>
          </a:p>
          <a:p>
            <a:pPr marL="342900" indent="-342900">
              <a:spcAft>
                <a:spcPts val="400"/>
              </a:spcAft>
              <a:buSzPct val="100000"/>
              <a:buChar char="•"/>
            </a:pPr>
            <a:r>
              <a:rPr lang="en-US" sz="980" dirty="0">
                <a:solidFill>
                  <a:srgbClr val="22303C"/>
                </a:solidFill>
                <a:latin typeface="Calibri" pitchFamily="34" charset="0"/>
                <a:ea typeface="Calibri" pitchFamily="34" charset="-122"/>
                <a:cs typeface="Calibri" pitchFamily="34" charset="-120"/>
              </a:rPr>
              <a:t>Neither lever that moves the science — packing, or the decision layer — has been measured on this engine. Both are measured next door, by other code, next slide.</a:t>
            </a:r>
            <a:endParaRPr lang="en-US" sz="980" dirty="0"/>
          </a:p>
        </p:txBody>
      </p:sp>
      <p:sp>
        <p:nvSpPr>
          <p:cNvPr id="11" name="Shape 8"/>
          <p:cNvSpPr/>
          <p:nvPr/>
        </p:nvSpPr>
        <p:spPr>
          <a:xfrm>
            <a:off x="457200" y="4297680"/>
            <a:ext cx="5440680" cy="1783080"/>
          </a:xfrm>
          <a:prstGeom prst="rect">
            <a:avLst/>
          </a:prstGeom>
          <a:solidFill>
            <a:srgbClr val="16222B"/>
          </a:solidFill>
          <a:ln w="12700">
            <a:solidFill>
              <a:srgbClr val="16222B"/>
            </a:solidFill>
            <a:prstDash val="solid"/>
          </a:ln>
        </p:spPr>
      </p:sp>
      <p:sp>
        <p:nvSpPr>
          <p:cNvPr id="12" name="Text 9"/>
          <p:cNvSpPr txBox="1"/>
          <p:nvPr/>
        </p:nvSpPr>
        <p:spPr>
          <a:xfrm>
            <a:off x="603504" y="4389120"/>
            <a:ext cx="5120640" cy="274320"/>
          </a:xfrm>
          <a:prstGeom prst="rect">
            <a:avLst/>
          </a:prstGeom>
          <a:noFill/>
          <a:ln/>
        </p:spPr>
        <p:txBody>
          <a:bodyPr wrap="square" lIns="0" tIns="0" rIns="0" bIns="0" rtlCol="0" anchor="t"/>
          <a:lstStyle/>
          <a:p>
            <a:pPr indent="0" marL="0">
              <a:buNone/>
            </a:pPr>
            <a:r>
              <a:rPr lang="en-US" sz="1250" b="1" dirty="0">
                <a:solidFill>
                  <a:srgbClr val="F0C898"/>
                </a:solidFill>
                <a:latin typeface="Calibri" pitchFamily="34" charset="0"/>
                <a:ea typeface="Calibri" pitchFamily="34" charset="-122"/>
                <a:cs typeface="Calibri" pitchFamily="34" charset="-120"/>
              </a:rPr>
              <a:t>Where this stops being a systems question</a:t>
            </a:r>
            <a:endParaRPr lang="en-US" sz="1250" dirty="0"/>
          </a:p>
        </p:txBody>
      </p:sp>
      <p:sp>
        <p:nvSpPr>
          <p:cNvPr id="13" name="Text 10"/>
          <p:cNvSpPr txBox="1"/>
          <p:nvPr/>
        </p:nvSpPr>
        <p:spPr>
          <a:xfrm>
            <a:off x="603504" y="4709160"/>
            <a:ext cx="5120640" cy="1298448"/>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Four lineages do not buy four times the chance of a good design. </a:t>
            </a:r>
            <a:endParaRPr lang="en-US" sz="1000" dirty="0"/>
          </a:p>
          <a:p>
            <a:pPr indent="0" marL="0">
              <a:buNone/>
            </a:pPr>
            <a:r>
              <a:rPr lang="en-US" sz="1000" dirty="0">
                <a:solidFill>
                  <a:srgbClr val="C8D4DD"/>
                </a:solidFill>
                <a:latin typeface="Calibri" pitchFamily="34" charset="0"/>
                <a:ea typeface="Calibri" pitchFamily="34" charset="-122"/>
                <a:cs typeface="Calibri" pitchFamily="34" charset="-120"/>
              </a:rPr>
              <a:t>The acceptance rate across the project's real runs is about 31%, and nothing in this engine improves that — it only decides how many draws you can afford and whether you can tell a bad draw from a broken tool.
</a:t>
            </a:r>
            <a:endParaRPr lang="en-US" sz="1000" dirty="0"/>
          </a:p>
          <a:p>
            <a:pPr indent="0" marL="0">
              <a:buNone/>
            </a:pPr>
            <a:r>
              <a:rPr lang="en-US" sz="1000" dirty="0">
                <a:solidFill>
                  <a:srgbClr val="9FD9A8"/>
                </a:solidFill>
                <a:latin typeface="Calibri" pitchFamily="34" charset="0"/>
                <a:ea typeface="Calibri" pitchFamily="34" charset="-122"/>
                <a:cs typeface="Calibri" pitchFamily="34" charset="-120"/>
              </a:rPr>
              <a:t>So the figure that matters is not tasks per hour. It is how few GPU-hours it takes to learn that a workflow shape is not worth running again — which is what the trust interlock is for. Next slide: what the two levers are actually worth, measured next door and never here.</a:t>
            </a:r>
            <a:endParaRPr lang="en-US" sz="100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31% acceptance figure is from the project's Delta run archive (backlog A1), not from this checkout</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 · MEASURED NEXT DOOR, BY OTHER CODE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300" b="1" dirty="0">
                <a:solidFill>
                  <a:srgbClr val="16222B"/>
                </a:solidFill>
                <a:latin typeface="Cambria" pitchFamily="34" charset="0"/>
                <a:ea typeface="Cambria" pitchFamily="34" charset="-122"/>
                <a:cs typeface="Cambria" pitchFamily="34" charset="-120"/>
              </a:rPr>
              <a:t>The two levers that move the science — and nobody has pulled both</a:t>
            </a:r>
            <a:endParaRPr lang="en-US" sz="2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89888"/>
          <a:ext cx="8503920" cy="914400"/>
        </p:xfrm>
        <a:graphic>
          <a:graphicData uri="http://schemas.openxmlformats.org/drawingml/2006/table">
            <a:tbl>
              <a:tblPr/>
              <a:tblGrid>
                <a:gridCol w="3017520"/>
                <a:gridCol w="1097280"/>
                <a:gridCol w="1097280"/>
                <a:gridCol w="1097280"/>
                <a:gridCol w="1097280"/>
                <a:gridCol w="109728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one policy, held fixed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k=2</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k=4</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k=6</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k=8</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backbones / node-hour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57.8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105.6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179.7</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258.2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319.1</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passing folds / GPU-hour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3.96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6.30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9.95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12.06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20.55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high-quality folds / GPU-hour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2.13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2.40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4.83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5.43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10.88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Text 2"/>
          <p:cNvSpPr txBox="1"/>
          <p:nvPr/>
        </p:nvSpPr>
        <p:spPr>
          <a:xfrm>
            <a:off x="457200" y="2761488"/>
            <a:ext cx="8595360" cy="237744"/>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PACKING, decision layer fixed:  ×5.52 backbones per node-hour, ×5.11 high-quality folds per GPU-hour, from k=1 to k=8.</a:t>
            </a:r>
            <a:endParaRPr lang="en-US" sz="11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57200" y="3127248"/>
          <a:ext cx="8321040" cy="914400"/>
        </p:xfrm>
        <a:graphic>
          <a:graphicData uri="http://schemas.openxmlformats.org/drawingml/2006/table">
            <a:tbl>
              <a:tblPr/>
              <a:tblGrid>
                <a:gridCol w="4754880"/>
                <a:gridCol w="1234440"/>
                <a:gridCol w="1234440"/>
                <a:gridCol w="1097280"/>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four decision layers, one hour, k=1</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pass/GPU-h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HQ/GPU-h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pLDDT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2743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scripted route  ·  23110801</a:t>
                      </a:r>
                      <a:endParaRPr lang="en-US" sz="9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12.12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5.77</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88.2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Beam (reflection)  ·  23225651</a:t>
                      </a:r>
                      <a:endParaRPr lang="en-US" sz="9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8.08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6.35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94.4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Qwen2.5-72B, in-allocation  ·  23207314  (2 nodes)</a:t>
                      </a:r>
                      <a:endParaRPr lang="en-US" sz="9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6.35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3.17</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92.2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claude-sonnet-5-5 pilot  ·  23112484</a:t>
                      </a:r>
                      <a:endParaRPr lang="en-US" sz="9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5.77</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3.46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86.2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Qwen3.5-122B, in-allocation  ·  23229812  (2 nodes)</a:t>
                      </a:r>
                      <a:endParaRPr lang="en-US" sz="9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2.88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0.58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3"/>
          <p:cNvSpPr/>
          <p:nvPr/>
        </p:nvSpPr>
        <p:spPr>
          <a:xfrm>
            <a:off x="9235440" y="1389888"/>
            <a:ext cx="2496312" cy="1956816"/>
          </a:xfrm>
          <a:prstGeom prst="rect">
            <a:avLst/>
          </a:prstGeom>
          <a:solidFill>
            <a:srgbClr val="EEF2F5"/>
          </a:solidFill>
          <a:ln w="12700">
            <a:solidFill>
              <a:srgbClr val="EEF2F5"/>
            </a:solidFill>
            <a:prstDash val="solid"/>
          </a:ln>
        </p:spPr>
      </p:sp>
      <p:sp>
        <p:nvSpPr>
          <p:cNvPr id="8" name="Text 4"/>
          <p:cNvSpPr txBox="1"/>
          <p:nvPr/>
        </p:nvSpPr>
        <p:spPr>
          <a:xfrm>
            <a:off x="9363456" y="1472184"/>
            <a:ext cx="22402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arithmetic</a:t>
            </a:r>
            <a:endParaRPr lang="en-US" sz="1300" dirty="0"/>
          </a:p>
        </p:txBody>
      </p:sp>
      <p:sp>
        <p:nvSpPr>
          <p:cNvPr id="9" name="Text 5"/>
          <p:cNvSpPr txBox="1"/>
          <p:nvPr/>
        </p:nvSpPr>
        <p:spPr>
          <a:xfrm>
            <a:off x="9363456" y="1783080"/>
            <a:ext cx="2240280" cy="1481328"/>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Packing: about ×5.52 at a fixed policy.</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Decision layer: about ×3 at matched packing — the best agentic arm reaches 6.35 HQ/GPU-h at k=1, where this same router reaches 2.13 at k=1 and 10.88 at k=8.</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 run has ever had both.</a:t>
            </a:r>
            <a:endParaRPr lang="en-US" sz="950" dirty="0"/>
          </a:p>
        </p:txBody>
      </p:sp>
      <p:sp>
        <p:nvSpPr>
          <p:cNvPr id="10" name="Shape 6"/>
          <p:cNvSpPr/>
          <p:nvPr/>
        </p:nvSpPr>
        <p:spPr>
          <a:xfrm>
            <a:off x="9235440" y="3474720"/>
            <a:ext cx="2496312" cy="1600200"/>
          </a:xfrm>
          <a:prstGeom prst="rect">
            <a:avLst/>
          </a:prstGeom>
          <a:solidFill>
            <a:srgbClr val="EEF2F5"/>
          </a:solidFill>
          <a:ln w="12700">
            <a:solidFill>
              <a:srgbClr val="EEF2F5"/>
            </a:solidFill>
            <a:prstDash val="solid"/>
          </a:ln>
        </p:spPr>
      </p:sp>
      <p:sp>
        <p:nvSpPr>
          <p:cNvPr id="11" name="Text 7"/>
          <p:cNvSpPr txBox="1"/>
          <p:nvPr/>
        </p:nvSpPr>
        <p:spPr>
          <a:xfrm>
            <a:off x="9363456" y="3557016"/>
            <a:ext cx="2240280" cy="274320"/>
          </a:xfrm>
          <a:prstGeom prst="rect">
            <a:avLst/>
          </a:prstGeom>
          <a:noFill/>
          <a:ln/>
        </p:spPr>
        <p:txBody>
          <a:bodyPr wrap="square" lIns="0" tIns="0" rIns="0" bIns="0" rtlCol="0" anchor="t"/>
          <a:lstStyle/>
          <a:p>
            <a:pPr indent="0" marL="0">
              <a:buNone/>
            </a:pPr>
            <a:r>
              <a:rPr lang="en-US" sz="1100" b="1" dirty="0">
                <a:solidFill>
                  <a:srgbClr val="5E6B75"/>
                </a:solidFill>
                <a:latin typeface="Calibri" pitchFamily="34" charset="0"/>
                <a:ea typeface="Calibri" pitchFamily="34" charset="-122"/>
                <a:cs typeface="Calibri" pitchFamily="34" charset="-120"/>
              </a:rPr>
              <a:t>What one hour cannot say</a:t>
            </a:r>
            <a:endParaRPr lang="en-US" sz="1100" dirty="0"/>
          </a:p>
        </p:txBody>
      </p:sp>
      <p:sp>
        <p:nvSpPr>
          <p:cNvPr id="12" name="Text 8"/>
          <p:cNvSpPr txBox="1"/>
          <p:nvPr/>
        </p:nvSpPr>
        <p:spPr>
          <a:xfrm>
            <a:off x="9363456" y="3867912"/>
            <a:ext cx="2240280" cy="112471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12–25 folds per arm in the window, so the order WITHIN the agentic group is not a ranking.</a:t>
            </a:r>
            <a:endParaRPr lang="en-US" sz="950" dirty="0"/>
          </a:p>
        </p:txBody>
      </p:sp>
      <p:sp>
        <p:nvSpPr>
          <p:cNvPr id="13" name="Shape 9"/>
          <p:cNvSpPr/>
          <p:nvPr/>
        </p:nvSpPr>
        <p:spPr>
          <a:xfrm>
            <a:off x="457200" y="5138928"/>
            <a:ext cx="11277295" cy="1207008"/>
          </a:xfrm>
          <a:prstGeom prst="rect">
            <a:avLst/>
          </a:prstGeom>
          <a:solidFill>
            <a:srgbClr val="F9E0DD"/>
          </a:solidFill>
          <a:ln w="25400">
            <a:solidFill>
              <a:srgbClr val="C0392B"/>
            </a:solidFill>
            <a:prstDash val="solid"/>
          </a:ln>
        </p:spPr>
      </p:sp>
      <p:sp>
        <p:nvSpPr>
          <p:cNvPr id="14" name="Text 10"/>
          <p:cNvSpPr txBox="1"/>
          <p:nvPr/>
        </p:nvSpPr>
        <p:spPr>
          <a:xfrm>
            <a:off x="603504" y="5230368"/>
            <a:ext cx="10984687" cy="1042416"/>
          </a:xfrm>
          <a:prstGeom prst="rect">
            <a:avLst/>
          </a:prstGeom>
          <a:noFill/>
          <a:ln/>
        </p:spPr>
        <p:txBody>
          <a:bodyPr wrap="square" lIns="0" tIns="0" rIns="0" bIns="0" rtlCol="0" anchor="t"/>
          <a:lstStyle/>
          <a:p>
            <a:pPr indent="0" marL="0">
              <a:buNone/>
            </a:pPr>
            <a:r>
              <a:rPr lang="en-US" sz="1000" b="1" dirty="0">
                <a:solidFill>
                  <a:srgbClr val="C0392B"/>
                </a:solidFill>
                <a:latin typeface="Calibri" pitchFamily="34" charset="0"/>
                <a:ea typeface="Calibri" pitchFamily="34" charset="-122"/>
                <a:cs typeface="Calibri" pitchFamily="34" charset="-120"/>
              </a:rPr>
              <a:t>“Agentic” is not a property that predicts anything.  </a:t>
            </a:r>
            <a:pPr indent="0" marL="0">
              <a:buNone/>
            </a:pPr>
            <a:r>
              <a:rPr lang="en-US" sz="1000" dirty="0">
                <a:solidFill>
                  <a:srgbClr val="22303C"/>
                </a:solidFill>
                <a:latin typeface="Calibri" pitchFamily="34" charset="0"/>
                <a:ea typeface="Calibri" pitchFamily="34" charset="-122"/>
                <a:cs typeface="Calibri" pitchFamily="34" charset="-120"/>
              </a:rPr>
              <a:t>Qwen3.5-122B reaches 2.88 passing folds per GPU-hour where the scripted route — which has no model in it at all — reaches 12.12. The spread across four models (2.88 to 8.08, pLDDT 83.8 to 94.4) is larger than the gap between “model” and “no model”.
</a:t>
            </a:r>
            <a:endParaRPr lang="en-US" sz="1000" dirty="0"/>
          </a:p>
          <a:p>
            <a:pPr indent="0" marL="0">
              <a:buNone/>
            </a:pPr>
            <a:r>
              <a:rPr lang="en-US" sz="1000" b="1" dirty="0">
                <a:solidFill>
                  <a:srgbClr val="16222B"/>
                </a:solidFill>
                <a:latin typeface="Calibri" pitchFamily="34" charset="0"/>
                <a:ea typeface="Calibri" pitchFamily="34" charset="-122"/>
                <a:cs typeface="Calibri" pitchFamily="34" charset="-120"/>
              </a:rPr>
              <a:t>And none of this ran through IMPRESS-A. This engine has measured neither lever: `replicas` IS the packing lever and has never exceeded 1 on the real chain, and every stage it has ever timed was a mock.</a:t>
            </a:r>
            <a:endParaRPr lang="en-US" sz="1000" dirty="0"/>
          </a:p>
        </p:txBody>
      </p:sp>
      <p:sp>
        <p:nvSpPr>
          <p:cNvPr id="16"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TRANSCRIBED, from impress-agentic-performance report.md §§10-12 (verified, 19 checks) · single runs, one hour each, one policy, one storage partition, and k=8 is the largest rung anybody ran rather than a measured maximum</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500" b="1" dirty="0">
                <a:solidFill>
                  <a:srgbClr val="16222B"/>
                </a:solidFill>
                <a:latin typeface="Cambria" pitchFamily="34" charset="0"/>
                <a:ea typeface="Cambria" pitchFamily="34" charset="-122"/>
                <a:cs typeface="Cambria" pitchFamily="34" charset="-120"/>
              </a:rPr>
              <a:t>Where the API refuses breadth — and a seam in it</a:t>
            </a:r>
            <a:endParaRPr lang="en-US" sz="2500" dirty="0"/>
          </a:p>
        </p:txBody>
      </p:sp>
      <p:sp>
        <p:nvSpPr>
          <p:cNvPr id="4" name="Shape 2"/>
          <p:cNvSpPr/>
          <p:nvPr/>
        </p:nvSpPr>
        <p:spPr>
          <a:xfrm>
            <a:off x="457200" y="1371600"/>
            <a:ext cx="11277295" cy="713232"/>
          </a:xfrm>
          <a:prstGeom prst="roundRect">
            <a:avLst>
              <a:gd name="adj" fmla="val 10256"/>
            </a:avLst>
          </a:prstGeom>
          <a:solidFill>
            <a:srgbClr val="E3F0F1"/>
          </a:solidFill>
          <a:ln w="19050">
            <a:solidFill>
              <a:srgbClr val="1E6470"/>
            </a:solidFill>
            <a:prstDash val="solid"/>
          </a:ln>
        </p:spPr>
      </p:sp>
      <p:sp>
        <p:nvSpPr>
          <p:cNvPr id="5" name="Text 3"/>
          <p:cNvSpPr txBox="1"/>
          <p:nvPr/>
        </p:nvSpPr>
        <p:spPr>
          <a:xfrm>
            <a:off x="530352" y="1417320"/>
            <a:ext cx="11130991" cy="621792"/>
          </a:xfrm>
          <a:prstGeom prst="rect">
            <a:avLst/>
          </a:prstGeom>
          <a:noFill/>
          <a:ln/>
        </p:spPr>
        <p:txBody>
          <a:bodyPr wrap="square" lIns="0" tIns="0" rIns="0" bIns="0" rtlCol="0" anchor="ctr"/>
          <a:lstStyle/>
          <a:p>
            <a:pPr algn="ctr" indent="0" marL="0">
              <a:buNone/>
            </a:pPr>
            <a:r>
              <a:rPr lang="en-US" sz="1350" b="1" dirty="0">
                <a:solidFill>
                  <a:srgbClr val="1E6470"/>
                </a:solidFill>
                <a:latin typeface="Calibri" pitchFamily="34" charset="0"/>
                <a:ea typeface="Calibri" pitchFamily="34" charset="-122"/>
                <a:cs typeface="Calibri" pitchFamily="34" charset="-120"/>
              </a:rPr>
              <a:t>A novel workflow shape is neither blocked nor trusted on sight</a:t>
            </a: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it runs under a cost cap and a forced dry run, is marked suspect whatever the outcome, and promotes only after promote_after = 3 runs with no INTEGRITY failure — demoting on one</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7315200" cy="914400"/>
        </p:xfrm>
        <a:graphic>
          <a:graphicData uri="http://schemas.openxmlformats.org/drawingml/2006/table">
            <a:tbl>
              <a:tblPr/>
              <a:tblGrid>
                <a:gridCol w="2651760"/>
                <a:gridCol w="1737360"/>
                <a:gridCol w="822960"/>
                <a:gridCol w="210312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 signature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composed 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trust events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9fdcfd202951…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3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then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66bb492308e3…</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2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2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7" name="Shape 4"/>
          <p:cNvSpPr/>
          <p:nvPr/>
        </p:nvSpPr>
        <p:spPr>
          <a:xfrm>
            <a:off x="457200" y="3703320"/>
            <a:ext cx="7315200" cy="1234440"/>
          </a:xfrm>
          <a:prstGeom prst="rect">
            <a:avLst/>
          </a:prstGeom>
          <a:solidFill>
            <a:srgbClr val="F9E0DD"/>
          </a:solidFill>
          <a:ln w="12700">
            <a:solidFill>
              <a:srgbClr val="F9E0DD"/>
            </a:solidFill>
            <a:prstDash val="solid"/>
          </a:ln>
        </p:spPr>
      </p:sp>
      <p:sp>
        <p:nvSpPr>
          <p:cNvPr id="8" name="Text 5"/>
          <p:cNvSpPr txBox="1"/>
          <p:nvPr/>
        </p:nvSpPr>
        <p:spPr>
          <a:xfrm>
            <a:off x="585216" y="3785616"/>
            <a:ext cx="70591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widths of one chain are two patterns — not what the docstring says</a:t>
            </a:r>
            <a:endParaRPr lang="en-US" sz="1300" dirty="0"/>
          </a:p>
        </p:txBody>
      </p:sp>
      <p:sp>
        <p:nvSpPr>
          <p:cNvPr id="9" name="Text 6"/>
          <p:cNvSpPr txBox="1"/>
          <p:nvPr/>
        </p:nvSpPr>
        <p:spPr>
          <a:xfrm>
            <a:off x="585216" y="4096512"/>
            <a:ext cx="705916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`pattern_signature` is documented as SHAPE ONLY: tool ids plus typed edges, with parameter values excluded deliberately so a parameter change cannot reset trust.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But it is built per NODE, so a 3-lineage graph contributes 3 copies of every hop and hashes differently from the 2-lineage one. Replica width is in the signature by construction, not by decision.</a:t>
            </a:r>
            <a:endParaRPr lang="en-US" sz="1050" dirty="0"/>
          </a:p>
        </p:txBody>
      </p:sp>
      <p:sp>
        <p:nvSpPr>
          <p:cNvPr id="10" name="Shape 7"/>
          <p:cNvSpPr/>
          <p:nvPr/>
        </p:nvSpPr>
        <p:spPr>
          <a:xfrm>
            <a:off x="457200" y="5074920"/>
            <a:ext cx="7315200" cy="1005840"/>
          </a:xfrm>
          <a:prstGeom prst="rect">
            <a:avLst/>
          </a:prstGeom>
          <a:solidFill>
            <a:srgbClr val="16222B"/>
          </a:solidFill>
          <a:ln w="12700">
            <a:solidFill>
              <a:srgbClr val="16222B"/>
            </a:solidFill>
            <a:prstDash val="solid"/>
          </a:ln>
        </p:spPr>
      </p:sp>
      <p:sp>
        <p:nvSpPr>
          <p:cNvPr id="11" name="Text 8"/>
          <p:cNvSpPr txBox="1"/>
          <p:nvPr/>
        </p:nvSpPr>
        <p:spPr>
          <a:xfrm>
            <a:off x="557784" y="5166360"/>
            <a:ext cx="7114032" cy="822960"/>
          </a:xfrm>
          <a:prstGeom prst="rect">
            <a:avLst/>
          </a:prstGeom>
          <a:noFill/>
          <a:ln/>
        </p:spPr>
        <p:txBody>
          <a:bodyPr wrap="square" lIns="0" tIns="0" rIns="0" bIns="0" rtlCol="0" anchor="t"/>
          <a:lstStyle/>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parts = sorted(</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f"{n.tool}&lt;-{','.join(sorted(self.nodes[d].tool for d in n.deps))}"</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for n in self.nodes.values()          # &lt;- one entry PER NODE</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return hashlib.sha256("|".join(parts).encode()).hexdigest()[:16]</a:t>
            </a:r>
            <a:endParaRPr lang="en-US" sz="900" dirty="0"/>
          </a:p>
        </p:txBody>
      </p:sp>
      <p:sp>
        <p:nvSpPr>
          <p:cNvPr id="12" name="Text 9"/>
          <p:cNvSpPr txBox="1"/>
          <p:nvPr/>
        </p:nvSpPr>
        <p:spPr>
          <a:xfrm>
            <a:off x="457200" y="6099048"/>
            <a:ext cx="73152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a:t>
            </a:r>
            <a:endParaRPr lang="en-US" sz="850" dirty="0"/>
          </a:p>
        </p:txBody>
      </p:sp>
      <p:sp>
        <p:nvSpPr>
          <p:cNvPr id="13" name="Shape 10"/>
          <p:cNvSpPr/>
          <p:nvPr/>
        </p:nvSpPr>
        <p:spPr>
          <a:xfrm>
            <a:off x="8001000" y="2286000"/>
            <a:ext cx="3730752" cy="3794760"/>
          </a:xfrm>
          <a:prstGeom prst="rect">
            <a:avLst/>
          </a:prstGeom>
          <a:solidFill>
            <a:srgbClr val="EEF2F5"/>
          </a:solidFill>
          <a:ln w="12700">
            <a:solidFill>
              <a:srgbClr val="EEF2F5"/>
            </a:solidFill>
            <a:prstDash val="solid"/>
          </a:ln>
        </p:spPr>
      </p:sp>
      <p:sp>
        <p:nvSpPr>
          <p:cNvPr id="14" name="Text 11"/>
          <p:cNvSpPr txBox="1"/>
          <p:nvPr/>
        </p:nvSpPr>
        <p:spPr>
          <a:xfrm>
            <a:off x="8129016" y="2368296"/>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it bites</a:t>
            </a:r>
            <a:endParaRPr lang="en-US" sz="1300" dirty="0"/>
          </a:p>
        </p:txBody>
      </p:sp>
      <p:sp>
        <p:nvSpPr>
          <p:cNvPr id="15" name="Text 12"/>
          <p:cNvSpPr txBox="1"/>
          <p:nvPr/>
        </p:nvSpPr>
        <p:spPr>
          <a:xfrm>
            <a:off x="8129016" y="2679192"/>
            <a:ext cx="3474720" cy="3319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Trust earned at width 2 does not transfer to width 3.</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2 clean runs here, against promote_after = 3 — so 0 promotions, and all 4 nodes came out `suspect`.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To run the real 4-lineage independence check you must first earn trust AT 4.</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 names this; it is a known cost, not a discovery.</a:t>
            </a:r>
            <a:endParaRPr lang="en-US" sz="1000" dirty="0"/>
          </a:p>
        </p:txBody>
      </p:sp>
      <p:sp>
        <p:nvSpPr>
          <p:cNvPr id="17" name="Text 1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mock.widths_per_signature · trust: 2 seen, 2 clean, 0 promoted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Is this an application someone opens, a platform others plug into, or a component something else drives?</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strong</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one YAML, one command, 3 subcommands — and a preflight that respects what an allocation costs</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arguable</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11 tools discovered at runtime from a directory; $IMPRESS_A_TOOLKITS adds yours without touching the package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empty</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19 control-plane operations and a RemoteSession that implements the reasoner's own protocol — and no caller</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nothing outside this package has ever driven a campaign — the four-hour live run three slides from now is the reference pipeline's toolkit with an LLM on it, not this engine — and `--model C` with no caller falls back to model D after 5 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running one is actually like</a:t>
            </a:r>
            <a:endParaRPr lang="en-US" sz="2800" dirty="0"/>
          </a:p>
        </p:txBody>
      </p:sp>
      <p:sp>
        <p:nvSpPr>
          <p:cNvPr id="4" name="Shape 2"/>
          <p:cNvSpPr/>
          <p:nvPr/>
        </p:nvSpPr>
        <p:spPr>
          <a:xfrm>
            <a:off x="457200" y="1371600"/>
            <a:ext cx="2153046" cy="1965960"/>
          </a:xfrm>
          <a:prstGeom prst="rect">
            <a:avLst/>
          </a:prstGeom>
          <a:solidFill>
            <a:srgbClr val="EEF2F5"/>
          </a:solidFill>
          <a:ln w="12700">
            <a:solidFill>
              <a:srgbClr val="C9D1D8"/>
            </a:solidFill>
            <a:prstDash val="solid"/>
          </a:ln>
        </p:spPr>
      </p:sp>
      <p:sp>
        <p:nvSpPr>
          <p:cNvPr id="5" name="Shape 3"/>
          <p:cNvSpPr/>
          <p:nvPr/>
        </p:nvSpPr>
        <p:spPr>
          <a:xfrm>
            <a:off x="457200" y="1371600"/>
            <a:ext cx="2153046" cy="54864"/>
          </a:xfrm>
          <a:prstGeom prst="rect">
            <a:avLst/>
          </a:prstGeom>
          <a:solidFill>
            <a:srgbClr val="D9731A"/>
          </a:solidFill>
          <a:ln w="12700">
            <a:solidFill>
              <a:srgbClr val="D9731A"/>
            </a:solidFill>
            <a:prstDash val="solid"/>
          </a:ln>
        </p:spPr>
      </p:sp>
      <p:sp>
        <p:nvSpPr>
          <p:cNvPr id="6" name="Text 4"/>
          <p:cNvSpPr txBox="1"/>
          <p:nvPr/>
        </p:nvSpPr>
        <p:spPr>
          <a:xfrm>
            <a:off x="566928"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566928"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write the file</a:t>
            </a:r>
            <a:endParaRPr lang="en-US" sz="1200" dirty="0"/>
          </a:p>
        </p:txBody>
      </p:sp>
      <p:sp>
        <p:nvSpPr>
          <p:cNvPr id="8" name="Text 6"/>
          <p:cNvSpPr txBox="1"/>
          <p:nvPr/>
        </p:nvSpPr>
        <p:spPr>
          <a:xfrm>
            <a:off x="566928"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22 keys exist. A real campaign uses about twenty lines: the goal, the budget, the objectives, and the stages you trust</a:t>
            </a:r>
            <a:endParaRPr lang="en-US" sz="1000" dirty="0"/>
          </a:p>
        </p:txBody>
      </p:sp>
      <p:sp>
        <p:nvSpPr>
          <p:cNvPr id="9" name="Shape 7"/>
          <p:cNvSpPr/>
          <p:nvPr/>
        </p:nvSpPr>
        <p:spPr>
          <a:xfrm>
            <a:off x="2738262" y="1371600"/>
            <a:ext cx="2153046" cy="1965960"/>
          </a:xfrm>
          <a:prstGeom prst="rect">
            <a:avLst/>
          </a:prstGeom>
          <a:solidFill>
            <a:srgbClr val="EEF2F5"/>
          </a:solidFill>
          <a:ln w="12700">
            <a:solidFill>
              <a:srgbClr val="C9D1D8"/>
            </a:solidFill>
            <a:prstDash val="solid"/>
          </a:ln>
        </p:spPr>
      </p:sp>
      <p:sp>
        <p:nvSpPr>
          <p:cNvPr id="10" name="Shape 8"/>
          <p:cNvSpPr/>
          <p:nvPr/>
        </p:nvSpPr>
        <p:spPr>
          <a:xfrm>
            <a:off x="2738262" y="1371600"/>
            <a:ext cx="2153046" cy="54864"/>
          </a:xfrm>
          <a:prstGeom prst="rect">
            <a:avLst/>
          </a:prstGeom>
          <a:solidFill>
            <a:srgbClr val="D9731A"/>
          </a:solidFill>
          <a:ln w="12700">
            <a:solidFill>
              <a:srgbClr val="D9731A"/>
            </a:solidFill>
            <a:prstDash val="solid"/>
          </a:ln>
        </p:spPr>
      </p:sp>
      <p:sp>
        <p:nvSpPr>
          <p:cNvPr id="11" name="Text 9"/>
          <p:cNvSpPr txBox="1"/>
          <p:nvPr/>
        </p:nvSpPr>
        <p:spPr>
          <a:xfrm>
            <a:off x="2847990"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2847990"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run preflight</a:t>
            </a:r>
            <a:endParaRPr lang="en-US" sz="1200" dirty="0"/>
          </a:p>
        </p:txBody>
      </p:sp>
      <p:sp>
        <p:nvSpPr>
          <p:cNvPr id="13" name="Text 11"/>
          <p:cNvSpPr txBox="1"/>
          <p:nvPr/>
        </p:nvSpPr>
        <p:spPr>
          <a:xfrm>
            <a:off x="2847990"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On the login node, before the queue, where repairing anything is free. ok / FAIL / undetermined — and undetermined never reads as a pass</a:t>
            </a:r>
            <a:endParaRPr lang="en-US" sz="1000" dirty="0"/>
          </a:p>
        </p:txBody>
      </p:sp>
      <p:sp>
        <p:nvSpPr>
          <p:cNvPr id="14" name="Shape 12"/>
          <p:cNvSpPr/>
          <p:nvPr/>
        </p:nvSpPr>
        <p:spPr>
          <a:xfrm>
            <a:off x="5019324" y="1371600"/>
            <a:ext cx="2153046" cy="1965960"/>
          </a:xfrm>
          <a:prstGeom prst="rect">
            <a:avLst/>
          </a:prstGeom>
          <a:solidFill>
            <a:srgbClr val="EEF2F5"/>
          </a:solidFill>
          <a:ln w="12700">
            <a:solidFill>
              <a:srgbClr val="C9D1D8"/>
            </a:solidFill>
            <a:prstDash val="solid"/>
          </a:ln>
        </p:spPr>
      </p:sp>
      <p:sp>
        <p:nvSpPr>
          <p:cNvPr id="15" name="Shape 13"/>
          <p:cNvSpPr/>
          <p:nvPr/>
        </p:nvSpPr>
        <p:spPr>
          <a:xfrm>
            <a:off x="5019324" y="1371600"/>
            <a:ext cx="2153046" cy="54864"/>
          </a:xfrm>
          <a:prstGeom prst="rect">
            <a:avLst/>
          </a:prstGeom>
          <a:solidFill>
            <a:srgbClr val="3B4E8C"/>
          </a:solidFill>
          <a:ln w="12700">
            <a:solidFill>
              <a:srgbClr val="3B4E8C"/>
            </a:solidFill>
            <a:prstDash val="solid"/>
          </a:ln>
        </p:spPr>
      </p:sp>
      <p:sp>
        <p:nvSpPr>
          <p:cNvPr id="16" name="Text 14"/>
          <p:cNvSpPr txBox="1"/>
          <p:nvPr/>
        </p:nvSpPr>
        <p:spPr>
          <a:xfrm>
            <a:off x="5129052" y="1481328"/>
            <a:ext cx="365760" cy="237744"/>
          </a:xfrm>
          <a:prstGeom prst="rect">
            <a:avLst/>
          </a:prstGeom>
          <a:noFill/>
          <a:ln/>
        </p:spPr>
        <p:txBody>
          <a:bodyPr wrap="square" lIns="0" tIns="0" rIns="0" bIns="0" rtlCol="0" anchor="t"/>
          <a:lstStyle/>
          <a:p>
            <a:pPr indent="0" marL="0">
              <a:buNone/>
            </a:pPr>
            <a:r>
              <a:rPr lang="en-US" sz="1500" b="1" dirty="0">
                <a:solidFill>
                  <a:srgbClr val="3B4E8C"/>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5129052"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stop watching</a:t>
            </a:r>
            <a:endParaRPr lang="en-US" sz="1200" dirty="0"/>
          </a:p>
        </p:txBody>
      </p:sp>
      <p:sp>
        <p:nvSpPr>
          <p:cNvPr id="18" name="Text 16"/>
          <p:cNvSpPr txBox="1"/>
          <p:nvPr/>
        </p:nvSpPr>
        <p:spPr>
          <a:xfrm>
            <a:off x="5129052"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There is no step list to babysit. It observes, decides, composes a graph, type-checks it, gates it, and dispatches</a:t>
            </a:r>
            <a:endParaRPr lang="en-US" sz="1000" dirty="0"/>
          </a:p>
        </p:txBody>
      </p:sp>
      <p:sp>
        <p:nvSpPr>
          <p:cNvPr id="19" name="Shape 17"/>
          <p:cNvSpPr/>
          <p:nvPr/>
        </p:nvSpPr>
        <p:spPr>
          <a:xfrm>
            <a:off x="7300387" y="1371600"/>
            <a:ext cx="2153046" cy="1965960"/>
          </a:xfrm>
          <a:prstGeom prst="rect">
            <a:avLst/>
          </a:prstGeom>
          <a:solidFill>
            <a:srgbClr val="EEF2F5"/>
          </a:solidFill>
          <a:ln w="12700">
            <a:solidFill>
              <a:srgbClr val="C9D1D8"/>
            </a:solidFill>
            <a:prstDash val="solid"/>
          </a:ln>
        </p:spPr>
      </p:sp>
      <p:sp>
        <p:nvSpPr>
          <p:cNvPr id="20" name="Shape 18"/>
          <p:cNvSpPr/>
          <p:nvPr/>
        </p:nvSpPr>
        <p:spPr>
          <a:xfrm>
            <a:off x="7300387" y="1371600"/>
            <a:ext cx="2153046" cy="54864"/>
          </a:xfrm>
          <a:prstGeom prst="rect">
            <a:avLst/>
          </a:prstGeom>
          <a:solidFill>
            <a:srgbClr val="2E7D5B"/>
          </a:solidFill>
          <a:ln w="12700">
            <a:solidFill>
              <a:srgbClr val="2E7D5B"/>
            </a:solidFill>
            <a:prstDash val="solid"/>
          </a:ln>
        </p:spPr>
      </p:sp>
      <p:sp>
        <p:nvSpPr>
          <p:cNvPr id="21" name="Text 19"/>
          <p:cNvSpPr txBox="1"/>
          <p:nvPr/>
        </p:nvSpPr>
        <p:spPr>
          <a:xfrm>
            <a:off x="7410115" y="1481328"/>
            <a:ext cx="365760" cy="237744"/>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410115"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argues with itself</a:t>
            </a:r>
            <a:endParaRPr lang="en-US" sz="1200" dirty="0"/>
          </a:p>
        </p:txBody>
      </p:sp>
      <p:sp>
        <p:nvSpPr>
          <p:cNvPr id="23" name="Text 21"/>
          <p:cNvSpPr txBox="1"/>
          <p:nvPr/>
        </p:nvSpPr>
        <p:spPr>
          <a:xfrm>
            <a:off x="7410115"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It asked for 3 lineages. The interlock refused on cost. It came back with 2 and was admitted — nobody woken up</a:t>
            </a:r>
            <a:endParaRPr lang="en-US" sz="1000" dirty="0"/>
          </a:p>
        </p:txBody>
      </p:sp>
      <p:sp>
        <p:nvSpPr>
          <p:cNvPr id="24" name="Shape 22"/>
          <p:cNvSpPr/>
          <p:nvPr/>
        </p:nvSpPr>
        <p:spPr>
          <a:xfrm>
            <a:off x="9581449" y="1371600"/>
            <a:ext cx="2153046" cy="1965960"/>
          </a:xfrm>
          <a:prstGeom prst="rect">
            <a:avLst/>
          </a:prstGeom>
          <a:solidFill>
            <a:srgbClr val="EEF2F5"/>
          </a:solidFill>
          <a:ln w="12700">
            <a:solidFill>
              <a:srgbClr val="C9D1D8"/>
            </a:solidFill>
            <a:prstDash val="solid"/>
          </a:ln>
        </p:spPr>
      </p:sp>
      <p:sp>
        <p:nvSpPr>
          <p:cNvPr id="25" name="Shape 23"/>
          <p:cNvSpPr/>
          <p:nvPr/>
        </p:nvSpPr>
        <p:spPr>
          <a:xfrm>
            <a:off x="9581449" y="1371600"/>
            <a:ext cx="2153046" cy="54864"/>
          </a:xfrm>
          <a:prstGeom prst="rect">
            <a:avLst/>
          </a:prstGeom>
          <a:solidFill>
            <a:srgbClr val="1E6470"/>
          </a:solidFill>
          <a:ln w="12700">
            <a:solidFill>
              <a:srgbClr val="1E6470"/>
            </a:solidFill>
            <a:prstDash val="solid"/>
          </a:ln>
        </p:spPr>
      </p:sp>
      <p:sp>
        <p:nvSpPr>
          <p:cNvPr id="26" name="Text 24"/>
          <p:cNvSpPr txBox="1"/>
          <p:nvPr/>
        </p:nvSpPr>
        <p:spPr>
          <a:xfrm>
            <a:off x="9691177" y="1481328"/>
            <a:ext cx="365760" cy="237744"/>
          </a:xfrm>
          <a:prstGeom prst="rect">
            <a:avLst/>
          </a:prstGeom>
          <a:noFill/>
          <a:ln/>
        </p:spPr>
        <p:txBody>
          <a:bodyPr wrap="square" lIns="0" tIns="0" rIns="0" bIns="0" rtlCol="0" anchor="t"/>
          <a:lstStyle/>
          <a:p>
            <a:pPr indent="0" marL="0">
              <a:buNone/>
            </a:pPr>
            <a:r>
              <a:rPr lang="en-US" sz="1500" b="1" dirty="0">
                <a:solidFill>
                  <a:srgbClr val="1E6470"/>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9691177"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stops, and says why</a:t>
            </a:r>
            <a:endParaRPr lang="en-US" sz="1200" dirty="0"/>
          </a:p>
        </p:txBody>
      </p:sp>
      <p:sp>
        <p:nvSpPr>
          <p:cNvPr id="28" name="Text 26"/>
          <p:cNvSpPr txBox="1"/>
          <p:nvPr/>
        </p:nvSpPr>
        <p:spPr>
          <a:xfrm>
            <a:off x="9691177"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"target front size 3 reached". 3 designs on the front, 4 nodes, every one marked suspect until a human has looked</a:t>
            </a:r>
            <a:endParaRPr lang="en-US" sz="1000" dirty="0"/>
          </a:p>
        </p:txBody>
      </p:sp>
      <p:sp>
        <p:nvSpPr>
          <p:cNvPr id="29" name="Shape 27"/>
          <p:cNvSpPr/>
          <p:nvPr/>
        </p:nvSpPr>
        <p:spPr>
          <a:xfrm>
            <a:off x="457200" y="3520440"/>
            <a:ext cx="6675120" cy="475488"/>
          </a:xfrm>
          <a:prstGeom prst="rect">
            <a:avLst/>
          </a:prstGeom>
          <a:solidFill>
            <a:srgbClr val="16222B"/>
          </a:solidFill>
          <a:ln w="12700">
            <a:solidFill>
              <a:srgbClr val="16222B"/>
            </a:solidFill>
            <a:prstDash val="solid"/>
          </a:ln>
        </p:spPr>
      </p:sp>
      <p:sp>
        <p:nvSpPr>
          <p:cNvPr id="30" name="Text 28"/>
          <p:cNvSpPr txBox="1"/>
          <p:nvPr/>
        </p:nvSpPr>
        <p:spPr>
          <a:xfrm>
            <a:off x="557784" y="3611880"/>
            <a:ext cx="6473952" cy="292608"/>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impress-a run campaigns/delta-small-molecule.yaml --model D</a:t>
            </a:r>
            <a:endParaRPr lang="en-US" sz="1040" dirty="0"/>
          </a:p>
        </p:txBody>
      </p:sp>
      <p:sp>
        <p:nvSpPr>
          <p:cNvPr id="31" name="Shape 29"/>
          <p:cNvSpPr/>
          <p:nvPr/>
        </p:nvSpPr>
        <p:spPr>
          <a:xfrm>
            <a:off x="7360920" y="3456432"/>
            <a:ext cx="4370832" cy="960120"/>
          </a:xfrm>
          <a:prstGeom prst="rect">
            <a:avLst/>
          </a:prstGeom>
          <a:solidFill>
            <a:srgbClr val="E9EDF7"/>
          </a:solidFill>
          <a:ln w="12700">
            <a:solidFill>
              <a:srgbClr val="E9EDF7"/>
            </a:solidFill>
            <a:prstDash val="solid"/>
          </a:ln>
        </p:spPr>
      </p:sp>
      <p:sp>
        <p:nvSpPr>
          <p:cNvPr id="32" name="Text 30"/>
          <p:cNvSpPr txBox="1"/>
          <p:nvPr/>
        </p:nvSpPr>
        <p:spPr>
          <a:xfrm>
            <a:off x="7488936" y="3538728"/>
            <a:ext cx="41148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you never write</a:t>
            </a:r>
            <a:endParaRPr lang="en-US" sz="1300" dirty="0"/>
          </a:p>
        </p:txBody>
      </p:sp>
      <p:sp>
        <p:nvSpPr>
          <p:cNvPr id="33" name="Text 31"/>
          <p:cNvSpPr txBox="1"/>
          <p:nvPr/>
        </p:nvSpPr>
        <p:spPr>
          <a:xfrm>
            <a:off x="7488936" y="3849624"/>
            <a:ext cx="4114800"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DAG, no step list, no retry loop, and no per-experiment edit to a batch script — the shape of the work is composed each cycle from the stages you named.</a:t>
            </a:r>
            <a:endParaRPr lang="en-US" sz="1050" dirty="0"/>
          </a:p>
        </p:txBody>
      </p:sp>
      <p:sp>
        <p:nvSpPr>
          <p:cNvPr id="34" name="Shape 32"/>
          <p:cNvSpPr/>
          <p:nvPr/>
        </p:nvSpPr>
        <p:spPr>
          <a:xfrm>
            <a:off x="457200" y="4617720"/>
            <a:ext cx="11277295" cy="841248"/>
          </a:xfrm>
          <a:prstGeom prst="roundRect">
            <a:avLst>
              <a:gd name="adj" fmla="val 8696"/>
            </a:avLst>
          </a:prstGeom>
          <a:solidFill>
            <a:srgbClr val="E3F0F1"/>
          </a:solidFill>
          <a:ln w="19050">
            <a:solidFill>
              <a:srgbClr val="1E6470"/>
            </a:solidFill>
            <a:prstDash val="solid"/>
          </a:ln>
        </p:spPr>
      </p:sp>
      <p:sp>
        <p:nvSpPr>
          <p:cNvPr id="35" name="Text 33"/>
          <p:cNvSpPr txBox="1"/>
          <p:nvPr/>
        </p:nvSpPr>
        <p:spPr>
          <a:xfrm>
            <a:off x="530352" y="4663440"/>
            <a:ext cx="11130991" cy="74980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What comes back: one directory per job — manifest.json (campaign, model, git sha and whether the checkout was dirty), campaign.log, provenance/*.jsonl (14 records across 5 kinds), jobs/ledger.jsonl (7)</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you can hand the directory to someone else and they can reconstruct every decision, including the one that was refused</a:t>
            </a:r>
            <a:endParaRPr lang="en-US" sz="1400" dirty="0"/>
          </a:p>
        </p:txBody>
      </p:sp>
      <p:sp>
        <p:nvSpPr>
          <p:cNvPr id="36" name="Text 34"/>
          <p:cNvSpPr txBox="1"/>
          <p:nvPr/>
        </p:nvSpPr>
        <p:spPr>
          <a:xfrm>
            <a:off x="457200" y="5669280"/>
            <a:ext cx="11277295"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experience it is trying to buy:  </a:t>
            </a:r>
            <a:pPr indent="0" marL="0">
              <a:buNone/>
            </a:pPr>
            <a:r>
              <a:rPr lang="en-US" sz="1250" dirty="0">
                <a:solidFill>
                  <a:srgbClr val="22303C"/>
                </a:solidFill>
                <a:latin typeface="Calibri" pitchFamily="34" charset="0"/>
                <a:ea typeface="Calibri" pitchFamily="34" charset="-122"/>
                <a:cs typeface="Calibri" pitchFamily="34" charset="-120"/>
              </a:rPr>
              <a:t>you spend your attention on what you want, not on what order to ask for it in — and the first thing you read when it finishes is the reason it stopped.</a:t>
            </a:r>
            <a:endParaRPr lang="en-US" sz="12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campaign this deck ran · slides/impress-a-api-user-slides @ bf32d1d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When it says no, it says what to change</a:t>
            </a:r>
            <a:endParaRPr lang="en-US" sz="2800" dirty="0"/>
          </a:p>
        </p:txBody>
      </p:sp>
      <p:sp>
        <p:nvSpPr>
          <p:cNvPr id="4" name="Shape 2"/>
          <p:cNvSpPr/>
          <p:nvPr/>
        </p:nvSpPr>
        <p:spPr>
          <a:xfrm>
            <a:off x="457200" y="1371600"/>
            <a:ext cx="3637178" cy="2148840"/>
          </a:xfrm>
          <a:prstGeom prst="rect">
            <a:avLst/>
          </a:prstGeom>
          <a:solidFill>
            <a:srgbClr val="FFFFFF"/>
          </a:solidFill>
          <a:ln w="19050">
            <a:solidFill>
              <a:srgbClr val="D9731A"/>
            </a:solidFill>
            <a:prstDash val="solid"/>
          </a:ln>
        </p:spPr>
      </p:sp>
      <p:sp>
        <p:nvSpPr>
          <p:cNvPr id="5" name="Shape 3"/>
          <p:cNvSpPr/>
          <p:nvPr/>
        </p:nvSpPr>
        <p:spPr>
          <a:xfrm>
            <a:off x="585216" y="1517904"/>
            <a:ext cx="3381146" cy="274320"/>
          </a:xfrm>
          <a:prstGeom prst="roundRect">
            <a:avLst>
              <a:gd name="adj" fmla="val 50000"/>
            </a:avLst>
          </a:prstGeom>
          <a:solidFill>
            <a:srgbClr val="D9731A"/>
          </a:solidFill>
          <a:ln w="12700">
            <a:solidFill>
              <a:srgbClr val="D9731A"/>
            </a:solidFill>
            <a:prstDash val="solid"/>
          </a:ln>
        </p:spPr>
      </p:sp>
      <p:sp>
        <p:nvSpPr>
          <p:cNvPr id="6" name="Text 4"/>
          <p:cNvSpPr txBox="1"/>
          <p:nvPr/>
        </p:nvSpPr>
        <p:spPr>
          <a:xfrm>
            <a:off x="585216"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the queue</a:t>
            </a:r>
            <a:endParaRPr lang="en-US" sz="1000" dirty="0"/>
          </a:p>
        </p:txBody>
      </p:sp>
      <p:sp>
        <p:nvSpPr>
          <p:cNvPr id="7" name="Text 5"/>
          <p:cNvSpPr txBox="1"/>
          <p:nvPr/>
        </p:nvSpPr>
        <p:spPr>
          <a:xfrm>
            <a:off x="585216"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preflight, on the login node</a:t>
            </a:r>
            <a:endParaRPr lang="en-US" sz="1050" dirty="0"/>
          </a:p>
        </p:txBody>
      </p:sp>
      <p:sp>
        <p:nvSpPr>
          <p:cNvPr id="8" name="Text 6"/>
          <p:cNvSpPr txBox="1"/>
          <p:nvPr/>
        </p:nvSpPr>
        <p:spPr>
          <a:xfrm>
            <a:off x="585216"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`$MPNN_DIR has no model_params/ — run its get_model_params.sh`. Seconds to fix, no allocation spent. A timeout reports as undetermined, never as a pass.</a:t>
            </a:r>
            <a:endParaRPr lang="en-US" sz="1100" dirty="0"/>
          </a:p>
        </p:txBody>
      </p:sp>
      <p:sp>
        <p:nvSpPr>
          <p:cNvPr id="9" name="Shape 7"/>
          <p:cNvSpPr/>
          <p:nvPr/>
        </p:nvSpPr>
        <p:spPr>
          <a:xfrm>
            <a:off x="4277258" y="1371600"/>
            <a:ext cx="3637178" cy="2148840"/>
          </a:xfrm>
          <a:prstGeom prst="rect">
            <a:avLst/>
          </a:prstGeom>
          <a:solidFill>
            <a:srgbClr val="FFFFFF"/>
          </a:solidFill>
          <a:ln w="19050">
            <a:solidFill>
              <a:srgbClr val="2E7D5B"/>
            </a:solidFill>
            <a:prstDash val="solid"/>
          </a:ln>
        </p:spPr>
      </p:sp>
      <p:sp>
        <p:nvSpPr>
          <p:cNvPr id="10" name="Shape 8"/>
          <p:cNvSpPr/>
          <p:nvPr/>
        </p:nvSpPr>
        <p:spPr>
          <a:xfrm>
            <a:off x="4405274" y="1517904"/>
            <a:ext cx="3381146" cy="274320"/>
          </a:xfrm>
          <a:prstGeom prst="roundRect">
            <a:avLst>
              <a:gd name="adj" fmla="val 50000"/>
            </a:avLst>
          </a:prstGeom>
          <a:solidFill>
            <a:srgbClr val="2E7D5B"/>
          </a:solidFill>
          <a:ln w="12700">
            <a:solidFill>
              <a:srgbClr val="2E7D5B"/>
            </a:solidFill>
            <a:prstDash val="solid"/>
          </a:ln>
        </p:spPr>
      </p:sp>
      <p:sp>
        <p:nvSpPr>
          <p:cNvPr id="11" name="Text 9"/>
          <p:cNvSpPr txBox="1"/>
          <p:nvPr/>
        </p:nvSpPr>
        <p:spPr>
          <a:xfrm>
            <a:off x="4405274"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anything runs</a:t>
            </a:r>
            <a:endParaRPr lang="en-US" sz="1000" dirty="0"/>
          </a:p>
        </p:txBody>
      </p:sp>
      <p:sp>
        <p:nvSpPr>
          <p:cNvPr id="12" name="Text 10"/>
          <p:cNvSpPr txBox="1"/>
          <p:nvPr/>
        </p:nvSpPr>
        <p:spPr>
          <a:xfrm>
            <a:off x="4405274"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five gates, then the interlock</a:t>
            </a:r>
            <a:endParaRPr lang="en-US" sz="1050" dirty="0"/>
          </a:p>
        </p:txBody>
      </p:sp>
      <p:sp>
        <p:nvSpPr>
          <p:cNvPr id="13" name="Text 11"/>
          <p:cNvSpPr txBox="1"/>
          <p:nvPr/>
        </p:nvSpPr>
        <p:spPr>
          <a:xfrm>
            <a:off x="4405274"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"provisional pattern capped at 10% of available cpu_hours (1.500 &gt; 1.200)" — marked transient, so the policy shrinks the request and tries again instead of stopping. Cost of the refusal: one composition, no GPU.</a:t>
            </a:r>
            <a:endParaRPr lang="en-US" sz="1100" dirty="0"/>
          </a:p>
        </p:txBody>
      </p:sp>
      <p:sp>
        <p:nvSpPr>
          <p:cNvPr id="14" name="Shape 12"/>
          <p:cNvSpPr/>
          <p:nvPr/>
        </p:nvSpPr>
        <p:spPr>
          <a:xfrm>
            <a:off x="8097317" y="1371600"/>
            <a:ext cx="3637178" cy="2148840"/>
          </a:xfrm>
          <a:prstGeom prst="rect">
            <a:avLst/>
          </a:prstGeom>
          <a:solidFill>
            <a:srgbClr val="FFFFFF"/>
          </a:solidFill>
          <a:ln w="19050">
            <a:solidFill>
              <a:srgbClr val="7A4A8C"/>
            </a:solidFill>
            <a:prstDash val="solid"/>
          </a:ln>
        </p:spPr>
      </p:sp>
      <p:sp>
        <p:nvSpPr>
          <p:cNvPr id="15" name="Shape 13"/>
          <p:cNvSpPr/>
          <p:nvPr/>
        </p:nvSpPr>
        <p:spPr>
          <a:xfrm>
            <a:off x="8225333" y="1517904"/>
            <a:ext cx="3381146" cy="274320"/>
          </a:xfrm>
          <a:prstGeom prst="roundRect">
            <a:avLst>
              <a:gd name="adj" fmla="val 50000"/>
            </a:avLst>
          </a:prstGeom>
          <a:solidFill>
            <a:srgbClr val="7A4A8C"/>
          </a:solidFill>
          <a:ln w="12700">
            <a:solidFill>
              <a:srgbClr val="7A4A8C"/>
            </a:solidFill>
            <a:prstDash val="solid"/>
          </a:ln>
        </p:spPr>
      </p:sp>
      <p:sp>
        <p:nvSpPr>
          <p:cNvPr id="16" name="Text 14"/>
          <p:cNvSpPr txBox="1"/>
          <p:nvPr/>
        </p:nvSpPr>
        <p:spPr>
          <a:xfrm>
            <a:off x="8225333"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After a tool succeeds</a:t>
            </a:r>
            <a:endParaRPr lang="en-US" sz="1000" dirty="0"/>
          </a:p>
        </p:txBody>
      </p:sp>
      <p:sp>
        <p:nvSpPr>
          <p:cNvPr id="17" name="Text 15"/>
          <p:cNvSpPr txBox="1"/>
          <p:nvPr/>
        </p:nvSpPr>
        <p:spPr>
          <a:xfrm>
            <a:off x="8225333"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QC, on the way out of the node</a:t>
            </a:r>
            <a:endParaRPr lang="en-US" sz="1050" dirty="0"/>
          </a:p>
        </p:txBody>
      </p:sp>
      <p:sp>
        <p:nvSpPr>
          <p:cNvPr id="18" name="Text 16"/>
          <p:cNvSpPr txBox="1"/>
          <p:nvPr/>
        </p:nvSpPr>
        <p:spPr>
          <a:xfrm>
            <a:off x="8225333"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tool can exit 0, report 0.91 designability, and have produced a noodle. The integrity gate fails the node anyway, and a failed node never reaches the front.</a:t>
            </a:r>
            <a:endParaRPr lang="en-US" sz="1100" dirty="0"/>
          </a:p>
        </p:txBody>
      </p:sp>
      <p:sp>
        <p:nvSpPr>
          <p:cNvPr id="19" name="Shape 17"/>
          <p:cNvSpPr/>
          <p:nvPr/>
        </p:nvSpPr>
        <p:spPr>
          <a:xfrm>
            <a:off x="457200" y="3749040"/>
            <a:ext cx="11277295" cy="1115568"/>
          </a:xfrm>
          <a:prstGeom prst="rect">
            <a:avLst/>
          </a:prstGeom>
          <a:solidFill>
            <a:srgbClr val="F9E0DD"/>
          </a:solidFill>
          <a:ln w="12700">
            <a:solidFill>
              <a:srgbClr val="F9E0DD"/>
            </a:solidFill>
            <a:prstDash val="solid"/>
          </a:ln>
        </p:spPr>
      </p:sp>
      <p:sp>
        <p:nvSpPr>
          <p:cNvPr id="20" name="Text 18"/>
          <p:cNvSpPr txBox="1"/>
          <p:nvPr/>
        </p:nvSpPr>
        <p:spPr>
          <a:xfrm>
            <a:off x="585216" y="3831336"/>
            <a:ext cx="1102126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one place it does NOT say no loudly — and it is the one that cost a real run</a:t>
            </a:r>
            <a:endParaRPr lang="en-US" sz="1300" dirty="0"/>
          </a:p>
        </p:txBody>
      </p:sp>
      <p:sp>
        <p:nvSpPr>
          <p:cNvPr id="21" name="Text 19"/>
          <p:cNvSpPr txBox="1"/>
          <p:nvPr/>
        </p:nvSpPr>
        <p:spPr>
          <a:xfrm>
            <a:off x="585216" y="4142232"/>
            <a:ext cx="11021263" cy="640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Cost-model figures sat 6–69× over measurement, so gate 5 summed past the cap and the policy quietly truncated `boltz_predict` off the end of the chain. The campaign ran. It just could not produce the objective it was launched for.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It warns now — `_objectives_without_a_producer` — and a warning is not a gate. If you take one thing from this slide: a refusal you can read is a feature, and the dangerous refusals are the ones phrased as a smaller plan.</a:t>
            </a:r>
            <a:endParaRPr lang="en-US" sz="1050" dirty="0"/>
          </a:p>
        </p:txBody>
      </p:sp>
      <p:sp>
        <p:nvSpPr>
          <p:cNvPr id="22" name="Shape 20"/>
          <p:cNvSpPr/>
          <p:nvPr/>
        </p:nvSpPr>
        <p:spPr>
          <a:xfrm>
            <a:off x="457200" y="5120640"/>
            <a:ext cx="11277295" cy="713232"/>
          </a:xfrm>
          <a:prstGeom prst="rect">
            <a:avLst/>
          </a:prstGeom>
          <a:solidFill>
            <a:srgbClr val="16222B"/>
          </a:solidFill>
          <a:ln w="12700">
            <a:solidFill>
              <a:srgbClr val="16222B"/>
            </a:solidFill>
            <a:prstDash val="solid"/>
          </a:ln>
        </p:spPr>
      </p:sp>
      <p:sp>
        <p:nvSpPr>
          <p:cNvPr id="23" name="Text 21"/>
          <p:cNvSpPr txBox="1"/>
          <p:nvPr/>
        </p:nvSpPr>
        <p:spPr>
          <a:xfrm>
            <a:off x="557784" y="5212080"/>
            <a:ext cx="11076127" cy="530352"/>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interlock  provisional pattern capped at 10% of available cpu_hours (1.500 &gt; 1.200)</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transient=true  →  policy recomposed at 2 lineages, admitted</a:t>
            </a:r>
            <a:endParaRPr lang="en-US" sz="1040" dirty="0"/>
          </a:p>
        </p:txBody>
      </p:sp>
      <p:sp>
        <p:nvSpPr>
          <p:cNvPr id="24" name="Text 22"/>
          <p:cNvSpPr txBox="1"/>
          <p:nvPr/>
        </p:nvSpPr>
        <p:spPr>
          <a:xfrm>
            <a:off x="457200" y="5852160"/>
            <a:ext cx="1127729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runtime/executor.py:391 · run.json mock.refusals[0] · MINED</a:t>
            </a:r>
            <a:endParaRPr lang="en-US" sz="85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dangerous refusal is the one phrased as a smaller plan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 · EVIDENCE FROM OUTSIDE THIS PACKAGE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Next door, a model drove the real toolkit for four hours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7315200" cy="914400"/>
        </p:xfrm>
        <a:graphic>
          <a:graphicData uri="http://schemas.openxmlformats.org/drawingml/2006/table">
            <a:tbl>
              <a:tblPr/>
              <a:tblGrid>
                <a:gridCol w="3154680"/>
                <a:gridCol w="1920240"/>
                <a:gridCol w="2240280"/>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4 h, 1 node, 4 pipelines, same inputs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state machine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an LLM, calling 8 tools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who decided what ran next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adaptive_decision()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claude-sonnet-5-5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rfd3 per pipeline-hour</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16.2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distinct passing designs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176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GPU-hours per passing design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0.302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0.083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backbones that yielded a fold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21%</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74%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fastrelax pass rate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mpnn tasks spent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858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model cost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$25.40 ($0.14/design)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8001000" y="1481328"/>
            <a:ext cx="3730752" cy="2194560"/>
          </a:xfrm>
          <a:prstGeom prst="rect">
            <a:avLst/>
          </a:prstGeom>
          <a:solidFill>
            <a:srgbClr val="E9EDF7"/>
          </a:solidFill>
          <a:ln w="12700">
            <a:solidFill>
              <a:srgbClr val="E9EDF7"/>
            </a:solidFill>
            <a:prstDash val="solid"/>
          </a:ln>
        </p:spPr>
      </p:sp>
      <p:sp>
        <p:nvSpPr>
          <p:cNvPr id="6" name="Text 3"/>
          <p:cNvSpPr txBox="1"/>
          <p:nvPr/>
        </p:nvSpPr>
        <p:spPr>
          <a:xfrm>
            <a:off x="8129016" y="1563624"/>
            <a:ext cx="347472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it did unprompted</a:t>
            </a:r>
            <a:endParaRPr lang="en-US" sz="1300" dirty="0"/>
          </a:p>
        </p:txBody>
      </p:sp>
      <p:sp>
        <p:nvSpPr>
          <p:cNvPr id="7" name="Text 4"/>
          <p:cNvSpPr txBox="1"/>
          <p:nvPr/>
        </p:nvSpPr>
        <p:spPr>
          <a:xfrm>
            <a:off x="8129016" y="1874520"/>
            <a:ext cx="3474720" cy="17190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3 of 4 pipelines called finish deliberately, with an accurate account of what they had produced.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one pipeline diagnosed the fa_rep relax bottleneck unprompted — a bottleneck that was already an open backlog item next door.</a:t>
            </a:r>
            <a:endParaRPr lang="en-US" sz="1050" dirty="0"/>
          </a:p>
        </p:txBody>
      </p:sp>
      <p:sp>
        <p:nvSpPr>
          <p:cNvPr id="8" name="Shape 5"/>
          <p:cNvSpPr/>
          <p:nvPr/>
        </p:nvSpPr>
        <p:spPr>
          <a:xfrm>
            <a:off x="8001000" y="3767328"/>
            <a:ext cx="3730752" cy="1371600"/>
          </a:xfrm>
          <a:prstGeom prst="rect">
            <a:avLst/>
          </a:prstGeom>
          <a:solidFill>
            <a:srgbClr val="EEF2F5"/>
          </a:solidFill>
          <a:ln w="12700">
            <a:solidFill>
              <a:srgbClr val="EEF2F5"/>
            </a:solidFill>
            <a:prstDash val="solid"/>
          </a:ln>
        </p:spPr>
      </p:sp>
      <p:sp>
        <p:nvSpPr>
          <p:cNvPr id="9" name="Text 6"/>
          <p:cNvSpPr txBox="1"/>
          <p:nvPr/>
        </p:nvSpPr>
        <p:spPr>
          <a:xfrm>
            <a:off x="8129016" y="3849624"/>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it did badly</a:t>
            </a:r>
            <a:endParaRPr lang="en-US" sz="1300" dirty="0"/>
          </a:p>
        </p:txBody>
      </p:sp>
      <p:sp>
        <p:nvSpPr>
          <p:cNvPr id="10" name="Text 7"/>
          <p:cNvSpPr txBox="1"/>
          <p:nvPr/>
        </p:nvSpPr>
        <p:spPr>
          <a:xfrm>
            <a:off x="8129016" y="4160520"/>
            <a:ext cx="347472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score_interface called 13x against 27 relaxes - the cheap CPU gate before an expensive fold is being skipped</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inspect_ensemble called once in 137 turns</a:t>
            </a:r>
            <a:endParaRPr lang="en-US" sz="1000" dirty="0"/>
          </a:p>
        </p:txBody>
      </p:sp>
      <p:sp>
        <p:nvSpPr>
          <p:cNvPr id="11" name="Shape 8"/>
          <p:cNvSpPr/>
          <p:nvPr/>
        </p:nvSpPr>
        <p:spPr>
          <a:xfrm>
            <a:off x="457200" y="4096512"/>
            <a:ext cx="7223760" cy="1243584"/>
          </a:xfrm>
          <a:prstGeom prst="rect">
            <a:avLst/>
          </a:prstGeom>
          <a:solidFill>
            <a:srgbClr val="F9E0DD"/>
          </a:solidFill>
          <a:ln w="19050">
            <a:solidFill>
              <a:srgbClr val="C0392B"/>
            </a:solidFill>
            <a:prstDash val="solid"/>
          </a:ln>
        </p:spPr>
      </p:sp>
      <p:sp>
        <p:nvSpPr>
          <p:cNvPr id="12" name="Text 9"/>
          <p:cNvSpPr txBox="1"/>
          <p:nvPr/>
        </p:nvSpPr>
        <p:spPr>
          <a:xfrm>
            <a:off x="585216" y="4160520"/>
            <a:ext cx="6967728" cy="1133856"/>
          </a:xfrm>
          <a:prstGeom prst="rect">
            <a:avLst/>
          </a:prstGeom>
          <a:noFill/>
          <a:ln/>
        </p:spPr>
        <p:txBody>
          <a:bodyPr wrap="square" lIns="0" tIns="0" rIns="0" bIns="0" rtlCol="0" anchor="t"/>
          <a:lstStyle/>
          <a:p>
            <a:pPr indent="0" marL="0">
              <a:buNone/>
            </a:pPr>
            <a:r>
              <a:rPr lang="en-US" sz="860" b="1" dirty="0">
                <a:solidFill>
                  <a:srgbClr val="C0392B"/>
                </a:solidFill>
                <a:latin typeface="Calibri" pitchFamily="34" charset="0"/>
                <a:ea typeface="Calibri" pitchFamily="34" charset="-122"/>
                <a:cs typeface="Calibri" pitchFamily="34" charset="-120"/>
              </a:rPr>
              <a:t>Two caveats, load-bearing — and both got WORSE with the 2026-10-26 analysis.  </a:t>
            </a:r>
            <a:pPr indent="0" marL="0">
              <a:buNone/>
            </a:pPr>
            <a:r>
              <a:rPr lang="en-US" sz="860" dirty="0">
                <a:solidFill>
                  <a:srgbClr val="22303C"/>
                </a:solidFill>
                <a:latin typeface="Calibri" pitchFamily="34" charset="0"/>
                <a:ea typeface="Calibri" pitchFamily="34" charset="-122"/>
                <a:cs typeface="Calibri" pitchFamily="34" charset="-120"/>
              </a:rPr>
              <a:t>The weak baseline is now MEASURED, not suspected: with the decision layer held fixed at adaptive_decision(), the reference pipeline's own fastrelax pass rate fell 63.6% -&gt; 49.4% between 22701168 and this run, and only 1.3 of those 14.2 points is explained by binder length. Do not quote the 3.3x.  And the fastrelax gap is no longer the decision layer's to claim: the agentic HARNESS pack-minimises before relaxing and the reference harness never does (0 of 5,002 decoys across 14 runs) - including the scripted route at 48 of 48, which has no model in it. It is a confound between the two examples.</a:t>
            </a:r>
            <a:endParaRPr lang="en-US" sz="860" dirty="0"/>
          </a:p>
        </p:txBody>
      </p:sp>
      <p:sp>
        <p:nvSpPr>
          <p:cNvPr id="13" name="Text 10"/>
          <p:cNvSpPr txBox="1"/>
          <p:nvPr/>
        </p:nvSpPr>
        <p:spPr>
          <a:xfrm>
            <a:off x="457200" y="5431536"/>
            <a:ext cx="11277295" cy="64008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Both arms ran the full four hours with zero task failures. </a:t>
            </a:r>
            <a:pPr indent="0" marL="0">
              <a:buNone/>
            </a:pPr>
            <a:r>
              <a:rPr lang="en-US" sz="1100" dirty="0">
                <a:solidFill>
                  <a:srgbClr val="22303C"/>
                </a:solidFill>
                <a:latin typeface="Calibri" pitchFamily="34" charset="0"/>
                <a:ea typeface="Calibri" pitchFamily="34" charset="-122"/>
                <a:cs typeface="Calibri" pitchFamily="34" charset="-120"/>
              </a:rPr>
              <a:t>Throughput is equal, so the round trip costs nothing measurable — the difference is entirely in which work the funnel chose to do, and most of THAT is now the harness rather than the model. This is not IMPRESS-A: no campaign engine, no gates, no interlock, no trust.</a:t>
            </a:r>
            <a:endParaRPr lang="en-US" sz="110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TRANSCRIBED · examples/agentic_small_molecule_binding/CLAUDE.md - transcribed from its revision history; the run outputs live under $WORK_DIR on Delta, not here · the tool list is mined, from examples/agentic_small_molecule_binding/tools.py:35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those four hours say about these surfaces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206240"/>
                <a:gridCol w="7068312"/>
              </a:tblGrid>
              <a:tr h="7315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live runs showed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Which surface answers it — and whether it has been exercised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7315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The round trip is free: 16.2 against 15.5 rfd3 per pipeline-hour</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per experiment is affordable, which is the bet surfaces 3 and 4 are built on. Here it is measured against MOCKS only.</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It skipped the cheap gate before expensive folds, and never looked at its own ensemble</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engine does not rely on the reasoner's discipline: gate 5 and the interlock refuse on cost BEFORE anything runs, and a policy cannot name a tool parameter at all.</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7315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A work dir the container could not see read exactly like a model failure</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Exactly the class `impress-a preflight` exists for — and it would NOT have caught this one: it checks the login node, not what a container binds. An honest gap.</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950" b="1" dirty="0">
                          <a:solidFill>
                            <a:srgbClr val="22303C"/>
                          </a:solidFill>
                          <a:latin typeface="Calibri" pitchFamily="34" charset="0"/>
                          <a:ea typeface="Calibri" pitchFamily="34" charset="-122"/>
                          <a:cs typeface="Calibri" pitchFamily="34" charset="-120"/>
                        </a:rPr>
                        <a:t>The model can live inside the allocation, and it is NOT free: a second billed node plus 27% of the allocation before the first task event (0.243 GPU-h/passing fold, not 0.121)</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That is what model C's endpoint could be, and the startup tax argues for LONG campaigns rather than short ones. Today `--model C` with no caller falls back to model D after 5 s rather than failing — ask 5.</a:t>
                      </a:r>
                      <a:endParaRPr lang="en-US" sz="9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230368"/>
            <a:ext cx="11277295" cy="987552"/>
          </a:xfrm>
          <a:prstGeom prst="rect">
            <a:avLst/>
          </a:prstGeom>
          <a:solidFill>
            <a:srgbClr val="F9E0DD"/>
          </a:solidFill>
          <a:ln w="25400">
            <a:solidFill>
              <a:srgbClr val="C0392B"/>
            </a:solidFill>
            <a:prstDash val="solid"/>
          </a:ln>
        </p:spPr>
      </p:sp>
      <p:sp>
        <p:nvSpPr>
          <p:cNvPr id="6" name="Text 3"/>
          <p:cNvSpPr txBox="1"/>
          <p:nvPr/>
        </p:nvSpPr>
        <p:spPr>
          <a:xfrm>
            <a:off x="603504" y="5321808"/>
            <a:ext cx="10984687" cy="822960"/>
          </a:xfrm>
          <a:prstGeom prst="rect">
            <a:avLst/>
          </a:prstGeom>
          <a:noFill/>
          <a:ln/>
        </p:spPr>
        <p:txBody>
          <a:bodyPr wrap="square" lIns="0" tIns="0" rIns="0" bIns="0" rtlCol="0" anchor="t"/>
          <a:lstStyle/>
          <a:p>
            <a:pPr indent="0" marL="0">
              <a:buNone/>
            </a:pPr>
            <a:r>
              <a:rPr lang="en-US" sz="1150" b="1" dirty="0">
                <a:solidFill>
                  <a:srgbClr val="C0392B"/>
                </a:solidFill>
                <a:latin typeface="Calibri" pitchFamily="34" charset="0"/>
                <a:ea typeface="Calibri" pitchFamily="34" charset="-122"/>
                <a:cs typeface="Calibri" pitchFamily="34" charset="-120"/>
              </a:rPr>
              <a:t>Say this out loud:  </a:t>
            </a:r>
            <a:pPr indent="0" marL="0">
              <a:buNone/>
            </a:pPr>
            <a:r>
              <a:rPr lang="en-US" sz="1150" dirty="0">
                <a:solidFill>
                  <a:srgbClr val="22303C"/>
                </a:solidFill>
                <a:latin typeface="Calibri" pitchFamily="34" charset="0"/>
                <a:ea typeface="Calibri" pitchFamily="34" charset="-122"/>
                <a:cs typeface="Calibri" pitchFamily="34" charset="-120"/>
              </a:rPr>
              <a:t>none of that ran through this package. Different code, no campaign engine, no gates, no trust ledger, one pipeline per GPU. It is evidence that the idea works on this hardware, and it is not evidence that this engine does. The component claim is still empty, and the nearest thing to a user it has is still me.</a:t>
            </a:r>
            <a:endParaRPr lang="en-US" sz="1150" dirty="0"/>
          </a:p>
        </p:txBody>
      </p:sp>
      <p:sp>
        <p:nvSpPr>
          <p:cNvPr id="8" name="Text 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live figures are TRANSCRIBED · examples/agentic_small_molecule_binding/CLAUDE.md - transcribed from its revision history; the run outputs live under $WORK_DIR on Delta, not here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 · THREE RUNS KEPT AS EVIDENCE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200" b="1" dirty="0">
                <a:solidFill>
                  <a:srgbClr val="16222B"/>
                </a:solidFill>
                <a:latin typeface="Cambria" pitchFamily="34" charset="0"/>
                <a:ea typeface="Cambria" pitchFamily="34" charset="-122"/>
                <a:cs typeface="Cambria" pitchFamily="34" charset="-120"/>
              </a:rPr>
              <a:t>How an agentic run fails on a cluster — and what here would catch it</a:t>
            </a:r>
            <a:endParaRPr lang="en-US" sz="2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4552" cy="914400"/>
        </p:xfrm>
        <a:graphic>
          <a:graphicData uri="http://schemas.openxmlformats.org/drawingml/2006/table">
            <a:tbl>
              <a:tblPr/>
              <a:tblGrid>
                <a:gridCol w="2377440"/>
                <a:gridCol w="4572000"/>
                <a:gridCol w="4325112"/>
              </a:tblGrid>
              <a:tr h="8229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The failure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looked</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in IMPRESS-A would catch it</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82296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silent fallback · 23219379</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Four pipelines fell back to the scripted route on turn two and ran the hour without a model. 46 relaxes, 35 passing folds, a transcript that reads entirely healthy.</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NOTHING. Gates check artifacts, not who chose them; a scripted route emits well-formed work that passes every one. There is no degraded flag on a Decision and none in the ledger — ask 5.</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82296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writes that vanished · 23206285</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Every rfd3 write landed in the container's tmpfs overlay and vanished. rfd3 logged success, out/ was empty, and the model correctly concluded its backbones failed.</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Gate 1 (count_matches_request) catches the empty result — as a SCIENCE failure. The interlock then counts it against the pattern's trust, so a broken bind demotes a good workflow shape.</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82296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run that cost nine seconds · 23231485</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The launcher's pre-flight found the model's API key missing in the submitting environment and aborted in 9 s, before claiming the GPUs. No run tree at all.</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`impress-a preflight` — this is exactly the class it exists for, and the only one of the three it covers. Tri-state, and a timeout is never a pass.</a:t>
                      </a:r>
                      <a:endParaRPr lang="en-US" sz="9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457200" y="4919472"/>
            <a:ext cx="11277295" cy="1335024"/>
          </a:xfrm>
          <a:prstGeom prst="rect">
            <a:avLst/>
          </a:prstGeom>
          <a:solidFill>
            <a:srgbClr val="F9E0DD"/>
          </a:solidFill>
          <a:ln w="25400">
            <a:solidFill>
              <a:srgbClr val="C0392B"/>
            </a:solidFill>
            <a:prstDash val="solid"/>
          </a:ln>
        </p:spPr>
      </p:sp>
      <p:sp>
        <p:nvSpPr>
          <p:cNvPr id="6" name="Text 3"/>
          <p:cNvSpPr txBox="1"/>
          <p:nvPr/>
        </p:nvSpPr>
        <p:spPr>
          <a:xfrm>
            <a:off x="603504" y="4992624"/>
            <a:ext cx="10984687" cy="1188720"/>
          </a:xfrm>
          <a:prstGeom prst="rect">
            <a:avLst/>
          </a:prstGeom>
          <a:noFill/>
          <a:ln/>
        </p:spPr>
        <p:txBody>
          <a:bodyPr wrap="square" lIns="0" tIns="0" rIns="0" bIns="0" rtlCol="0" anchor="t"/>
          <a:lstStyle/>
          <a:p>
            <a:pPr indent="0" marL="0">
              <a:buNone/>
            </a:pPr>
            <a:r>
              <a:rPr lang="en-US" sz="1000" b="1" dirty="0">
                <a:solidFill>
                  <a:srgbClr val="C0392B"/>
                </a:solidFill>
                <a:latin typeface="Calibri" pitchFamily="34" charset="0"/>
                <a:ea typeface="Calibri" pitchFamily="34" charset="-122"/>
                <a:cs typeface="Calibri" pitchFamily="34" charset="-120"/>
              </a:rPr>
              <a:t>One of three, and it is the cheap one.  </a:t>
            </a:r>
            <a:pPr indent="0" marL="0">
              <a:buNone/>
            </a:pPr>
            <a:r>
              <a:rPr lang="en-US" sz="1000" dirty="0">
                <a:solidFill>
                  <a:srgbClr val="22303C"/>
                </a:solidFill>
                <a:latin typeface="Calibri" pitchFamily="34" charset="0"/>
                <a:ea typeface="Calibri" pitchFamily="34" charset="-122"/>
                <a:cs typeface="Calibri" pitchFamily="34" charset="-120"/>
              </a:rPr>
              <a:t>of the three, only the third was cheap and only the second was loud. A harness that degrades into a WORKING fallback produces plausible output at full rate, and nothing but an explicit flag distinguishes it. The two detectors that separate it are both outside this package: a degraded-turn count, and prompt tokens repeating the previous turn on 98.6% of turns against 0–5.9% on every healthy arm. </a:t>
            </a:r>
            <a:pPr indent="0" marL="0">
              <a:buNone/>
            </a:pPr>
            <a:r>
              <a:rPr lang="en-US" sz="1000" b="1" dirty="0">
                <a:solidFill>
                  <a:srgbClr val="16222B"/>
                </a:solidFill>
                <a:latin typeface="Calibri" pitchFamily="34" charset="0"/>
                <a:ea typeface="Calibri" pitchFamily="34" charset="-122"/>
                <a:cs typeface="Calibri" pitchFamily="34" charset="-120"/>
              </a:rPr>
              <a:t>IMPRESS-A records which policy ran and every artifact it produced, and nowhere records that the policy stopped being the policy.</a:t>
            </a:r>
            <a:endParaRPr lang="en-US" sz="1000" dirty="0"/>
          </a:p>
        </p:txBody>
      </p:sp>
      <p:sp>
        <p:nvSpPr>
          <p:cNvPr id="8" name="Text 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three runs are TRANSCRIBED, from impress-agentic-performance report.md §14 · the degraded path and the work-dir guard are MINED, from examples/agentic_small_molecule_binding/agentic_pipeline.py:136 and examples/agentic_small_molecule_binding/delta_gpu_run.sh:233</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an application: one command, one honest gate</a:t>
            </a:r>
            <a:endParaRPr lang="en-US" sz="2800" dirty="0"/>
          </a:p>
        </p:txBody>
      </p:sp>
      <p:sp>
        <p:nvSpPr>
          <p:cNvPr id="4" name="Shape 2"/>
          <p:cNvSpPr/>
          <p:nvPr/>
        </p:nvSpPr>
        <p:spPr>
          <a:xfrm>
            <a:off x="457200" y="1371600"/>
            <a:ext cx="6858000" cy="2286000"/>
          </a:xfrm>
          <a:prstGeom prst="rect">
            <a:avLst/>
          </a:prstGeom>
          <a:solidFill>
            <a:srgbClr val="16222B"/>
          </a:solidFill>
          <a:ln w="12700">
            <a:solidFill>
              <a:srgbClr val="16222B"/>
            </a:solidFill>
            <a:prstDash val="solid"/>
          </a:ln>
        </p:spPr>
      </p:sp>
      <p:sp>
        <p:nvSpPr>
          <p:cNvPr id="5" name="Text 3"/>
          <p:cNvSpPr txBox="1"/>
          <p:nvPr/>
        </p:nvSpPr>
        <p:spPr>
          <a:xfrm>
            <a:off x="557784" y="1463040"/>
            <a:ext cx="6656832" cy="21031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impress-a preflight campaigns/delta-small-molecule-smoke.yaml</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preflight</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$WORK_DIR            /work/nvme/&lt;project&gt;/&lt;user&gt;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[FAIL] $MPNN_DIR            no model_params/ - run its get_model_params.sh</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boltz CCD cache      extraction proven complete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[warn] pyrosetta            timed out after 120s - a loaded login node can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take that long to import it; re-run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venv on fast storage /work/nvme/&lt;project&gt;/&lt;user&gt;/venv</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7/9 ok, 1 undetermined (pyrosetta) - missing: $MPNN_DIR</a:t>
            </a:r>
            <a:endParaRPr lang="en-US" sz="950" dirty="0"/>
          </a:p>
        </p:txBody>
      </p:sp>
      <p:sp>
        <p:nvSpPr>
          <p:cNvPr id="6" name="Text 4"/>
          <p:cNvSpPr txBox="1"/>
          <p:nvPr/>
        </p:nvSpPr>
        <p:spPr>
          <a:xfrm>
            <a:off x="457200" y="3675888"/>
            <a:ext cx="68580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cli/__init__.py:252 · ILLUSTRATIVE (shape of real output)</a:t>
            </a:r>
            <a:endParaRPr lang="en-US" sz="850" dirty="0"/>
          </a:p>
        </p:txBody>
      </p:sp>
      <p:sp>
        <p:nvSpPr>
          <p:cNvPr id="7" name="Shape 5"/>
          <p:cNvSpPr/>
          <p:nvPr/>
        </p:nvSpPr>
        <p:spPr>
          <a:xfrm>
            <a:off x="7543800" y="1371600"/>
            <a:ext cx="4187952" cy="2286000"/>
          </a:xfrm>
          <a:prstGeom prst="rect">
            <a:avLst/>
          </a:prstGeom>
          <a:solidFill>
            <a:srgbClr val="E4F1EA"/>
          </a:solidFill>
          <a:ln w="12700">
            <a:solidFill>
              <a:srgbClr val="E4F1EA"/>
            </a:solidFill>
            <a:prstDash val="solid"/>
          </a:ln>
        </p:spPr>
      </p:sp>
      <p:sp>
        <p:nvSpPr>
          <p:cNvPr id="8" name="Text 6"/>
          <p:cNvSpPr txBox="1"/>
          <p:nvPr/>
        </p:nvSpPr>
        <p:spPr>
          <a:xfrm>
            <a:off x="7671816" y="1453896"/>
            <a:ext cx="39319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the third state exists</a:t>
            </a:r>
            <a:endParaRPr lang="en-US" sz="1300" dirty="0"/>
          </a:p>
        </p:txBody>
      </p:sp>
      <p:sp>
        <p:nvSpPr>
          <p:cNvPr id="9" name="Text 7"/>
          <p:cNvSpPr txBox="1"/>
          <p:nvPr/>
        </p:nvSpPr>
        <p:spPr>
          <a:xfrm>
            <a:off x="7671816" y="1764792"/>
            <a:ext cx="3931920" cy="1810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real adapter raises on a missing env var — but only once a task is RUNNING, which on HPC means inside the allocation, after the queue wait.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`ok` is tri-state: None means UNDETERMINED, not failed. A probe that shells out to import a heavy science stack can take minutes on a busy login node, and reporting that as FAIL trains the reader to ignore the FAIL column.</a:t>
            </a:r>
            <a:endParaRPr lang="en-US" sz="1050" dirty="0"/>
          </a:p>
        </p:txBody>
      </p:sp>
      <p:sp>
        <p:nvSpPr>
          <p:cNvPr id="10" name="Shape 8"/>
          <p:cNvSpPr/>
          <p:nvPr/>
        </p:nvSpPr>
        <p:spPr>
          <a:xfrm>
            <a:off x="457200" y="3840480"/>
            <a:ext cx="5577840" cy="1188720"/>
          </a:xfrm>
          <a:prstGeom prst="rect">
            <a:avLst/>
          </a:prstGeom>
          <a:solidFill>
            <a:srgbClr val="EEF2F5"/>
          </a:solidFill>
          <a:ln w="12700">
            <a:solidFill>
              <a:srgbClr val="EEF2F5"/>
            </a:solidFill>
            <a:prstDash val="solid"/>
          </a:ln>
        </p:spPr>
      </p:sp>
      <p:sp>
        <p:nvSpPr>
          <p:cNvPr id="11" name="Text 9"/>
          <p:cNvSpPr txBox="1"/>
          <p:nvPr/>
        </p:nvSpPr>
        <p:spPr>
          <a:xfrm>
            <a:off x="585216"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must not erode</a:t>
            </a:r>
            <a:endParaRPr lang="en-US" sz="1300" dirty="0"/>
          </a:p>
        </p:txBody>
      </p:sp>
      <p:sp>
        <p:nvSpPr>
          <p:cNvPr id="12" name="Text 10"/>
          <p:cNvSpPr txBox="1"/>
          <p:nvPr/>
        </p:nvSpPr>
        <p:spPr>
          <a:xfrm>
            <a:off x="585216"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None is ONLY for a probe that produced no answer. A deterministic negative is always False: a missing `$MPNN_DIR` is a FAIL forever; a pyrosetta *import error* is a FAIL, a pyrosetta *timeout* is undetermined.</a:t>
            </a:r>
            <a:endParaRPr lang="en-US" sz="1050" dirty="0"/>
          </a:p>
        </p:txBody>
      </p:sp>
      <p:sp>
        <p:nvSpPr>
          <p:cNvPr id="13" name="Shape 11"/>
          <p:cNvSpPr/>
          <p:nvPr/>
        </p:nvSpPr>
        <p:spPr>
          <a:xfrm>
            <a:off x="6245352" y="3840480"/>
            <a:ext cx="5577840" cy="1188720"/>
          </a:xfrm>
          <a:prstGeom prst="rect">
            <a:avLst/>
          </a:prstGeom>
          <a:solidFill>
            <a:srgbClr val="EEF2F5"/>
          </a:solidFill>
          <a:ln w="12700">
            <a:solidFill>
              <a:srgbClr val="EEF2F5"/>
            </a:solidFill>
            <a:prstDash val="solid"/>
          </a:ln>
        </p:spPr>
      </p:sp>
      <p:sp>
        <p:nvSpPr>
          <p:cNvPr id="14" name="Text 12"/>
          <p:cNvSpPr txBox="1"/>
          <p:nvPr/>
        </p:nvSpPr>
        <p:spPr>
          <a:xfrm>
            <a:off x="6373368"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it caught that nothing else would</a:t>
            </a:r>
            <a:endParaRPr lang="en-US" sz="1300" dirty="0"/>
          </a:p>
        </p:txBody>
      </p:sp>
      <p:sp>
        <p:nvSpPr>
          <p:cNvPr id="15" name="Text 13"/>
          <p:cNvSpPr txBox="1"/>
          <p:nvPr/>
        </p:nvSpPr>
        <p:spPr>
          <a:xfrm>
            <a:off x="6373368"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venv on HDD rather than NVMe — which works perfectly, about 8x slower, and lands as an unexplained task timeout inside an allocation.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`ml_collections`, which only LigandMPNN's bundled openfold imports.</a:t>
            </a:r>
            <a:endParaRPr lang="en-US" sz="1050" dirty="0"/>
          </a:p>
        </p:txBody>
      </p:sp>
      <p:sp>
        <p:nvSpPr>
          <p:cNvPr id="16" name="Shape 14"/>
          <p:cNvSpPr/>
          <p:nvPr/>
        </p:nvSpPr>
        <p:spPr>
          <a:xfrm>
            <a:off x="457200" y="5166360"/>
            <a:ext cx="11277295" cy="914400"/>
          </a:xfrm>
          <a:prstGeom prst="roundRect">
            <a:avLst>
              <a:gd name="adj" fmla="val 8000"/>
            </a:avLst>
          </a:prstGeom>
          <a:solidFill>
            <a:srgbClr val="E3F0F1"/>
          </a:solidFill>
          <a:ln w="19050">
            <a:solidFill>
              <a:srgbClr val="1E6470"/>
            </a:solidFill>
            <a:prstDash val="solid"/>
          </a:ln>
        </p:spPr>
      </p:sp>
      <p:sp>
        <p:nvSpPr>
          <p:cNvPr id="17" name="Text 15"/>
          <p:cNvSpPr txBox="1"/>
          <p:nvPr/>
        </p:nvSpPr>
        <p:spPr>
          <a:xfrm>
            <a:off x="530352" y="5212080"/>
            <a:ext cx="11130991" cy="82296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Each job writes one self-contained directory: manifest.json (job id, campaign, model, git sha + dirty), slurm.out, campaign.log, provenance/*.jsonl, jobs/ledger.jsonl</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 run you can hand to someone else, including whether the checkout was dirty when it started</a:t>
            </a:r>
            <a:endParaRPr lang="en-US" sz="1400" dirty="0"/>
          </a:p>
        </p:txBody>
      </p:sp>
      <p:sp>
        <p:nvSpPr>
          <p:cNvPr id="19" name="Text 1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output above is the shape of real preflight output, with paths replaced by placeholders — see CODE_FOR_DECK.md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5: one protocol, two transports</a:t>
            </a:r>
            <a:endParaRPr 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046720" cy="914400"/>
        </p:xfrm>
        <a:graphic>
          <a:graphicData uri="http://schemas.openxmlformats.org/drawingml/2006/table">
            <a:tbl>
              <a:tblPr/>
              <a:tblGrid>
                <a:gridCol w="3017520"/>
                <a:gridCol w="502920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Semantics that are NOT the transport's invention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/campaigns/&lt;c&gt;/runs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202 with a run id, or 409 with the ValidationFailure that refused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…/runs/&lt;r&gt;/result?wait=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200 outcome · 204 ask again · 410 the campaign ended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…/observe?since=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the same CampaignObservation a policy's decide() receives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…/events?stream=1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cursor-paged page, or a live tail of the same sequence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…/measurements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P8 arrival, accepted even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457200" y="3931920"/>
            <a:ext cx="8046720" cy="1097280"/>
          </a:xfrm>
          <a:prstGeom prst="rect">
            <a:avLst/>
          </a:prstGeom>
          <a:solidFill>
            <a:srgbClr val="E3F0F1"/>
          </a:solidFill>
          <a:ln w="12700">
            <a:solidFill>
              <a:srgbClr val="E3F0F1"/>
            </a:solidFill>
            <a:prstDash val="solid"/>
          </a:ln>
        </p:spPr>
      </p:sp>
      <p:sp>
        <p:nvSpPr>
          <p:cNvPr id="6" name="Text 3"/>
          <p:cNvSpPr txBox="1"/>
          <p:nvPr/>
        </p:nvSpPr>
        <p:spPr>
          <a:xfrm>
            <a:off x="585216" y="4014216"/>
            <a:ext cx="77906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Why admission is synchronous and waiting is a long poll</a:t>
            </a:r>
            <a:endParaRPr lang="en-US" sz="1300" dirty="0"/>
          </a:p>
        </p:txBody>
      </p:sp>
      <p:sp>
        <p:nvSpPr>
          <p:cNvPr id="7" name="Text 4"/>
          <p:cNvSpPr txBox="1"/>
          <p:nvPr/>
        </p:nvSpPr>
        <p:spPr>
          <a:xfrm>
            <a:off x="585216" y="4325112"/>
            <a:ext cx="7790688"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Accepting everything and reporting rejections later on the event stream would sever a rejection from the request that caused it, leaving nothing to bound retries against.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a socket cannot be held open for a twelve-hour folding job, so the deadline is the transport's problem (MAX_WAIT_S = 60) and re-issuing is the client's — neither is visible to the reasoner, which just calls result() and blocks.</a:t>
            </a:r>
            <a:endParaRPr lang="en-US" sz="1050" dirty="0"/>
          </a:p>
        </p:txBody>
      </p:sp>
      <p:sp>
        <p:nvSpPr>
          <p:cNvPr id="8" name="Shape 5"/>
          <p:cNvSpPr/>
          <p:nvPr/>
        </p:nvSpPr>
        <p:spPr>
          <a:xfrm>
            <a:off x="457200" y="5166360"/>
            <a:ext cx="8046720" cy="914400"/>
          </a:xfrm>
          <a:prstGeom prst="rect">
            <a:avLst/>
          </a:prstGeom>
          <a:solidFill>
            <a:srgbClr val="EEF2F5"/>
          </a:solidFill>
          <a:ln w="12700">
            <a:solidFill>
              <a:srgbClr val="EEF2F5"/>
            </a:solidFill>
            <a:prstDash val="solid"/>
          </a:ln>
        </p:spPr>
      </p:sp>
      <p:sp>
        <p:nvSpPr>
          <p:cNvPr id="9" name="Text 6"/>
          <p:cNvSpPr txBox="1"/>
          <p:nvPr/>
        </p:nvSpPr>
        <p:spPr>
          <a:xfrm>
            <a:off x="585216" y="5248656"/>
            <a:ext cx="77906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keeps two transports from becoming two systems</a:t>
            </a:r>
            <a:endParaRPr lang="en-US" sz="1300" dirty="0"/>
          </a:p>
        </p:txBody>
      </p:sp>
      <p:sp>
        <p:nvSpPr>
          <p:cNvPr id="10" name="Text 7"/>
          <p:cNvSpPr txBox="1"/>
          <p:nvPr/>
        </p:nvSpPr>
        <p:spPr>
          <a:xfrm>
            <a:off x="585216" y="5559552"/>
            <a:ext cx="7790688" cy="4389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adapter may add an operation absent from the core protocol (ADR 0007). 19 operations, 15 route heads, and the routes are a mechanical rendering of the Protocol — which is why run_model.py counts both and prints them side by side.</a:t>
            </a:r>
            <a:endParaRPr lang="en-US" sz="1050" dirty="0"/>
          </a:p>
        </p:txBody>
      </p:sp>
      <p:sp>
        <p:nvSpPr>
          <p:cNvPr id="11" name="Shape 8"/>
          <p:cNvSpPr/>
          <p:nvPr/>
        </p:nvSpPr>
        <p:spPr>
          <a:xfrm>
            <a:off x="8732520" y="1371600"/>
            <a:ext cx="2999232" cy="1371600"/>
          </a:xfrm>
          <a:prstGeom prst="roundRect">
            <a:avLst>
              <a:gd name="adj" fmla="val 5333"/>
            </a:avLst>
          </a:prstGeom>
          <a:solidFill>
            <a:srgbClr val="E9EDF7"/>
          </a:solidFill>
          <a:ln w="19050">
            <a:solidFill>
              <a:srgbClr val="3B4E8C"/>
            </a:solidFill>
            <a:prstDash val="solid"/>
          </a:ln>
        </p:spPr>
      </p:sp>
      <p:sp>
        <p:nvSpPr>
          <p:cNvPr id="12" name="Text 9"/>
          <p:cNvSpPr txBox="1"/>
          <p:nvPr/>
        </p:nvSpPr>
        <p:spPr>
          <a:xfrm>
            <a:off x="8805672" y="1417320"/>
            <a:ext cx="2852928" cy="1280160"/>
          </a:xfrm>
          <a:prstGeom prst="rect">
            <a:avLst/>
          </a:prstGeom>
          <a:noFill/>
          <a:ln/>
        </p:spPr>
        <p:txBody>
          <a:bodyPr wrap="square" lIns="0" tIns="0" rIns="0" bIns="0" rtlCol="0" anchor="ctr"/>
          <a:lstStyle/>
          <a:p>
            <a:pPr algn="ctr" indent="0" marL="0">
              <a:buNone/>
            </a:pPr>
            <a:r>
              <a:rPr lang="en-US" sz="1250" b="1" dirty="0">
                <a:solidFill>
                  <a:srgbClr val="3B4E8C"/>
                </a:solidFill>
                <a:latin typeface="Calibri" pitchFamily="34" charset="0"/>
                <a:ea typeface="Calibri" pitchFamily="34" charset="-122"/>
                <a:cs typeface="Calibri" pitchFamily="34" charset="-120"/>
              </a:rPr>
              <a:t>RemoteSession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implements the reasoner's OWN protocol over the plane — so SequentialPolicyDriver runs unmodified against a socket</a:t>
            </a:r>
            <a:endParaRPr lang="en-US" sz="1400" dirty="0"/>
          </a:p>
        </p:txBody>
      </p:sp>
      <p:sp>
        <p:nvSpPr>
          <p:cNvPr id="13" name="Shape 10"/>
          <p:cNvSpPr/>
          <p:nvPr/>
        </p:nvSpPr>
        <p:spPr>
          <a:xfrm>
            <a:off x="8732520" y="2880360"/>
            <a:ext cx="2999232" cy="1371600"/>
          </a:xfrm>
          <a:prstGeom prst="roundRect">
            <a:avLst>
              <a:gd name="adj" fmla="val 5333"/>
            </a:avLst>
          </a:prstGeom>
          <a:solidFill>
            <a:srgbClr val="EEF2F5"/>
          </a:solidFill>
          <a:ln w="19050">
            <a:solidFill>
              <a:srgbClr val="C9D1D8"/>
            </a:solidFill>
            <a:prstDash val="solid"/>
          </a:ln>
        </p:spPr>
      </p:sp>
      <p:sp>
        <p:nvSpPr>
          <p:cNvPr id="14" name="Text 11"/>
          <p:cNvSpPr txBox="1"/>
          <p:nvPr/>
        </p:nvSpPr>
        <p:spPr>
          <a:xfrm>
            <a:off x="8805672" y="2926080"/>
            <a:ext cx="2852928" cy="128016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Built on asyncio.start_server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framework. A small fixed dialect, on loopback, for one trusted client</a:t>
            </a:r>
            <a:endParaRPr lang="en-US" sz="1400" dirty="0"/>
          </a:p>
        </p:txBody>
      </p:sp>
      <p:sp>
        <p:nvSpPr>
          <p:cNvPr id="15" name="Shape 12"/>
          <p:cNvSpPr/>
          <p:nvPr/>
        </p:nvSpPr>
        <p:spPr>
          <a:xfrm>
            <a:off x="8732520" y="4389120"/>
            <a:ext cx="2999232" cy="1691640"/>
          </a:xfrm>
          <a:prstGeom prst="roundRect">
            <a:avLst>
              <a:gd name="adj" fmla="val 4324"/>
            </a:avLst>
          </a:prstGeom>
          <a:solidFill>
            <a:srgbClr val="F9E0DD"/>
          </a:solidFill>
          <a:ln w="19050">
            <a:solidFill>
              <a:srgbClr val="C0392B"/>
            </a:solidFill>
            <a:prstDash val="sysDot"/>
          </a:ln>
        </p:spPr>
      </p:sp>
      <p:sp>
        <p:nvSpPr>
          <p:cNvPr id="16" name="Text 13"/>
          <p:cNvSpPr txBox="1"/>
          <p:nvPr/>
        </p:nvSpPr>
        <p:spPr>
          <a:xfrm>
            <a:off x="8805672" y="4434840"/>
            <a:ext cx="2852928" cy="1600200"/>
          </a:xfrm>
          <a:prstGeom prst="rect">
            <a:avLst/>
          </a:prstGeom>
          <a:noFill/>
          <a:ln/>
        </p:spPr>
        <p:txBody>
          <a:bodyPr wrap="square" lIns="0" tIns="0" rIns="0" bIns="0"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NOT public-facing</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auth, no TLS, one body-size limit. The module says so in its own docstring; bind it to localhost or a private interface only</a:t>
            </a:r>
            <a:endParaRPr lang="en-US" sz="1400" dirty="0"/>
          </a:p>
        </p:txBody>
      </p:sp>
      <p:sp>
        <p:nvSpPr>
          <p:cNvPr id="18" name="Text 1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control/plane.py:23 is the protocol · control/http.py:183 is the whole route table · control/session.py:48 is RemoteSession</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Why the surfaces stay separate: an allow-list in a test</a:t>
            </a:r>
            <a:endParaRPr lang="en-US" sz="2800" dirty="0"/>
          </a:p>
        </p:txBody>
      </p:sp>
      <p:sp>
        <p:nvSpPr>
          <p:cNvPr id="4" name="Shape 2"/>
          <p:cNvSpPr/>
          <p:nvPr/>
        </p:nvSpPr>
        <p:spPr>
          <a:xfrm>
            <a:off x="457200" y="1371600"/>
            <a:ext cx="1234440" cy="402336"/>
          </a:xfrm>
          <a:prstGeom prst="rect">
            <a:avLst/>
          </a:prstGeom>
          <a:solidFill>
            <a:srgbClr val="5E6B75"/>
          </a:solidFill>
          <a:ln w="12700">
            <a:solidFill>
              <a:srgbClr val="5E6B75"/>
            </a:solidFill>
            <a:prstDash val="solid"/>
          </a:ln>
        </p:spPr>
      </p:sp>
      <p:sp>
        <p:nvSpPr>
          <p:cNvPr id="5" name="Text 3"/>
          <p:cNvSpPr txBox="1"/>
          <p:nvPr/>
        </p:nvSpPr>
        <p:spPr>
          <a:xfrm>
            <a:off x="457200" y="1371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core</a:t>
            </a:r>
            <a:endParaRPr lang="en-US" sz="1000" dirty="0"/>
          </a:p>
        </p:txBody>
      </p:sp>
      <p:sp>
        <p:nvSpPr>
          <p:cNvPr id="6" name="Shape 4"/>
          <p:cNvSpPr/>
          <p:nvPr/>
        </p:nvSpPr>
        <p:spPr>
          <a:xfrm>
            <a:off x="1737360" y="1371600"/>
            <a:ext cx="4069080" cy="402336"/>
          </a:xfrm>
          <a:prstGeom prst="rect">
            <a:avLst/>
          </a:prstGeom>
          <a:solidFill>
            <a:srgbClr val="EEF2F5"/>
          </a:solidFill>
          <a:ln w="12700">
            <a:solidFill>
              <a:srgbClr val="C9D1D8"/>
            </a:solidFill>
            <a:prstDash val="solid"/>
          </a:ln>
        </p:spPr>
      </p:sp>
      <p:sp>
        <p:nvSpPr>
          <p:cNvPr id="7" name="Text 5"/>
          <p:cNvSpPr txBox="1"/>
          <p:nvPr/>
        </p:nvSpPr>
        <p:spPr>
          <a:xfrm>
            <a:off x="1847088" y="1371600"/>
            <a:ext cx="3840480" cy="402336"/>
          </a:xfrm>
          <a:prstGeom prst="rect">
            <a:avLst/>
          </a:prstGeom>
          <a:noFill/>
          <a:ln/>
        </p:spPr>
        <p:txBody>
          <a:bodyPr wrap="square" lIns="0" tIns="0" rIns="0" bIns="0" rtlCol="0" anchor="ctr"/>
          <a:lstStyle/>
          <a:p>
            <a:pPr indent="0" marL="0">
              <a:buNone/>
            </a:pPr>
            <a:r>
              <a:rPr lang="en-US" sz="900" b="1" dirty="0">
                <a:solidFill>
                  <a:srgbClr val="2E7D4F"/>
                </a:solidFill>
                <a:latin typeface="Consolas" pitchFamily="34" charset="0"/>
                <a:ea typeface="Consolas" pitchFamily="34" charset="-122"/>
                <a:cs typeface="Consolas" pitchFamily="34" charset="-120"/>
              </a:rPr>
              <a:t>imports NOTHING internal</a:t>
            </a:r>
            <a:endParaRPr lang="en-US" sz="900" dirty="0"/>
          </a:p>
        </p:txBody>
      </p:sp>
      <p:sp>
        <p:nvSpPr>
          <p:cNvPr id="8" name="Text 6"/>
          <p:cNvSpPr txBox="1"/>
          <p:nvPr/>
        </p:nvSpPr>
        <p:spPr>
          <a:xfrm>
            <a:off x="5870448" y="13716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everything</a:t>
            </a:r>
            <a:endParaRPr lang="en-US" sz="950" dirty="0"/>
          </a:p>
        </p:txBody>
      </p:sp>
      <p:sp>
        <p:nvSpPr>
          <p:cNvPr id="9" name="Shape 7"/>
          <p:cNvSpPr/>
          <p:nvPr/>
        </p:nvSpPr>
        <p:spPr>
          <a:xfrm>
            <a:off x="457200" y="1828800"/>
            <a:ext cx="1234440" cy="402336"/>
          </a:xfrm>
          <a:prstGeom prst="rect">
            <a:avLst/>
          </a:prstGeom>
          <a:solidFill>
            <a:srgbClr val="3B4E8C"/>
          </a:solidFill>
          <a:ln w="12700">
            <a:solidFill>
              <a:srgbClr val="3B4E8C"/>
            </a:solidFill>
            <a:prstDash val="solid"/>
          </a:ln>
        </p:spPr>
      </p:sp>
      <p:sp>
        <p:nvSpPr>
          <p:cNvPr id="10" name="Text 8"/>
          <p:cNvSpPr txBox="1"/>
          <p:nvPr/>
        </p:nvSpPr>
        <p:spPr>
          <a:xfrm>
            <a:off x="457200" y="1828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policy</a:t>
            </a:r>
            <a:endParaRPr lang="en-US" sz="1000" dirty="0"/>
          </a:p>
        </p:txBody>
      </p:sp>
      <p:sp>
        <p:nvSpPr>
          <p:cNvPr id="11" name="Shape 9"/>
          <p:cNvSpPr/>
          <p:nvPr/>
        </p:nvSpPr>
        <p:spPr>
          <a:xfrm>
            <a:off x="1737360" y="1828800"/>
            <a:ext cx="4069080" cy="402336"/>
          </a:xfrm>
          <a:prstGeom prst="rect">
            <a:avLst/>
          </a:prstGeom>
          <a:solidFill>
            <a:srgbClr val="FFFFFF"/>
          </a:solidFill>
          <a:ln w="12700">
            <a:solidFill>
              <a:srgbClr val="C9D1D8"/>
            </a:solidFill>
            <a:prstDash val="solid"/>
          </a:ln>
        </p:spPr>
      </p:sp>
      <p:sp>
        <p:nvSpPr>
          <p:cNvPr id="12" name="Text 10"/>
          <p:cNvSpPr txBox="1"/>
          <p:nvPr/>
        </p:nvSpPr>
        <p:spPr>
          <a:xfrm>
            <a:off x="1847088" y="1828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a:t>
            </a:r>
            <a:endParaRPr lang="en-US" sz="900" dirty="0"/>
          </a:p>
        </p:txBody>
      </p:sp>
      <p:sp>
        <p:nvSpPr>
          <p:cNvPr id="13" name="Text 11"/>
          <p:cNvSpPr txBox="1"/>
          <p:nvPr/>
        </p:nvSpPr>
        <p:spPr>
          <a:xfrm>
            <a:off x="5870448" y="18288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tools · exec · runtime</a:t>
            </a:r>
            <a:endParaRPr lang="en-US" sz="950" dirty="0"/>
          </a:p>
        </p:txBody>
      </p:sp>
      <p:sp>
        <p:nvSpPr>
          <p:cNvPr id="14" name="Shape 12"/>
          <p:cNvSpPr/>
          <p:nvPr/>
        </p:nvSpPr>
        <p:spPr>
          <a:xfrm>
            <a:off x="457200" y="2286000"/>
            <a:ext cx="1234440" cy="402336"/>
          </a:xfrm>
          <a:prstGeom prst="rect">
            <a:avLst/>
          </a:prstGeom>
          <a:solidFill>
            <a:srgbClr val="2E7D5B"/>
          </a:solidFill>
          <a:ln w="12700">
            <a:solidFill>
              <a:srgbClr val="2E7D5B"/>
            </a:solidFill>
            <a:prstDash val="solid"/>
          </a:ln>
        </p:spPr>
      </p:sp>
      <p:sp>
        <p:nvSpPr>
          <p:cNvPr id="15" name="Text 13"/>
          <p:cNvSpPr txBox="1"/>
          <p:nvPr/>
        </p:nvSpPr>
        <p:spPr>
          <a:xfrm>
            <a:off x="457200" y="2286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compose</a:t>
            </a:r>
            <a:endParaRPr lang="en-US" sz="1000" dirty="0"/>
          </a:p>
        </p:txBody>
      </p:sp>
      <p:sp>
        <p:nvSpPr>
          <p:cNvPr id="16" name="Shape 14"/>
          <p:cNvSpPr/>
          <p:nvPr/>
        </p:nvSpPr>
        <p:spPr>
          <a:xfrm>
            <a:off x="1737360" y="2286000"/>
            <a:ext cx="4069080" cy="402336"/>
          </a:xfrm>
          <a:prstGeom prst="rect">
            <a:avLst/>
          </a:prstGeom>
          <a:solidFill>
            <a:srgbClr val="EEF2F5"/>
          </a:solidFill>
          <a:ln w="12700">
            <a:solidFill>
              <a:srgbClr val="C9D1D8"/>
            </a:solidFill>
            <a:prstDash val="solid"/>
          </a:ln>
        </p:spPr>
      </p:sp>
      <p:sp>
        <p:nvSpPr>
          <p:cNvPr id="17" name="Text 15"/>
          <p:cNvSpPr txBox="1"/>
          <p:nvPr/>
        </p:nvSpPr>
        <p:spPr>
          <a:xfrm>
            <a:off x="1847088" y="2286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tools</a:t>
            </a:r>
            <a:endParaRPr lang="en-US" sz="900" dirty="0"/>
          </a:p>
        </p:txBody>
      </p:sp>
      <p:sp>
        <p:nvSpPr>
          <p:cNvPr id="18" name="Text 16"/>
          <p:cNvSpPr txBox="1"/>
          <p:nvPr/>
        </p:nvSpPr>
        <p:spPr>
          <a:xfrm>
            <a:off x="5870448" y="22860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exec</a:t>
            </a:r>
            <a:endParaRPr lang="en-US" sz="950" dirty="0"/>
          </a:p>
        </p:txBody>
      </p:sp>
      <p:sp>
        <p:nvSpPr>
          <p:cNvPr id="19" name="Shape 17"/>
          <p:cNvSpPr/>
          <p:nvPr/>
        </p:nvSpPr>
        <p:spPr>
          <a:xfrm>
            <a:off x="457200" y="2743200"/>
            <a:ext cx="1234440" cy="402336"/>
          </a:xfrm>
          <a:prstGeom prst="rect">
            <a:avLst/>
          </a:prstGeom>
          <a:solidFill>
            <a:srgbClr val="7A4A8C"/>
          </a:solidFill>
          <a:ln w="12700">
            <a:solidFill>
              <a:srgbClr val="7A4A8C"/>
            </a:solidFill>
            <a:prstDash val="solid"/>
          </a:ln>
        </p:spPr>
      </p:sp>
      <p:sp>
        <p:nvSpPr>
          <p:cNvPr id="20" name="Text 18"/>
          <p:cNvSpPr txBox="1"/>
          <p:nvPr/>
        </p:nvSpPr>
        <p:spPr>
          <a:xfrm>
            <a:off x="457200" y="2743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tools</a:t>
            </a:r>
            <a:endParaRPr lang="en-US" sz="1000" dirty="0"/>
          </a:p>
        </p:txBody>
      </p:sp>
      <p:sp>
        <p:nvSpPr>
          <p:cNvPr id="21" name="Shape 19"/>
          <p:cNvSpPr/>
          <p:nvPr/>
        </p:nvSpPr>
        <p:spPr>
          <a:xfrm>
            <a:off x="1737360" y="2743200"/>
            <a:ext cx="4069080" cy="402336"/>
          </a:xfrm>
          <a:prstGeom prst="rect">
            <a:avLst/>
          </a:prstGeom>
          <a:solidFill>
            <a:srgbClr val="FFFFFF"/>
          </a:solidFill>
          <a:ln w="12700">
            <a:solidFill>
              <a:srgbClr val="C9D1D8"/>
            </a:solidFill>
            <a:prstDash val="solid"/>
          </a:ln>
        </p:spPr>
      </p:sp>
      <p:sp>
        <p:nvSpPr>
          <p:cNvPr id="22" name="Text 20"/>
          <p:cNvSpPr txBox="1"/>
          <p:nvPr/>
        </p:nvSpPr>
        <p:spPr>
          <a:xfrm>
            <a:off x="1847088" y="2743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exec</a:t>
            </a:r>
            <a:endParaRPr lang="en-US" sz="900" dirty="0"/>
          </a:p>
        </p:txBody>
      </p:sp>
      <p:sp>
        <p:nvSpPr>
          <p:cNvPr id="23" name="Shape 21"/>
          <p:cNvSpPr/>
          <p:nvPr/>
        </p:nvSpPr>
        <p:spPr>
          <a:xfrm>
            <a:off x="457200" y="3200400"/>
            <a:ext cx="1234440" cy="402336"/>
          </a:xfrm>
          <a:prstGeom prst="rect">
            <a:avLst/>
          </a:prstGeom>
          <a:solidFill>
            <a:srgbClr val="7A4A8C"/>
          </a:solidFill>
          <a:ln w="12700">
            <a:solidFill>
              <a:srgbClr val="7A4A8C"/>
            </a:solidFill>
            <a:prstDash val="solid"/>
          </a:ln>
        </p:spPr>
      </p:sp>
      <p:sp>
        <p:nvSpPr>
          <p:cNvPr id="24" name="Text 22"/>
          <p:cNvSpPr txBox="1"/>
          <p:nvPr/>
        </p:nvSpPr>
        <p:spPr>
          <a:xfrm>
            <a:off x="457200" y="3200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exec</a:t>
            </a:r>
            <a:endParaRPr lang="en-US" sz="1000" dirty="0"/>
          </a:p>
        </p:txBody>
      </p:sp>
      <p:sp>
        <p:nvSpPr>
          <p:cNvPr id="25" name="Shape 23"/>
          <p:cNvSpPr/>
          <p:nvPr/>
        </p:nvSpPr>
        <p:spPr>
          <a:xfrm>
            <a:off x="1737360" y="3200400"/>
            <a:ext cx="4069080" cy="402336"/>
          </a:xfrm>
          <a:prstGeom prst="rect">
            <a:avLst/>
          </a:prstGeom>
          <a:solidFill>
            <a:srgbClr val="EEF2F5"/>
          </a:solidFill>
          <a:ln w="12700">
            <a:solidFill>
              <a:srgbClr val="C9D1D8"/>
            </a:solidFill>
            <a:prstDash val="solid"/>
          </a:ln>
        </p:spPr>
      </p:sp>
      <p:sp>
        <p:nvSpPr>
          <p:cNvPr id="26" name="Text 24"/>
          <p:cNvSpPr txBox="1"/>
          <p:nvPr/>
        </p:nvSpPr>
        <p:spPr>
          <a:xfrm>
            <a:off x="1847088" y="3200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tools</a:t>
            </a:r>
            <a:endParaRPr lang="en-US" sz="900" dirty="0"/>
          </a:p>
        </p:txBody>
      </p:sp>
      <p:sp>
        <p:nvSpPr>
          <p:cNvPr id="27" name="Shape 25"/>
          <p:cNvSpPr/>
          <p:nvPr/>
        </p:nvSpPr>
        <p:spPr>
          <a:xfrm>
            <a:off x="457200" y="3657600"/>
            <a:ext cx="1234440" cy="402336"/>
          </a:xfrm>
          <a:prstGeom prst="rect">
            <a:avLst/>
          </a:prstGeom>
          <a:solidFill>
            <a:srgbClr val="1E6470"/>
          </a:solidFill>
          <a:ln w="12700">
            <a:solidFill>
              <a:srgbClr val="1E6470"/>
            </a:solidFill>
            <a:prstDash val="solid"/>
          </a:ln>
        </p:spPr>
      </p:sp>
      <p:sp>
        <p:nvSpPr>
          <p:cNvPr id="28" name="Text 26"/>
          <p:cNvSpPr txBox="1"/>
          <p:nvPr/>
        </p:nvSpPr>
        <p:spPr>
          <a:xfrm>
            <a:off x="457200" y="3657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runtime</a:t>
            </a:r>
            <a:endParaRPr lang="en-US" sz="1000" dirty="0"/>
          </a:p>
        </p:txBody>
      </p:sp>
      <p:sp>
        <p:nvSpPr>
          <p:cNvPr id="29" name="Shape 27"/>
          <p:cNvSpPr/>
          <p:nvPr/>
        </p:nvSpPr>
        <p:spPr>
          <a:xfrm>
            <a:off x="1737360" y="3657600"/>
            <a:ext cx="4069080" cy="402336"/>
          </a:xfrm>
          <a:prstGeom prst="rect">
            <a:avLst/>
          </a:prstGeom>
          <a:solidFill>
            <a:srgbClr val="FFFFFF"/>
          </a:solidFill>
          <a:ln w="12700">
            <a:solidFill>
              <a:srgbClr val="C9D1D8"/>
            </a:solidFill>
            <a:prstDash val="solid"/>
          </a:ln>
        </p:spPr>
      </p:sp>
      <p:sp>
        <p:nvSpPr>
          <p:cNvPr id="30" name="Text 28"/>
          <p:cNvSpPr txBox="1"/>
          <p:nvPr/>
        </p:nvSpPr>
        <p:spPr>
          <a:xfrm>
            <a:off x="1847088" y="36576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exec, policy, tools</a:t>
            </a:r>
            <a:endParaRPr lang="en-US" sz="900" dirty="0"/>
          </a:p>
        </p:txBody>
      </p:sp>
      <p:sp>
        <p:nvSpPr>
          <p:cNvPr id="31" name="Shape 29"/>
          <p:cNvSpPr/>
          <p:nvPr/>
        </p:nvSpPr>
        <p:spPr>
          <a:xfrm>
            <a:off x="457200" y="4114800"/>
            <a:ext cx="1234440" cy="402336"/>
          </a:xfrm>
          <a:prstGeom prst="rect">
            <a:avLst/>
          </a:prstGeom>
          <a:solidFill>
            <a:srgbClr val="1E6470"/>
          </a:solidFill>
          <a:ln w="12700">
            <a:solidFill>
              <a:srgbClr val="1E6470"/>
            </a:solidFill>
            <a:prstDash val="solid"/>
          </a:ln>
        </p:spPr>
      </p:sp>
      <p:sp>
        <p:nvSpPr>
          <p:cNvPr id="32" name="Text 30"/>
          <p:cNvSpPr txBox="1"/>
          <p:nvPr/>
        </p:nvSpPr>
        <p:spPr>
          <a:xfrm>
            <a:off x="457200" y="4114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manager</a:t>
            </a:r>
            <a:endParaRPr lang="en-US" sz="1000" dirty="0"/>
          </a:p>
        </p:txBody>
      </p:sp>
      <p:sp>
        <p:nvSpPr>
          <p:cNvPr id="33" name="Shape 31"/>
          <p:cNvSpPr/>
          <p:nvPr/>
        </p:nvSpPr>
        <p:spPr>
          <a:xfrm>
            <a:off x="1737360" y="4114800"/>
            <a:ext cx="4069080" cy="402336"/>
          </a:xfrm>
          <a:prstGeom prst="rect">
            <a:avLst/>
          </a:prstGeom>
          <a:solidFill>
            <a:srgbClr val="EEF2F5"/>
          </a:solidFill>
          <a:ln w="12700">
            <a:solidFill>
              <a:srgbClr val="C9D1D8"/>
            </a:solidFill>
            <a:prstDash val="solid"/>
          </a:ln>
        </p:spPr>
      </p:sp>
      <p:sp>
        <p:nvSpPr>
          <p:cNvPr id="34" name="Text 32"/>
          <p:cNvSpPr txBox="1"/>
          <p:nvPr/>
        </p:nvSpPr>
        <p:spPr>
          <a:xfrm>
            <a:off x="1847088" y="4114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policy, runtime, tools</a:t>
            </a:r>
            <a:endParaRPr lang="en-US" sz="900" dirty="0"/>
          </a:p>
        </p:txBody>
      </p:sp>
      <p:sp>
        <p:nvSpPr>
          <p:cNvPr id="35" name="Shape 33"/>
          <p:cNvSpPr/>
          <p:nvPr/>
        </p:nvSpPr>
        <p:spPr>
          <a:xfrm>
            <a:off x="457200" y="4572000"/>
            <a:ext cx="1234440" cy="402336"/>
          </a:xfrm>
          <a:prstGeom prst="rect">
            <a:avLst/>
          </a:prstGeom>
          <a:solidFill>
            <a:srgbClr val="D9731A"/>
          </a:solidFill>
          <a:ln w="12700">
            <a:solidFill>
              <a:srgbClr val="D9731A"/>
            </a:solidFill>
            <a:prstDash val="solid"/>
          </a:ln>
        </p:spPr>
      </p:sp>
      <p:sp>
        <p:nvSpPr>
          <p:cNvPr id="36" name="Text 34"/>
          <p:cNvSpPr txBox="1"/>
          <p:nvPr/>
        </p:nvSpPr>
        <p:spPr>
          <a:xfrm>
            <a:off x="457200" y="4572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control</a:t>
            </a:r>
            <a:endParaRPr lang="en-US" sz="1000" dirty="0"/>
          </a:p>
        </p:txBody>
      </p:sp>
      <p:sp>
        <p:nvSpPr>
          <p:cNvPr id="37" name="Shape 35"/>
          <p:cNvSpPr/>
          <p:nvPr/>
        </p:nvSpPr>
        <p:spPr>
          <a:xfrm>
            <a:off x="1737360" y="4572000"/>
            <a:ext cx="4069080" cy="402336"/>
          </a:xfrm>
          <a:prstGeom prst="rect">
            <a:avLst/>
          </a:prstGeom>
          <a:solidFill>
            <a:srgbClr val="FFFFFF"/>
          </a:solidFill>
          <a:ln w="12700">
            <a:solidFill>
              <a:srgbClr val="C9D1D8"/>
            </a:solidFill>
            <a:prstDash val="solid"/>
          </a:ln>
        </p:spPr>
      </p:sp>
      <p:sp>
        <p:nvSpPr>
          <p:cNvPr id="38" name="Text 36"/>
          <p:cNvSpPr txBox="1"/>
          <p:nvPr/>
        </p:nvSpPr>
        <p:spPr>
          <a:xfrm>
            <a:off x="1847088" y="4572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manager, runtime</a:t>
            </a:r>
            <a:endParaRPr lang="en-US" sz="900" dirty="0"/>
          </a:p>
        </p:txBody>
      </p:sp>
      <p:sp>
        <p:nvSpPr>
          <p:cNvPr id="39" name="Shape 37"/>
          <p:cNvSpPr/>
          <p:nvPr/>
        </p:nvSpPr>
        <p:spPr>
          <a:xfrm>
            <a:off x="457200" y="5029200"/>
            <a:ext cx="1234440" cy="402336"/>
          </a:xfrm>
          <a:prstGeom prst="rect">
            <a:avLst/>
          </a:prstGeom>
          <a:solidFill>
            <a:srgbClr val="D9731A"/>
          </a:solidFill>
          <a:ln w="12700">
            <a:solidFill>
              <a:srgbClr val="D9731A"/>
            </a:solidFill>
            <a:prstDash val="solid"/>
          </a:ln>
        </p:spPr>
      </p:sp>
      <p:sp>
        <p:nvSpPr>
          <p:cNvPr id="40" name="Text 38"/>
          <p:cNvSpPr txBox="1"/>
          <p:nvPr/>
        </p:nvSpPr>
        <p:spPr>
          <a:xfrm>
            <a:off x="457200" y="5029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cli</a:t>
            </a:r>
            <a:endParaRPr lang="en-US" sz="1000" dirty="0"/>
          </a:p>
        </p:txBody>
      </p:sp>
      <p:sp>
        <p:nvSpPr>
          <p:cNvPr id="41" name="Shape 39"/>
          <p:cNvSpPr/>
          <p:nvPr/>
        </p:nvSpPr>
        <p:spPr>
          <a:xfrm>
            <a:off x="1737360" y="5029200"/>
            <a:ext cx="4069080" cy="402336"/>
          </a:xfrm>
          <a:prstGeom prst="rect">
            <a:avLst/>
          </a:prstGeom>
          <a:solidFill>
            <a:srgbClr val="EEF2F5"/>
          </a:solidFill>
          <a:ln w="12700">
            <a:solidFill>
              <a:srgbClr val="C9D1D8"/>
            </a:solidFill>
            <a:prstDash val="solid"/>
          </a:ln>
        </p:spPr>
      </p:sp>
      <p:sp>
        <p:nvSpPr>
          <p:cNvPr id="42" name="Text 40"/>
          <p:cNvSpPr txBox="1"/>
          <p:nvPr/>
        </p:nvSpPr>
        <p:spPr>
          <a:xfrm>
            <a:off x="1847088" y="5029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manager, policy, tools</a:t>
            </a:r>
            <a:endParaRPr lang="en-US" sz="900" dirty="0"/>
          </a:p>
        </p:txBody>
      </p:sp>
      <p:sp>
        <p:nvSpPr>
          <p:cNvPr id="43" name="Shape 41"/>
          <p:cNvSpPr/>
          <p:nvPr/>
        </p:nvSpPr>
        <p:spPr>
          <a:xfrm>
            <a:off x="457200" y="5486400"/>
            <a:ext cx="1234440" cy="402336"/>
          </a:xfrm>
          <a:prstGeom prst="rect">
            <a:avLst/>
          </a:prstGeom>
          <a:solidFill>
            <a:srgbClr val="D9731A"/>
          </a:solidFill>
          <a:ln w="12700">
            <a:solidFill>
              <a:srgbClr val="D9731A"/>
            </a:solidFill>
            <a:prstDash val="solid"/>
          </a:ln>
        </p:spPr>
      </p:sp>
      <p:sp>
        <p:nvSpPr>
          <p:cNvPr id="44" name="Text 42"/>
          <p:cNvSpPr txBox="1"/>
          <p:nvPr/>
        </p:nvSpPr>
        <p:spPr>
          <a:xfrm>
            <a:off x="457200" y="5486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__main__</a:t>
            </a:r>
            <a:endParaRPr lang="en-US" sz="1000" dirty="0"/>
          </a:p>
        </p:txBody>
      </p:sp>
      <p:sp>
        <p:nvSpPr>
          <p:cNvPr id="45" name="Shape 43"/>
          <p:cNvSpPr/>
          <p:nvPr/>
        </p:nvSpPr>
        <p:spPr>
          <a:xfrm>
            <a:off x="1737360" y="5486400"/>
            <a:ext cx="4069080" cy="402336"/>
          </a:xfrm>
          <a:prstGeom prst="rect">
            <a:avLst/>
          </a:prstGeom>
          <a:solidFill>
            <a:srgbClr val="FFFFFF"/>
          </a:solidFill>
          <a:ln w="12700">
            <a:solidFill>
              <a:srgbClr val="C9D1D8"/>
            </a:solidFill>
            <a:prstDash val="solid"/>
          </a:ln>
        </p:spPr>
      </p:sp>
      <p:sp>
        <p:nvSpPr>
          <p:cNvPr id="46" name="Text 44"/>
          <p:cNvSpPr txBox="1"/>
          <p:nvPr/>
        </p:nvSpPr>
        <p:spPr>
          <a:xfrm>
            <a:off x="1847088" y="5486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cli</a:t>
            </a:r>
            <a:endParaRPr lang="en-US" sz="900" dirty="0"/>
          </a:p>
        </p:txBody>
      </p:sp>
      <p:sp>
        <p:nvSpPr>
          <p:cNvPr id="47" name="Shape 45"/>
          <p:cNvSpPr/>
          <p:nvPr/>
        </p:nvSpPr>
        <p:spPr>
          <a:xfrm>
            <a:off x="7863840" y="1371600"/>
            <a:ext cx="3867912" cy="1600200"/>
          </a:xfrm>
          <a:prstGeom prst="rect">
            <a:avLst/>
          </a:prstGeom>
          <a:solidFill>
            <a:srgbClr val="F9E0DD"/>
          </a:solidFill>
          <a:ln w="12700">
            <a:solidFill>
              <a:srgbClr val="F9E0DD"/>
            </a:solidFill>
            <a:prstDash val="solid"/>
          </a:ln>
        </p:spPr>
      </p:sp>
      <p:sp>
        <p:nvSpPr>
          <p:cNvPr id="48" name="Text 46"/>
          <p:cNvSpPr txBox="1"/>
          <p:nvPr/>
        </p:nvSpPr>
        <p:spPr>
          <a:xfrm>
            <a:off x="7991856" y="1453896"/>
            <a:ext cx="36118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three that are load-bearing</a:t>
            </a:r>
            <a:endParaRPr lang="en-US" sz="1300" dirty="0"/>
          </a:p>
        </p:txBody>
      </p:sp>
      <p:sp>
        <p:nvSpPr>
          <p:cNvPr id="49" name="Text 47"/>
          <p:cNvSpPr txBox="1"/>
          <p:nvPr/>
        </p:nvSpPr>
        <p:spPr>
          <a:xfrm>
            <a:off x="7991856" y="1764792"/>
            <a:ext cx="3611880"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`tools`/`exec` would let a policy reach a tool adapter, and it would stop emitting abstract intent.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would end the laptop test tier: validation is testable with no backend only because that edge does not exist.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`core` → anything would make the serializable seam unenforceable.</a:t>
            </a:r>
            <a:endParaRPr lang="en-US" sz="1000" dirty="0"/>
          </a:p>
        </p:txBody>
      </p:sp>
      <p:sp>
        <p:nvSpPr>
          <p:cNvPr id="50" name="Shape 48"/>
          <p:cNvSpPr/>
          <p:nvPr/>
        </p:nvSpPr>
        <p:spPr>
          <a:xfrm>
            <a:off x="7863840" y="3108960"/>
            <a:ext cx="3867912" cy="1188720"/>
          </a:xfrm>
          <a:prstGeom prst="rect">
            <a:avLst/>
          </a:prstGeom>
          <a:solidFill>
            <a:srgbClr val="16222B"/>
          </a:solidFill>
          <a:ln w="12700">
            <a:solidFill>
              <a:srgbClr val="16222B"/>
            </a:solidFill>
            <a:prstDash val="solid"/>
          </a:ln>
        </p:spPr>
      </p:sp>
      <p:sp>
        <p:nvSpPr>
          <p:cNvPr id="51" name="Text 49"/>
          <p:cNvSpPr txBox="1"/>
          <p:nvPr/>
        </p:nvSpPr>
        <p:spPr>
          <a:xfrm>
            <a:off x="7964424" y="3200400"/>
            <a:ext cx="3666744" cy="100584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ALLOWED =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"core":   frozenset(),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"policy": frozenset({"core"}),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"compose": frozenset({"tools", "core"}),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p:txBody>
      </p:sp>
      <p:sp>
        <p:nvSpPr>
          <p:cNvPr id="52" name="Text 50"/>
          <p:cNvSpPr txBox="1"/>
          <p:nvPr/>
        </p:nvSpPr>
        <p:spPr>
          <a:xfrm>
            <a:off x="7863840" y="4315968"/>
            <a:ext cx="386791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tests/test_layering.py:43 · TRIMMED</a:t>
            </a:r>
            <a:endParaRPr lang="en-US" sz="850" dirty="0"/>
          </a:p>
        </p:txBody>
      </p:sp>
      <p:sp>
        <p:nvSpPr>
          <p:cNvPr id="53" name="Shape 51"/>
          <p:cNvSpPr/>
          <p:nvPr/>
        </p:nvSpPr>
        <p:spPr>
          <a:xfrm>
            <a:off x="7863840" y="4526280"/>
            <a:ext cx="3867912" cy="1554480"/>
          </a:xfrm>
          <a:prstGeom prst="rect">
            <a:avLst/>
          </a:prstGeom>
          <a:solidFill>
            <a:srgbClr val="EEF2F5"/>
          </a:solidFill>
          <a:ln w="12700">
            <a:solidFill>
              <a:srgbClr val="EEF2F5"/>
            </a:solidFill>
            <a:prstDash val="solid"/>
          </a:ln>
        </p:spPr>
      </p:sp>
      <p:sp>
        <p:nvSpPr>
          <p:cNvPr id="54" name="Text 52"/>
          <p:cNvSpPr txBox="1"/>
          <p:nvPr/>
        </p:nvSpPr>
        <p:spPr>
          <a:xfrm>
            <a:off x="7991856" y="460857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`ast`, not a scan of imports</a:t>
            </a:r>
            <a:endParaRPr lang="en-US" sz="1300" dirty="0"/>
          </a:p>
        </p:txBody>
      </p:sp>
      <p:sp>
        <p:nvSpPr>
          <p:cNvPr id="55" name="Text 53"/>
          <p:cNvSpPr txBox="1"/>
          <p:nvPr/>
        </p:nvSpPr>
        <p:spPr>
          <a:xfrm>
            <a:off x="7991856" y="4919472"/>
            <a:ext cx="3611880"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real adapters defer their science imports into `run()` bodies on purpose — so a deferred `from ..exec import …` inside a compose function would be exactly as fatal as one at the top of the file, and `ast.walk` sees both.</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allow-list, not a deny-list: a NEW cross-layer import fails by default.</a:t>
            </a:r>
            <a:endParaRPr lang="en-US" sz="1000" dirty="0"/>
          </a:p>
        </p:txBody>
      </p:sp>
      <p:sp>
        <p:nvSpPr>
          <p:cNvPr id="57" name="Text 5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10 layers, 168 tests, 9 test files · the table mirrors docs/reference/architecture.md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WHERE THIS ACTUALLY 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Status, by dimension</a:t>
            </a:r>
            <a:endParaRPr lang="en-US" sz="2800" dirty="0"/>
          </a:p>
        </p:txBody>
      </p:sp>
      <p:sp>
        <p:nvSpPr>
          <p:cNvPr id="4" name="Shape 2"/>
          <p:cNvSpPr/>
          <p:nvPr/>
        </p:nvSpPr>
        <p:spPr>
          <a:xfrm>
            <a:off x="457200" y="1325880"/>
            <a:ext cx="3657600" cy="365760"/>
          </a:xfrm>
          <a:prstGeom prst="rect">
            <a:avLst/>
          </a:prstGeom>
          <a:solidFill>
            <a:srgbClr val="2E7D5B"/>
          </a:solidFill>
          <a:ln w="12700">
            <a:solidFill>
              <a:srgbClr val="2E7D5B"/>
            </a:solidFill>
            <a:prstDash val="solid"/>
          </a:ln>
        </p:spPr>
      </p:sp>
      <p:sp>
        <p:nvSpPr>
          <p:cNvPr id="5" name="Text 3"/>
          <p:cNvSpPr txBox="1"/>
          <p:nvPr/>
        </p:nvSpPr>
        <p:spPr>
          <a:xfrm>
            <a:off x="457200"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FUNCTIONALITY</a:t>
            </a:r>
            <a:endParaRPr lang="en-US" sz="1200" dirty="0"/>
          </a:p>
        </p:txBody>
      </p:sp>
      <p:sp>
        <p:nvSpPr>
          <p:cNvPr id="6" name="Text 4"/>
          <p:cNvSpPr txBox="1"/>
          <p:nvPr/>
        </p:nvSpPr>
        <p:spPr>
          <a:xfrm>
            <a:off x="457200"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7" name="Shape 5"/>
          <p:cNvSpPr/>
          <p:nvPr/>
        </p:nvSpPr>
        <p:spPr>
          <a:xfrm>
            <a:off x="457200" y="1938528"/>
            <a:ext cx="3657600" cy="530352"/>
          </a:xfrm>
          <a:prstGeom prst="rect">
            <a:avLst/>
          </a:prstGeom>
          <a:solidFill>
            <a:srgbClr val="EEF2F5"/>
          </a:solidFill>
          <a:ln w="12700">
            <a:solidFill>
              <a:srgbClr val="C9D1D8"/>
            </a:solidFill>
            <a:prstDash val="solid"/>
          </a:ln>
        </p:spPr>
      </p:sp>
      <p:sp>
        <p:nvSpPr>
          <p:cNvPr id="8" name="Text 6"/>
          <p:cNvSpPr txBox="1"/>
          <p:nvPr/>
        </p:nvSpPr>
        <p:spPr>
          <a:xfrm>
            <a:off x="548640"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Six surfaces, all exercised</a:t>
            </a:r>
            <a:endParaRPr lang="en-US" sz="1000" dirty="0"/>
          </a:p>
        </p:txBody>
      </p:sp>
      <p:sp>
        <p:nvSpPr>
          <p:cNvPr id="9" name="Text 7"/>
          <p:cNvSpPr txBox="1"/>
          <p:nvPr/>
        </p:nvSpPr>
        <p:spPr>
          <a:xfrm>
            <a:off x="548640"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by the test tier and one real campaign</a:t>
            </a:r>
            <a:endParaRPr lang="en-US" sz="850" dirty="0"/>
          </a:p>
        </p:txBody>
      </p:sp>
      <p:sp>
        <p:nvSpPr>
          <p:cNvPr id="10" name="Shape 8"/>
          <p:cNvSpPr/>
          <p:nvPr/>
        </p:nvSpPr>
        <p:spPr>
          <a:xfrm>
            <a:off x="457200" y="2487168"/>
            <a:ext cx="3657600" cy="530352"/>
          </a:xfrm>
          <a:prstGeom prst="rect">
            <a:avLst/>
          </a:prstGeom>
          <a:solidFill>
            <a:srgbClr val="FFFFFF"/>
          </a:solidFill>
          <a:ln w="12700">
            <a:solidFill>
              <a:srgbClr val="C9D1D8"/>
            </a:solidFill>
            <a:prstDash val="solid"/>
          </a:ln>
        </p:spPr>
      </p:sp>
      <p:sp>
        <p:nvSpPr>
          <p:cNvPr id="11" name="Text 9"/>
          <p:cNvSpPr txBox="1"/>
          <p:nvPr/>
        </p:nvSpPr>
        <p:spPr>
          <a:xfrm>
            <a:off x="548640"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Load-is-validating</a:t>
            </a:r>
            <a:endParaRPr lang="en-US" sz="1000" dirty="0"/>
          </a:p>
        </p:txBody>
      </p:sp>
      <p:sp>
        <p:nvSpPr>
          <p:cNvPr id="12" name="Text 10"/>
          <p:cNvSpPr txBox="1"/>
          <p:nvPr/>
        </p:nvSpPr>
        <p:spPr>
          <a:xfrm>
            <a:off x="548640"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11 tools, 20 gate fixtures, 0 registry errors</a:t>
            </a:r>
            <a:endParaRPr lang="en-US" sz="850" dirty="0"/>
          </a:p>
        </p:txBody>
      </p:sp>
      <p:sp>
        <p:nvSpPr>
          <p:cNvPr id="13" name="Shape 11"/>
          <p:cNvSpPr/>
          <p:nvPr/>
        </p:nvSpPr>
        <p:spPr>
          <a:xfrm>
            <a:off x="457200" y="3035808"/>
            <a:ext cx="3657600" cy="530352"/>
          </a:xfrm>
          <a:prstGeom prst="rect">
            <a:avLst/>
          </a:prstGeom>
          <a:solidFill>
            <a:srgbClr val="EEF2F5"/>
          </a:solidFill>
          <a:ln w="12700">
            <a:solidFill>
              <a:srgbClr val="C9D1D8"/>
            </a:solidFill>
            <a:prstDash val="solid"/>
          </a:ln>
        </p:spPr>
      </p:sp>
      <p:sp>
        <p:nvSpPr>
          <p:cNvPr id="14" name="Text 12"/>
          <p:cNvSpPr txBox="1"/>
          <p:nvPr/>
        </p:nvSpPr>
        <p:spPr>
          <a:xfrm>
            <a:off x="548640"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Refuse-and-retry works</a:t>
            </a:r>
            <a:endParaRPr lang="en-US" sz="1000" dirty="0"/>
          </a:p>
        </p:txBody>
      </p:sp>
      <p:sp>
        <p:nvSpPr>
          <p:cNvPr id="15" name="Text 13"/>
          <p:cNvSpPr txBox="1"/>
          <p:nvPr/>
        </p:nvSpPr>
        <p:spPr>
          <a:xfrm>
            <a:off x="548640"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observed in the run: interlock → shrink → admit</a:t>
            </a:r>
            <a:endParaRPr lang="en-US" sz="850" dirty="0"/>
          </a:p>
        </p:txBody>
      </p:sp>
      <p:sp>
        <p:nvSpPr>
          <p:cNvPr id="16" name="Text 14"/>
          <p:cNvSpPr txBox="1"/>
          <p:nvPr/>
        </p:nvSpPr>
        <p:spPr>
          <a:xfrm>
            <a:off x="457200"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17" name="Shape 15"/>
          <p:cNvSpPr/>
          <p:nvPr/>
        </p:nvSpPr>
        <p:spPr>
          <a:xfrm>
            <a:off x="457200" y="3840480"/>
            <a:ext cx="3657600" cy="530352"/>
          </a:xfrm>
          <a:prstGeom prst="rect">
            <a:avLst/>
          </a:prstGeom>
          <a:solidFill>
            <a:srgbClr val="EEF2F5"/>
          </a:solidFill>
          <a:ln w="12700">
            <a:solidFill>
              <a:srgbClr val="C9D1D8"/>
            </a:solidFill>
            <a:prstDash val="solid"/>
          </a:ln>
        </p:spPr>
      </p:sp>
      <p:sp>
        <p:nvSpPr>
          <p:cNvPr id="18" name="Text 16"/>
          <p:cNvSpPr txBox="1"/>
          <p:nvPr/>
        </p:nvSpPr>
        <p:spPr>
          <a:xfrm>
            <a:off x="548640"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topology family</a:t>
            </a:r>
            <a:endParaRPr lang="en-US" sz="1000" dirty="0"/>
          </a:p>
        </p:txBody>
      </p:sp>
      <p:sp>
        <p:nvSpPr>
          <p:cNvPr id="19" name="Text 17"/>
          <p:cNvSpPr txBox="1"/>
          <p:nvPr/>
        </p:nvSpPr>
        <p:spPr>
          <a:xfrm>
            <a:off x="548640"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every graph is an ordered stage list</a:t>
            </a:r>
            <a:endParaRPr lang="en-US" sz="850" dirty="0"/>
          </a:p>
        </p:txBody>
      </p:sp>
      <p:sp>
        <p:nvSpPr>
          <p:cNvPr id="20" name="Shape 18"/>
          <p:cNvSpPr/>
          <p:nvPr/>
        </p:nvSpPr>
        <p:spPr>
          <a:xfrm>
            <a:off x="457200" y="4389120"/>
            <a:ext cx="3657600" cy="530352"/>
          </a:xfrm>
          <a:prstGeom prst="rect">
            <a:avLst/>
          </a:prstGeom>
          <a:solidFill>
            <a:srgbClr val="FFFFFF"/>
          </a:solidFill>
          <a:ln w="12700">
            <a:solidFill>
              <a:srgbClr val="C9D1D8"/>
            </a:solidFill>
            <a:prstDash val="solid"/>
          </a:ln>
        </p:spPr>
      </p:sp>
      <p:sp>
        <p:nvSpPr>
          <p:cNvPr id="21" name="Text 19"/>
          <p:cNvSpPr txBox="1"/>
          <p:nvPr/>
        </p:nvSpPr>
        <p:spPr>
          <a:xfrm>
            <a:off x="548640"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third-party author</a:t>
            </a:r>
            <a:endParaRPr lang="en-US" sz="1000" dirty="0"/>
          </a:p>
        </p:txBody>
      </p:sp>
      <p:sp>
        <p:nvSpPr>
          <p:cNvPr id="22" name="Text 20"/>
          <p:cNvSpPr txBox="1"/>
          <p:nvPr/>
        </p:nvSpPr>
        <p:spPr>
          <a:xfrm>
            <a:off x="548640"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toolkit or policy written outside this package</a:t>
            </a:r>
            <a:endParaRPr lang="en-US" sz="850" dirty="0"/>
          </a:p>
        </p:txBody>
      </p:sp>
      <p:sp>
        <p:nvSpPr>
          <p:cNvPr id="23" name="Shape 21"/>
          <p:cNvSpPr/>
          <p:nvPr/>
        </p:nvSpPr>
        <p:spPr>
          <a:xfrm>
            <a:off x="457200" y="4937760"/>
            <a:ext cx="3657600" cy="530352"/>
          </a:xfrm>
          <a:prstGeom prst="rect">
            <a:avLst/>
          </a:prstGeom>
          <a:solidFill>
            <a:srgbClr val="EEF2F5"/>
          </a:solidFill>
          <a:ln w="12700">
            <a:solidFill>
              <a:srgbClr val="C9D1D8"/>
            </a:solidFill>
            <a:prstDash val="solid"/>
          </a:ln>
        </p:spPr>
      </p:sp>
      <p:sp>
        <p:nvSpPr>
          <p:cNvPr id="24" name="Text 22"/>
          <p:cNvSpPr txBox="1"/>
          <p:nvPr/>
        </p:nvSpPr>
        <p:spPr>
          <a:xfrm>
            <a:off x="548640"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Calibration untested</a:t>
            </a:r>
            <a:endParaRPr lang="en-US" sz="1000" dirty="0"/>
          </a:p>
        </p:txBody>
      </p:sp>
      <p:sp>
        <p:nvSpPr>
          <p:cNvPr id="25" name="Text 23"/>
          <p:cNvSpPr txBox="1"/>
          <p:nvPr/>
        </p:nvSpPr>
        <p:spPr>
          <a:xfrm>
            <a:off x="548640"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measurement has ever superseded a prediction</a:t>
            </a:r>
            <a:endParaRPr lang="en-US" sz="850" dirty="0"/>
          </a:p>
        </p:txBody>
      </p:sp>
      <p:sp>
        <p:nvSpPr>
          <p:cNvPr id="26" name="Shape 24"/>
          <p:cNvSpPr/>
          <p:nvPr/>
        </p:nvSpPr>
        <p:spPr>
          <a:xfrm>
            <a:off x="4370832" y="1325880"/>
            <a:ext cx="3657600" cy="365760"/>
          </a:xfrm>
          <a:prstGeom prst="rect">
            <a:avLst/>
          </a:prstGeom>
          <a:solidFill>
            <a:srgbClr val="1E6470"/>
          </a:solidFill>
          <a:ln w="12700">
            <a:solidFill>
              <a:srgbClr val="1E6470"/>
            </a:solidFill>
            <a:prstDash val="solid"/>
          </a:ln>
        </p:spPr>
      </p:sp>
      <p:sp>
        <p:nvSpPr>
          <p:cNvPr id="27" name="Text 25"/>
          <p:cNvSpPr txBox="1"/>
          <p:nvPr/>
        </p:nvSpPr>
        <p:spPr>
          <a:xfrm>
            <a:off x="4370832"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PERFORMANCE</a:t>
            </a:r>
            <a:endParaRPr lang="en-US" sz="1200" dirty="0"/>
          </a:p>
        </p:txBody>
      </p:sp>
      <p:sp>
        <p:nvSpPr>
          <p:cNvPr id="28" name="Text 26"/>
          <p:cNvSpPr txBox="1"/>
          <p:nvPr/>
        </p:nvSpPr>
        <p:spPr>
          <a:xfrm>
            <a:off x="4370832"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29" name="Shape 27"/>
          <p:cNvSpPr/>
          <p:nvPr/>
        </p:nvSpPr>
        <p:spPr>
          <a:xfrm>
            <a:off x="4370832" y="1938528"/>
            <a:ext cx="3657600" cy="530352"/>
          </a:xfrm>
          <a:prstGeom prst="rect">
            <a:avLst/>
          </a:prstGeom>
          <a:solidFill>
            <a:srgbClr val="EEF2F5"/>
          </a:solidFill>
          <a:ln w="12700">
            <a:solidFill>
              <a:srgbClr val="C9D1D8"/>
            </a:solidFill>
            <a:prstDash val="solid"/>
          </a:ln>
        </p:spPr>
      </p:sp>
      <p:sp>
        <p:nvSpPr>
          <p:cNvPr id="30" name="Text 28"/>
          <p:cNvSpPr txBox="1"/>
          <p:nvPr/>
        </p:nvSpPr>
        <p:spPr>
          <a:xfrm>
            <a:off x="4462272"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Engine latency measured</a:t>
            </a:r>
            <a:endParaRPr lang="en-US" sz="1000" dirty="0"/>
          </a:p>
        </p:txBody>
      </p:sp>
      <p:sp>
        <p:nvSpPr>
          <p:cNvPr id="31" name="Text 29"/>
          <p:cNvSpPr txBox="1"/>
          <p:nvPr/>
        </p:nvSpPr>
        <p:spPr>
          <a:xfrm>
            <a:off x="4462272"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69 ms steady-state cycle, mocks, one host</a:t>
            </a:r>
            <a:endParaRPr lang="en-US" sz="850" dirty="0"/>
          </a:p>
        </p:txBody>
      </p:sp>
      <p:sp>
        <p:nvSpPr>
          <p:cNvPr id="32" name="Shape 30"/>
          <p:cNvSpPr/>
          <p:nvPr/>
        </p:nvSpPr>
        <p:spPr>
          <a:xfrm>
            <a:off x="4370832" y="2487168"/>
            <a:ext cx="3657600" cy="530352"/>
          </a:xfrm>
          <a:prstGeom prst="rect">
            <a:avLst/>
          </a:prstGeom>
          <a:solidFill>
            <a:srgbClr val="FFFFFF"/>
          </a:solidFill>
          <a:ln w="12700">
            <a:solidFill>
              <a:srgbClr val="C9D1D8"/>
            </a:solidFill>
            <a:prstDash val="solid"/>
          </a:ln>
        </p:spPr>
      </p:sp>
      <p:sp>
        <p:nvSpPr>
          <p:cNvPr id="33" name="Text 31"/>
          <p:cNvSpPr txBox="1"/>
          <p:nvPr/>
        </p:nvSpPr>
        <p:spPr>
          <a:xfrm>
            <a:off x="4462272"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Both ends of the backend bounded</a:t>
            </a:r>
            <a:endParaRPr lang="en-US" sz="1000" dirty="0"/>
          </a:p>
        </p:txBody>
      </p:sp>
      <p:sp>
        <p:nvSpPr>
          <p:cNvPr id="34" name="Text 32"/>
          <p:cNvSpPr txBox="1"/>
          <p:nvPr/>
        </p:nvSpPr>
        <p:spPr>
          <a:xfrm>
            <a:off x="4462272"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startup and shutdown timeouts, from real hangs</a:t>
            </a:r>
            <a:endParaRPr lang="en-US" sz="850" dirty="0"/>
          </a:p>
        </p:txBody>
      </p:sp>
      <p:sp>
        <p:nvSpPr>
          <p:cNvPr id="35" name="Shape 33"/>
          <p:cNvSpPr/>
          <p:nvPr/>
        </p:nvSpPr>
        <p:spPr>
          <a:xfrm>
            <a:off x="4370832" y="3035808"/>
            <a:ext cx="3657600" cy="530352"/>
          </a:xfrm>
          <a:prstGeom prst="rect">
            <a:avLst/>
          </a:prstGeom>
          <a:solidFill>
            <a:srgbClr val="EEF2F5"/>
          </a:solidFill>
          <a:ln w="12700">
            <a:solidFill>
              <a:srgbClr val="C9D1D8"/>
            </a:solidFill>
            <a:prstDash val="solid"/>
          </a:ln>
        </p:spPr>
      </p:sp>
      <p:sp>
        <p:nvSpPr>
          <p:cNvPr id="36" name="Text 34"/>
          <p:cNvSpPr txBox="1"/>
          <p:nvPr/>
        </p:nvSpPr>
        <p:spPr>
          <a:xfrm>
            <a:off x="4462272"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Provenance is complete</a:t>
            </a:r>
            <a:endParaRPr lang="en-US" sz="1000" dirty="0"/>
          </a:p>
        </p:txBody>
      </p:sp>
      <p:sp>
        <p:nvSpPr>
          <p:cNvPr id="37" name="Text 35"/>
          <p:cNvSpPr txBox="1"/>
          <p:nvPr/>
        </p:nvSpPr>
        <p:spPr>
          <a:xfrm>
            <a:off x="4462272"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campaign can be timed from outside it</a:t>
            </a:r>
            <a:endParaRPr lang="en-US" sz="850" dirty="0"/>
          </a:p>
        </p:txBody>
      </p:sp>
      <p:sp>
        <p:nvSpPr>
          <p:cNvPr id="38" name="Text 36"/>
          <p:cNvSpPr txBox="1"/>
          <p:nvPr/>
        </p:nvSpPr>
        <p:spPr>
          <a:xfrm>
            <a:off x="4370832"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39" name="Shape 37"/>
          <p:cNvSpPr/>
          <p:nvPr/>
        </p:nvSpPr>
        <p:spPr>
          <a:xfrm>
            <a:off x="4370832" y="3840480"/>
            <a:ext cx="3657600" cy="530352"/>
          </a:xfrm>
          <a:prstGeom prst="rect">
            <a:avLst/>
          </a:prstGeom>
          <a:solidFill>
            <a:srgbClr val="EEF2F5"/>
          </a:solidFill>
          <a:ln w="12700">
            <a:solidFill>
              <a:srgbClr val="C9D1D8"/>
            </a:solidFill>
            <a:prstDash val="solid"/>
          </a:ln>
        </p:spPr>
      </p:sp>
      <p:sp>
        <p:nvSpPr>
          <p:cNvPr id="40" name="Text 38"/>
          <p:cNvSpPr txBox="1"/>
          <p:nvPr/>
        </p:nvSpPr>
        <p:spPr>
          <a:xfrm>
            <a:off x="4462272"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concurrency measurement</a:t>
            </a:r>
            <a:endParaRPr lang="en-US" sz="1000" dirty="0"/>
          </a:p>
        </p:txBody>
      </p:sp>
      <p:sp>
        <p:nvSpPr>
          <p:cNvPr id="41" name="Text 39"/>
          <p:cNvSpPr txBox="1"/>
          <p:nvPr/>
        </p:nvSpPr>
        <p:spPr>
          <a:xfrm>
            <a:off x="4462272"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`concurrency &gt; 1` never exercised</a:t>
            </a:r>
            <a:endParaRPr lang="en-US" sz="850" dirty="0"/>
          </a:p>
        </p:txBody>
      </p:sp>
      <p:sp>
        <p:nvSpPr>
          <p:cNvPr id="42" name="Shape 40"/>
          <p:cNvSpPr/>
          <p:nvPr/>
        </p:nvSpPr>
        <p:spPr>
          <a:xfrm>
            <a:off x="4370832" y="4389120"/>
            <a:ext cx="3657600" cy="530352"/>
          </a:xfrm>
          <a:prstGeom prst="rect">
            <a:avLst/>
          </a:prstGeom>
          <a:solidFill>
            <a:srgbClr val="FFFFFF"/>
          </a:solidFill>
          <a:ln w="12700">
            <a:solidFill>
              <a:srgbClr val="C9D1D8"/>
            </a:solidFill>
            <a:prstDash val="solid"/>
          </a:ln>
        </p:spPr>
      </p:sp>
      <p:sp>
        <p:nvSpPr>
          <p:cNvPr id="43" name="Text 41"/>
          <p:cNvSpPr txBox="1"/>
          <p:nvPr/>
        </p:nvSpPr>
        <p:spPr>
          <a:xfrm>
            <a:off x="4462272"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baseline, and neither lever</a:t>
            </a:r>
            <a:endParaRPr lang="en-US" sz="1000" dirty="0"/>
          </a:p>
        </p:txBody>
      </p:sp>
      <p:sp>
        <p:nvSpPr>
          <p:cNvPr id="44" name="Text 42"/>
          <p:cNvSpPr txBox="1"/>
          <p:nvPr/>
        </p:nvSpPr>
        <p:spPr>
          <a:xfrm>
            <a:off x="4462272"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packing ×5.52 and policy ×3 are measured next door</a:t>
            </a:r>
            <a:endParaRPr lang="en-US" sz="850" dirty="0"/>
          </a:p>
        </p:txBody>
      </p:sp>
      <p:sp>
        <p:nvSpPr>
          <p:cNvPr id="45" name="Shape 43"/>
          <p:cNvSpPr/>
          <p:nvPr/>
        </p:nvSpPr>
        <p:spPr>
          <a:xfrm>
            <a:off x="4370832" y="4937760"/>
            <a:ext cx="3657600" cy="530352"/>
          </a:xfrm>
          <a:prstGeom prst="rect">
            <a:avLst/>
          </a:prstGeom>
          <a:solidFill>
            <a:srgbClr val="EEF2F5"/>
          </a:solidFill>
          <a:ln w="12700">
            <a:solidFill>
              <a:srgbClr val="C9D1D8"/>
            </a:solidFill>
            <a:prstDash val="solid"/>
          </a:ln>
        </p:spPr>
      </p:sp>
      <p:sp>
        <p:nvSpPr>
          <p:cNvPr id="46" name="Text 44"/>
          <p:cNvSpPr txBox="1"/>
          <p:nvPr/>
        </p:nvSpPr>
        <p:spPr>
          <a:xfrm>
            <a:off x="4462272"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Real chain at width 1 only</a:t>
            </a:r>
            <a:endParaRPr lang="en-US" sz="1000" dirty="0"/>
          </a:p>
        </p:txBody>
      </p:sp>
      <p:sp>
        <p:nvSpPr>
          <p:cNvPr id="47" name="Text 45"/>
          <p:cNvSpPr txBox="1"/>
          <p:nvPr/>
        </p:nvSpPr>
        <p:spPr>
          <a:xfrm>
            <a:off x="4462272"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`replicas &gt; 1` has never run on it (A10)</a:t>
            </a:r>
            <a:endParaRPr lang="en-US" sz="850" dirty="0"/>
          </a:p>
        </p:txBody>
      </p:sp>
      <p:sp>
        <p:nvSpPr>
          <p:cNvPr id="48" name="Shape 46"/>
          <p:cNvSpPr/>
          <p:nvPr/>
        </p:nvSpPr>
        <p:spPr>
          <a:xfrm>
            <a:off x="8284464" y="1325880"/>
            <a:ext cx="3657600" cy="365760"/>
          </a:xfrm>
          <a:prstGeom prst="rect">
            <a:avLst/>
          </a:prstGeom>
          <a:solidFill>
            <a:srgbClr val="3B4E8C"/>
          </a:solidFill>
          <a:ln w="12700">
            <a:solidFill>
              <a:srgbClr val="3B4E8C"/>
            </a:solidFill>
            <a:prstDash val="solid"/>
          </a:ln>
        </p:spPr>
      </p:sp>
      <p:sp>
        <p:nvSpPr>
          <p:cNvPr id="49" name="Text 47"/>
          <p:cNvSpPr txBox="1"/>
          <p:nvPr/>
        </p:nvSpPr>
        <p:spPr>
          <a:xfrm>
            <a:off x="8284464"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USABILITY</a:t>
            </a:r>
            <a:endParaRPr lang="en-US" sz="1200" dirty="0"/>
          </a:p>
        </p:txBody>
      </p:sp>
      <p:sp>
        <p:nvSpPr>
          <p:cNvPr id="50" name="Text 48"/>
          <p:cNvSpPr txBox="1"/>
          <p:nvPr/>
        </p:nvSpPr>
        <p:spPr>
          <a:xfrm>
            <a:off x="8284464"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51" name="Shape 49"/>
          <p:cNvSpPr/>
          <p:nvPr/>
        </p:nvSpPr>
        <p:spPr>
          <a:xfrm>
            <a:off x="8284464" y="1938528"/>
            <a:ext cx="3657600" cy="530352"/>
          </a:xfrm>
          <a:prstGeom prst="rect">
            <a:avLst/>
          </a:prstGeom>
          <a:solidFill>
            <a:srgbClr val="EEF2F5"/>
          </a:solidFill>
          <a:ln w="12700">
            <a:solidFill>
              <a:srgbClr val="C9D1D8"/>
            </a:solidFill>
            <a:prstDash val="solid"/>
          </a:ln>
        </p:spPr>
      </p:sp>
      <p:sp>
        <p:nvSpPr>
          <p:cNvPr id="52" name="Text 50"/>
          <p:cNvSpPr txBox="1"/>
          <p:nvPr/>
        </p:nvSpPr>
        <p:spPr>
          <a:xfrm>
            <a:off x="8375904"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YAML, one command</a:t>
            </a:r>
            <a:endParaRPr lang="en-US" sz="1000" dirty="0"/>
          </a:p>
        </p:txBody>
      </p:sp>
      <p:sp>
        <p:nvSpPr>
          <p:cNvPr id="53" name="Text 51"/>
          <p:cNvSpPr txBox="1"/>
          <p:nvPr/>
        </p:nvSpPr>
        <p:spPr>
          <a:xfrm>
            <a:off x="8375904"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and a preflight that runs before the queue</a:t>
            </a:r>
            <a:endParaRPr lang="en-US" sz="850" dirty="0"/>
          </a:p>
        </p:txBody>
      </p:sp>
      <p:sp>
        <p:nvSpPr>
          <p:cNvPr id="54" name="Shape 52"/>
          <p:cNvSpPr/>
          <p:nvPr/>
        </p:nvSpPr>
        <p:spPr>
          <a:xfrm>
            <a:off x="8284464" y="2487168"/>
            <a:ext cx="3657600" cy="530352"/>
          </a:xfrm>
          <a:prstGeom prst="rect">
            <a:avLst/>
          </a:prstGeom>
          <a:solidFill>
            <a:srgbClr val="FFFFFF"/>
          </a:solidFill>
          <a:ln w="12700">
            <a:solidFill>
              <a:srgbClr val="C9D1D8"/>
            </a:solidFill>
            <a:prstDash val="solid"/>
          </a:ln>
        </p:spPr>
      </p:sp>
      <p:sp>
        <p:nvSpPr>
          <p:cNvPr id="55" name="Text 53"/>
          <p:cNvSpPr txBox="1"/>
          <p:nvPr/>
        </p:nvSpPr>
        <p:spPr>
          <a:xfrm>
            <a:off x="8375904"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Toolkits discovered at runtime</a:t>
            </a:r>
            <a:endParaRPr lang="en-US" sz="1000" dirty="0"/>
          </a:p>
        </p:txBody>
      </p:sp>
      <p:sp>
        <p:nvSpPr>
          <p:cNvPr id="56" name="Text 54"/>
          <p:cNvSpPr txBox="1"/>
          <p:nvPr/>
        </p:nvSpPr>
        <p:spPr>
          <a:xfrm>
            <a:off x="8375904"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$IMPRESS_A_TOOLKITS, no package change</a:t>
            </a:r>
            <a:endParaRPr lang="en-US" sz="850" dirty="0"/>
          </a:p>
        </p:txBody>
      </p:sp>
      <p:sp>
        <p:nvSpPr>
          <p:cNvPr id="57" name="Shape 55"/>
          <p:cNvSpPr/>
          <p:nvPr/>
        </p:nvSpPr>
        <p:spPr>
          <a:xfrm>
            <a:off x="8284464" y="3035808"/>
            <a:ext cx="3657600" cy="530352"/>
          </a:xfrm>
          <a:prstGeom prst="rect">
            <a:avLst/>
          </a:prstGeom>
          <a:solidFill>
            <a:srgbClr val="EEF2F5"/>
          </a:solidFill>
          <a:ln w="12700">
            <a:solidFill>
              <a:srgbClr val="C9D1D8"/>
            </a:solidFill>
            <a:prstDash val="solid"/>
          </a:ln>
        </p:spPr>
      </p:sp>
      <p:sp>
        <p:nvSpPr>
          <p:cNvPr id="58" name="Text 56"/>
          <p:cNvSpPr txBox="1"/>
          <p:nvPr/>
        </p:nvSpPr>
        <p:spPr>
          <a:xfrm>
            <a:off x="8375904"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Two transports, one protocol</a:t>
            </a:r>
            <a:endParaRPr lang="en-US" sz="1000" dirty="0"/>
          </a:p>
        </p:txBody>
      </p:sp>
      <p:sp>
        <p:nvSpPr>
          <p:cNvPr id="59" name="Text 57"/>
          <p:cNvSpPr txBox="1"/>
          <p:nvPr/>
        </p:nvSpPr>
        <p:spPr>
          <a:xfrm>
            <a:off x="8375904"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in-process and HTTP, tested against each other</a:t>
            </a:r>
            <a:endParaRPr lang="en-US" sz="850" dirty="0"/>
          </a:p>
        </p:txBody>
      </p:sp>
      <p:sp>
        <p:nvSpPr>
          <p:cNvPr id="60" name="Text 58"/>
          <p:cNvSpPr txBox="1"/>
          <p:nvPr/>
        </p:nvSpPr>
        <p:spPr>
          <a:xfrm>
            <a:off x="8284464"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61" name="Shape 59"/>
          <p:cNvSpPr/>
          <p:nvPr/>
        </p:nvSpPr>
        <p:spPr>
          <a:xfrm>
            <a:off x="8284464" y="3840480"/>
            <a:ext cx="3657600" cy="530352"/>
          </a:xfrm>
          <a:prstGeom prst="rect">
            <a:avLst/>
          </a:prstGeom>
          <a:solidFill>
            <a:srgbClr val="EEF2F5"/>
          </a:solidFill>
          <a:ln w="12700">
            <a:solidFill>
              <a:srgbClr val="C9D1D8"/>
            </a:solidFill>
            <a:prstDash val="solid"/>
          </a:ln>
        </p:spPr>
      </p:sp>
      <p:sp>
        <p:nvSpPr>
          <p:cNvPr id="62" name="Text 60"/>
          <p:cNvSpPr txBox="1"/>
          <p:nvPr/>
        </p:nvSpPr>
        <p:spPr>
          <a:xfrm>
            <a:off x="8375904"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Nothing external drives it</a:t>
            </a:r>
            <a:endParaRPr lang="en-US" sz="1000" dirty="0"/>
          </a:p>
        </p:txBody>
      </p:sp>
      <p:sp>
        <p:nvSpPr>
          <p:cNvPr id="63" name="Text 61"/>
          <p:cNvSpPr txBox="1"/>
          <p:nvPr/>
        </p:nvSpPr>
        <p:spPr>
          <a:xfrm>
            <a:off x="8375904"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component claim is empty</a:t>
            </a:r>
            <a:endParaRPr lang="en-US" sz="850" dirty="0"/>
          </a:p>
        </p:txBody>
      </p:sp>
      <p:sp>
        <p:nvSpPr>
          <p:cNvPr id="64" name="Shape 62"/>
          <p:cNvSpPr/>
          <p:nvPr/>
        </p:nvSpPr>
        <p:spPr>
          <a:xfrm>
            <a:off x="8284464" y="4389120"/>
            <a:ext cx="3657600" cy="530352"/>
          </a:xfrm>
          <a:prstGeom prst="rect">
            <a:avLst/>
          </a:prstGeom>
          <a:solidFill>
            <a:srgbClr val="FFFFFF"/>
          </a:solidFill>
          <a:ln w="12700">
            <a:solidFill>
              <a:srgbClr val="C9D1D8"/>
            </a:solidFill>
            <a:prstDash val="solid"/>
          </a:ln>
        </p:spPr>
      </p:sp>
      <p:sp>
        <p:nvSpPr>
          <p:cNvPr id="65" name="Text 63"/>
          <p:cNvSpPr txBox="1"/>
          <p:nvPr/>
        </p:nvSpPr>
        <p:spPr>
          <a:xfrm>
            <a:off x="8375904"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Fallbacks are invisible</a:t>
            </a:r>
            <a:endParaRPr lang="en-US" sz="1000" dirty="0"/>
          </a:p>
        </p:txBody>
      </p:sp>
      <p:sp>
        <p:nvSpPr>
          <p:cNvPr id="66" name="Text 64"/>
          <p:cNvSpPr txBox="1"/>
          <p:nvPr/>
        </p:nvSpPr>
        <p:spPr>
          <a:xfrm>
            <a:off x="8375904"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caller → D after 5 s, and nothing records it</a:t>
            </a:r>
            <a:endParaRPr lang="en-US" sz="850" dirty="0"/>
          </a:p>
        </p:txBody>
      </p:sp>
      <p:sp>
        <p:nvSpPr>
          <p:cNvPr id="67" name="Shape 65"/>
          <p:cNvSpPr/>
          <p:nvPr/>
        </p:nvSpPr>
        <p:spPr>
          <a:xfrm>
            <a:off x="8284464" y="4937760"/>
            <a:ext cx="3657600" cy="530352"/>
          </a:xfrm>
          <a:prstGeom prst="rect">
            <a:avLst/>
          </a:prstGeom>
          <a:solidFill>
            <a:srgbClr val="EEF2F5"/>
          </a:solidFill>
          <a:ln w="12700">
            <a:solidFill>
              <a:srgbClr val="C9D1D8"/>
            </a:solidFill>
            <a:prstDash val="solid"/>
          </a:ln>
        </p:spPr>
      </p:sp>
      <p:sp>
        <p:nvSpPr>
          <p:cNvPr id="68" name="Text 66"/>
          <p:cNvSpPr txBox="1"/>
          <p:nvPr/>
        </p:nvSpPr>
        <p:spPr>
          <a:xfrm>
            <a:off x="8375904"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serve/reason command</a:t>
            </a:r>
            <a:endParaRPr lang="en-US" sz="1000" dirty="0"/>
          </a:p>
        </p:txBody>
      </p:sp>
      <p:sp>
        <p:nvSpPr>
          <p:cNvPr id="69" name="Text 67"/>
          <p:cNvSpPr txBox="1"/>
          <p:nvPr/>
        </p:nvSpPr>
        <p:spPr>
          <a:xfrm>
            <a:off x="8375904"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model C is reachable only by embedding</a:t>
            </a:r>
            <a:endParaRPr lang="en-US" sz="850" dirty="0"/>
          </a:p>
        </p:txBody>
      </p:sp>
      <p:sp>
        <p:nvSpPr>
          <p:cNvPr id="70" name="Text 68"/>
          <p:cNvSpPr txBox="1"/>
          <p:nvPr/>
        </p:nvSpPr>
        <p:spPr>
          <a:xfrm>
            <a:off x="457200" y="5596128"/>
            <a:ext cx="11277295" cy="45720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Three green and three red per dimension, deliberately the same length. The red column is not a to-do list — it is what you should not believe from this deck.</a:t>
            </a:r>
            <a:endParaRPr lang="en-US" sz="1150" dirty="0"/>
          </a:p>
        </p:txBody>
      </p:sp>
      <p:sp>
        <p:nvSpPr>
          <p:cNvPr id="72" name="Text 69"/>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if you cut one slide from this deck, do not make it this one</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SIX QUESTIONS I ACTUALLY WANT ANSWERED</a:t>
            </a:r>
            <a:endParaRPr lang="en-US" sz="1200" dirty="0"/>
          </a:p>
        </p:txBody>
      </p:sp>
      <p:sp>
        <p:nvSpPr>
          <p:cNvPr id="3" name="Text 1"/>
          <p:cNvSpPr txBox="1"/>
          <p:nvPr/>
        </p:nvSpPr>
        <p:spPr>
          <a:xfrm>
            <a:off x="457200" y="749808"/>
            <a:ext cx="5486400" cy="5486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Asks</a:t>
            </a:r>
            <a:endParaRPr lang="en-US" sz="3000" dirty="0"/>
          </a:p>
        </p:txBody>
      </p:sp>
      <p:sp>
        <p:nvSpPr>
          <p:cNvPr id="4" name="Text 2"/>
          <p:cNvSpPr txBox="1"/>
          <p:nvPr/>
        </p:nvSpPr>
        <p:spPr>
          <a:xfrm>
            <a:off x="457200" y="1463040"/>
            <a:ext cx="5513832" cy="219456"/>
          </a:xfrm>
          <a:prstGeom prst="rect">
            <a:avLst/>
          </a:prstGeom>
          <a:noFill/>
          <a:ln/>
        </p:spPr>
        <p:txBody>
          <a:bodyPr wrap="square" lIns="0" tIns="0" rIns="0" bIns="0" rtlCol="0" anchor="t"/>
          <a:lstStyle/>
          <a:p>
            <a:pPr indent="0" marL="0">
              <a:buNone/>
            </a:pPr>
            <a:r>
              <a:rPr lang="en-US" sz="950" b="1" spc="150" kern="0" dirty="0">
                <a:solidFill>
                  <a:srgbClr val="E8A0A0"/>
                </a:solidFill>
                <a:latin typeface="Calibri" pitchFamily="34" charset="0"/>
                <a:ea typeface="Calibri" pitchFamily="34" charset="-122"/>
                <a:cs typeface="Calibri" pitchFamily="34" charset="-120"/>
              </a:rPr>
              <a:t>COSTS A WRONG ANSWER, OR REAL TIME</a:t>
            </a:r>
            <a:endParaRPr lang="en-US" sz="950" dirty="0"/>
          </a:p>
        </p:txBody>
      </p:sp>
      <p:sp>
        <p:nvSpPr>
          <p:cNvPr id="5" name="Text 3"/>
          <p:cNvSpPr txBox="1"/>
          <p:nvPr/>
        </p:nvSpPr>
        <p:spPr>
          <a:xfrm>
            <a:off x="6217920" y="1463040"/>
            <a:ext cx="5513832" cy="219456"/>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COSTS WHOEVER ADOPTS THIS NEXT</a:t>
            </a:r>
            <a:endParaRPr lang="en-US" sz="950" dirty="0"/>
          </a:p>
        </p:txBody>
      </p:sp>
      <p:sp>
        <p:nvSpPr>
          <p:cNvPr id="6" name="Shape 4"/>
          <p:cNvSpPr/>
          <p:nvPr/>
        </p:nvSpPr>
        <p:spPr>
          <a:xfrm>
            <a:off x="457200" y="1773936"/>
            <a:ext cx="5513832" cy="1444752"/>
          </a:xfrm>
          <a:prstGeom prst="rect">
            <a:avLst/>
          </a:prstGeom>
          <a:solidFill>
            <a:srgbClr val="1E2A33"/>
          </a:solidFill>
          <a:ln w="12700">
            <a:solidFill>
              <a:srgbClr val="2A3845"/>
            </a:solidFill>
            <a:prstDash val="solid"/>
          </a:ln>
        </p:spPr>
      </p:sp>
      <p:sp>
        <p:nvSpPr>
          <p:cNvPr id="7" name="Shape 5"/>
          <p:cNvSpPr/>
          <p:nvPr/>
        </p:nvSpPr>
        <p:spPr>
          <a:xfrm>
            <a:off x="457200" y="1773936"/>
            <a:ext cx="64008" cy="1444752"/>
          </a:xfrm>
          <a:prstGeom prst="rect">
            <a:avLst/>
          </a:prstGeom>
          <a:solidFill>
            <a:srgbClr val="C0392B"/>
          </a:solidFill>
          <a:ln w="12700">
            <a:solidFill>
              <a:srgbClr val="C0392B"/>
            </a:solidFill>
            <a:prstDash val="solid"/>
          </a:ln>
        </p:spPr>
      </p:sp>
      <p:sp>
        <p:nvSpPr>
          <p:cNvPr id="8" name="Text 6"/>
          <p:cNvSpPr txBox="1"/>
          <p:nvPr/>
        </p:nvSpPr>
        <p:spPr>
          <a:xfrm>
            <a:off x="62179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1</a:t>
            </a:r>
            <a:endParaRPr lang="en-US" sz="1700" dirty="0"/>
          </a:p>
        </p:txBody>
      </p:sp>
      <p:sp>
        <p:nvSpPr>
          <p:cNvPr id="9" name="Text 7"/>
          <p:cNvSpPr txBox="1"/>
          <p:nvPr/>
        </p:nvSpPr>
        <p:spPr>
          <a:xfrm>
            <a:off x="466344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10" name="Text 8"/>
          <p:cNvSpPr txBox="1"/>
          <p:nvPr/>
        </p:nvSpPr>
        <p:spPr>
          <a:xfrm>
            <a:off x="102412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`pattern_signature` normalise replica width?</a:t>
            </a:r>
            <a:endParaRPr lang="en-US" sz="1150" dirty="0"/>
          </a:p>
        </p:txBody>
      </p:sp>
      <p:sp>
        <p:nvSpPr>
          <p:cNvPr id="11" name="Text 9"/>
          <p:cNvSpPr txBox="1"/>
          <p:nvPr/>
        </p:nvSpPr>
        <p:spPr>
          <a:xfrm>
            <a:off x="102412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It is documented as shape-only and excludes parameter values on purpose, but emits one entry per node, so width is in the hash. Fixing it makes trust transfer across widths — and weakens the claim that a wide run is a new shape.  compose/graph.py:51</a:t>
            </a:r>
            <a:endParaRPr lang="en-US" sz="950" dirty="0"/>
          </a:p>
        </p:txBody>
      </p:sp>
      <p:sp>
        <p:nvSpPr>
          <p:cNvPr id="12" name="Shape 10"/>
          <p:cNvSpPr/>
          <p:nvPr/>
        </p:nvSpPr>
        <p:spPr>
          <a:xfrm>
            <a:off x="6217920" y="1773936"/>
            <a:ext cx="5513832" cy="1444752"/>
          </a:xfrm>
          <a:prstGeom prst="rect">
            <a:avLst/>
          </a:prstGeom>
          <a:solidFill>
            <a:srgbClr val="1E2A33"/>
          </a:solidFill>
          <a:ln w="12700">
            <a:solidFill>
              <a:srgbClr val="2A3845"/>
            </a:solidFill>
            <a:prstDash val="solid"/>
          </a:ln>
        </p:spPr>
      </p:sp>
      <p:sp>
        <p:nvSpPr>
          <p:cNvPr id="13" name="Shape 11"/>
          <p:cNvSpPr/>
          <p:nvPr/>
        </p:nvSpPr>
        <p:spPr>
          <a:xfrm>
            <a:off x="6217920" y="1773936"/>
            <a:ext cx="64008" cy="1444752"/>
          </a:xfrm>
          <a:prstGeom prst="rect">
            <a:avLst/>
          </a:prstGeom>
          <a:solidFill>
            <a:srgbClr val="C0392B"/>
          </a:solidFill>
          <a:ln w="12700">
            <a:solidFill>
              <a:srgbClr val="C0392B"/>
            </a:solidFill>
            <a:prstDash val="solid"/>
          </a:ln>
        </p:spPr>
      </p:sp>
      <p:sp>
        <p:nvSpPr>
          <p:cNvPr id="14" name="Text 12"/>
          <p:cNvSpPr txBox="1"/>
          <p:nvPr/>
        </p:nvSpPr>
        <p:spPr>
          <a:xfrm>
            <a:off x="638251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2</a:t>
            </a:r>
            <a:endParaRPr lang="en-US" sz="1700" dirty="0"/>
          </a:p>
        </p:txBody>
      </p:sp>
      <p:sp>
        <p:nvSpPr>
          <p:cNvPr id="15" name="Text 13"/>
          <p:cNvSpPr txBox="1"/>
          <p:nvPr/>
        </p:nvSpPr>
        <p:spPr>
          <a:xfrm>
            <a:off x="1042416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16" name="Text 14"/>
          <p:cNvSpPr txBox="1"/>
          <p:nvPr/>
        </p:nvSpPr>
        <p:spPr>
          <a:xfrm>
            <a:off x="678484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an acceptance-failure streak demote a pattern?</a:t>
            </a:r>
            <a:endParaRPr lang="en-US" sz="1150" dirty="0"/>
          </a:p>
        </p:txBody>
      </p:sp>
      <p:sp>
        <p:nvSpPr>
          <p:cNvPr id="17" name="Text 15"/>
          <p:cNvSpPr txBox="1"/>
          <p:nvPr/>
        </p:nvSpPr>
        <p:spPr>
          <a:xfrm>
            <a:off x="678484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Trust counts integrity failures only (decision 0013), so a tool emitting well-formed, low-scored garbage promotes after 3 runs. Right rule, but is the gap real?  compose/interlock.py:112</a:t>
            </a:r>
            <a:endParaRPr lang="en-US" sz="950" dirty="0"/>
          </a:p>
        </p:txBody>
      </p:sp>
      <p:sp>
        <p:nvSpPr>
          <p:cNvPr id="18" name="Shape 16"/>
          <p:cNvSpPr/>
          <p:nvPr/>
        </p:nvSpPr>
        <p:spPr>
          <a:xfrm>
            <a:off x="457200" y="3346704"/>
            <a:ext cx="5513832" cy="1444752"/>
          </a:xfrm>
          <a:prstGeom prst="rect">
            <a:avLst/>
          </a:prstGeom>
          <a:solidFill>
            <a:srgbClr val="1E2A33"/>
          </a:solidFill>
          <a:ln w="12700">
            <a:solidFill>
              <a:srgbClr val="2A3845"/>
            </a:solidFill>
            <a:prstDash val="solid"/>
          </a:ln>
        </p:spPr>
      </p:sp>
      <p:sp>
        <p:nvSpPr>
          <p:cNvPr id="19" name="Shape 17"/>
          <p:cNvSpPr/>
          <p:nvPr/>
        </p:nvSpPr>
        <p:spPr>
          <a:xfrm>
            <a:off x="457200" y="3346704"/>
            <a:ext cx="64008" cy="1444752"/>
          </a:xfrm>
          <a:prstGeom prst="rect">
            <a:avLst/>
          </a:prstGeom>
          <a:solidFill>
            <a:srgbClr val="C0392B"/>
          </a:solidFill>
          <a:ln w="12700">
            <a:solidFill>
              <a:srgbClr val="C0392B"/>
            </a:solidFill>
            <a:prstDash val="solid"/>
          </a:ln>
        </p:spPr>
      </p:sp>
      <p:sp>
        <p:nvSpPr>
          <p:cNvPr id="20" name="Text 18"/>
          <p:cNvSpPr txBox="1"/>
          <p:nvPr/>
        </p:nvSpPr>
        <p:spPr>
          <a:xfrm>
            <a:off x="621792" y="3419856"/>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3</a:t>
            </a:r>
            <a:endParaRPr lang="en-US" sz="1700" dirty="0"/>
          </a:p>
        </p:txBody>
      </p:sp>
      <p:sp>
        <p:nvSpPr>
          <p:cNvPr id="21" name="Text 19"/>
          <p:cNvSpPr txBox="1"/>
          <p:nvPr/>
        </p:nvSpPr>
        <p:spPr>
          <a:xfrm>
            <a:off x="466344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22" name="Text 20"/>
          <p:cNvSpPr txBox="1"/>
          <p:nvPr/>
        </p:nvSpPr>
        <p:spPr>
          <a:xfrm>
            <a:off x="102412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`on_rejected` shrink-on-transient live in the base class?</a:t>
            </a:r>
            <a:endParaRPr lang="en-US" sz="1150" dirty="0"/>
          </a:p>
        </p:txBody>
      </p:sp>
      <p:sp>
        <p:nvSpPr>
          <p:cNvPr id="23" name="Text 21"/>
          <p:cNvSpPr txBox="1"/>
          <p:nvPr/>
        </p:nvSpPr>
        <p:spPr>
          <a:xfrm>
            <a:off x="102412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Today the default is Stop and each policy re-implements shrinking. That is where a 4-lineage check quietly becomes a 3-lineage one, with nothing in the log but a correction warning.  policy/base.py:54</a:t>
            </a:r>
            <a:endParaRPr lang="en-US" sz="950" dirty="0"/>
          </a:p>
        </p:txBody>
      </p:sp>
      <p:sp>
        <p:nvSpPr>
          <p:cNvPr id="24" name="Shape 22"/>
          <p:cNvSpPr/>
          <p:nvPr/>
        </p:nvSpPr>
        <p:spPr>
          <a:xfrm>
            <a:off x="6217920" y="3346704"/>
            <a:ext cx="5513832" cy="1444752"/>
          </a:xfrm>
          <a:prstGeom prst="rect">
            <a:avLst/>
          </a:prstGeom>
          <a:solidFill>
            <a:srgbClr val="1E2A33"/>
          </a:solidFill>
          <a:ln w="12700">
            <a:solidFill>
              <a:srgbClr val="2A3845"/>
            </a:solidFill>
            <a:prstDash val="solid"/>
          </a:ln>
        </p:spPr>
      </p:sp>
      <p:sp>
        <p:nvSpPr>
          <p:cNvPr id="25" name="Shape 23"/>
          <p:cNvSpPr/>
          <p:nvPr/>
        </p:nvSpPr>
        <p:spPr>
          <a:xfrm>
            <a:off x="6217920" y="3346704"/>
            <a:ext cx="64008" cy="1444752"/>
          </a:xfrm>
          <a:prstGeom prst="rect">
            <a:avLst/>
          </a:prstGeom>
          <a:solidFill>
            <a:srgbClr val="D9731A"/>
          </a:solidFill>
          <a:ln w="12700">
            <a:solidFill>
              <a:srgbClr val="D9731A"/>
            </a:solidFill>
            <a:prstDash val="solid"/>
          </a:ln>
        </p:spPr>
      </p:sp>
      <p:sp>
        <p:nvSpPr>
          <p:cNvPr id="26" name="Text 24"/>
          <p:cNvSpPr txBox="1"/>
          <p:nvPr/>
        </p:nvSpPr>
        <p:spPr>
          <a:xfrm>
            <a:off x="6382512" y="3419856"/>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4</a:t>
            </a:r>
            <a:endParaRPr lang="en-US" sz="1700" dirty="0"/>
          </a:p>
        </p:txBody>
      </p:sp>
      <p:sp>
        <p:nvSpPr>
          <p:cNvPr id="27" name="Text 25"/>
          <p:cNvSpPr txBox="1"/>
          <p:nvPr/>
        </p:nvSpPr>
        <p:spPr>
          <a:xfrm>
            <a:off x="1042416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28" name="Text 26"/>
          <p:cNvSpPr txBox="1"/>
          <p:nvPr/>
        </p:nvSpPr>
        <p:spPr>
          <a:xfrm>
            <a:off x="678484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Is loopback-only the permanent answer for the control plane?</a:t>
            </a:r>
            <a:endParaRPr lang="en-US" sz="1150" dirty="0"/>
          </a:p>
        </p:txBody>
      </p:sp>
      <p:sp>
        <p:nvSpPr>
          <p:cNvPr id="29" name="Text 27"/>
          <p:cNvSpPr txBox="1"/>
          <p:nvPr/>
        </p:nvSpPr>
        <p:spPr>
          <a:xfrm>
            <a:off x="678484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No auth, no TLS, by design and documented. Before anything external drives a campaign, does this need a token, or does it stay in-allocation forever?  control/http.py:26</a:t>
            </a:r>
            <a:endParaRPr lang="en-US" sz="950" dirty="0"/>
          </a:p>
        </p:txBody>
      </p:sp>
      <p:sp>
        <p:nvSpPr>
          <p:cNvPr id="30" name="Shape 28"/>
          <p:cNvSpPr/>
          <p:nvPr/>
        </p:nvSpPr>
        <p:spPr>
          <a:xfrm>
            <a:off x="457200" y="4919472"/>
            <a:ext cx="5513832" cy="1444752"/>
          </a:xfrm>
          <a:prstGeom prst="rect">
            <a:avLst/>
          </a:prstGeom>
          <a:solidFill>
            <a:srgbClr val="1E2A33"/>
          </a:solidFill>
          <a:ln w="12700">
            <a:solidFill>
              <a:srgbClr val="2A3845"/>
            </a:solidFill>
            <a:prstDash val="solid"/>
          </a:ln>
        </p:spPr>
      </p:sp>
      <p:sp>
        <p:nvSpPr>
          <p:cNvPr id="31" name="Shape 29"/>
          <p:cNvSpPr/>
          <p:nvPr/>
        </p:nvSpPr>
        <p:spPr>
          <a:xfrm>
            <a:off x="457200" y="4919472"/>
            <a:ext cx="64008" cy="1444752"/>
          </a:xfrm>
          <a:prstGeom prst="rect">
            <a:avLst/>
          </a:prstGeom>
          <a:solidFill>
            <a:srgbClr val="D9731A"/>
          </a:solidFill>
          <a:ln w="12700">
            <a:solidFill>
              <a:srgbClr val="D9731A"/>
            </a:solidFill>
            <a:prstDash val="solid"/>
          </a:ln>
        </p:spPr>
      </p:sp>
      <p:sp>
        <p:nvSpPr>
          <p:cNvPr id="32" name="Text 30"/>
          <p:cNvSpPr txBox="1"/>
          <p:nvPr/>
        </p:nvSpPr>
        <p:spPr>
          <a:xfrm>
            <a:off x="62179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5</a:t>
            </a:r>
            <a:endParaRPr lang="en-US" sz="1700" dirty="0"/>
          </a:p>
        </p:txBody>
      </p:sp>
      <p:sp>
        <p:nvSpPr>
          <p:cNvPr id="33" name="Text 31"/>
          <p:cNvSpPr txBox="1"/>
          <p:nvPr/>
        </p:nvSpPr>
        <p:spPr>
          <a:xfrm>
            <a:off x="466344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34" name="Text 32"/>
          <p:cNvSpPr txBox="1"/>
          <p:nvPr/>
        </p:nvSpPr>
        <p:spPr>
          <a:xfrm>
            <a:off x="102412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a fallback be a first-class flag, not a log line?</a:t>
            </a:r>
            <a:endParaRPr lang="en-US" sz="1150" dirty="0"/>
          </a:p>
        </p:txBody>
      </p:sp>
      <p:sp>
        <p:nvSpPr>
          <p:cNvPr id="35" name="Text 33"/>
          <p:cNvSpPr txBox="1"/>
          <p:nvPr/>
        </p:nvSpPr>
        <p:spPr>
          <a:xfrm>
            <a:off x="102412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`--model C` with no caller falls back to D after 5 s, so a headless campaign silently becomes an explicit-policy one. Next door the same shape ran 284 of 288 turns with no model and looked healthy.  cli/__init__.py:103</a:t>
            </a:r>
            <a:endParaRPr lang="en-US" sz="950" dirty="0"/>
          </a:p>
        </p:txBody>
      </p:sp>
      <p:sp>
        <p:nvSpPr>
          <p:cNvPr id="36" name="Shape 34"/>
          <p:cNvSpPr/>
          <p:nvPr/>
        </p:nvSpPr>
        <p:spPr>
          <a:xfrm>
            <a:off x="6217920" y="4919472"/>
            <a:ext cx="5513832" cy="1444752"/>
          </a:xfrm>
          <a:prstGeom prst="rect">
            <a:avLst/>
          </a:prstGeom>
          <a:solidFill>
            <a:srgbClr val="1E2A33"/>
          </a:solidFill>
          <a:ln w="12700">
            <a:solidFill>
              <a:srgbClr val="2A3845"/>
            </a:solidFill>
            <a:prstDash val="solid"/>
          </a:ln>
        </p:spPr>
      </p:sp>
      <p:sp>
        <p:nvSpPr>
          <p:cNvPr id="37" name="Shape 35"/>
          <p:cNvSpPr/>
          <p:nvPr/>
        </p:nvSpPr>
        <p:spPr>
          <a:xfrm>
            <a:off x="6217920" y="4919472"/>
            <a:ext cx="64008" cy="1444752"/>
          </a:xfrm>
          <a:prstGeom prst="rect">
            <a:avLst/>
          </a:prstGeom>
          <a:solidFill>
            <a:srgbClr val="D9731A"/>
          </a:solidFill>
          <a:ln w="12700">
            <a:solidFill>
              <a:srgbClr val="D9731A"/>
            </a:solidFill>
            <a:prstDash val="solid"/>
          </a:ln>
        </p:spPr>
      </p:sp>
      <p:sp>
        <p:nvSpPr>
          <p:cNvPr id="38" name="Text 36"/>
          <p:cNvSpPr txBox="1"/>
          <p:nvPr/>
        </p:nvSpPr>
        <p:spPr>
          <a:xfrm>
            <a:off x="638251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6</a:t>
            </a:r>
            <a:endParaRPr lang="en-US" sz="1700" dirty="0"/>
          </a:p>
        </p:txBody>
      </p:sp>
      <p:sp>
        <p:nvSpPr>
          <p:cNvPr id="39" name="Text 37"/>
          <p:cNvSpPr txBox="1"/>
          <p:nvPr/>
        </p:nvSpPr>
        <p:spPr>
          <a:xfrm>
            <a:off x="1042416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40" name="Text 38"/>
          <p:cNvSpPr txBox="1"/>
          <p:nvPr/>
        </p:nvSpPr>
        <p:spPr>
          <a:xfrm>
            <a:off x="678484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model A's imports be lazy?</a:t>
            </a:r>
            <a:endParaRPr lang="en-US" sz="1150" dirty="0"/>
          </a:p>
        </p:txBody>
      </p:sp>
      <p:sp>
        <p:nvSpPr>
          <p:cNvPr id="41" name="Text 39"/>
          <p:cNvSpPr txBox="1"/>
          <p:nvPr/>
        </p:nvSpPr>
        <p:spPr>
          <a:xfrm>
            <a:off x="678484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The CLI imports every policy at module scope, so `impress-a tools` pays for langgraph. About 1.6 s of this deck's 2.8 s run was startup, outside the loop.  cli/__init__.py:31</a:t>
            </a:r>
            <a:endParaRPr lang="en-US" sz="950" dirty="0"/>
          </a:p>
        </p:txBody>
      </p:sp>
      <p:sp>
        <p:nvSpPr>
          <p:cNvPr id="43" name="Text 4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ask names a file and a line · slides/impress-a-api-user-slides @ bf32d1d</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compute patterns</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1005840"/>
                <a:gridCol w="3017520"/>
                <a:gridCol w="4846320"/>
                <a:gridCol w="2404872"/>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Scheduling implication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GPU-node-local,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GPU slot, in the allocation we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7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CPU-parallel fan-out,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core budget, sized from sched_getaffinity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4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MPI multi-node,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ranks and nodes, declared up front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HPC 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durable ledger entry — it outlives the agent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network service over HTTPS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allowed only if site.allow_external</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in-process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MUST NEVER be scheduled — the composer inlines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composite pipeline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decomposed before validation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experiment (robotic lab)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forward-declared; a measurement may arrive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394960"/>
            <a:ext cx="11277295" cy="685800"/>
          </a:xfrm>
          <a:prstGeom prst="rect">
            <a:avLst/>
          </a:prstGeom>
          <a:solidFill>
            <a:srgbClr val="F3EAF6"/>
          </a:solidFill>
          <a:ln w="12700">
            <a:solidFill>
              <a:srgbClr val="F3EAF6"/>
            </a:solidFill>
            <a:prstDash val="solid"/>
          </a:ln>
        </p:spPr>
      </p:sp>
      <p:sp>
        <p:nvSpPr>
          <p:cNvPr id="6" name="Text 3"/>
          <p:cNvSpPr txBox="1"/>
          <p:nvPr/>
        </p:nvSpPr>
        <p:spPr>
          <a:xfrm>
            <a:off x="585216" y="5477256"/>
            <a:ext cx="11021263"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taxonomy is organised by scheduling implication, not by science</a:t>
            </a:r>
            <a:endParaRPr lang="en-US" sz="1300" dirty="0"/>
          </a:p>
        </p:txBody>
      </p:sp>
      <p:sp>
        <p:nvSpPr>
          <p:cNvPr id="7" name="Text 4"/>
          <p:cNvSpPr txBox="1"/>
          <p:nvPr/>
        </p:nvSpPr>
        <p:spPr>
          <a:xfrm>
            <a:off x="585216" y="5788152"/>
            <a:ext cx="11021263" cy="2103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Dispatch depends on the pattern, never on what a tool computes — which is why P6 being scheduled is a composer bug rather than a slow path, and why P4 and P8 are the two that need a durable ledger entry.</a:t>
            </a:r>
            <a:endParaRPr lang="en-US" sz="1050" dirty="0"/>
          </a:p>
        </p:txBody>
      </p:sp>
      <p:sp>
        <p:nvSpPr>
          <p:cNvPr id="9" name="Text 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surfaces.patterns · 8 declared, 2 used</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artifact type lattice</a:t>
            </a:r>
            <a:endParaRPr lang="en-US" sz="2800" dirty="0"/>
          </a:p>
        </p:txBody>
      </p:sp>
      <p:sp>
        <p:nvSpPr>
          <p:cNvPr id="4" name="Shape 2"/>
          <p:cNvSpPr/>
          <p:nvPr/>
        </p:nvSpPr>
        <p:spPr>
          <a:xfrm>
            <a:off x="457200" y="1371600"/>
            <a:ext cx="2737028" cy="512064"/>
          </a:xfrm>
          <a:prstGeom prst="roundRect">
            <a:avLst>
              <a:gd name="adj" fmla="val 14286"/>
            </a:avLst>
          </a:prstGeom>
          <a:solidFill>
            <a:srgbClr val="EEF2F5"/>
          </a:solidFill>
          <a:ln w="19050">
            <a:solidFill>
              <a:srgbClr val="C9D1D8"/>
            </a:solidFill>
            <a:prstDash val="solid"/>
          </a:ln>
        </p:spPr>
      </p:sp>
      <p:sp>
        <p:nvSpPr>
          <p:cNvPr id="5" name="Text 3"/>
          <p:cNvSpPr txBox="1"/>
          <p:nvPr/>
        </p:nvSpPr>
        <p:spPr>
          <a:xfrm>
            <a:off x="530352"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Backbone</a:t>
            </a:r>
            <a:endParaRPr lang="en-US" sz="1400" dirty="0"/>
          </a:p>
        </p:txBody>
      </p:sp>
      <p:sp>
        <p:nvSpPr>
          <p:cNvPr id="6" name="Shape 4"/>
          <p:cNvSpPr/>
          <p:nvPr/>
        </p:nvSpPr>
        <p:spPr>
          <a:xfrm>
            <a:off x="3303956" y="1371600"/>
            <a:ext cx="2737028" cy="512064"/>
          </a:xfrm>
          <a:prstGeom prst="roundRect">
            <a:avLst>
              <a:gd name="adj" fmla="val 14286"/>
            </a:avLst>
          </a:prstGeom>
          <a:solidFill>
            <a:srgbClr val="EEF2F5"/>
          </a:solidFill>
          <a:ln w="19050">
            <a:solidFill>
              <a:srgbClr val="C9D1D8"/>
            </a:solidFill>
            <a:prstDash val="solid"/>
          </a:ln>
        </p:spPr>
      </p:sp>
      <p:sp>
        <p:nvSpPr>
          <p:cNvPr id="7" name="Text 5"/>
          <p:cNvSpPr txBox="1"/>
          <p:nvPr/>
        </p:nvSpPr>
        <p:spPr>
          <a:xfrm>
            <a:off x="3377108"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Complex</a:t>
            </a:r>
            <a:endParaRPr lang="en-US" sz="1400" dirty="0"/>
          </a:p>
        </p:txBody>
      </p:sp>
      <p:sp>
        <p:nvSpPr>
          <p:cNvPr id="8" name="Shape 6"/>
          <p:cNvSpPr/>
          <p:nvPr/>
        </p:nvSpPr>
        <p:spPr>
          <a:xfrm>
            <a:off x="6150712" y="1371600"/>
            <a:ext cx="2737028" cy="512064"/>
          </a:xfrm>
          <a:prstGeom prst="roundRect">
            <a:avLst>
              <a:gd name="adj" fmla="val 14286"/>
            </a:avLst>
          </a:prstGeom>
          <a:solidFill>
            <a:srgbClr val="EEF2F5"/>
          </a:solidFill>
          <a:ln w="19050">
            <a:solidFill>
              <a:srgbClr val="C9D1D8"/>
            </a:solidFill>
            <a:prstDash val="solid"/>
          </a:ln>
        </p:spPr>
      </p:sp>
      <p:sp>
        <p:nvSpPr>
          <p:cNvPr id="9" name="Text 7"/>
          <p:cNvSpPr txBox="1"/>
          <p:nvPr/>
        </p:nvSpPr>
        <p:spPr>
          <a:xfrm>
            <a:off x="6223864"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Ensemble</a:t>
            </a:r>
            <a:endParaRPr lang="en-US" sz="1400" dirty="0"/>
          </a:p>
        </p:txBody>
      </p:sp>
      <p:sp>
        <p:nvSpPr>
          <p:cNvPr id="10" name="Shape 8"/>
          <p:cNvSpPr/>
          <p:nvPr/>
        </p:nvSpPr>
        <p:spPr>
          <a:xfrm>
            <a:off x="8997467" y="1371600"/>
            <a:ext cx="2737028" cy="512064"/>
          </a:xfrm>
          <a:prstGeom prst="roundRect">
            <a:avLst>
              <a:gd name="adj" fmla="val 14286"/>
            </a:avLst>
          </a:prstGeom>
          <a:solidFill>
            <a:srgbClr val="EEF2F5"/>
          </a:solidFill>
          <a:ln w="19050">
            <a:solidFill>
              <a:srgbClr val="C9D1D8"/>
            </a:solidFill>
            <a:prstDash val="solid"/>
          </a:ln>
        </p:spPr>
      </p:sp>
      <p:sp>
        <p:nvSpPr>
          <p:cNvPr id="11" name="Text 9"/>
          <p:cNvSpPr txBox="1"/>
          <p:nvPr/>
        </p:nvSpPr>
        <p:spPr>
          <a:xfrm>
            <a:off x="9070619"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ProteinSequence</a:t>
            </a:r>
            <a:endParaRPr lang="en-US" sz="1400" dirty="0"/>
          </a:p>
        </p:txBody>
      </p:sp>
      <p:sp>
        <p:nvSpPr>
          <p:cNvPr id="12" name="Shape 10"/>
          <p:cNvSpPr/>
          <p:nvPr/>
        </p:nvSpPr>
        <p:spPr>
          <a:xfrm>
            <a:off x="457200" y="1993392"/>
            <a:ext cx="2737028" cy="512064"/>
          </a:xfrm>
          <a:prstGeom prst="roundRect">
            <a:avLst>
              <a:gd name="adj" fmla="val 14286"/>
            </a:avLst>
          </a:prstGeom>
          <a:solidFill>
            <a:srgbClr val="EEF2F5"/>
          </a:solidFill>
          <a:ln w="19050">
            <a:solidFill>
              <a:srgbClr val="C9D1D8"/>
            </a:solidFill>
            <a:prstDash val="solid"/>
          </a:ln>
        </p:spPr>
      </p:sp>
      <p:sp>
        <p:nvSpPr>
          <p:cNvPr id="13" name="Text 11"/>
          <p:cNvSpPr txBox="1"/>
          <p:nvPr/>
        </p:nvSpPr>
        <p:spPr>
          <a:xfrm>
            <a:off x="530352"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SequenceSet</a:t>
            </a:r>
            <a:endParaRPr lang="en-US" sz="1400" dirty="0"/>
          </a:p>
        </p:txBody>
      </p:sp>
      <p:sp>
        <p:nvSpPr>
          <p:cNvPr id="14" name="Shape 12"/>
          <p:cNvSpPr/>
          <p:nvPr/>
        </p:nvSpPr>
        <p:spPr>
          <a:xfrm>
            <a:off x="3303956" y="1993392"/>
            <a:ext cx="2737028" cy="512064"/>
          </a:xfrm>
          <a:prstGeom prst="roundRect">
            <a:avLst>
              <a:gd name="adj" fmla="val 14286"/>
            </a:avLst>
          </a:prstGeom>
          <a:solidFill>
            <a:srgbClr val="EEF2F5"/>
          </a:solidFill>
          <a:ln w="19050">
            <a:solidFill>
              <a:srgbClr val="C9D1D8"/>
            </a:solidFill>
            <a:prstDash val="solid"/>
          </a:ln>
        </p:spPr>
      </p:sp>
      <p:sp>
        <p:nvSpPr>
          <p:cNvPr id="15" name="Text 13"/>
          <p:cNvSpPr txBox="1"/>
          <p:nvPr/>
        </p:nvSpPr>
        <p:spPr>
          <a:xfrm>
            <a:off x="3377108"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SmallMolecule</a:t>
            </a:r>
            <a:endParaRPr lang="en-US" sz="1400" dirty="0"/>
          </a:p>
        </p:txBody>
      </p:sp>
      <p:sp>
        <p:nvSpPr>
          <p:cNvPr id="16" name="Shape 14"/>
          <p:cNvSpPr/>
          <p:nvPr/>
        </p:nvSpPr>
        <p:spPr>
          <a:xfrm>
            <a:off x="6150712" y="1993392"/>
            <a:ext cx="2737028" cy="512064"/>
          </a:xfrm>
          <a:prstGeom prst="roundRect">
            <a:avLst>
              <a:gd name="adj" fmla="val 14286"/>
            </a:avLst>
          </a:prstGeom>
          <a:solidFill>
            <a:srgbClr val="EEF2F5"/>
          </a:solidFill>
          <a:ln w="19050">
            <a:solidFill>
              <a:srgbClr val="C9D1D8"/>
            </a:solidFill>
            <a:prstDash val="solid"/>
          </a:ln>
        </p:spPr>
      </p:sp>
      <p:sp>
        <p:nvSpPr>
          <p:cNvPr id="17" name="Text 15"/>
          <p:cNvSpPr txBox="1"/>
          <p:nvPr/>
        </p:nvSpPr>
        <p:spPr>
          <a:xfrm>
            <a:off x="6223864"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Parameterized</a:t>
            </a:r>
            <a:endParaRPr lang="en-US" sz="1400" dirty="0"/>
          </a:p>
        </p:txBody>
      </p:sp>
      <p:sp>
        <p:nvSpPr>
          <p:cNvPr id="18" name="Shape 16"/>
          <p:cNvSpPr/>
          <p:nvPr/>
        </p:nvSpPr>
        <p:spPr>
          <a:xfrm>
            <a:off x="8997467" y="1993392"/>
            <a:ext cx="2737028" cy="512064"/>
          </a:xfrm>
          <a:prstGeom prst="roundRect">
            <a:avLst>
              <a:gd name="adj" fmla="val 14286"/>
            </a:avLst>
          </a:prstGeom>
          <a:solidFill>
            <a:srgbClr val="EEF2F5"/>
          </a:solidFill>
          <a:ln w="19050">
            <a:solidFill>
              <a:srgbClr val="C9D1D8"/>
            </a:solidFill>
            <a:prstDash val="solid"/>
          </a:ln>
        </p:spPr>
      </p:sp>
      <p:sp>
        <p:nvSpPr>
          <p:cNvPr id="19" name="Text 17"/>
          <p:cNvSpPr txBox="1"/>
          <p:nvPr/>
        </p:nvSpPr>
        <p:spPr>
          <a:xfrm>
            <a:off x="9070619"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MSA</a:t>
            </a:r>
            <a:endParaRPr lang="en-US" sz="1400" dirty="0"/>
          </a:p>
        </p:txBody>
      </p:sp>
      <p:sp>
        <p:nvSpPr>
          <p:cNvPr id="20" name="Shape 18"/>
          <p:cNvSpPr/>
          <p:nvPr/>
        </p:nvSpPr>
        <p:spPr>
          <a:xfrm>
            <a:off x="457200" y="2615184"/>
            <a:ext cx="2737028" cy="512064"/>
          </a:xfrm>
          <a:prstGeom prst="roundRect">
            <a:avLst>
              <a:gd name="adj" fmla="val 14286"/>
            </a:avLst>
          </a:prstGeom>
          <a:solidFill>
            <a:srgbClr val="EEF2F5"/>
          </a:solidFill>
          <a:ln w="19050">
            <a:solidFill>
              <a:srgbClr val="C9D1D8"/>
            </a:solidFill>
            <a:prstDash val="solid"/>
          </a:ln>
        </p:spPr>
      </p:sp>
      <p:sp>
        <p:nvSpPr>
          <p:cNvPr id="21" name="Text 19"/>
          <p:cNvSpPr txBox="1"/>
          <p:nvPr/>
        </p:nvSpPr>
        <p:spPr>
          <a:xfrm>
            <a:off x="530352"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StructuralHit</a:t>
            </a:r>
            <a:endParaRPr lang="en-US" sz="1400" dirty="0"/>
          </a:p>
        </p:txBody>
      </p:sp>
      <p:sp>
        <p:nvSpPr>
          <p:cNvPr id="22" name="Shape 20"/>
          <p:cNvSpPr/>
          <p:nvPr/>
        </p:nvSpPr>
        <p:spPr>
          <a:xfrm>
            <a:off x="3303956" y="2615184"/>
            <a:ext cx="2737028" cy="512064"/>
          </a:xfrm>
          <a:prstGeom prst="roundRect">
            <a:avLst>
              <a:gd name="adj" fmla="val 14286"/>
            </a:avLst>
          </a:prstGeom>
          <a:solidFill>
            <a:srgbClr val="EEF2F5"/>
          </a:solidFill>
          <a:ln w="19050">
            <a:solidFill>
              <a:srgbClr val="C9D1D8"/>
            </a:solidFill>
            <a:prstDash val="solid"/>
          </a:ln>
        </p:spPr>
      </p:sp>
      <p:sp>
        <p:nvSpPr>
          <p:cNvPr id="23" name="Text 21"/>
          <p:cNvSpPr txBox="1"/>
          <p:nvPr/>
        </p:nvSpPr>
        <p:spPr>
          <a:xfrm>
            <a:off x="3377108"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a:t>
            </a:r>
            <a:endParaRPr lang="en-US" sz="1400" dirty="0"/>
          </a:p>
        </p:txBody>
      </p:sp>
      <p:sp>
        <p:nvSpPr>
          <p:cNvPr id="24" name="Shape 22"/>
          <p:cNvSpPr/>
          <p:nvPr/>
        </p:nvSpPr>
        <p:spPr>
          <a:xfrm>
            <a:off x="6150712" y="2615184"/>
            <a:ext cx="2737028" cy="512064"/>
          </a:xfrm>
          <a:prstGeom prst="roundRect">
            <a:avLst>
              <a:gd name="adj" fmla="val 14286"/>
            </a:avLst>
          </a:prstGeom>
          <a:solidFill>
            <a:srgbClr val="EEF2F5"/>
          </a:solidFill>
          <a:ln w="19050">
            <a:solidFill>
              <a:srgbClr val="C9D1D8"/>
            </a:solidFill>
            <a:prstDash val="solid"/>
          </a:ln>
        </p:spPr>
      </p:sp>
      <p:sp>
        <p:nvSpPr>
          <p:cNvPr id="25" name="Text 23"/>
          <p:cNvSpPr txBox="1"/>
          <p:nvPr/>
        </p:nvSpPr>
        <p:spPr>
          <a:xfrm>
            <a:off x="6223864"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MetricSet</a:t>
            </a:r>
            <a:endParaRPr lang="en-US" sz="1400" dirty="0"/>
          </a:p>
        </p:txBody>
      </p:sp>
      <p:sp>
        <p:nvSpPr>
          <p:cNvPr id="26" name="Shape 24"/>
          <p:cNvSpPr/>
          <p:nvPr/>
        </p:nvSpPr>
        <p:spPr>
          <a:xfrm>
            <a:off x="8997467" y="2615184"/>
            <a:ext cx="2737028" cy="512064"/>
          </a:xfrm>
          <a:prstGeom prst="roundRect">
            <a:avLst>
              <a:gd name="adj" fmla="val 14286"/>
            </a:avLst>
          </a:prstGeom>
          <a:solidFill>
            <a:srgbClr val="EEF2F5"/>
          </a:solidFill>
          <a:ln w="19050">
            <a:solidFill>
              <a:srgbClr val="C9D1D8"/>
            </a:solidFill>
            <a:prstDash val="solid"/>
          </a:ln>
        </p:spPr>
      </p:sp>
      <p:sp>
        <p:nvSpPr>
          <p:cNvPr id="27" name="Text 25"/>
          <p:cNvSpPr txBox="1"/>
          <p:nvPr/>
        </p:nvSpPr>
        <p:spPr>
          <a:xfrm>
            <a:off x="9070619"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Trajectory</a:t>
            </a:r>
            <a:endParaRPr lang="en-US" sz="1400" dirty="0"/>
          </a:p>
        </p:txBody>
      </p:sp>
      <p:sp>
        <p:nvSpPr>
          <p:cNvPr id="28" name="Shape 26"/>
          <p:cNvSpPr/>
          <p:nvPr/>
        </p:nvSpPr>
        <p:spPr>
          <a:xfrm>
            <a:off x="457200" y="3383280"/>
            <a:ext cx="6949440" cy="1371600"/>
          </a:xfrm>
          <a:prstGeom prst="rect">
            <a:avLst/>
          </a:prstGeom>
          <a:solidFill>
            <a:srgbClr val="16222B"/>
          </a:solidFill>
          <a:ln w="12700">
            <a:solidFill>
              <a:srgbClr val="16222B"/>
            </a:solidFill>
            <a:prstDash val="solid"/>
          </a:ln>
        </p:spPr>
      </p:sp>
      <p:sp>
        <p:nvSpPr>
          <p:cNvPr id="29" name="Text 27"/>
          <p:cNvSpPr txBox="1"/>
          <p:nvPr/>
        </p:nvSpPr>
        <p:spPr>
          <a:xfrm>
            <a:off x="557784" y="3474720"/>
            <a:ext cx="6748272" cy="11887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def unifies_with(self, other: "ArtifactType") -&gt; bool:</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other: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 A Complex satisfies a Backbone requirement (it contains one); not the reverse.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ArtifactType.COMPLEX and other is ArtifactType.BACKBONE: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ArtifactType.METRIC_SET and other is ArtifactType.METRIC: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return False</a:t>
            </a:r>
            <a:endParaRPr lang="en-US" sz="950" dirty="0"/>
          </a:p>
        </p:txBody>
      </p:sp>
      <p:sp>
        <p:nvSpPr>
          <p:cNvPr id="30" name="Text 28"/>
          <p:cNvSpPr txBox="1"/>
          <p:nvPr/>
        </p:nvSpPr>
        <p:spPr>
          <a:xfrm>
            <a:off x="457200" y="4773168"/>
            <a:ext cx="69494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core/types.py · EDITED (one-lined)</a:t>
            </a:r>
            <a:endParaRPr lang="en-US" sz="850" dirty="0"/>
          </a:p>
        </p:txBody>
      </p:sp>
      <p:sp>
        <p:nvSpPr>
          <p:cNvPr id="31" name="Shape 29"/>
          <p:cNvSpPr/>
          <p:nvPr/>
        </p:nvSpPr>
        <p:spPr>
          <a:xfrm>
            <a:off x="7635240" y="3383280"/>
            <a:ext cx="4096512" cy="1371600"/>
          </a:xfrm>
          <a:prstGeom prst="rect">
            <a:avLst/>
          </a:prstGeom>
          <a:solidFill>
            <a:srgbClr val="E4F1EA"/>
          </a:solidFill>
          <a:ln w="12700">
            <a:solidFill>
              <a:srgbClr val="E4F1EA"/>
            </a:solidFill>
            <a:prstDash val="solid"/>
          </a:ln>
        </p:spPr>
      </p:sp>
      <p:sp>
        <p:nvSpPr>
          <p:cNvPr id="32" name="Text 30"/>
          <p:cNvSpPr txBox="1"/>
          <p:nvPr/>
        </p:nvSpPr>
        <p:spPr>
          <a:xfrm>
            <a:off x="7763256" y="3465576"/>
            <a:ext cx="38404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Two distinctions carry real weight</a:t>
            </a:r>
            <a:endParaRPr lang="en-US" sz="1300" dirty="0"/>
          </a:p>
        </p:txBody>
      </p:sp>
      <p:sp>
        <p:nvSpPr>
          <p:cNvPr id="33" name="Text 31"/>
          <p:cNvSpPr txBox="1"/>
          <p:nvPr/>
        </p:nvSpPr>
        <p:spPr>
          <a:xfrm>
            <a:off x="7763256" y="3776472"/>
            <a:ext cx="384048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SMALL_MOLECULE vs PARAMETERIZED — an unparameterised ligand reaching a force field is a type error at COMPOSITION time, not silent corruption.</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BACKBONE vs COMPLEX — so an interface scorer cannot be handed a monomer.</a:t>
            </a:r>
            <a:endParaRPr lang="en-US" sz="1000" dirty="0"/>
          </a:p>
        </p:txBody>
      </p:sp>
      <p:sp>
        <p:nvSpPr>
          <p:cNvPr id="34" name="Shape 32"/>
          <p:cNvSpPr/>
          <p:nvPr/>
        </p:nvSpPr>
        <p:spPr>
          <a:xfrm>
            <a:off x="457200" y="4983480"/>
            <a:ext cx="11277295" cy="1097280"/>
          </a:xfrm>
          <a:prstGeom prst="rect">
            <a:avLst/>
          </a:prstGeom>
          <a:solidFill>
            <a:srgbClr val="EEF2F5"/>
          </a:solidFill>
          <a:ln w="12700">
            <a:solidFill>
              <a:srgbClr val="EEF2F5"/>
            </a:solidFill>
            <a:prstDash val="solid"/>
          </a:ln>
        </p:spPr>
      </p:sp>
      <p:sp>
        <p:nvSpPr>
          <p:cNvPr id="35" name="Text 33"/>
          <p:cNvSpPr txBox="1"/>
          <p:nvPr/>
        </p:nvSpPr>
        <p:spPr>
          <a:xfrm>
            <a:off x="585216" y="5065776"/>
            <a:ext cx="1102126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scientific types rather than file formats</a:t>
            </a:r>
            <a:endParaRPr lang="en-US" sz="1300" dirty="0"/>
          </a:p>
        </p:txBody>
      </p:sp>
      <p:sp>
        <p:nvSpPr>
          <p:cNvPr id="36" name="Text 34"/>
          <p:cNvSpPr txBox="1"/>
          <p:nvPr/>
        </p:nvSpPr>
        <p:spPr>
          <a:xfrm>
            <a:off x="585216" y="5376672"/>
            <a:ext cx="11021263"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12 types, and every one of them would be ".pdb" or ".json" in a format-based lattice — at which point gate 1 can only check that a file exists, and the composer cannot refuse a graph that is scientifically meaningless but structurally fine.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what makes runtime graph composition checkable at all (Part B doc 05, gate 1).</a:t>
            </a:r>
            <a:endParaRPr lang="en-US" sz="10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core/types.py · the lattice is deliberately small: it only needs the distinctions that cause real corruption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the API and the loop</dc:title>
  <dc:subject>PptxGenJS Presentation</dc:subject>
  <dc:creator>PptxGenJS</dc:creator>
  <cp:lastModifiedBy>PptxGenJS</cp:lastModifiedBy>
  <cp:revision>1</cp:revision>
  <dcterms:created xsi:type="dcterms:W3CDTF">2026-10-27T07:28:15Z</dcterms:created>
  <dcterms:modified xsi:type="dcterms:W3CDTF">2026-10-27T07:28:15Z</dcterms:modified>
</cp:coreProperties>
</file>